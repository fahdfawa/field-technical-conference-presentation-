
<file path=[Content_Types].xml><?xml version="1.0" encoding="utf-8"?>
<Types xmlns="http://schemas.openxmlformats.org/package/2006/content-types">
  <Default Extension="emf" ContentType="image/x-emf"/>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75" r:id="rId4"/>
  </p:sldMasterIdLst>
  <p:notesMasterIdLst>
    <p:notesMasterId r:id="rId35"/>
  </p:notesMasterIdLst>
  <p:handoutMasterIdLst>
    <p:handoutMasterId r:id="rId36"/>
  </p:handoutMasterIdLst>
  <p:sldIdLst>
    <p:sldId id="2147479816" r:id="rId5"/>
    <p:sldId id="2147479859" r:id="rId6"/>
    <p:sldId id="2147479870" r:id="rId7"/>
    <p:sldId id="2147479844" r:id="rId8"/>
    <p:sldId id="2147479825" r:id="rId9"/>
    <p:sldId id="2147479867" r:id="rId10"/>
    <p:sldId id="2147479869" r:id="rId11"/>
    <p:sldId id="2147479864" r:id="rId12"/>
    <p:sldId id="2147479866" r:id="rId13"/>
    <p:sldId id="2147479858" r:id="rId14"/>
    <p:sldId id="2147479863" r:id="rId15"/>
    <p:sldId id="2147479865" r:id="rId16"/>
    <p:sldId id="2147479845" r:id="rId17"/>
    <p:sldId id="2147479831" r:id="rId18"/>
    <p:sldId id="2147479846" r:id="rId19"/>
    <p:sldId id="2147479830" r:id="rId20"/>
    <p:sldId id="2147479856" r:id="rId21"/>
    <p:sldId id="2147479850" r:id="rId22"/>
    <p:sldId id="2147479833" r:id="rId23"/>
    <p:sldId id="2147479857" r:id="rId24"/>
    <p:sldId id="2147479851" r:id="rId25"/>
    <p:sldId id="2147479837" r:id="rId26"/>
    <p:sldId id="2147479847" r:id="rId27"/>
    <p:sldId id="2147479868" r:id="rId28"/>
    <p:sldId id="2147479862" r:id="rId29"/>
    <p:sldId id="2147479827" r:id="rId30"/>
    <p:sldId id="2147479860" r:id="rId31"/>
    <p:sldId id="2147479826" r:id="rId32"/>
    <p:sldId id="2147479818" r:id="rId33"/>
    <p:sldId id="306" r:id="rId34"/>
  </p:sldIdLst>
  <p:sldSz cx="12192000" cy="6858000"/>
  <p:notesSz cx="7010400" cy="9296400"/>
  <p:embeddedFontLst>
    <p:embeddedFont>
      <p:font typeface="Barlow" panose="00000500000000000000" pitchFamily="2" charset="0"/>
      <p:regular r:id="rId37"/>
      <p:bold r:id="rId38"/>
      <p:italic r:id="rId39"/>
      <p:boldItalic r:id="rId40"/>
    </p:embeddedFont>
    <p:embeddedFont>
      <p:font typeface="Barlow Medium" panose="00000600000000000000" pitchFamily="2" charset="0"/>
      <p:regular r:id="rId41"/>
      <p:italic r:id="rId42"/>
    </p:embeddedFont>
    <p:embeddedFont>
      <p:font typeface="Barlow SemiBold" panose="00000700000000000000" pitchFamily="2" charset="0"/>
      <p:regular r:id="rId43"/>
      <p:bold r:id="rId44"/>
      <p:italic r:id="rId45"/>
      <p:boldItalic r:id="rId46"/>
    </p:embeddedFont>
    <p:embeddedFont>
      <p:font typeface="Cambria Math" panose="02040503050406030204" pitchFamily="18" charset="0"/>
      <p:regular r:id="rId47"/>
    </p:embeddedFont>
    <p:embeddedFont>
      <p:font typeface="Wingdings 3" panose="05040102010807070707" pitchFamily="18" charset="2"/>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C9343AB-3633-0040-8C20-EE436A4C326C}">
          <p14:sldIdLst>
            <p14:sldId id="2147479816"/>
          </p14:sldIdLst>
        </p14:section>
        <p14:section name="Presentation Slides" id="{946C8B3A-61C4-AF40-8103-203EBE56DE26}">
          <p14:sldIdLst>
            <p14:sldId id="2147479859"/>
            <p14:sldId id="2147479870"/>
            <p14:sldId id="2147479844"/>
            <p14:sldId id="2147479825"/>
            <p14:sldId id="2147479867"/>
            <p14:sldId id="2147479869"/>
            <p14:sldId id="2147479864"/>
            <p14:sldId id="2147479866"/>
            <p14:sldId id="2147479858"/>
            <p14:sldId id="2147479863"/>
            <p14:sldId id="2147479865"/>
            <p14:sldId id="2147479845"/>
            <p14:sldId id="2147479831"/>
            <p14:sldId id="2147479846"/>
            <p14:sldId id="2147479830"/>
            <p14:sldId id="2147479856"/>
            <p14:sldId id="2147479850"/>
            <p14:sldId id="2147479833"/>
            <p14:sldId id="2147479857"/>
            <p14:sldId id="2147479851"/>
            <p14:sldId id="2147479837"/>
            <p14:sldId id="2147479847"/>
            <p14:sldId id="2147479868"/>
            <p14:sldId id="2147479862"/>
            <p14:sldId id="2147479827"/>
            <p14:sldId id="2147479860"/>
            <p14:sldId id="2147479826"/>
            <p14:sldId id="2147479818"/>
          </p14:sldIdLst>
        </p14:section>
        <p14:section name="Closing Slide" id="{9ACA168D-A9D7-4A15-9F67-9F6A2780F6A4}">
          <p14:sldIdLst>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CFB64D-9294-73B9-698D-53AC9DE94753}" name="Gildred, Terrence" initials="TG" userId="S::Terrence.Gildred@analog.com::41e59cfa-3130-4dc8-bb17-32cbb5d94a2b" providerId="AD"/>
  <p188:author id="{9F151DE2-766A-42B1-0845-564F1EFC92C8}" name="Corley, Chuck" initials="CC" userId="S::Chuck.Corley@analog.com::9b82cf21-72de-4287-943d-2b8797d81e32" providerId="AD"/>
  <p188:author id="{B32441EB-C32A-3CA3-B2FD-35A7E093F3DD}" name="Shaw, Shelly" initials="SS" userId="S::shelly.shaw@analog.com::fffc5d37-691b-410b-b340-04c3784de4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183"/>
    <a:srgbClr val="A9D18E"/>
    <a:srgbClr val="9EBCEE"/>
    <a:srgbClr val="E2E3E6"/>
    <a:srgbClr val="8A2683"/>
    <a:srgbClr val="896901"/>
    <a:srgbClr val="6DE1EC"/>
    <a:srgbClr val="8B99DD"/>
    <a:srgbClr val="2BC5B6"/>
    <a:srgbClr val="6DE9EC"/>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DAF817-BDBF-46C6-ADF9-3DDCFE687832}" v="306" dt="2025-02-19T08:12:15.825"/>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snapToObjects="1">
      <p:cViewPr varScale="1">
        <p:scale>
          <a:sx n="92" d="100"/>
          <a:sy n="92" d="100"/>
        </p:scale>
        <p:origin x="341" y="48"/>
      </p:cViewPr>
      <p:guideLst/>
    </p:cSldViewPr>
  </p:slideViewPr>
  <p:outlineViewPr>
    <p:cViewPr>
      <p:scale>
        <a:sx n="33" d="100"/>
        <a:sy n="33" d="100"/>
      </p:scale>
      <p:origin x="0" y="1216"/>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showGuides="1">
      <p:cViewPr varScale="1">
        <p:scale>
          <a:sx n="111" d="100"/>
          <a:sy n="111" d="100"/>
        </p:scale>
        <p:origin x="328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font" Target="fonts/font5.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ad, Ahammad" userId="82f7d7ce-da8b-4815-8cff-9b27cd434a93" providerId="ADAL" clId="{70EAFDDB-FE68-4F40-86C9-A1ED10B150E5}"/>
    <pc:docChg chg="undo custSel modSld">
      <pc:chgData name="Fahad, Ahammad" userId="82f7d7ce-da8b-4815-8cff-9b27cd434a93" providerId="ADAL" clId="{70EAFDDB-FE68-4F40-86C9-A1ED10B150E5}" dt="2025-01-04T11:05:41.866" v="100" actId="478"/>
      <pc:docMkLst>
        <pc:docMk/>
      </pc:docMkLst>
      <pc:sldChg chg="addSp delSp modSp mod">
        <pc:chgData name="Fahad, Ahammad" userId="82f7d7ce-da8b-4815-8cff-9b27cd434a93" providerId="ADAL" clId="{70EAFDDB-FE68-4F40-86C9-A1ED10B150E5}" dt="2025-01-04T11:05:41.866" v="100" actId="478"/>
        <pc:sldMkLst>
          <pc:docMk/>
          <pc:sldMk cId="2177463143" sldId="2147479833"/>
        </pc:sldMkLst>
        <pc:cxnChg chg="mod">
          <ac:chgData name="Fahad, Ahammad" userId="82f7d7ce-da8b-4815-8cff-9b27cd434a93" providerId="ADAL" clId="{70EAFDDB-FE68-4F40-86C9-A1ED10B150E5}" dt="2025-01-04T11:05:38.373" v="99" actId="1076"/>
          <ac:cxnSpMkLst>
            <pc:docMk/>
            <pc:sldMk cId="2177463143" sldId="2147479833"/>
            <ac:cxnSpMk id="75" creationId="{A2155232-00BC-4F16-993C-EC2359EDD141}"/>
          </ac:cxnSpMkLst>
        </pc:cxnChg>
      </pc:sldChg>
      <pc:sldChg chg="addSp delSp modSp mod">
        <pc:chgData name="Fahad, Ahammad" userId="82f7d7ce-da8b-4815-8cff-9b27cd434a93" providerId="ADAL" clId="{70EAFDDB-FE68-4F40-86C9-A1ED10B150E5}" dt="2025-01-04T11:05:33.664" v="97" actId="478"/>
        <pc:sldMkLst>
          <pc:docMk/>
          <pc:sldMk cId="3389729990" sldId="2147479841"/>
        </pc:sldMkLst>
      </pc:sldChg>
    </pc:docChg>
  </pc:docChgLst>
  <pc:docChgLst>
    <pc:chgData name="Fahad, Ahammad" userId="82f7d7ce-da8b-4815-8cff-9b27cd434a93" providerId="ADAL" clId="{C7943E55-0349-428B-89BA-8C2A470C923A}"/>
    <pc:docChg chg="undo redo custSel addSld delSld modSld modSection">
      <pc:chgData name="Fahad, Ahammad" userId="82f7d7ce-da8b-4815-8cff-9b27cd434a93" providerId="ADAL" clId="{C7943E55-0349-428B-89BA-8C2A470C923A}" dt="2025-01-09T02:25:43.427" v="1117" actId="47"/>
      <pc:docMkLst>
        <pc:docMk/>
      </pc:docMkLst>
      <pc:sldChg chg="modSp mod">
        <pc:chgData name="Fahad, Ahammad" userId="82f7d7ce-da8b-4815-8cff-9b27cd434a93" providerId="ADAL" clId="{C7943E55-0349-428B-89BA-8C2A470C923A}" dt="2024-10-31T08:09:55.469" v="1110" actId="20577"/>
        <pc:sldMkLst>
          <pc:docMk/>
          <pc:sldMk cId="4088900271" sldId="2147479826"/>
        </pc:sldMkLst>
      </pc:sldChg>
      <pc:sldChg chg="addSp modSp mod">
        <pc:chgData name="Fahad, Ahammad" userId="82f7d7ce-da8b-4815-8cff-9b27cd434a93" providerId="ADAL" clId="{C7943E55-0349-428B-89BA-8C2A470C923A}" dt="2024-10-30T10:55:26.859" v="666" actId="14100"/>
        <pc:sldMkLst>
          <pc:docMk/>
          <pc:sldMk cId="900905972" sldId="2147479827"/>
        </pc:sldMkLst>
      </pc:sldChg>
      <pc:sldChg chg="addSp delSp modSp mod delAnim modAnim modNotesTx">
        <pc:chgData name="Fahad, Ahammad" userId="82f7d7ce-da8b-4815-8cff-9b27cd434a93" providerId="ADAL" clId="{C7943E55-0349-428B-89BA-8C2A470C923A}" dt="2024-10-31T08:00:31.945" v="1093"/>
        <pc:sldMkLst>
          <pc:docMk/>
          <pc:sldMk cId="3143609025" sldId="2147479830"/>
        </pc:sldMkLst>
      </pc:sldChg>
      <pc:sldChg chg="modNotesTx">
        <pc:chgData name="Fahad, Ahammad" userId="82f7d7ce-da8b-4815-8cff-9b27cd434a93" providerId="ADAL" clId="{C7943E55-0349-428B-89BA-8C2A470C923A}" dt="2024-10-29T07:19:28.213" v="271" actId="6549"/>
        <pc:sldMkLst>
          <pc:docMk/>
          <pc:sldMk cId="1018585485" sldId="2147479831"/>
        </pc:sldMkLst>
      </pc:sldChg>
      <pc:sldChg chg="addSp delSp modSp del mod delAnim modAnim">
        <pc:chgData name="Fahad, Ahammad" userId="82f7d7ce-da8b-4815-8cff-9b27cd434a93" providerId="ADAL" clId="{C7943E55-0349-428B-89BA-8C2A470C923A}" dt="2025-01-09T02:22:01.851" v="1111" actId="47"/>
        <pc:sldMkLst>
          <pc:docMk/>
          <pc:sldMk cId="2168199847" sldId="2147479835"/>
        </pc:sldMkLst>
      </pc:sldChg>
      <pc:sldChg chg="modSp add del mod modNotesTx">
        <pc:chgData name="Fahad, Ahammad" userId="82f7d7ce-da8b-4815-8cff-9b27cd434a93" providerId="ADAL" clId="{C7943E55-0349-428B-89BA-8C2A470C923A}" dt="2025-01-09T02:22:06.162" v="1113" actId="47"/>
        <pc:sldMkLst>
          <pc:docMk/>
          <pc:sldMk cId="3389729990" sldId="2147479841"/>
        </pc:sldMkLst>
      </pc:sldChg>
      <pc:sldChg chg="modNotesTx">
        <pc:chgData name="Fahad, Ahammad" userId="82f7d7ce-da8b-4815-8cff-9b27cd434a93" providerId="ADAL" clId="{C7943E55-0349-428B-89BA-8C2A470C923A}" dt="2024-10-29T07:09:53.436" v="82" actId="20577"/>
        <pc:sldMkLst>
          <pc:docMk/>
          <pc:sldMk cId="158968822" sldId="2147479845"/>
        </pc:sldMkLst>
      </pc:sldChg>
      <pc:sldChg chg="del">
        <pc:chgData name="Fahad, Ahammad" userId="82f7d7ce-da8b-4815-8cff-9b27cd434a93" providerId="ADAL" clId="{C7943E55-0349-428B-89BA-8C2A470C923A}" dt="2025-01-09T02:25:43.427" v="1117" actId="47"/>
        <pc:sldMkLst>
          <pc:docMk/>
          <pc:sldMk cId="2554884814" sldId="2147479849"/>
        </pc:sldMkLst>
      </pc:sldChg>
      <pc:sldChg chg="modSp mod">
        <pc:chgData name="Fahad, Ahammad" userId="82f7d7ce-da8b-4815-8cff-9b27cd434a93" providerId="ADAL" clId="{C7943E55-0349-428B-89BA-8C2A470C923A}" dt="2024-10-30T08:07:32.191" v="514" actId="20577"/>
        <pc:sldMkLst>
          <pc:docMk/>
          <pc:sldMk cId="4028028681" sldId="2147479850"/>
        </pc:sldMkLst>
      </pc:sldChg>
      <pc:sldChg chg="addSp modSp mod modAnim">
        <pc:chgData name="Fahad, Ahammad" userId="82f7d7ce-da8b-4815-8cff-9b27cd434a93" providerId="ADAL" clId="{C7943E55-0349-428B-89BA-8C2A470C923A}" dt="2024-10-31T06:09:50.861" v="708" actId="1076"/>
        <pc:sldMkLst>
          <pc:docMk/>
          <pc:sldMk cId="4139676694" sldId="2147479851"/>
        </pc:sldMkLst>
      </pc:sldChg>
      <pc:sldChg chg="del">
        <pc:chgData name="Fahad, Ahammad" userId="82f7d7ce-da8b-4815-8cff-9b27cd434a93" providerId="ADAL" clId="{C7943E55-0349-428B-89BA-8C2A470C923A}" dt="2025-01-09T02:22:04.809" v="1112" actId="47"/>
        <pc:sldMkLst>
          <pc:docMk/>
          <pc:sldMk cId="1989622843" sldId="2147479852"/>
        </pc:sldMkLst>
      </pc:sldChg>
      <pc:sldChg chg="del">
        <pc:chgData name="Fahad, Ahammad" userId="82f7d7ce-da8b-4815-8cff-9b27cd434a93" providerId="ADAL" clId="{C7943E55-0349-428B-89BA-8C2A470C923A}" dt="2025-01-09T02:22:21.470" v="1114" actId="47"/>
        <pc:sldMkLst>
          <pc:docMk/>
          <pc:sldMk cId="2178410717" sldId="2147479853"/>
        </pc:sldMkLst>
      </pc:sldChg>
      <pc:sldChg chg="modSp mod modNotesTx">
        <pc:chgData name="Fahad, Ahammad" userId="82f7d7ce-da8b-4815-8cff-9b27cd434a93" providerId="ADAL" clId="{C7943E55-0349-428B-89BA-8C2A470C923A}" dt="2024-10-30T08:12:51.041" v="657" actId="1076"/>
        <pc:sldMkLst>
          <pc:docMk/>
          <pc:sldMk cId="1575829487" sldId="2147479856"/>
        </pc:sldMkLst>
      </pc:sldChg>
      <pc:sldChg chg="addSp modSp mod modAnim">
        <pc:chgData name="Fahad, Ahammad" userId="82f7d7ce-da8b-4815-8cff-9b27cd434a93" providerId="ADAL" clId="{C7943E55-0349-428B-89BA-8C2A470C923A}" dt="2024-10-31T06:27:08.412" v="717" actId="14100"/>
        <pc:sldMkLst>
          <pc:docMk/>
          <pc:sldMk cId="2935435983" sldId="2147479857"/>
        </pc:sldMkLst>
      </pc:sldChg>
      <pc:sldChg chg="modSp mod">
        <pc:chgData name="Fahad, Ahammad" userId="82f7d7ce-da8b-4815-8cff-9b27cd434a93" providerId="ADAL" clId="{C7943E55-0349-428B-89BA-8C2A470C923A}" dt="2024-10-31T08:04:17.299" v="1108" actId="1076"/>
        <pc:sldMkLst>
          <pc:docMk/>
          <pc:sldMk cId="3263502003" sldId="2147479859"/>
        </pc:sldMkLst>
      </pc:sldChg>
      <pc:sldChg chg="modNotesTx">
        <pc:chgData name="Fahad, Ahammad" userId="82f7d7ce-da8b-4815-8cff-9b27cd434a93" providerId="ADAL" clId="{C7943E55-0349-428B-89BA-8C2A470C923A}" dt="2024-10-29T07:05:41.727" v="74" actId="20577"/>
        <pc:sldMkLst>
          <pc:docMk/>
          <pc:sldMk cId="8584337" sldId="2147479863"/>
        </pc:sldMkLst>
      </pc:sldChg>
      <pc:sldChg chg="modSp mod">
        <pc:chgData name="Fahad, Ahammad" userId="82f7d7ce-da8b-4815-8cff-9b27cd434a93" providerId="ADAL" clId="{C7943E55-0349-428B-89BA-8C2A470C923A}" dt="2024-10-31T06:11:13.141" v="710" actId="1076"/>
        <pc:sldMkLst>
          <pc:docMk/>
          <pc:sldMk cId="1486707291" sldId="2147479864"/>
        </pc:sldMkLst>
      </pc:sldChg>
      <pc:sldChg chg="addSp delSp modSp mod modAnim">
        <pc:chgData name="Fahad, Ahammad" userId="82f7d7ce-da8b-4815-8cff-9b27cd434a93" providerId="ADAL" clId="{C7943E55-0349-428B-89BA-8C2A470C923A}" dt="2024-10-31T07:54:28.651" v="1003"/>
        <pc:sldMkLst>
          <pc:docMk/>
          <pc:sldMk cId="1821433112" sldId="2147479865"/>
        </pc:sldMkLst>
      </pc:sldChg>
      <pc:sldChg chg="addSp delSp mod">
        <pc:chgData name="Fahad, Ahammad" userId="82f7d7ce-da8b-4815-8cff-9b27cd434a93" providerId="ADAL" clId="{C7943E55-0349-428B-89BA-8C2A470C923A}" dt="2025-01-09T02:24:30.563" v="1116" actId="478"/>
        <pc:sldMkLst>
          <pc:docMk/>
          <pc:sldMk cId="1770754212" sldId="2147479867"/>
        </pc:sldMkLst>
      </pc:sldChg>
    </pc:docChg>
  </pc:docChgLst>
  <pc:docChgLst>
    <pc:chgData name="Fahad, Ahammad" userId="82f7d7ce-da8b-4815-8cff-9b27cd434a93" providerId="ADAL" clId="{BB6CEE17-6D4D-4FBD-9575-D9E35182B7DA}"/>
    <pc:docChg chg="modSld">
      <pc:chgData name="Fahad, Ahammad" userId="82f7d7ce-da8b-4815-8cff-9b27cd434a93" providerId="ADAL" clId="{BB6CEE17-6D4D-4FBD-9575-D9E35182B7DA}" dt="2025-02-03T09:53:27.557" v="0" actId="1038"/>
      <pc:docMkLst>
        <pc:docMk/>
      </pc:docMkLst>
      <pc:sldChg chg="modSp mod">
        <pc:chgData name="Fahad, Ahammad" userId="82f7d7ce-da8b-4815-8cff-9b27cd434a93" providerId="ADAL" clId="{BB6CEE17-6D4D-4FBD-9575-D9E35182B7DA}" dt="2025-02-03T09:53:27.557" v="0" actId="1038"/>
        <pc:sldMkLst>
          <pc:docMk/>
          <pc:sldMk cId="2935435983" sldId="2147479857"/>
        </pc:sldMkLst>
        <pc:grpChg chg="mod">
          <ac:chgData name="Fahad, Ahammad" userId="82f7d7ce-da8b-4815-8cff-9b27cd434a93" providerId="ADAL" clId="{BB6CEE17-6D4D-4FBD-9575-D9E35182B7DA}" dt="2025-02-03T09:53:27.557" v="0" actId="1038"/>
          <ac:grpSpMkLst>
            <pc:docMk/>
            <pc:sldMk cId="2935435983" sldId="2147479857"/>
            <ac:grpSpMk id="211" creationId="{F37ABB60-B27F-CAA3-82D5-8D01227219BB}"/>
          </ac:grpSpMkLst>
        </pc:grpChg>
      </pc:sldChg>
    </pc:docChg>
  </pc:docChgLst>
  <pc:docChgLst>
    <pc:chgData name="Fahad, Ahammad" userId="82f7d7ce-da8b-4815-8cff-9b27cd434a93" providerId="ADAL" clId="{FBDAF817-BDBF-46C6-ADF9-3DDCFE687832}"/>
    <pc:docChg chg="undo custSel modSld">
      <pc:chgData name="Fahad, Ahammad" userId="82f7d7ce-da8b-4815-8cff-9b27cd434a93" providerId="ADAL" clId="{FBDAF817-BDBF-46C6-ADF9-3DDCFE687832}" dt="2025-02-19T08:12:26.730" v="344" actId="478"/>
      <pc:docMkLst>
        <pc:docMk/>
      </pc:docMkLst>
      <pc:sldChg chg="addSp delSp modSp mod delAnim modAnim">
        <pc:chgData name="Fahad, Ahammad" userId="82f7d7ce-da8b-4815-8cff-9b27cd434a93" providerId="ADAL" clId="{FBDAF817-BDBF-46C6-ADF9-3DDCFE687832}" dt="2025-02-19T08:12:26.730" v="344" actId="478"/>
        <pc:sldMkLst>
          <pc:docMk/>
          <pc:sldMk cId="3143609025" sldId="2147479830"/>
        </pc:sldMkLst>
        <pc:spChg chg="mod">
          <ac:chgData name="Fahad, Ahammad" userId="82f7d7ce-da8b-4815-8cff-9b27cd434a93" providerId="ADAL" clId="{FBDAF817-BDBF-46C6-ADF9-3DDCFE687832}" dt="2025-02-19T08:03:07.545" v="8" actId="14100"/>
          <ac:spMkLst>
            <pc:docMk/>
            <pc:sldMk cId="3143609025" sldId="2147479830"/>
            <ac:spMk id="10" creationId="{01DA7510-87DB-AA6C-6B06-2089AE80052C}"/>
          </ac:spMkLst>
        </pc:spChg>
        <pc:spChg chg="mod">
          <ac:chgData name="Fahad, Ahammad" userId="82f7d7ce-da8b-4815-8cff-9b27cd434a93" providerId="ADAL" clId="{FBDAF817-BDBF-46C6-ADF9-3DDCFE687832}" dt="2025-02-19T08:09:37.539" v="294" actId="113"/>
          <ac:spMkLst>
            <pc:docMk/>
            <pc:sldMk cId="3143609025" sldId="2147479830"/>
            <ac:spMk id="11" creationId="{3A120EAD-35BA-20C8-DBB0-81176BD45A5A}"/>
          </ac:spMkLst>
        </pc:spChg>
        <pc:spChg chg="mod">
          <ac:chgData name="Fahad, Ahammad" userId="82f7d7ce-da8b-4815-8cff-9b27cd434a93" providerId="ADAL" clId="{FBDAF817-BDBF-46C6-ADF9-3DDCFE687832}" dt="2025-02-19T08:05:28.022" v="11" actId="1076"/>
          <ac:spMkLst>
            <pc:docMk/>
            <pc:sldMk cId="3143609025" sldId="2147479830"/>
            <ac:spMk id="43" creationId="{86546DB8-7788-5A3F-10E8-9B50A6C185D5}"/>
          </ac:spMkLst>
        </pc:spChg>
        <pc:spChg chg="mod">
          <ac:chgData name="Fahad, Ahammad" userId="82f7d7ce-da8b-4815-8cff-9b27cd434a93" providerId="ADAL" clId="{FBDAF817-BDBF-46C6-ADF9-3DDCFE687832}" dt="2025-02-19T08:02:53.623" v="7" actId="114"/>
          <ac:spMkLst>
            <pc:docMk/>
            <pc:sldMk cId="3143609025" sldId="2147479830"/>
            <ac:spMk id="59" creationId="{783EAFEE-FB9E-AC9A-E0D3-C9C135E0DDA1}"/>
          </ac:spMkLst>
        </pc:spChg>
        <pc:spChg chg="mod">
          <ac:chgData name="Fahad, Ahammad" userId="82f7d7ce-da8b-4815-8cff-9b27cd434a93" providerId="ADAL" clId="{FBDAF817-BDBF-46C6-ADF9-3DDCFE687832}" dt="2025-02-19T08:02:42.370" v="4" actId="114"/>
          <ac:spMkLst>
            <pc:docMk/>
            <pc:sldMk cId="3143609025" sldId="2147479830"/>
            <ac:spMk id="61" creationId="{330954D1-C7C2-63D7-41DC-D5772DBDD0A3}"/>
          </ac:spMkLst>
        </pc:spChg>
        <pc:spChg chg="add del mod">
          <ac:chgData name="Fahad, Ahammad" userId="82f7d7ce-da8b-4815-8cff-9b27cd434a93" providerId="ADAL" clId="{FBDAF817-BDBF-46C6-ADF9-3DDCFE687832}" dt="2025-02-19T08:10:23.743" v="313" actId="478"/>
          <ac:spMkLst>
            <pc:docMk/>
            <pc:sldMk cId="3143609025" sldId="2147479830"/>
            <ac:spMk id="66" creationId="{1ECA5881-1172-3D13-D695-5187CB32F1D0}"/>
          </ac:spMkLst>
        </pc:spChg>
        <pc:spChg chg="add del mod">
          <ac:chgData name="Fahad, Ahammad" userId="82f7d7ce-da8b-4815-8cff-9b27cd434a93" providerId="ADAL" clId="{FBDAF817-BDBF-46C6-ADF9-3DDCFE687832}" dt="2025-02-19T08:11:12.975" v="317" actId="478"/>
          <ac:spMkLst>
            <pc:docMk/>
            <pc:sldMk cId="3143609025" sldId="2147479830"/>
            <ac:spMk id="68" creationId="{6714693E-C629-1BF3-AD89-7F56AD7F4BA9}"/>
          </ac:spMkLst>
        </pc:spChg>
        <pc:spChg chg="add mod">
          <ac:chgData name="Fahad, Ahammad" userId="82f7d7ce-da8b-4815-8cff-9b27cd434a93" providerId="ADAL" clId="{FBDAF817-BDBF-46C6-ADF9-3DDCFE687832}" dt="2025-02-19T08:12:14.149" v="341" actId="1076"/>
          <ac:spMkLst>
            <pc:docMk/>
            <pc:sldMk cId="3143609025" sldId="2147479830"/>
            <ac:spMk id="81" creationId="{43A45764-EC8D-71E9-12A4-8A05A8F20BD4}"/>
          </ac:spMkLst>
        </pc:spChg>
        <pc:cxnChg chg="mod">
          <ac:chgData name="Fahad, Ahammad" userId="82f7d7ce-da8b-4815-8cff-9b27cd434a93" providerId="ADAL" clId="{FBDAF817-BDBF-46C6-ADF9-3DDCFE687832}" dt="2025-02-19T08:04:45.450" v="10" actId="1076"/>
          <ac:cxnSpMkLst>
            <pc:docMk/>
            <pc:sldMk cId="3143609025" sldId="2147479830"/>
            <ac:cxnSpMk id="12" creationId="{9786A92A-A069-0F18-B67D-CD3BD7BB529F}"/>
          </ac:cxnSpMkLst>
        </pc:cxnChg>
        <pc:cxnChg chg="mod">
          <ac:chgData name="Fahad, Ahammad" userId="82f7d7ce-da8b-4815-8cff-9b27cd434a93" providerId="ADAL" clId="{FBDAF817-BDBF-46C6-ADF9-3DDCFE687832}" dt="2025-02-19T08:05:28.022" v="11" actId="1076"/>
          <ac:cxnSpMkLst>
            <pc:docMk/>
            <pc:sldMk cId="3143609025" sldId="2147479830"/>
            <ac:cxnSpMk id="47" creationId="{E2CE1036-63A8-84CC-06A2-AE99CA817DD0}"/>
          </ac:cxnSpMkLst>
        </pc:cxnChg>
        <pc:cxnChg chg="mod">
          <ac:chgData name="Fahad, Ahammad" userId="82f7d7ce-da8b-4815-8cff-9b27cd434a93" providerId="ADAL" clId="{FBDAF817-BDBF-46C6-ADF9-3DDCFE687832}" dt="2025-02-19T08:04:45.450" v="10" actId="1076"/>
          <ac:cxnSpMkLst>
            <pc:docMk/>
            <pc:sldMk cId="3143609025" sldId="2147479830"/>
            <ac:cxnSpMk id="50" creationId="{21DBF7E5-D466-AEC6-F95B-E66F29F5DAF9}"/>
          </ac:cxnSpMkLst>
        </pc:cxnChg>
        <pc:cxnChg chg="add del mod">
          <ac:chgData name="Fahad, Ahammad" userId="82f7d7ce-da8b-4815-8cff-9b27cd434a93" providerId="ADAL" clId="{FBDAF817-BDBF-46C6-ADF9-3DDCFE687832}" dt="2025-02-19T08:12:26.730" v="344" actId="478"/>
          <ac:cxnSpMkLst>
            <pc:docMk/>
            <pc:sldMk cId="3143609025" sldId="2147479830"/>
            <ac:cxnSpMk id="82" creationId="{0E522F59-F71D-40CB-1EE6-68255C5D046F}"/>
          </ac:cxnSpMkLst>
        </pc:cxn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dirty="0">
              <a:solidFill>
                <a:schemeClr val="bg1">
                  <a:lumMod val="50000"/>
                </a:schemeClr>
              </a:solidFill>
              <a:latin typeface="Barlow" pitchFamily="2" charset="77"/>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smtClean="0">
                <a:solidFill>
                  <a:schemeClr val="bg1">
                    <a:lumMod val="50000"/>
                  </a:schemeClr>
                </a:solidFill>
                <a:latin typeface="Barlow" pitchFamily="2" charset="77"/>
                <a:cs typeface="Arial" panose="020B0604020202020204" pitchFamily="34" charset="0"/>
              </a:rPr>
              <a:t>‹#›</a:t>
            </a:fld>
            <a:endParaRPr lang="en-US" dirty="0">
              <a:solidFill>
                <a:schemeClr val="bg1">
                  <a:lumMod val="50000"/>
                </a:schemeClr>
              </a:solidFill>
              <a:latin typeface="Barlow" pitchFamily="2" charset="77"/>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u="none" strike="noStrike" kern="1200" cap="none" spc="0" normalizeH="0" baseline="0" noProof="0" dirty="0">
                <a:ln>
                  <a:noFill/>
                </a:ln>
                <a:solidFill>
                  <a:srgbClr val="FFFFFF">
                    <a:lumMod val="65000"/>
                  </a:srgbClr>
                </a:solidFill>
                <a:effectLst/>
                <a:uLnTx/>
                <a:uFillTx/>
                <a:latin typeface="Barlow" pitchFamily="2" charset="77"/>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dirty="0">
              <a:solidFill>
                <a:schemeClr val="bg1">
                  <a:lumMod val="50000"/>
                </a:schemeClr>
              </a:solidFill>
              <a:latin typeface="Barlow" pitchFamily="2" charset="77"/>
              <a:cs typeface="Arial" panose="020B0604020202020204" pitchFamily="34" charset="0"/>
            </a:endParaRPr>
          </a:p>
        </p:txBody>
      </p:sp>
      <p:pic>
        <p:nvPicPr>
          <p:cNvPr id="9" name="Picture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
        <p:nvSpPr>
          <p:cNvPr id="2" name="Date Placeholder 1">
            <a:extLst>
              <a:ext uri="{FF2B5EF4-FFF2-40B4-BE49-F238E27FC236}">
                <a16:creationId xmlns:a16="http://schemas.microsoft.com/office/drawing/2014/main" id="{45A4C274-FC20-274E-ABAE-1B6BD23BAFA2}"/>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E37C9AD1-494E-6A4E-8F5F-425D5063F09E}" type="datetimeFigureOut">
              <a:rPr lang="en-US" smtClean="0"/>
              <a:t>2/19/2025</a:t>
            </a:fld>
            <a:endParaRPr lang="en-US"/>
          </a:p>
        </p:txBody>
      </p:sp>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928"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b="0" i="0">
                <a:latin typeface="Barlow" pitchFamily="2" charset="77"/>
                <a:cs typeface="Arial" panose="020B0604020202020204" pitchFamily="34" charset="0"/>
              </a:defRPr>
            </a:lvl1pPr>
          </a:lstStyle>
          <a:p>
            <a:r>
              <a:rPr lang="en-US"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0" i="0">
                <a:solidFill>
                  <a:schemeClr val="tx1">
                    <a:lumMod val="50000"/>
                    <a:lumOff val="50000"/>
                  </a:schemeClr>
                </a:solidFill>
                <a:latin typeface="Barlow" pitchFamily="2" charset="77"/>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lumMod val="65000"/>
                  </a:srgbClr>
                </a:solidFill>
                <a:effectLst/>
                <a:uLnTx/>
                <a:uFillTx/>
                <a:latin typeface="Barlow" pitchFamily="2" charset="77"/>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b="0" i="0">
                <a:latin typeface="Barlow" pitchFamily="2" charset="77"/>
              </a:defRPr>
            </a:lvl1pPr>
          </a:lstStyle>
          <a:p>
            <a:endParaRPr lang="en-US" sz="1000" dirty="0">
              <a:solidFill>
                <a:schemeClr val="bg1">
                  <a:lumMod val="50000"/>
                </a:schemeClr>
              </a:solidFill>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b="0" i="0">
                <a:latin typeface="Barlow" pitchFamily="2" charset="77"/>
              </a:defRPr>
            </a:lvl1pPr>
          </a:lstStyle>
          <a:p>
            <a:fld id="{2C2AD557-2032-D74A-B281-F0540E660787}" type="datetimeFigureOut">
              <a:rPr lang="en-US" sz="1000" smtClean="0">
                <a:solidFill>
                  <a:schemeClr val="bg1">
                    <a:lumMod val="50000"/>
                  </a:schemeClr>
                </a:solidFill>
                <a:cs typeface="Arial" panose="020B0604020202020204" pitchFamily="34" charset="0"/>
              </a:rPr>
              <a:pPr/>
              <a:t>2/19/2025</a:t>
            </a:fld>
            <a:endParaRPr lang="en-US" sz="1000" dirty="0">
              <a:solidFill>
                <a:schemeClr val="bg1">
                  <a:lumMod val="50000"/>
                </a:schemeClr>
              </a:solidFill>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b="0" i="0" kern="1200">
        <a:solidFill>
          <a:schemeClr val="tx1">
            <a:lumMod val="50000"/>
            <a:lumOff val="50000"/>
          </a:schemeClr>
        </a:solidFill>
        <a:latin typeface="Barlow" pitchFamily="2" charset="77"/>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a:t>
            </a:fld>
            <a:endParaRPr lang="en-US" dirty="0"/>
          </a:p>
        </p:txBody>
      </p:sp>
    </p:spTree>
    <p:extLst>
      <p:ext uri="{BB962C8B-B14F-4D97-AF65-F5344CB8AC3E}">
        <p14:creationId xmlns:p14="http://schemas.microsoft.com/office/powerpoint/2010/main" val="471907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3 elements in given USB PD charging circuit: Source, Sink, Cable and connector </a:t>
            </a:r>
          </a:p>
          <a:p>
            <a:r>
              <a:rPr lang="en-US" dirty="0"/>
              <a:t>What is the need for USB Type C PD Charging? Ans: Standardization: More Devices are adopting Type C for charging. The power/voltage range of this device varies from 5V-20V (25W – 100W (5A)). </a:t>
            </a:r>
            <a:r>
              <a:rPr lang="en-US" dirty="0" err="1"/>
              <a:t>Eg</a:t>
            </a:r>
            <a:r>
              <a:rPr lang="en-US" dirty="0"/>
              <a:t>: A Bluetooth Speaker can be an </a:t>
            </a:r>
            <a:r>
              <a:rPr lang="en-US" dirty="0" err="1"/>
              <a:t>eg</a:t>
            </a:r>
            <a:r>
              <a:rPr lang="en-US" dirty="0"/>
              <a:t> for lower power requirement while a typical Laptop can be taking 60W (20V, 3A) of power. </a:t>
            </a:r>
          </a:p>
          <a:p>
            <a:r>
              <a:rPr lang="en-US" dirty="0"/>
              <a:t>The solution is using a Power Delivery Feature of a power adapter. Basically, we can use the same adapter to charge both devices of different power requirement.</a:t>
            </a:r>
          </a:p>
          <a:p>
            <a:r>
              <a:rPr lang="en-US" dirty="0"/>
              <a:t>Limitation of USB PD for fast charging – Example single cell application with charging current of 3A, Using of Switching converter -&gt; Low efficiency of </a:t>
            </a:r>
          </a:p>
          <a:p>
            <a:r>
              <a:rPr lang="en-US" dirty="0"/>
              <a:t>Why PPS? Under PD 3.0, we have additional specification called PPS. Programmable Power Supply where we can change the voltage in small steps of 20mV from 3.3V-20V.</a:t>
            </a:r>
          </a:p>
          <a:p>
            <a:r>
              <a:rPr lang="en-US" dirty="0"/>
              <a:t>Why do we need PPS? Have you wondered how the modern smart phones is charging quickly without much heating? Smart phones -&gt; Larger Batteries -&gt; Higher Charging current -&gt; Complex Charging method to gain higher efficiency for higher current? Suppose for a single cell application</a:t>
            </a:r>
          </a:p>
        </p:txBody>
      </p:sp>
      <p:sp>
        <p:nvSpPr>
          <p:cNvPr id="4" name="Slide Number Placeholder 3"/>
          <p:cNvSpPr>
            <a:spLocks noGrp="1"/>
          </p:cNvSpPr>
          <p:nvPr>
            <p:ph type="sldNum" sz="quarter" idx="5"/>
          </p:nvPr>
        </p:nvSpPr>
        <p:spPr/>
        <p:txBody>
          <a:bodyPr/>
          <a:lstStyle/>
          <a:p>
            <a:fld id="{900B8651-D313-4300-801F-836567026953}" type="slidenum">
              <a:rPr lang="en-US" smtClean="0"/>
              <a:pPr/>
              <a:t>2</a:t>
            </a:fld>
            <a:endParaRPr lang="en-US" dirty="0"/>
          </a:p>
        </p:txBody>
      </p:sp>
    </p:spTree>
    <p:extLst>
      <p:ext uri="{BB962C8B-B14F-4D97-AF65-F5344CB8AC3E}">
        <p14:creationId xmlns:p14="http://schemas.microsoft.com/office/powerpoint/2010/main" val="1459137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For today’s agenda, we will start with USB C Fundamentals understanding of various roles that a device can take, How a typical USB Type C fast charging solution looks like and how our ICs fit into those solutions, then we will briefly discuss on how the sink understands the source current capability upon connection</a:t>
            </a:r>
          </a:p>
          <a:p>
            <a:pPr marL="0" indent="0">
              <a:buNone/>
            </a:pPr>
            <a:endParaRPr lang="en-US" dirty="0"/>
          </a:p>
          <a:p>
            <a:pPr marL="0" indent="0">
              <a:buNone/>
            </a:pPr>
            <a:r>
              <a:rPr lang="en-US" dirty="0"/>
              <a:t>Then we will move to USB PD charging</a:t>
            </a:r>
          </a:p>
          <a:p>
            <a:pPr marL="0" indent="0">
              <a:buNone/>
            </a:pPr>
            <a:endParaRPr lang="en-US" dirty="0"/>
          </a:p>
          <a:p>
            <a:pPr marL="0" indent="0">
              <a:buNone/>
            </a:pPr>
            <a:r>
              <a:rPr lang="en-US" dirty="0"/>
              <a:t>In the USB PD Charging section, we will discuss on how a </a:t>
            </a:r>
            <a:r>
              <a:rPr lang="en-US" dirty="0" err="1"/>
              <a:t>a</a:t>
            </a:r>
            <a:r>
              <a:rPr lang="en-US" dirty="0"/>
              <a:t> sink negotiates with a source for different PD profiles, commands for doing the same, and role of an additional MCU for doing Dynamic Voltage Negotiation and how it can increase the efficiency.</a:t>
            </a:r>
          </a:p>
          <a:p>
            <a:pPr marL="0" indent="0">
              <a:buNone/>
            </a:pPr>
            <a:endParaRPr lang="en-US" dirty="0"/>
          </a:p>
          <a:p>
            <a:pPr marL="0" indent="0">
              <a:buNone/>
            </a:pPr>
            <a:r>
              <a:rPr lang="en-US" dirty="0"/>
              <a:t>But For higher charging currents, the PD charging solution will heat up, which leads to the discussion of what is direct charging, and how it helps to reduce the heating for the same charging current as before.</a:t>
            </a:r>
          </a:p>
          <a:p>
            <a:pPr marL="0" indent="0">
              <a:buNone/>
            </a:pPr>
            <a:endParaRPr lang="en-US" dirty="0"/>
          </a:p>
          <a:p>
            <a:pPr marL="0" indent="0">
              <a:buNone/>
            </a:pPr>
            <a:r>
              <a:rPr lang="en-US" dirty="0"/>
              <a:t>Then we do an efficiency analysis between the two solutions and establish the difference!</a:t>
            </a:r>
          </a:p>
        </p:txBody>
      </p:sp>
      <p:sp>
        <p:nvSpPr>
          <p:cNvPr id="4" name="Slide Number Placeholder 3"/>
          <p:cNvSpPr>
            <a:spLocks noGrp="1"/>
          </p:cNvSpPr>
          <p:nvPr>
            <p:ph type="sldNum" sz="quarter" idx="5"/>
          </p:nvPr>
        </p:nvSpPr>
        <p:spPr/>
        <p:txBody>
          <a:bodyPr/>
          <a:lstStyle/>
          <a:p>
            <a:fld id="{900B8651-D313-4300-801F-836567026953}" type="slidenum">
              <a:rPr lang="en-US" smtClean="0"/>
              <a:pPr/>
              <a:t>3</a:t>
            </a:fld>
            <a:endParaRPr lang="en-US" dirty="0"/>
          </a:p>
        </p:txBody>
      </p:sp>
    </p:spTree>
    <p:extLst>
      <p:ext uri="{BB962C8B-B14F-4D97-AF65-F5344CB8AC3E}">
        <p14:creationId xmlns:p14="http://schemas.microsoft.com/office/powerpoint/2010/main" val="357909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Let’s go through the USB C fundamentals briefly</a:t>
            </a:r>
          </a:p>
        </p:txBody>
      </p:sp>
      <p:sp>
        <p:nvSpPr>
          <p:cNvPr id="4" name="Slide Number Placeholder 3"/>
          <p:cNvSpPr>
            <a:spLocks noGrp="1"/>
          </p:cNvSpPr>
          <p:nvPr>
            <p:ph type="sldNum" sz="quarter" idx="5"/>
          </p:nvPr>
        </p:nvSpPr>
        <p:spPr/>
        <p:txBody>
          <a:bodyPr/>
          <a:lstStyle/>
          <a:p>
            <a:fld id="{900B8651-D313-4300-801F-836567026953}" type="slidenum">
              <a:rPr lang="en-US" smtClean="0"/>
              <a:pPr/>
              <a:t>4</a:t>
            </a:fld>
            <a:endParaRPr lang="en-US" dirty="0"/>
          </a:p>
        </p:txBody>
      </p:sp>
    </p:spTree>
    <p:extLst>
      <p:ext uri="{BB962C8B-B14F-4D97-AF65-F5344CB8AC3E}">
        <p14:creationId xmlns:p14="http://schemas.microsoft.com/office/powerpoint/2010/main" val="2778765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In a typical charging application, a device can take different roles.</a:t>
            </a:r>
          </a:p>
          <a:p>
            <a:pPr marL="0" indent="0">
              <a:buNone/>
            </a:pPr>
            <a:endParaRPr lang="en-US" dirty="0"/>
          </a:p>
          <a:p>
            <a:pPr marL="0" indent="0">
              <a:buNone/>
            </a:pPr>
            <a:r>
              <a:rPr lang="en-US" dirty="0"/>
              <a:t>When it comes to power, there are three categories: Source capable of providing power e.g. Adapter, sink which takes the power say a camera and we have something called Dual Role Port</a:t>
            </a:r>
          </a:p>
          <a:p>
            <a:pPr marL="0" indent="0">
              <a:buNone/>
            </a:pPr>
            <a:r>
              <a:rPr lang="en-US" dirty="0"/>
              <a:t>Which can provide as well as take like in the case of a power bank.</a:t>
            </a:r>
          </a:p>
          <a:p>
            <a:pPr marL="0" indent="0">
              <a:buNone/>
            </a:pPr>
            <a:endParaRPr lang="en-US" dirty="0"/>
          </a:p>
          <a:p>
            <a:pPr marL="0" indent="0">
              <a:buNone/>
            </a:pPr>
            <a:r>
              <a:rPr lang="en-US" dirty="0"/>
              <a:t>There are another three categories for data namely DFP (Downstream Facing Port) capable of sending data say a PD adapter sending its source capabilities to the device connected, UFP (Upstream Facing Port) capable of receiving data e.g. monitor receiving data from laptop for screensharing and finally DRD (Dual Role Device) say a laptop which is capable of both sending and receiving data</a:t>
            </a:r>
          </a:p>
        </p:txBody>
      </p:sp>
      <p:sp>
        <p:nvSpPr>
          <p:cNvPr id="4" name="Slide Number Placeholder 3"/>
          <p:cNvSpPr>
            <a:spLocks noGrp="1"/>
          </p:cNvSpPr>
          <p:nvPr>
            <p:ph type="sldNum" sz="quarter" idx="5"/>
          </p:nvPr>
        </p:nvSpPr>
        <p:spPr/>
        <p:txBody>
          <a:bodyPr/>
          <a:lstStyle/>
          <a:p>
            <a:fld id="{900B8651-D313-4300-801F-836567026953}" type="slidenum">
              <a:rPr lang="en-US" smtClean="0"/>
              <a:pPr/>
              <a:t>5</a:t>
            </a:fld>
            <a:endParaRPr lang="en-US" dirty="0"/>
          </a:p>
        </p:txBody>
      </p:sp>
    </p:spTree>
    <p:extLst>
      <p:ext uri="{BB962C8B-B14F-4D97-AF65-F5344CB8AC3E}">
        <p14:creationId xmlns:p14="http://schemas.microsoft.com/office/powerpoint/2010/main" val="823013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 Now, lets see understand how a typical fast charging solution looks like:</a:t>
            </a:r>
          </a:p>
          <a:p>
            <a:pPr marL="0" indent="0">
              <a:buNone/>
            </a:pPr>
            <a:endParaRPr lang="en-US" dirty="0"/>
          </a:p>
          <a:p>
            <a:pPr marL="0" indent="0">
              <a:buNone/>
            </a:pPr>
            <a:r>
              <a:rPr lang="en-US" dirty="0"/>
              <a:t>The source mainly consists of a PD controller having PPS capability which in combination with an internal or external buck boost controller to provide different voltage levels at VBUS based on the request from the sink. The VSUPPLY can be either from a car battery for automotive applications or from a flyback for consumer applications</a:t>
            </a:r>
          </a:p>
          <a:p>
            <a:pPr marL="0" indent="0">
              <a:buNone/>
            </a:pPr>
            <a:endParaRPr lang="en-US" dirty="0"/>
          </a:p>
          <a:p>
            <a:pPr marL="0" indent="0">
              <a:buNone/>
            </a:pPr>
            <a:r>
              <a:rPr lang="en-US" dirty="0"/>
              <a:t>Some PD controller requires a microcontroller and others can work standalone.</a:t>
            </a:r>
          </a:p>
          <a:p>
            <a:pPr marL="0" indent="0">
              <a:buNone/>
            </a:pPr>
            <a:endParaRPr lang="en-US" dirty="0"/>
          </a:p>
          <a:p>
            <a:pPr marL="0" indent="0">
              <a:buNone/>
            </a:pPr>
            <a:r>
              <a:rPr lang="en-US" dirty="0"/>
              <a:t>The Sink will have a PD controller which is again PPS capable and can work on standalone as well as used along with a microcontroller. A charger whose topology can be buck, boost or buck-boost based on the cell configuration, a fuel gauge for monitoring the battery parameters and finally a load switch or SCC.</a:t>
            </a:r>
          </a:p>
          <a:p>
            <a:pPr marL="0" indent="0">
              <a:buNone/>
            </a:pPr>
            <a:endParaRPr lang="en-US" dirty="0"/>
          </a:p>
          <a:p>
            <a:pPr marL="0" indent="0">
              <a:buNone/>
            </a:pPr>
            <a:r>
              <a:rPr lang="en-US" dirty="0"/>
              <a:t>Suppose, if a power adapter is PPS capable, then the sink switches to Fast charging using the LSW/SCC otherwise the sink goes to PD charging using the charger.</a:t>
            </a:r>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6</a:t>
            </a:fld>
            <a:endParaRPr lang="en-US" dirty="0"/>
          </a:p>
        </p:txBody>
      </p:sp>
    </p:spTree>
    <p:extLst>
      <p:ext uri="{BB962C8B-B14F-4D97-AF65-F5344CB8AC3E}">
        <p14:creationId xmlns:p14="http://schemas.microsoft.com/office/powerpoint/2010/main" val="3664906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In our Portfolio, we primarily have two ICs for PD controllers.</a:t>
            </a:r>
          </a:p>
          <a:p>
            <a:pPr marL="0" indent="0">
              <a:buNone/>
            </a:pPr>
            <a:endParaRPr lang="en-US" dirty="0"/>
          </a:p>
          <a:p>
            <a:pPr marL="0" indent="0">
              <a:buNone/>
            </a:pPr>
            <a:r>
              <a:rPr lang="en-US" dirty="0"/>
              <a:t>One is MAX77958, which can be used in both source and sink side. But when it comes to source side, it is only PD capable and not PPS.</a:t>
            </a:r>
          </a:p>
          <a:p>
            <a:pPr marL="0" indent="0">
              <a:buNone/>
            </a:pPr>
            <a:endParaRPr lang="en-US" dirty="0"/>
          </a:p>
          <a:p>
            <a:pPr marL="0" indent="0">
              <a:buNone/>
            </a:pPr>
            <a:r>
              <a:rPr lang="en-US" dirty="0"/>
              <a:t>The Other one is MAX25432 which can only be used in the source side but unlike MAX77958 it is capable of PPS.</a:t>
            </a:r>
          </a:p>
          <a:p>
            <a:pPr marL="0" indent="0">
              <a:buNone/>
            </a:pPr>
            <a:endParaRPr lang="en-US" dirty="0"/>
          </a:p>
          <a:p>
            <a:pPr marL="0" indent="0">
              <a:buNone/>
            </a:pPr>
            <a:r>
              <a:rPr lang="en-US" dirty="0"/>
              <a:t>MAX25432 is an automotive grade IC used for automotive applications while MAX77958 is primarily meant for consumer applications.</a:t>
            </a:r>
          </a:p>
          <a:p>
            <a:pPr marL="0" indent="0">
              <a:buNone/>
            </a:pPr>
            <a:endParaRPr lang="en-US" dirty="0"/>
          </a:p>
          <a:p>
            <a:pPr marL="0" indent="0">
              <a:buNone/>
            </a:pPr>
            <a:r>
              <a:rPr lang="en-US" dirty="0"/>
              <a:t>MAX25432 especially the B version, needs a micro to do a part of the software but MAX77958 can be operated in standalone as well as with a MCU for more flexibility.</a:t>
            </a:r>
          </a:p>
          <a:p>
            <a:pPr marL="0" indent="0">
              <a:buNone/>
            </a:pPr>
            <a:endParaRPr lang="en-US" dirty="0"/>
          </a:p>
          <a:p>
            <a:pPr marL="0" indent="0">
              <a:buNone/>
            </a:pPr>
            <a:r>
              <a:rPr lang="en-US" dirty="0"/>
              <a:t>MAX77958 is meant for applications like PD adapter working in source mode, then for Power bank while configured for DRP mode and for charging consumer appliances like Camera, VR headset and so on.</a:t>
            </a:r>
          </a:p>
          <a:p>
            <a:pPr marL="0" indent="0">
              <a:buNone/>
            </a:pPr>
            <a:endParaRPr lang="en-US" dirty="0"/>
          </a:p>
          <a:p>
            <a:pPr marL="0" indent="0">
              <a:buNone/>
            </a:pPr>
            <a:r>
              <a:rPr lang="en-US" dirty="0"/>
              <a:t>MAX25432 in the other case can be used for applications like automotive dashboard charging, Conference Hubs, Dedicated Charging modules and so on….</a:t>
            </a:r>
          </a:p>
        </p:txBody>
      </p:sp>
      <p:sp>
        <p:nvSpPr>
          <p:cNvPr id="4" name="Slide Number Placeholder 3"/>
          <p:cNvSpPr>
            <a:spLocks noGrp="1"/>
          </p:cNvSpPr>
          <p:nvPr>
            <p:ph type="sldNum" sz="quarter" idx="5"/>
          </p:nvPr>
        </p:nvSpPr>
        <p:spPr/>
        <p:txBody>
          <a:bodyPr/>
          <a:lstStyle/>
          <a:p>
            <a:fld id="{900B8651-D313-4300-801F-836567026953}" type="slidenum">
              <a:rPr lang="en-US" smtClean="0"/>
              <a:pPr/>
              <a:t>7</a:t>
            </a:fld>
            <a:endParaRPr lang="en-US" dirty="0"/>
          </a:p>
        </p:txBody>
      </p:sp>
    </p:spTree>
    <p:extLst>
      <p:ext uri="{BB962C8B-B14F-4D97-AF65-F5344CB8AC3E}">
        <p14:creationId xmlns:p14="http://schemas.microsoft.com/office/powerpoint/2010/main" val="1778426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Now let’s see, how our ICs fits into the solution.</a:t>
            </a:r>
          </a:p>
          <a:p>
            <a:pPr marL="0" indent="0">
              <a:buNone/>
            </a:pPr>
            <a:endParaRPr lang="en-US" dirty="0"/>
          </a:p>
          <a:p>
            <a:pPr marL="0" indent="0">
              <a:buNone/>
            </a:pPr>
            <a:r>
              <a:rPr lang="en-US" dirty="0"/>
              <a:t>In source side, we can use MAX25432 basically a Type C Port Controller (TCPC) which is capable of doing both PD and PPS and has an integrated buck boost controller.</a:t>
            </a:r>
          </a:p>
          <a:p>
            <a:pPr marL="0" indent="0">
              <a:buNone/>
            </a:pPr>
            <a:endParaRPr lang="en-US" dirty="0"/>
          </a:p>
          <a:p>
            <a:pPr marL="0" indent="0">
              <a:buNone/>
            </a:pPr>
            <a:r>
              <a:rPr lang="en-US" dirty="0"/>
              <a:t>The TCPC has to be managed by a TCPM which stands for Type C port Manager, in this case a microcontroller MAX32660.</a:t>
            </a:r>
          </a:p>
          <a:p>
            <a:pPr marL="0" indent="0">
              <a:buNone/>
            </a:pPr>
            <a:endParaRPr lang="en-US" dirty="0"/>
          </a:p>
          <a:p>
            <a:pPr marL="0" indent="0">
              <a:buNone/>
            </a:pPr>
            <a:r>
              <a:rPr lang="en-US" dirty="0"/>
              <a:t>This combination is capable of providing fixed voltages such as 5, 9, 15, 20V for PD charging and 3.3 – 21V in steps of 20mV to support PPS charging.</a:t>
            </a:r>
          </a:p>
          <a:p>
            <a:pPr marL="0" indent="0">
              <a:buNone/>
            </a:pPr>
            <a:endParaRPr lang="en-US" dirty="0"/>
          </a:p>
          <a:p>
            <a:pPr marL="0" indent="0">
              <a:buNone/>
            </a:pPr>
            <a:r>
              <a:rPr lang="en-US" dirty="0"/>
              <a:t>In Sink side, considering a single cell charging topology, MAX77958 is used as PD controller along with MAX77986 buck charger to implement PD charging.</a:t>
            </a:r>
          </a:p>
          <a:p>
            <a:pPr marL="0" indent="0">
              <a:buNone/>
            </a:pPr>
            <a:r>
              <a:rPr lang="en-US" dirty="0"/>
              <a:t>For Fast Charging, an MCU is utilized along with MAX77958,  LTC7825 switched capacitor and a single cell Fuel Gauge for monitoring battery parameters for developing the charging state machine</a:t>
            </a:r>
          </a:p>
          <a:p>
            <a:pPr marL="0" indent="0">
              <a:buNone/>
            </a:pPr>
            <a:endParaRPr lang="en-US" dirty="0"/>
          </a:p>
          <a:p>
            <a:pPr marL="0" indent="0">
              <a:buNone/>
            </a:pPr>
            <a:endParaRPr lang="en-US" dirty="0"/>
          </a:p>
          <a:p>
            <a:pPr marL="0" indent="0">
              <a:buNone/>
            </a:pPr>
            <a:endParaRPr lang="en-US" dirty="0"/>
          </a:p>
          <a:p>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8</a:t>
            </a:fld>
            <a:endParaRPr lang="en-US" dirty="0"/>
          </a:p>
        </p:txBody>
      </p:sp>
    </p:spTree>
    <p:extLst>
      <p:ext uri="{BB962C8B-B14F-4D97-AF65-F5344CB8AC3E}">
        <p14:creationId xmlns:p14="http://schemas.microsoft.com/office/powerpoint/2010/main" val="1943572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Font typeface="Wingdings" panose="05000000000000000000" pitchFamily="2" charset="2"/>
              <a:buNone/>
            </a:pPr>
            <a:r>
              <a:rPr lang="en-US" dirty="0"/>
              <a:t>Before moving to USB PD Charging, we need to understand how a basic communication happens between a source and sink.</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Let us take the example of how a sink walkie talkie in this case reads the source current capabilities and initiates standard 5V charging.</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The adapter mainly consists of a pull up resistance Rp which is designed by the manufacturer based on its current capabilities.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The sink on the other hand will have a pull resistance Rd.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Upon connection, either of the CC pins, CC1 or CC2 will be active at a time and complete the resistor divider.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The CC detection chip inside the sink, will monitor the voltage at the cc pin and configure the input current limit of the charger IC inside it and enables it.</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This completes the standard 5V charging.</a:t>
            </a:r>
          </a:p>
        </p:txBody>
      </p:sp>
      <p:sp>
        <p:nvSpPr>
          <p:cNvPr id="4" name="Slide Number Placeholder 3"/>
          <p:cNvSpPr>
            <a:spLocks noGrp="1"/>
          </p:cNvSpPr>
          <p:nvPr>
            <p:ph type="sldNum" sz="quarter" idx="5"/>
          </p:nvPr>
        </p:nvSpPr>
        <p:spPr/>
        <p:txBody>
          <a:bodyPr/>
          <a:lstStyle/>
          <a:p>
            <a:fld id="{900B8651-D313-4300-801F-836567026953}" type="slidenum">
              <a:rPr lang="en-US" smtClean="0"/>
              <a:pPr/>
              <a:t>9</a:t>
            </a:fld>
            <a:endParaRPr lang="en-US" dirty="0"/>
          </a:p>
        </p:txBody>
      </p:sp>
    </p:spTree>
    <p:extLst>
      <p:ext uri="{BB962C8B-B14F-4D97-AF65-F5344CB8AC3E}">
        <p14:creationId xmlns:p14="http://schemas.microsoft.com/office/powerpoint/2010/main" val="4200817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10</a:t>
            </a:fld>
            <a:endParaRPr lang="en-US" dirty="0"/>
          </a:p>
        </p:txBody>
      </p:sp>
    </p:spTree>
    <p:extLst>
      <p:ext uri="{BB962C8B-B14F-4D97-AF65-F5344CB8AC3E}">
        <p14:creationId xmlns:p14="http://schemas.microsoft.com/office/powerpoint/2010/main" val="2629968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As we know different sinks will support different voltage levels but comes with standard type c connector.</a:t>
            </a:r>
          </a:p>
          <a:p>
            <a:pPr marL="0" indent="0">
              <a:buNone/>
            </a:pPr>
            <a:endParaRPr lang="en-US" dirty="0"/>
          </a:p>
          <a:p>
            <a:pPr marL="0" indent="0">
              <a:buNone/>
            </a:pPr>
            <a:r>
              <a:rPr lang="en-US" dirty="0"/>
              <a:t>One of the advantage of Power Delivery is that a single PD adapter can be used for charging different sink devices like 5V for Headphones, 9V for Power banks, 15V for some Cameras and  20V for laptops</a:t>
            </a:r>
          </a:p>
          <a:p>
            <a:pPr marL="0" indent="0">
              <a:buNone/>
            </a:pPr>
            <a:endParaRPr lang="en-US" dirty="0"/>
          </a:p>
          <a:p>
            <a:pPr marL="0" indent="0">
              <a:buNone/>
            </a:pPr>
            <a:r>
              <a:rPr lang="en-US" dirty="0"/>
              <a:t>The current in this case can go up to 3A in normal cables and 5A by utilizing E-Marked or Electronically Marked Cables which I have a depicted in the picture given.</a:t>
            </a:r>
          </a:p>
          <a:p>
            <a:pPr marL="0" indent="0">
              <a:buNone/>
            </a:pPr>
            <a:endParaRPr lang="en-US" dirty="0"/>
          </a:p>
          <a:p>
            <a:pPr marL="0" indent="0">
              <a:buNone/>
            </a:pPr>
            <a:r>
              <a:rPr lang="en-US" dirty="0"/>
              <a:t>The adapter basically understands the sink voltage level requirement by CC pin communication.</a:t>
            </a:r>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11</a:t>
            </a:fld>
            <a:endParaRPr lang="en-US" dirty="0"/>
          </a:p>
        </p:txBody>
      </p:sp>
    </p:spTree>
    <p:extLst>
      <p:ext uri="{BB962C8B-B14F-4D97-AF65-F5344CB8AC3E}">
        <p14:creationId xmlns:p14="http://schemas.microsoft.com/office/powerpoint/2010/main" val="2324389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lgn="l">
              <a:buNone/>
            </a:pPr>
            <a:r>
              <a:rPr lang="en-US" dirty="0"/>
              <a:t> Now, lets see how an adapter negotiates different VBUS voltage levels based on the sink requirement.</a:t>
            </a:r>
          </a:p>
          <a:p>
            <a:pPr marL="0" indent="0" algn="l">
              <a:buNone/>
            </a:pPr>
            <a:endParaRPr lang="en-US" dirty="0"/>
          </a:p>
          <a:p>
            <a:pPr marL="0" indent="0" algn="l">
              <a:buNone/>
            </a:pPr>
            <a:r>
              <a:rPr lang="en-US" dirty="0"/>
              <a:t>For that, in source side, I have used MAX77958 in standalone mode whose GPIOs is connected to individual resistor divider to configure different VBUS voltage levels requested by the sink.</a:t>
            </a:r>
          </a:p>
          <a:p>
            <a:pPr marL="0" indent="0" algn="l">
              <a:buNone/>
            </a:pPr>
            <a:r>
              <a:rPr lang="en-US" dirty="0"/>
              <a:t>This can be done using a customization script which I am not focusing in this presentation right now.</a:t>
            </a:r>
          </a:p>
          <a:p>
            <a:pPr marL="0" indent="0" algn="l">
              <a:buNone/>
            </a:pPr>
            <a:endParaRPr lang="en-US" dirty="0"/>
          </a:p>
          <a:p>
            <a:pPr marL="0" indent="0" algn="l">
              <a:buNone/>
            </a:pPr>
            <a:r>
              <a:rPr lang="en-US" dirty="0"/>
              <a:t>In the sink, for demonstration, I have used MAX77958 working in standalone mode controlling a buck charger MAX77986.</a:t>
            </a:r>
          </a:p>
          <a:p>
            <a:pPr marL="0" indent="0">
              <a:buNone/>
            </a:pPr>
            <a:r>
              <a:rPr lang="en-US" dirty="0"/>
              <a:t>     </a:t>
            </a:r>
          </a:p>
          <a:p>
            <a:pPr marL="0" indent="0">
              <a:buNone/>
            </a:pPr>
            <a:r>
              <a:rPr lang="en-US" dirty="0"/>
              <a:t>Upon connection, It all starts with Standard 5V charging like we discussed.</a:t>
            </a:r>
          </a:p>
          <a:p>
            <a:pPr marL="0" indent="0">
              <a:buNone/>
            </a:pPr>
            <a:endParaRPr lang="en-US" dirty="0"/>
          </a:p>
          <a:p>
            <a:pPr marL="0" indent="0">
              <a:buNone/>
            </a:pPr>
            <a:r>
              <a:rPr lang="en-US" dirty="0"/>
              <a:t>Once the connection is made, one of the CC pin will be active, and the resistor divider connection will be made, and based on the voltage at the CC pin, the MAX77958 will understand the source current capability and configure the input current limit of the charger and enables it starting slow charging.</a:t>
            </a:r>
          </a:p>
          <a:p>
            <a:pPr marL="0" indent="0">
              <a:buNone/>
            </a:pPr>
            <a:endParaRPr lang="en-US" dirty="0"/>
          </a:p>
          <a:p>
            <a:pPr marL="0" indent="0">
              <a:buNone/>
            </a:pPr>
            <a:r>
              <a:rPr lang="en-US" dirty="0"/>
              <a:t>Then the Source will sent its source capabilities in the form of PDOs which stands for Power Data Object which is a 32-bit value containing the voltage and the current level supported. </a:t>
            </a:r>
          </a:p>
          <a:p>
            <a:pPr marL="0" indent="0">
              <a:buNone/>
            </a:pPr>
            <a:endParaRPr lang="en-US" dirty="0"/>
          </a:p>
          <a:p>
            <a:pPr marL="0" indent="0">
              <a:buNone/>
            </a:pPr>
            <a:r>
              <a:rPr lang="en-US" dirty="0"/>
              <a:t>The MAX77958 in the sink side receives the source PDOs and cross check with its available sink PDOs and selects a common PDO which can deliver the maximum power in this case 9V/3A.</a:t>
            </a:r>
          </a:p>
          <a:p>
            <a:pPr marL="0" indent="0">
              <a:buNone/>
            </a:pPr>
            <a:endParaRPr lang="en-US" dirty="0"/>
          </a:p>
          <a:p>
            <a:pPr marL="0" indent="0">
              <a:buNone/>
            </a:pPr>
            <a:r>
              <a:rPr lang="en-US" dirty="0"/>
              <a:t>The MAX77958 then requests the source and the source accepts the request and raise the VBUS to the voltage level requested starting PD charging.</a:t>
            </a:r>
          </a:p>
          <a:p>
            <a:pPr marL="0" indent="0">
              <a:buNone/>
            </a:pPr>
            <a:endParaRPr lang="en-US" dirty="0"/>
          </a:p>
          <a:p>
            <a:pPr marL="0" indent="0">
              <a:buNone/>
            </a:pPr>
            <a:r>
              <a:rPr lang="en-US" dirty="0"/>
              <a:t>Now let’s see how we set the sink PDOs in MAX77958.</a:t>
            </a:r>
          </a:p>
        </p:txBody>
      </p:sp>
      <p:sp>
        <p:nvSpPr>
          <p:cNvPr id="4" name="Slide Number Placeholder 3"/>
          <p:cNvSpPr>
            <a:spLocks noGrp="1"/>
          </p:cNvSpPr>
          <p:nvPr>
            <p:ph type="sldNum" sz="quarter" idx="5"/>
          </p:nvPr>
        </p:nvSpPr>
        <p:spPr/>
        <p:txBody>
          <a:bodyPr/>
          <a:lstStyle/>
          <a:p>
            <a:fld id="{900B8651-D313-4300-801F-836567026953}" type="slidenum">
              <a:rPr lang="en-US" smtClean="0"/>
              <a:pPr/>
              <a:t>12</a:t>
            </a:fld>
            <a:endParaRPr lang="en-US" dirty="0"/>
          </a:p>
        </p:txBody>
      </p:sp>
    </p:spTree>
    <p:extLst>
      <p:ext uri="{BB962C8B-B14F-4D97-AF65-F5344CB8AC3E}">
        <p14:creationId xmlns:p14="http://schemas.microsoft.com/office/powerpoint/2010/main" val="6728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Now, Lets take the example of using MAX77958 in a mobile phone which requires 9V during PD charging.</a:t>
            </a:r>
          </a:p>
          <a:p>
            <a:pPr marL="0" indent="0">
              <a:buNone/>
            </a:pPr>
            <a:endParaRPr lang="en-US" dirty="0"/>
          </a:p>
          <a:p>
            <a:pPr marL="0" marR="0" lvl="0" indent="0" algn="l" defTabSz="914400" rtl="0" eaLnBrk="1" fontAlgn="auto" latinLnBrk="0" hangingPunct="1">
              <a:lnSpc>
                <a:spcPct val="100000"/>
              </a:lnSpc>
              <a:spcBef>
                <a:spcPts val="0"/>
              </a:spcBef>
              <a:spcAft>
                <a:spcPts val="0"/>
              </a:spcAft>
              <a:buClr>
                <a:schemeClr val="tx2"/>
              </a:buClr>
              <a:buSzPct val="75000"/>
              <a:buFont typeface="Wingdings 3" panose="05040102010807070707" pitchFamily="18" charset="2"/>
              <a:buNone/>
              <a:tabLst/>
              <a:defRPr/>
            </a:pPr>
            <a:r>
              <a:rPr lang="en-US" dirty="0"/>
              <a:t>MAX77958 has a non-voltage memory named MTP, for Standalone operation, </a:t>
            </a:r>
          </a:p>
          <a:p>
            <a:pPr marL="0" indent="0">
              <a:buNone/>
            </a:pPr>
            <a:r>
              <a:rPr lang="en-US" dirty="0"/>
              <a:t>The user can use a microcontroller or our GUI for programming. </a:t>
            </a:r>
          </a:p>
          <a:p>
            <a:pPr marL="0" indent="0">
              <a:buNone/>
            </a:pPr>
            <a:endParaRPr lang="en-US" dirty="0"/>
          </a:p>
          <a:p>
            <a:pPr marL="0" indent="0">
              <a:buNone/>
            </a:pPr>
            <a:r>
              <a:rPr lang="en-US" dirty="0"/>
              <a:t>In this case, I have used MAX32660 microcontroller as the programmer</a:t>
            </a:r>
          </a:p>
          <a:p>
            <a:pPr marL="0" indent="0">
              <a:buNone/>
            </a:pPr>
            <a:endParaRPr lang="en-US" dirty="0"/>
          </a:p>
          <a:p>
            <a:pPr marL="0" indent="0">
              <a:buNone/>
            </a:pPr>
            <a:r>
              <a:rPr lang="en-US" dirty="0"/>
              <a:t>The MAX77958 is capable of taking commands from an external programmer using its Slave I2C port.</a:t>
            </a:r>
          </a:p>
          <a:p>
            <a:pPr marL="0" indent="0">
              <a:buNone/>
            </a:pPr>
            <a:endParaRPr lang="en-US" dirty="0"/>
          </a:p>
          <a:p>
            <a:pPr marL="0" indent="0">
              <a:buNone/>
            </a:pPr>
            <a:r>
              <a:rPr lang="en-US" dirty="0"/>
              <a:t>The 5V/3A and 9V/3A sink PDOs can be set using the command named SET_SNK_PDO and the command is capable for setting up to 5 sink PDOs inside MAX77958.</a:t>
            </a:r>
          </a:p>
          <a:p>
            <a:pPr marL="0" indent="0">
              <a:buNone/>
            </a:pPr>
            <a:endParaRPr lang="en-US" dirty="0"/>
          </a:p>
          <a:p>
            <a:pPr marL="0" indent="0">
              <a:buNone/>
            </a:pPr>
            <a:r>
              <a:rPr lang="en-US" dirty="0"/>
              <a:t>As you can see the PDOs take values in binary, we need to have an idea how to convert the voltage and current values to its respective binary values.</a:t>
            </a:r>
          </a:p>
          <a:p>
            <a:pPr marL="0" indent="0">
              <a:buNone/>
            </a:pPr>
            <a:endParaRPr lang="en-US" dirty="0"/>
          </a:p>
          <a:p>
            <a:pPr marL="0" indent="0">
              <a:buNone/>
            </a:pPr>
            <a:r>
              <a:rPr lang="en-US" dirty="0"/>
              <a:t>For sake of simple demonstration, we have added an option in our GUI to configure the Sink PDOs in its respective voltage and current values</a:t>
            </a:r>
          </a:p>
          <a:p>
            <a:pPr marL="0" indent="0">
              <a:buNone/>
            </a:pPr>
            <a:endParaRPr lang="en-US" dirty="0"/>
          </a:p>
          <a:p>
            <a:pPr marL="0" indent="0">
              <a:buNone/>
            </a:pPr>
            <a:r>
              <a:rPr lang="en-US" dirty="0"/>
              <a:t>But for understanding purpose lets how we can encode the values in binary.</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13</a:t>
            </a:fld>
            <a:endParaRPr lang="en-US" dirty="0"/>
          </a:p>
        </p:txBody>
      </p:sp>
    </p:spTree>
    <p:extLst>
      <p:ext uri="{BB962C8B-B14F-4D97-AF65-F5344CB8AC3E}">
        <p14:creationId xmlns:p14="http://schemas.microsoft.com/office/powerpoint/2010/main" val="697241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This table depicts the format for a sink PDO set based on the USB Standards and this is not available in the datasheet.</a:t>
            </a:r>
          </a:p>
          <a:p>
            <a:pPr marL="0" indent="0">
              <a:buNone/>
            </a:pPr>
            <a:endParaRPr lang="en-US" dirty="0"/>
          </a:p>
          <a:p>
            <a:pPr marL="0" marR="0" lvl="0" indent="0" algn="l" defTabSz="914400" rtl="0" eaLnBrk="1" fontAlgn="auto" latinLnBrk="0" hangingPunct="1">
              <a:lnSpc>
                <a:spcPct val="100000"/>
              </a:lnSpc>
              <a:spcBef>
                <a:spcPts val="0"/>
              </a:spcBef>
              <a:spcAft>
                <a:spcPts val="0"/>
              </a:spcAft>
              <a:buClr>
                <a:schemeClr val="tx2"/>
              </a:buClr>
              <a:buSzPct val="75000"/>
              <a:buFont typeface="Wingdings 3" panose="05040102010807070707" pitchFamily="18" charset="2"/>
              <a:buNone/>
              <a:tabLst/>
              <a:defRPr/>
            </a:pPr>
            <a:r>
              <a:rPr lang="en-US" dirty="0"/>
              <a:t>I have taken the details from USB PD document available in the USB.org website whose link I have attached with my presentation available in the Hyperion.</a:t>
            </a:r>
          </a:p>
          <a:p>
            <a:pPr marL="0" marR="0" lvl="0" indent="0" algn="l" defTabSz="914400" rtl="0" eaLnBrk="1" fontAlgn="auto" latinLnBrk="0" hangingPunct="1">
              <a:lnSpc>
                <a:spcPct val="100000"/>
              </a:lnSpc>
              <a:spcBef>
                <a:spcPts val="0"/>
              </a:spcBef>
              <a:spcAft>
                <a:spcPts val="0"/>
              </a:spcAft>
              <a:buClr>
                <a:schemeClr val="tx2"/>
              </a:buClr>
              <a:buSzPct val="75000"/>
              <a:buFont typeface="Wingdings 3" panose="05040102010807070707" pitchFamily="18" charset="2"/>
              <a:buNone/>
              <a:tabLst/>
              <a:defRPr/>
            </a:pPr>
            <a:endParaRPr lang="en-US" dirty="0"/>
          </a:p>
          <a:p>
            <a:pPr marL="0" marR="0" lvl="0" indent="0" algn="l" defTabSz="914400" rtl="0" eaLnBrk="1" fontAlgn="auto" latinLnBrk="0" hangingPunct="1">
              <a:lnSpc>
                <a:spcPct val="100000"/>
              </a:lnSpc>
              <a:spcBef>
                <a:spcPts val="0"/>
              </a:spcBef>
              <a:spcAft>
                <a:spcPts val="0"/>
              </a:spcAft>
              <a:buClr>
                <a:schemeClr val="tx2"/>
              </a:buClr>
              <a:buSzPct val="75000"/>
              <a:buFont typeface="Wingdings 3" panose="05040102010807070707" pitchFamily="18" charset="2"/>
              <a:buNone/>
              <a:tabLst/>
              <a:defRPr/>
            </a:pPr>
            <a:r>
              <a:rPr lang="en-US" dirty="0"/>
              <a:t>Okay, As of now for simplicity, our point of interest is the 20 bitfields  from the LSB side and the 2 bitfields from the MSB</a:t>
            </a:r>
          </a:p>
          <a:p>
            <a:pPr marL="0" indent="0">
              <a:buNone/>
            </a:pPr>
            <a:endParaRPr lang="en-US" dirty="0"/>
          </a:p>
          <a:p>
            <a:pPr marL="0" indent="0">
              <a:buNone/>
            </a:pPr>
            <a:r>
              <a:rPr lang="en-US" dirty="0"/>
              <a:t>The first 10 bitfields corresponds to the current level in 10mA per LSB and the next 10 bitfields corresponds to the voltage level in 50mV LSB.</a:t>
            </a:r>
          </a:p>
          <a:p>
            <a:pPr marL="0" indent="0">
              <a:buNone/>
            </a:pPr>
            <a:endParaRPr lang="en-US" dirty="0"/>
          </a:p>
          <a:p>
            <a:pPr marL="0" indent="0">
              <a:buNone/>
            </a:pPr>
            <a:r>
              <a:rPr lang="en-US" dirty="0"/>
              <a:t>So, for a fixed 5V/3A PDO, we can divide it with its respective LSB value to get the hex values like mentioned in the slide to get the respective bit values. </a:t>
            </a:r>
          </a:p>
          <a:p>
            <a:pPr marL="0" indent="0">
              <a:buNone/>
            </a:pPr>
            <a:endParaRPr lang="en-US" dirty="0"/>
          </a:p>
          <a:p>
            <a:pPr marL="0" indent="0">
              <a:buNone/>
            </a:pPr>
            <a:r>
              <a:rPr lang="en-US" dirty="0"/>
              <a:t>Later it can merged for the combined 32 bit value.</a:t>
            </a:r>
          </a:p>
          <a:p>
            <a:pPr marL="0" indent="0">
              <a:buNone/>
            </a:pPr>
            <a:endParaRPr lang="en-US" dirty="0"/>
          </a:p>
          <a:p>
            <a:pPr marL="0" indent="0">
              <a:buNone/>
            </a:pPr>
            <a:r>
              <a:rPr lang="en-US" dirty="0"/>
              <a:t>Likewise, we can encode 9V/3A to its respective 32-bit format as well.</a:t>
            </a:r>
          </a:p>
          <a:p>
            <a:pPr marL="0" indent="0">
              <a:buNone/>
            </a:pPr>
            <a:endParaRPr lang="en-US" dirty="0"/>
          </a:p>
          <a:p>
            <a:pPr marL="0" indent="0">
              <a:buNone/>
            </a:pPr>
            <a:r>
              <a:rPr lang="en-US" dirty="0"/>
              <a:t>Now, these values can be used along with the SINK_PDO_SET command to store the voltage levels that the mobile phone supports.</a:t>
            </a:r>
          </a:p>
        </p:txBody>
      </p:sp>
      <p:sp>
        <p:nvSpPr>
          <p:cNvPr id="4" name="Slide Number Placeholder 3"/>
          <p:cNvSpPr>
            <a:spLocks noGrp="1"/>
          </p:cNvSpPr>
          <p:nvPr>
            <p:ph type="sldNum" sz="quarter" idx="5"/>
          </p:nvPr>
        </p:nvSpPr>
        <p:spPr/>
        <p:txBody>
          <a:bodyPr/>
          <a:lstStyle/>
          <a:p>
            <a:fld id="{900B8651-D313-4300-801F-836567026953}" type="slidenum">
              <a:rPr lang="en-US" smtClean="0"/>
              <a:pPr/>
              <a:t>14</a:t>
            </a:fld>
            <a:endParaRPr lang="en-US" dirty="0"/>
          </a:p>
        </p:txBody>
      </p:sp>
    </p:spTree>
    <p:extLst>
      <p:ext uri="{BB962C8B-B14F-4D97-AF65-F5344CB8AC3E}">
        <p14:creationId xmlns:p14="http://schemas.microsoft.com/office/powerpoint/2010/main" val="2121185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In this slide, I have attached some scope shots to understand the PD messaging through the CC lines for the MAX77958 configured already with the 5Vand 9V sink PDOs</a:t>
            </a:r>
          </a:p>
          <a:p>
            <a:pPr marL="0" indent="0">
              <a:buNone/>
            </a:pPr>
            <a:endParaRPr lang="en-US" dirty="0"/>
          </a:p>
          <a:p>
            <a:pPr marL="0" indent="0">
              <a:buNone/>
            </a:pPr>
            <a:r>
              <a:rPr lang="en-US" dirty="0"/>
              <a:t>Say for example, if the customer tells you that his adapter is not working with the sink solution that he have with MAX77958.</a:t>
            </a:r>
          </a:p>
          <a:p>
            <a:pPr marL="0" indent="0">
              <a:buNone/>
            </a:pPr>
            <a:endParaRPr lang="en-US" dirty="0"/>
          </a:p>
          <a:p>
            <a:pPr marL="0" indent="0">
              <a:buNone/>
            </a:pPr>
            <a:r>
              <a:rPr lang="en-US" dirty="0"/>
              <a:t>In such cases, It is always better to scope the cc pins first to understand which side is causing the issue by looking into the messaging.</a:t>
            </a:r>
          </a:p>
          <a:p>
            <a:pPr marL="0" indent="0">
              <a:buNone/>
            </a:pPr>
            <a:endParaRPr lang="en-US" dirty="0"/>
          </a:p>
          <a:p>
            <a:pPr marL="0" indent="0">
              <a:buNone/>
            </a:pPr>
            <a:r>
              <a:rPr lang="en-US" dirty="0"/>
              <a:t>In this example, lets say we have MAX77958 in the sink side configured for 9V.</a:t>
            </a:r>
          </a:p>
          <a:p>
            <a:pPr marL="0" indent="0">
              <a:buNone/>
            </a:pPr>
            <a:endParaRPr lang="en-US" dirty="0"/>
          </a:p>
          <a:p>
            <a:pPr marL="0" indent="0">
              <a:buNone/>
            </a:pPr>
            <a:r>
              <a:rPr lang="en-US" dirty="0"/>
              <a:t>Initially MAX77958 is in the DRP mode which you can understand by observing the toggling of the CC pins.</a:t>
            </a:r>
          </a:p>
          <a:p>
            <a:pPr marL="0" indent="0">
              <a:buNone/>
            </a:pPr>
            <a:endParaRPr lang="en-US" dirty="0"/>
          </a:p>
          <a:p>
            <a:pPr marL="0" indent="0">
              <a:buNone/>
            </a:pPr>
            <a:r>
              <a:rPr lang="en-US" dirty="0"/>
              <a:t>Once the adapter is attached, Standard 5V charging starts, soon followed by adapter sending its source capabilities and the sink requesting for 9V.</a:t>
            </a:r>
          </a:p>
          <a:p>
            <a:pPr marL="0" indent="0">
              <a:buNone/>
            </a:pPr>
            <a:endParaRPr lang="en-US" dirty="0"/>
          </a:p>
          <a:p>
            <a:pPr marL="0" indent="0">
              <a:buNone/>
            </a:pPr>
            <a:r>
              <a:rPr lang="en-US" dirty="0"/>
              <a:t>Then the adapter accepts and raises the VBUS to 9V and sent the PS READY Power Supply Ready message to the sink.</a:t>
            </a:r>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15</a:t>
            </a:fld>
            <a:endParaRPr lang="en-US" dirty="0"/>
          </a:p>
        </p:txBody>
      </p:sp>
    </p:spTree>
    <p:extLst>
      <p:ext uri="{BB962C8B-B14F-4D97-AF65-F5344CB8AC3E}">
        <p14:creationId xmlns:p14="http://schemas.microsoft.com/office/powerpoint/2010/main" val="2156471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endParaRPr lang="en-US" dirty="0"/>
          </a:p>
          <a:p>
            <a:pPr marL="0" indent="0">
              <a:buNone/>
            </a:pPr>
            <a:endParaRPr lang="en-US" dirty="0"/>
          </a:p>
          <a:p>
            <a:pPr marL="0" indent="0">
              <a:buNone/>
            </a:pPr>
            <a:r>
              <a:rPr lang="en-US" dirty="0"/>
              <a:t>But for flexible applications say for example the customer require to change the VBUS dynamically to different voltage levels based on some feedback from sensor then a microcontroller should be used alongside with MAX77958.</a:t>
            </a:r>
          </a:p>
          <a:p>
            <a:pPr marL="0" indent="0">
              <a:buNone/>
            </a:pPr>
            <a:endParaRPr lang="en-US" dirty="0"/>
          </a:p>
          <a:p>
            <a:pPr marL="0" indent="0">
              <a:buNone/>
            </a:pPr>
            <a:r>
              <a:rPr lang="en-US" dirty="0"/>
              <a:t>This is because the customization script syntax cannot handle such hard tasks.</a:t>
            </a:r>
          </a:p>
          <a:p>
            <a:pPr marL="0" indent="0">
              <a:buNone/>
            </a:pPr>
            <a:endParaRPr lang="en-US" dirty="0"/>
          </a:p>
          <a:p>
            <a:pPr marL="0" indent="0">
              <a:buNone/>
            </a:pPr>
            <a:r>
              <a:rPr lang="en-US" dirty="0"/>
              <a:t>Lets take the example of a power bank configured in Dual Role Mode.</a:t>
            </a:r>
          </a:p>
          <a:p>
            <a:pPr marL="0" indent="0">
              <a:buNone/>
            </a:pPr>
            <a:endParaRPr lang="en-US" dirty="0"/>
          </a:p>
          <a:p>
            <a:pPr marL="0" indent="0">
              <a:buNone/>
            </a:pPr>
            <a:r>
              <a:rPr lang="en-US" dirty="0"/>
              <a:t>The flow chart beside depicts on how a MAX32660 microcontroller talks to MAX77958 PD controller for bi-directional charging.</a:t>
            </a:r>
          </a:p>
          <a:p>
            <a:pPr marL="0" indent="0">
              <a:buNone/>
            </a:pPr>
            <a:endParaRPr lang="en-US" dirty="0"/>
          </a:p>
          <a:p>
            <a:pPr marL="228600" indent="-228600">
              <a:buAutoNum type="arabicParenR"/>
            </a:pPr>
            <a:r>
              <a:rPr lang="en-US" dirty="0"/>
              <a:t>MAX77958 continuously monitor for a connection at the CC pins.</a:t>
            </a:r>
          </a:p>
          <a:p>
            <a:pPr marL="228600" indent="-228600">
              <a:buAutoNum type="arabicParenR"/>
            </a:pPr>
            <a:r>
              <a:rPr lang="en-US" dirty="0"/>
              <a:t>Once a connection is made, the MAX77958 will interrupt the MCU to read the CCSTATUS register which basically tells the type of device connected at the port.</a:t>
            </a:r>
          </a:p>
          <a:p>
            <a:pPr marL="228600" indent="-228600">
              <a:buAutoNum type="arabicParenR"/>
            </a:pPr>
            <a:r>
              <a:rPr lang="en-US" dirty="0"/>
              <a:t>If a sink device like a headset is connected, the MAX77958 takes the role as a source and charges the sink device connected. This can only be done using the customization script configuration</a:t>
            </a:r>
          </a:p>
          <a:p>
            <a:pPr marL="228600" indent="-228600">
              <a:buAutoNum type="arabicParenR"/>
            </a:pPr>
            <a:r>
              <a:rPr lang="en-US" dirty="0"/>
              <a:t>But if the connected device is a source like a PD adapter, the MAX77958 takes the role as sink. The MCU understands this and configure the input current limit of the charger and enables it in the forward charging mode.</a:t>
            </a:r>
          </a:p>
          <a:p>
            <a:pPr marL="228600" indent="-228600">
              <a:buAutoNum type="arabicParenR"/>
            </a:pPr>
            <a:r>
              <a:rPr lang="en-US" dirty="0"/>
              <a:t>Later the MCU reads the source PDOs from MAX77958 RAM and then polls MAX77958 to request for a particular voltage level solely depending on the user requirement at that particular instant  and initiates PD charging</a:t>
            </a:r>
          </a:p>
          <a:p>
            <a:pPr marL="228600" indent="-228600">
              <a:buAutoNum type="arabicParenR"/>
            </a:pPr>
            <a:r>
              <a:rPr lang="en-US" dirty="0"/>
              <a:t>Later the MCU can be used for Dynamic Voltage Negotiation.</a:t>
            </a:r>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16</a:t>
            </a:fld>
            <a:endParaRPr lang="en-US" dirty="0"/>
          </a:p>
        </p:txBody>
      </p:sp>
    </p:spTree>
    <p:extLst>
      <p:ext uri="{BB962C8B-B14F-4D97-AF65-F5344CB8AC3E}">
        <p14:creationId xmlns:p14="http://schemas.microsoft.com/office/powerpoint/2010/main" val="3972948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But if the system requires large power at all the time, then our only option is to keep the VBUS at higher voltage which will lead to heating.</a:t>
            </a:r>
          </a:p>
          <a:p>
            <a:pPr marL="0" indent="0">
              <a:buNone/>
            </a:pPr>
            <a:endParaRPr lang="en-US" dirty="0"/>
          </a:p>
          <a:p>
            <a:pPr marL="0" indent="0">
              <a:buNone/>
            </a:pPr>
            <a:r>
              <a:rPr lang="en-US" dirty="0"/>
              <a:t>For an application like mobile phone where heat management is critical, this solution will consumer more charging time.</a:t>
            </a:r>
          </a:p>
          <a:p>
            <a:pPr marL="0" indent="0">
              <a:buNone/>
            </a:pPr>
            <a:endParaRPr lang="en-US" dirty="0"/>
          </a:p>
          <a:p>
            <a:pPr marL="0" indent="0">
              <a:buNone/>
            </a:pPr>
            <a:r>
              <a:rPr lang="en-US" dirty="0"/>
              <a:t>Now we will how direct charging can be used to solve the heating crisis.</a:t>
            </a:r>
          </a:p>
        </p:txBody>
      </p:sp>
      <p:sp>
        <p:nvSpPr>
          <p:cNvPr id="4" name="Slide Number Placeholder 3"/>
          <p:cNvSpPr>
            <a:spLocks noGrp="1"/>
          </p:cNvSpPr>
          <p:nvPr>
            <p:ph type="sldNum" sz="quarter" idx="5"/>
          </p:nvPr>
        </p:nvSpPr>
        <p:spPr/>
        <p:txBody>
          <a:bodyPr/>
          <a:lstStyle/>
          <a:p>
            <a:fld id="{900B8651-D313-4300-801F-836567026953}" type="slidenum">
              <a:rPr lang="en-US" smtClean="0"/>
              <a:pPr/>
              <a:t>17</a:t>
            </a:fld>
            <a:endParaRPr lang="en-US" dirty="0"/>
          </a:p>
        </p:txBody>
      </p:sp>
    </p:spTree>
    <p:extLst>
      <p:ext uri="{BB962C8B-B14F-4D97-AF65-F5344CB8AC3E}">
        <p14:creationId xmlns:p14="http://schemas.microsoft.com/office/powerpoint/2010/main" val="3589574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Before moving to Direct charging, we need to understand what PPS or Programmable Power Supply means.</a:t>
            </a:r>
          </a:p>
          <a:p>
            <a:pPr marL="0" indent="0">
              <a:buNone/>
            </a:pPr>
            <a:endParaRPr lang="en-US" dirty="0"/>
          </a:p>
          <a:p>
            <a:pPr marL="0" indent="0">
              <a:buNone/>
            </a:pPr>
            <a:r>
              <a:rPr lang="en-US" dirty="0"/>
              <a:t>It’s a feature introduced in USB PD 3.0 specifications which allows the user to configure the voltage for a range say 3.3V – 21V in steps of 20mV and current level from 0.5A to 5A in steps of 50mA</a:t>
            </a:r>
          </a:p>
          <a:p>
            <a:pPr marL="0" indent="0">
              <a:buNone/>
            </a:pPr>
            <a:endParaRPr lang="en-US" dirty="0"/>
          </a:p>
          <a:p>
            <a:pPr marL="0" indent="0">
              <a:buNone/>
            </a:pPr>
            <a:r>
              <a:rPr lang="en-US" dirty="0"/>
              <a:t>As you can see from the scope details attached, there is continuous negotiation between the source and the sink through the CC lines for different voltage level in steps of 20mV</a:t>
            </a:r>
          </a:p>
          <a:p>
            <a:pPr marL="0" indent="0">
              <a:buNone/>
            </a:pPr>
            <a:endParaRPr lang="en-US" dirty="0"/>
          </a:p>
          <a:p>
            <a:pPr marL="0" indent="0">
              <a:buNone/>
            </a:pPr>
            <a:r>
              <a:rPr lang="en-US" dirty="0"/>
              <a:t>With that kept in mind lets see how PPS feature helps in direct charging.</a:t>
            </a:r>
          </a:p>
        </p:txBody>
      </p:sp>
      <p:sp>
        <p:nvSpPr>
          <p:cNvPr id="4" name="Slide Number Placeholder 3"/>
          <p:cNvSpPr>
            <a:spLocks noGrp="1"/>
          </p:cNvSpPr>
          <p:nvPr>
            <p:ph type="sldNum" sz="quarter" idx="5"/>
          </p:nvPr>
        </p:nvSpPr>
        <p:spPr/>
        <p:txBody>
          <a:bodyPr/>
          <a:lstStyle/>
          <a:p>
            <a:fld id="{900B8651-D313-4300-801F-836567026953}" type="slidenum">
              <a:rPr lang="en-US" smtClean="0"/>
              <a:pPr/>
              <a:t>19</a:t>
            </a:fld>
            <a:endParaRPr lang="en-US" dirty="0"/>
          </a:p>
        </p:txBody>
      </p:sp>
    </p:spTree>
    <p:extLst>
      <p:ext uri="{BB962C8B-B14F-4D97-AF65-F5344CB8AC3E}">
        <p14:creationId xmlns:p14="http://schemas.microsoft.com/office/powerpoint/2010/main" val="1150187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Let us take an example.</a:t>
            </a:r>
          </a:p>
          <a:p>
            <a:pPr marL="0" indent="0">
              <a:buNone/>
            </a:pPr>
            <a:endParaRPr lang="en-US" dirty="0"/>
          </a:p>
          <a:p>
            <a:pPr marL="0" indent="0">
              <a:buNone/>
            </a:pPr>
            <a:r>
              <a:rPr lang="en-US" dirty="0"/>
              <a:t>In the source side, let’s say we have the solution with MAX25432B which is capable of delivery APDO (PPS PDO) in the range of 3.3V – 21V and the sink consists of </a:t>
            </a:r>
            <a:r>
              <a:rPr lang="en-US" dirty="0" err="1"/>
              <a:t>of</a:t>
            </a:r>
            <a:r>
              <a:rPr lang="en-US" dirty="0"/>
              <a:t> an additional MAX17330 </a:t>
            </a:r>
          </a:p>
          <a:p>
            <a:pPr marL="0" indent="0">
              <a:buNone/>
            </a:pPr>
            <a:r>
              <a:rPr lang="en-US" dirty="0"/>
              <a:t>Fuel gauge + charger.</a:t>
            </a:r>
          </a:p>
          <a:p>
            <a:pPr marL="0" indent="0">
              <a:buNone/>
            </a:pPr>
            <a:endParaRPr lang="en-US" dirty="0"/>
          </a:p>
          <a:p>
            <a:pPr marL="0" indent="0">
              <a:buNone/>
            </a:pPr>
            <a:r>
              <a:rPr lang="en-US" dirty="0"/>
              <a:t>In the sink side we have added MAX17330 is configured in load switch mode and initially the switch will be disabled.</a:t>
            </a:r>
          </a:p>
          <a:p>
            <a:pPr marL="0" indent="0">
              <a:buNone/>
            </a:pPr>
            <a:endParaRPr lang="en-US" dirty="0"/>
          </a:p>
          <a:p>
            <a:pPr marL="0" indent="0">
              <a:buNone/>
            </a:pPr>
            <a:r>
              <a:rPr lang="en-US" dirty="0"/>
              <a:t>1) Once the connection is made between the source and the sink, the VBUS will raise to 5V. </a:t>
            </a:r>
          </a:p>
          <a:p>
            <a:pPr marL="0" indent="0">
              <a:buNone/>
            </a:pPr>
            <a:endParaRPr lang="en-US" dirty="0"/>
          </a:p>
          <a:p>
            <a:pPr marL="0" indent="0">
              <a:buNone/>
            </a:pPr>
            <a:r>
              <a:rPr lang="en-US" dirty="0"/>
              <a:t>2) Then MCU reads the batt voltage and current. Considering a battery voltage of 3.6V, the MCU polls MAX77958 to request the source to raise the VBUS to 3.6V.</a:t>
            </a:r>
          </a:p>
          <a:p>
            <a:pPr marL="0" indent="0">
              <a:buNone/>
            </a:pPr>
            <a:endParaRPr lang="en-US" dirty="0"/>
          </a:p>
          <a:p>
            <a:pPr marL="0" indent="0">
              <a:buNone/>
            </a:pPr>
            <a:r>
              <a:rPr lang="en-US" dirty="0"/>
              <a:t>3) Once the VBUS is 3.6V, the load switch is safe to close.</a:t>
            </a:r>
          </a:p>
          <a:p>
            <a:pPr marL="0" indent="0">
              <a:buNone/>
            </a:pPr>
            <a:endParaRPr lang="en-US" dirty="0"/>
          </a:p>
          <a:p>
            <a:pPr marL="0" indent="0">
              <a:buNone/>
            </a:pPr>
            <a:r>
              <a:rPr lang="en-US" dirty="0"/>
              <a:t>4) The microcontroller keep on polling the MAX77958 to raise the VBUS in small steps until the charging current meets the set current.</a:t>
            </a:r>
          </a:p>
          <a:p>
            <a:pPr marL="0" indent="0">
              <a:buNone/>
            </a:pPr>
            <a:endParaRPr lang="en-US" dirty="0"/>
          </a:p>
          <a:p>
            <a:pPr marL="0" indent="0">
              <a:buNone/>
            </a:pPr>
            <a:r>
              <a:rPr lang="en-US" dirty="0"/>
              <a:t>But the issue with this setup is the charging current is limited by the cable current say 3A. So it can only provide power of 12.6W considering a battery voltage of 4.2V.</a:t>
            </a:r>
          </a:p>
          <a:p>
            <a:pPr marL="0" indent="0">
              <a:buNone/>
            </a:pPr>
            <a:endParaRPr lang="en-US" dirty="0"/>
          </a:p>
          <a:p>
            <a:pPr marL="0" indent="0">
              <a:buNone/>
            </a:pPr>
            <a:r>
              <a:rPr lang="en-US" dirty="0"/>
              <a:t>Now our only option is to use a converter in between and raise the VBUS levels keeping the current under limit.</a:t>
            </a:r>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20</a:t>
            </a:fld>
            <a:endParaRPr lang="en-US" dirty="0"/>
          </a:p>
        </p:txBody>
      </p:sp>
    </p:spTree>
    <p:extLst>
      <p:ext uri="{BB962C8B-B14F-4D97-AF65-F5344CB8AC3E}">
        <p14:creationId xmlns:p14="http://schemas.microsoft.com/office/powerpoint/2010/main" val="520714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So, we can use a 2:1 switched capacitor.</a:t>
            </a:r>
          </a:p>
          <a:p>
            <a:pPr marL="0" indent="0">
              <a:buNone/>
            </a:pPr>
            <a:endParaRPr lang="en-US" dirty="0"/>
          </a:p>
          <a:p>
            <a:pPr marL="0" indent="0">
              <a:buNone/>
            </a:pPr>
            <a:r>
              <a:rPr lang="en-US" dirty="0"/>
              <a:t>Now, even though the VBUS is double the battery voltage and if we enable the converter no current will flow.</a:t>
            </a:r>
          </a:p>
          <a:p>
            <a:pPr marL="0" indent="0">
              <a:buNone/>
            </a:pPr>
            <a:endParaRPr lang="en-US" dirty="0"/>
          </a:p>
          <a:p>
            <a:pPr marL="0" indent="0">
              <a:buNone/>
            </a:pPr>
            <a:r>
              <a:rPr lang="en-US" dirty="0"/>
              <a:t>1) Like Before, the MCU will read the voltage of the battery and polls MAX77958 to request the source to raise the VBUS to double the battery voltage.</a:t>
            </a:r>
          </a:p>
          <a:p>
            <a:pPr marL="0" indent="0">
              <a:buNone/>
            </a:pPr>
            <a:endParaRPr lang="en-US" dirty="0"/>
          </a:p>
          <a:p>
            <a:pPr marL="0" indent="0">
              <a:buNone/>
            </a:pPr>
            <a:r>
              <a:rPr lang="en-US" dirty="0"/>
              <a:t>2) Now, the MCU enables the SCC and polls MAX77958 continuously to request the source to raise the VBUS till the charging current reaches the set current, say 6A in this case.</a:t>
            </a:r>
          </a:p>
          <a:p>
            <a:pPr marL="0" indent="0">
              <a:buNone/>
            </a:pPr>
            <a:endParaRPr lang="en-US" dirty="0"/>
          </a:p>
          <a:p>
            <a:pPr marL="0" indent="0">
              <a:buNone/>
            </a:pPr>
            <a:r>
              <a:rPr lang="en-US" dirty="0"/>
              <a:t>Like wise the user can use a 3:1 SCC or higher based on the charging requirement.</a:t>
            </a:r>
          </a:p>
          <a:p>
            <a:pPr marL="0" indent="0">
              <a:buNone/>
            </a:pPr>
            <a:endParaRPr lang="en-US" dirty="0"/>
          </a:p>
          <a:p>
            <a:pPr marL="0" indent="0">
              <a:buNone/>
            </a:pPr>
            <a:r>
              <a:rPr lang="en-US" dirty="0"/>
              <a:t>The SCC is highly efficient compared to a normal buck charger. </a:t>
            </a:r>
          </a:p>
          <a:p>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21</a:t>
            </a:fld>
            <a:endParaRPr lang="en-US" dirty="0"/>
          </a:p>
        </p:txBody>
      </p:sp>
    </p:spTree>
    <p:extLst>
      <p:ext uri="{BB962C8B-B14F-4D97-AF65-F5344CB8AC3E}">
        <p14:creationId xmlns:p14="http://schemas.microsoft.com/office/powerpoint/2010/main" val="266355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As we know switched capacitor converter is a converter and not a charger, the charging state machine is implemented inside the microcontroller for fast charging.</a:t>
            </a:r>
          </a:p>
          <a:p>
            <a:pPr marL="0" indent="0">
              <a:buNone/>
            </a:pPr>
            <a:endParaRPr lang="en-US" dirty="0"/>
          </a:p>
          <a:p>
            <a:pPr marL="0" indent="0">
              <a:buNone/>
            </a:pPr>
            <a:r>
              <a:rPr lang="en-US" dirty="0"/>
              <a:t>1) Like before the operation is same till the slow charging.</a:t>
            </a:r>
          </a:p>
          <a:p>
            <a:pPr marL="0" indent="0">
              <a:buNone/>
            </a:pPr>
            <a:endParaRPr lang="en-US" dirty="0"/>
          </a:p>
          <a:p>
            <a:pPr marL="0" indent="0">
              <a:buNone/>
            </a:pPr>
            <a:r>
              <a:rPr lang="en-US" dirty="0"/>
              <a:t>2) But now once the source has sent its capabilities, the MCU checks for any available APDOs.</a:t>
            </a:r>
          </a:p>
          <a:p>
            <a:pPr marL="0" indent="0">
              <a:buNone/>
            </a:pPr>
            <a:endParaRPr lang="en-US" dirty="0"/>
          </a:p>
          <a:p>
            <a:pPr marL="0" indent="0">
              <a:buNone/>
            </a:pPr>
            <a:r>
              <a:rPr lang="en-US" dirty="0"/>
              <a:t>3) If no APDOs are available, the MCU will initiate for PD charging like as before.</a:t>
            </a:r>
          </a:p>
          <a:p>
            <a:pPr marL="0" indent="0">
              <a:buNone/>
            </a:pPr>
            <a:endParaRPr lang="en-US" dirty="0"/>
          </a:p>
          <a:p>
            <a:pPr marL="0" indent="0">
              <a:buNone/>
            </a:pPr>
            <a:r>
              <a:rPr lang="en-US" dirty="0"/>
              <a:t>4) If an APDO is available, the MCU enables the PPS mode in MAX77958 then reads then battery voltage and current.</a:t>
            </a:r>
          </a:p>
          <a:p>
            <a:pPr marL="0" indent="0">
              <a:buNone/>
            </a:pPr>
            <a:endParaRPr lang="en-US" dirty="0"/>
          </a:p>
          <a:p>
            <a:pPr marL="0" indent="0">
              <a:buNone/>
            </a:pPr>
            <a:r>
              <a:rPr lang="en-US" dirty="0"/>
              <a:t>5) Based on the battery voltage level, the different charging profile is implement.</a:t>
            </a:r>
          </a:p>
          <a:p>
            <a:pPr marL="0" indent="0">
              <a:buNone/>
            </a:pPr>
            <a:endParaRPr lang="en-US" dirty="0"/>
          </a:p>
          <a:p>
            <a:pPr marL="0" indent="0">
              <a:buNone/>
            </a:pPr>
            <a:r>
              <a:rPr lang="en-US" dirty="0"/>
              <a:t>6) In that when the battery voltage is above trickle and below termination voltage, then it is CC charging which in other words called Fast Charging.</a:t>
            </a:r>
          </a:p>
          <a:p>
            <a:pPr marL="0" indent="0">
              <a:buNone/>
            </a:pPr>
            <a:endParaRPr lang="en-US" dirty="0"/>
          </a:p>
          <a:p>
            <a:pPr marL="0" indent="0">
              <a:buNone/>
            </a:pPr>
            <a:r>
              <a:rPr lang="en-US" dirty="0"/>
              <a:t>Now lets compare the efficiency between the two types of charging namely PD and PPS charging.</a:t>
            </a:r>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22</a:t>
            </a:fld>
            <a:endParaRPr lang="en-US" dirty="0"/>
          </a:p>
        </p:txBody>
      </p:sp>
    </p:spTree>
    <p:extLst>
      <p:ext uri="{BB962C8B-B14F-4D97-AF65-F5344CB8AC3E}">
        <p14:creationId xmlns:p14="http://schemas.microsoft.com/office/powerpoint/2010/main" val="473231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Let me briefly explain the experiment setup.</a:t>
            </a:r>
          </a:p>
          <a:p>
            <a:pPr marL="0" indent="0">
              <a:buNone/>
            </a:pPr>
            <a:endParaRPr lang="en-US" dirty="0"/>
          </a:p>
          <a:p>
            <a:pPr marL="0" indent="0">
              <a:buNone/>
            </a:pPr>
            <a:r>
              <a:rPr lang="en-US" dirty="0"/>
              <a:t>In the source side, I have used MAX25432BEVKIT along with the MAX32660EVKIT. This is powered by 14V voltage source mimicking a car battery.</a:t>
            </a:r>
          </a:p>
          <a:p>
            <a:pPr marL="0" indent="0">
              <a:buNone/>
            </a:pPr>
            <a:endParaRPr lang="en-US" dirty="0"/>
          </a:p>
          <a:p>
            <a:pPr marL="0" indent="0">
              <a:buNone/>
            </a:pPr>
            <a:r>
              <a:rPr lang="en-US" dirty="0"/>
              <a:t>In the sink side, MAX77986EVKIT is used for PD charging.</a:t>
            </a:r>
          </a:p>
          <a:p>
            <a:pPr marL="0" indent="0">
              <a:buNone/>
            </a:pPr>
            <a:endParaRPr lang="en-US" dirty="0"/>
          </a:p>
          <a:p>
            <a:pPr marL="0" indent="0">
              <a:buNone/>
            </a:pPr>
            <a:r>
              <a:rPr lang="en-US" dirty="0"/>
              <a:t>For Fast charging MAX32660EVKIT along with DC2993A consisting of our SCC IC is used along with a single cell fuel gauge MAX17260EVKIT to monitor the battery.</a:t>
            </a:r>
          </a:p>
          <a:p>
            <a:pPr marL="0" indent="0">
              <a:buNone/>
            </a:pPr>
            <a:endParaRPr lang="en-US" dirty="0"/>
          </a:p>
          <a:p>
            <a:pPr marL="0" indent="0">
              <a:buNone/>
            </a:pPr>
            <a:r>
              <a:rPr lang="en-US" dirty="0"/>
              <a:t>Instead of a single cell, I have used two cells for doing comparison at the same time.</a:t>
            </a:r>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24</a:t>
            </a:fld>
            <a:endParaRPr lang="en-US" dirty="0"/>
          </a:p>
        </p:txBody>
      </p:sp>
    </p:spTree>
    <p:extLst>
      <p:ext uri="{BB962C8B-B14F-4D97-AF65-F5344CB8AC3E}">
        <p14:creationId xmlns:p14="http://schemas.microsoft.com/office/powerpoint/2010/main" val="2077770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We can see a significant heating difference between the buck charger and a switched capacitor converter for a given charging current of 5.5A</a:t>
            </a:r>
          </a:p>
          <a:p>
            <a:pPr marL="0" indent="0">
              <a:buNone/>
            </a:pPr>
            <a:endParaRPr lang="en-US" dirty="0"/>
          </a:p>
          <a:p>
            <a:pPr marL="0" marR="0" lvl="0" indent="0" algn="l" defTabSz="914400" rtl="0" eaLnBrk="1" fontAlgn="auto" latinLnBrk="0" hangingPunct="1">
              <a:lnSpc>
                <a:spcPct val="100000"/>
              </a:lnSpc>
              <a:spcBef>
                <a:spcPts val="0"/>
              </a:spcBef>
              <a:spcAft>
                <a:spcPts val="0"/>
              </a:spcAft>
              <a:buClr>
                <a:schemeClr val="tx2"/>
              </a:buClr>
              <a:buSzPct val="75000"/>
              <a:buFont typeface="Wingdings 3" panose="05040102010807070707" pitchFamily="18" charset="2"/>
              <a:buNone/>
              <a:tabLst/>
              <a:defRPr/>
            </a:pPr>
            <a:r>
              <a:rPr lang="en-US" dirty="0"/>
              <a:t>The MAX77986 is heating up to 82.7 degree.</a:t>
            </a:r>
          </a:p>
          <a:p>
            <a:pPr marL="0" marR="0" lvl="0" indent="0" algn="l" defTabSz="914400" rtl="0" eaLnBrk="1" fontAlgn="auto" latinLnBrk="0" hangingPunct="1">
              <a:lnSpc>
                <a:spcPct val="100000"/>
              </a:lnSpc>
              <a:spcBef>
                <a:spcPts val="0"/>
              </a:spcBef>
              <a:spcAft>
                <a:spcPts val="0"/>
              </a:spcAft>
              <a:buClr>
                <a:schemeClr val="tx2"/>
              </a:buClr>
              <a:buSzPct val="75000"/>
              <a:buFont typeface="Wingdings 3" panose="05040102010807070707" pitchFamily="18" charset="2"/>
              <a:buNone/>
              <a:tabLst/>
              <a:defRPr/>
            </a:pPr>
            <a:endParaRPr lang="en-US" dirty="0"/>
          </a:p>
          <a:p>
            <a:pPr marL="0" indent="0">
              <a:buNone/>
            </a:pPr>
            <a:r>
              <a:rPr lang="en-US" dirty="0"/>
              <a:t> </a:t>
            </a:r>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25</a:t>
            </a:fld>
            <a:endParaRPr lang="en-US" dirty="0"/>
          </a:p>
        </p:txBody>
      </p:sp>
    </p:spTree>
    <p:extLst>
      <p:ext uri="{BB962C8B-B14F-4D97-AF65-F5344CB8AC3E}">
        <p14:creationId xmlns:p14="http://schemas.microsoft.com/office/powerpoint/2010/main" val="825818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In the analysis, efficiency has been taken for output current from 1 -5.5A in steps of 1A</a:t>
            </a:r>
          </a:p>
          <a:p>
            <a:pPr marL="0" indent="0">
              <a:buNone/>
            </a:pPr>
            <a:endParaRPr lang="en-US" dirty="0"/>
          </a:p>
          <a:p>
            <a:pPr marL="0" indent="0">
              <a:buNone/>
            </a:pPr>
            <a:r>
              <a:rPr lang="en-US" dirty="0"/>
              <a:t>The maximum efficiency the buck was able to attain was only 89.9% unlike LTC7825 which went up to a very high level staying at 97.5% </a:t>
            </a:r>
          </a:p>
          <a:p>
            <a:pPr marL="0" indent="0">
              <a:buNone/>
            </a:pPr>
            <a:endParaRPr lang="en-US" dirty="0"/>
          </a:p>
          <a:p>
            <a:pPr marL="0" indent="0">
              <a:buNone/>
            </a:pPr>
            <a:r>
              <a:rPr lang="en-US" dirty="0"/>
              <a:t>From this experiment we can clearly see that PPS/Fast/Direct Charging is necessary to keep the charging time low with better heat management.</a:t>
            </a:r>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26</a:t>
            </a:fld>
            <a:endParaRPr lang="en-US" dirty="0"/>
          </a:p>
        </p:txBody>
      </p:sp>
    </p:spTree>
    <p:extLst>
      <p:ext uri="{BB962C8B-B14F-4D97-AF65-F5344CB8AC3E}">
        <p14:creationId xmlns:p14="http://schemas.microsoft.com/office/powerpoint/2010/main" val="2127256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171450" indent="-171450"/>
            <a:r>
              <a:rPr lang="en-US" dirty="0"/>
              <a:t>Choosing charger based on cell configuration</a:t>
            </a:r>
          </a:p>
          <a:p>
            <a:pPr marL="171450" indent="-171450"/>
            <a:r>
              <a:rPr lang="en-US" dirty="0"/>
              <a:t>Asking the application type? Adding PPS in addition to PD for fast charging with less heating</a:t>
            </a:r>
          </a:p>
          <a:p>
            <a:pPr marL="0" indent="0">
              <a:buNone/>
            </a:pPr>
            <a:endParaRPr lang="en-US"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27</a:t>
            </a:fld>
            <a:endParaRPr lang="en-US" dirty="0"/>
          </a:p>
        </p:txBody>
      </p:sp>
    </p:spTree>
    <p:extLst>
      <p:ext uri="{BB962C8B-B14F-4D97-AF65-F5344CB8AC3E}">
        <p14:creationId xmlns:p14="http://schemas.microsoft.com/office/powerpoint/2010/main" val="41648750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Patter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2F76C70-D0CE-D738-0558-91BF754BF15B}"/>
              </a:ext>
            </a:extLst>
          </p:cNvPr>
          <p:cNvGrpSpPr/>
          <p:nvPr userDrawn="1"/>
        </p:nvGrpSpPr>
        <p:grpSpPr>
          <a:xfrm>
            <a:off x="0" y="0"/>
            <a:ext cx="7617658" cy="6862572"/>
            <a:chOff x="1" y="-4572"/>
            <a:chExt cx="7617658" cy="6862572"/>
          </a:xfrm>
        </p:grpSpPr>
        <p:sp>
          <p:nvSpPr>
            <p:cNvPr id="7" name="Freeform 6">
              <a:extLst>
                <a:ext uri="{FF2B5EF4-FFF2-40B4-BE49-F238E27FC236}">
                  <a16:creationId xmlns:a16="http://schemas.microsoft.com/office/drawing/2014/main" id="{449D9AC0-F957-4A6F-4DD9-7A5FC61565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CCF1316C-10A5-28E9-22D3-E28B92C6CB2F}"/>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3" name="Text Placeholder 2">
            <a:extLst>
              <a:ext uri="{FF2B5EF4-FFF2-40B4-BE49-F238E27FC236}">
                <a16:creationId xmlns:a16="http://schemas.microsoft.com/office/drawing/2014/main" id="{9C945A94-3CF9-DE40-192E-900232841E59}"/>
              </a:ext>
            </a:extLst>
          </p:cNvPr>
          <p:cNvSpPr>
            <a:spLocks noGrp="1"/>
          </p:cNvSpPr>
          <p:nvPr>
            <p:ph type="body" sz="quarter" idx="14" hasCustomPrompt="1"/>
          </p:nvPr>
        </p:nvSpPr>
        <p:spPr>
          <a:xfrm>
            <a:off x="434293" y="4667812"/>
            <a:ext cx="3600000" cy="270000"/>
          </a:xfrm>
          <a:prstGeom prst="rect">
            <a:avLst/>
          </a:prstGeom>
        </p:spPr>
        <p:txBody>
          <a:bodyPr wrap="square" lIns="0" tIns="0" rIns="0" bIns="0" anchor="t" anchorCtr="0">
            <a:noAutofit/>
          </a:bodyPr>
          <a:lstStyle>
            <a:lvl1pPr marL="0" indent="0">
              <a:lnSpc>
                <a:spcPct val="90000"/>
              </a:lnSpc>
              <a:spcBef>
                <a:spcPts val="0"/>
              </a:spcBef>
              <a:spcAft>
                <a:spcPts val="0"/>
              </a:spcAft>
              <a:buNone/>
              <a:defRPr sz="2000" b="1" i="0" spc="0" baseline="0">
                <a:solidFill>
                  <a:schemeClr val="accent2">
                    <a:lumMod val="60000"/>
                    <a:lumOff val="40000"/>
                  </a:schemeClr>
                </a:solidFill>
                <a:latin typeface="Barlow Medium" pitchFamily="2" charset="77"/>
              </a:defRPr>
            </a:lvl1pPr>
          </a:lstStyle>
          <a:p>
            <a:r>
              <a:rPr lang="en-US" dirty="0"/>
              <a:t>Click to Add Author Name</a:t>
            </a:r>
          </a:p>
        </p:txBody>
      </p:sp>
      <p:sp>
        <p:nvSpPr>
          <p:cNvPr id="4" name="Text Placeholder 2">
            <a:extLst>
              <a:ext uri="{FF2B5EF4-FFF2-40B4-BE49-F238E27FC236}">
                <a16:creationId xmlns:a16="http://schemas.microsoft.com/office/drawing/2014/main" id="{38A71F52-3503-B96C-9247-6161E2C3DC80}"/>
              </a:ext>
            </a:extLst>
          </p:cNvPr>
          <p:cNvSpPr>
            <a:spLocks noGrp="1"/>
          </p:cNvSpPr>
          <p:nvPr>
            <p:ph type="body" sz="quarter" idx="15" hasCustomPrompt="1"/>
          </p:nvPr>
        </p:nvSpPr>
        <p:spPr>
          <a:xfrm>
            <a:off x="434293" y="4963932"/>
            <a:ext cx="2880000" cy="390388"/>
          </a:xfrm>
          <a:prstGeom prst="rect">
            <a:avLst/>
          </a:prstGeom>
        </p:spPr>
        <p:txBody>
          <a:bodyPr wrap="square" lIns="0" tIns="0" rIns="0" bIns="0" anchor="t" anchorCtr="0">
            <a:noAutofit/>
          </a:bodyPr>
          <a:lstStyle>
            <a:lvl1pPr marL="0" indent="0">
              <a:lnSpc>
                <a:spcPct val="100000"/>
              </a:lnSpc>
              <a:spcBef>
                <a:spcPts val="0"/>
              </a:spcBef>
              <a:spcAft>
                <a:spcPts val="0"/>
              </a:spcAft>
              <a:buNone/>
              <a:defRPr sz="1200" b="0" i="0" spc="0" baseline="0">
                <a:solidFill>
                  <a:schemeClr val="bg1"/>
                </a:solidFill>
                <a:latin typeface="Barlow Medium" pitchFamily="2" charset="77"/>
              </a:defRPr>
            </a:lvl1pPr>
          </a:lstStyle>
          <a:p>
            <a:r>
              <a:rPr lang="en-US" dirty="0"/>
              <a:t>Click to Add Job Title</a:t>
            </a:r>
          </a:p>
          <a:p>
            <a:endParaRPr lang="en-US" dirty="0"/>
          </a:p>
        </p:txBody>
      </p:sp>
      <p:sp>
        <p:nvSpPr>
          <p:cNvPr id="6" name="Text Placeholder 6">
            <a:extLst>
              <a:ext uri="{FF2B5EF4-FFF2-40B4-BE49-F238E27FC236}">
                <a16:creationId xmlns:a16="http://schemas.microsoft.com/office/drawing/2014/main" id="{A03B89A1-CA1A-58B5-ACA8-74366DA0AFB5}"/>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Title,</a:t>
            </a:r>
            <a:br>
              <a:rPr lang="en-US" dirty="0"/>
            </a:br>
            <a:r>
              <a:rPr lang="en-US" dirty="0"/>
              <a:t>3 Lines Max, 44 pt.</a:t>
            </a:r>
            <a:br>
              <a:rPr lang="en-US" dirty="0"/>
            </a:br>
            <a:r>
              <a:rPr lang="en-US" dirty="0"/>
              <a:t>Title Case</a:t>
            </a:r>
          </a:p>
        </p:txBody>
      </p:sp>
      <p:pic>
        <p:nvPicPr>
          <p:cNvPr id="2" name="Picture 1" descr="A logo with a triangle and a face&#10;&#10;Description automatically generated with medium confidence">
            <a:extLst>
              <a:ext uri="{FF2B5EF4-FFF2-40B4-BE49-F238E27FC236}">
                <a16:creationId xmlns:a16="http://schemas.microsoft.com/office/drawing/2014/main" id="{BDBACE72-EC46-4972-2F8F-D9F38F5E881D}"/>
              </a:ext>
            </a:extLst>
          </p:cNvPr>
          <p:cNvPicPr>
            <a:picLocks noChangeAspect="1"/>
          </p:cNvPicPr>
          <p:nvPr userDrawn="1"/>
        </p:nvPicPr>
        <p:blipFill>
          <a:blip r:embed="rId4"/>
          <a:stretch>
            <a:fillRect/>
          </a:stretch>
        </p:blipFill>
        <p:spPr>
          <a:xfrm>
            <a:off x="9545155" y="209827"/>
            <a:ext cx="2286000" cy="2000250"/>
          </a:xfrm>
          <a:prstGeom prst="rect">
            <a:avLst/>
          </a:prstGeom>
          <a:effectLst>
            <a:outerShdw blurRad="254000" sx="101000" sy="101000" algn="ctr" rotWithShape="0">
              <a:prstClr val="black">
                <a:alpha val="60000"/>
              </a:prstClr>
            </a:outerShdw>
          </a:effectLst>
        </p:spPr>
      </p:pic>
    </p:spTree>
    <p:extLst>
      <p:ext uri="{BB962C8B-B14F-4D97-AF65-F5344CB8AC3E}">
        <p14:creationId xmlns:p14="http://schemas.microsoft.com/office/powerpoint/2010/main" val="12353634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6" name="Content Placeholder 2">
            <a:extLst>
              <a:ext uri="{FF2B5EF4-FFF2-40B4-BE49-F238E27FC236}">
                <a16:creationId xmlns:a16="http://schemas.microsoft.com/office/drawing/2014/main" id="{1075A93E-07A2-EBD4-1717-2BC5B458C00A}"/>
              </a:ext>
            </a:extLst>
          </p:cNvPr>
          <p:cNvSpPr>
            <a:spLocks noGrp="1"/>
          </p:cNvSpPr>
          <p:nvPr>
            <p:ph idx="10"/>
          </p:nvPr>
        </p:nvSpPr>
        <p:spPr>
          <a:xfrm>
            <a:off x="417600" y="1353312"/>
            <a:ext cx="11358000" cy="5094000"/>
          </a:xfrm>
          <a:prstGeom prst="rect">
            <a:avLst/>
          </a:prstGeom>
        </p:spPr>
        <p:txBody>
          <a:bodyPr>
            <a:noAutofit/>
          </a:bodyPr>
          <a:lstStyle>
            <a:lvl1pPr marL="0" indent="0">
              <a:spcAft>
                <a:spcPts val="600"/>
              </a:spcAft>
              <a:buFontTx/>
              <a:buNone/>
              <a:defRPr sz="1800">
                <a:solidFill>
                  <a:schemeClr val="tx1"/>
                </a:solidFill>
              </a:defRPr>
            </a:lvl1pPr>
            <a:lvl2pPr marL="457200" indent="-228600">
              <a:spcAft>
                <a:spcPts val="600"/>
              </a:spcAft>
              <a:tabLst/>
              <a:defRPr sz="1600">
                <a:solidFill>
                  <a:schemeClr val="tx1"/>
                </a:solidFill>
              </a:defRPr>
            </a:lvl2pPr>
            <a:lvl3pPr marL="866775" indent="-222250">
              <a:spcAft>
                <a:spcPts val="600"/>
              </a:spcAft>
              <a:tabLst/>
              <a:defRPr sz="1400">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7" name="Date Placeholder 6">
            <a:extLst>
              <a:ext uri="{FF2B5EF4-FFF2-40B4-BE49-F238E27FC236}">
                <a16:creationId xmlns:a16="http://schemas.microsoft.com/office/drawing/2014/main" id="{83C24794-88E0-34B3-0656-1C28545F3B1A}"/>
              </a:ext>
            </a:extLst>
          </p:cNvPr>
          <p:cNvSpPr>
            <a:spLocks noGrp="1"/>
          </p:cNvSpPr>
          <p:nvPr>
            <p:ph type="dt" sz="half" idx="11"/>
          </p:nvPr>
        </p:nvSpPr>
        <p:spPr/>
        <p:txBody>
          <a:bodyPr/>
          <a:lstStyle/>
          <a:p>
            <a:r>
              <a:rPr lang="en-US"/>
              <a:t>FTC | Orlando, FL | November 4-8, 2024</a:t>
            </a:r>
            <a:endParaRPr lang="en-US" dirty="0"/>
          </a:p>
        </p:txBody>
      </p:sp>
      <p:sp>
        <p:nvSpPr>
          <p:cNvPr id="8" name="Footer Placeholder 7">
            <a:extLst>
              <a:ext uri="{FF2B5EF4-FFF2-40B4-BE49-F238E27FC236}">
                <a16:creationId xmlns:a16="http://schemas.microsoft.com/office/drawing/2014/main" id="{1F2C8785-FD0C-28F6-D02E-DFDD3F0C55F1}"/>
              </a:ext>
            </a:extLst>
          </p:cNvPr>
          <p:cNvSpPr>
            <a:spLocks noGrp="1"/>
          </p:cNvSpPr>
          <p:nvPr>
            <p:ph type="ftr" sz="quarter" idx="12"/>
          </p:nvPr>
        </p:nvSpPr>
        <p:spPr/>
        <p:txBody>
          <a:bodyPr/>
          <a:lstStyle/>
          <a:p>
            <a:r>
              <a:rPr lang="en-US"/>
              <a:t>Analog Devices Confidential Information—Not for External Distribution. ©2024 Analog Devices, Inc. All Rights Reserved.</a:t>
            </a:r>
            <a:endParaRPr lang="en-IE" dirty="0"/>
          </a:p>
        </p:txBody>
      </p:sp>
      <p:sp>
        <p:nvSpPr>
          <p:cNvPr id="9" name="Slide Number Placeholder 8">
            <a:extLst>
              <a:ext uri="{FF2B5EF4-FFF2-40B4-BE49-F238E27FC236}">
                <a16:creationId xmlns:a16="http://schemas.microsoft.com/office/drawing/2014/main" id="{F37A4F43-4114-4A78-0C76-736E55424B55}"/>
              </a:ext>
            </a:extLst>
          </p:cNvPr>
          <p:cNvSpPr>
            <a:spLocks noGrp="1"/>
          </p:cNvSpPr>
          <p:nvPr>
            <p:ph type="sldNum" sz="quarter" idx="13"/>
          </p:nvPr>
        </p:nvSpPr>
        <p:spPr/>
        <p:txBody>
          <a:body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3960796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Line 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842400"/>
          </a:xfrm>
        </p:spPr>
        <p:txBody>
          <a:bodyPr tIns="36576" anchor="t" anchorCtr="0"/>
          <a:lstStyle>
            <a:lvl1pPr>
              <a:defRPr sz="3200" spc="0" baseline="0"/>
            </a:lvl1pPr>
          </a:lstStyle>
          <a:p>
            <a:r>
              <a:rPr lang="en-GB" dirty="0"/>
              <a:t>Click to Add Title in Barlow Medium 32 pt. </a:t>
            </a:r>
            <a:br>
              <a:rPr lang="en-GB" dirty="0"/>
            </a:br>
            <a:r>
              <a:rPr lang="en-GB" dirty="0"/>
              <a:t>Max Two Lines, Title Case</a:t>
            </a:r>
            <a:endParaRPr lang="en-US" dirty="0"/>
          </a:p>
        </p:txBody>
      </p:sp>
      <p:sp>
        <p:nvSpPr>
          <p:cNvPr id="5" name="Content Placeholder 2">
            <a:extLst>
              <a:ext uri="{FF2B5EF4-FFF2-40B4-BE49-F238E27FC236}">
                <a16:creationId xmlns:a16="http://schemas.microsoft.com/office/drawing/2014/main" id="{A1298877-00D0-02CC-EA8B-6319826E66D4}"/>
              </a:ext>
            </a:extLst>
          </p:cNvPr>
          <p:cNvSpPr>
            <a:spLocks noGrp="1"/>
          </p:cNvSpPr>
          <p:nvPr>
            <p:ph idx="11"/>
          </p:nvPr>
        </p:nvSpPr>
        <p:spPr>
          <a:xfrm>
            <a:off x="417600" y="1771752"/>
            <a:ext cx="11358000" cy="467556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7" name="Date Placeholder 6">
            <a:extLst>
              <a:ext uri="{FF2B5EF4-FFF2-40B4-BE49-F238E27FC236}">
                <a16:creationId xmlns:a16="http://schemas.microsoft.com/office/drawing/2014/main" id="{4EFE8C84-7357-8FE7-3437-A4E77FB68C57}"/>
              </a:ext>
            </a:extLst>
          </p:cNvPr>
          <p:cNvSpPr>
            <a:spLocks noGrp="1"/>
          </p:cNvSpPr>
          <p:nvPr>
            <p:ph type="dt" sz="half" idx="12"/>
          </p:nvPr>
        </p:nvSpPr>
        <p:spPr/>
        <p:txBody>
          <a:bodyPr/>
          <a:lstStyle/>
          <a:p>
            <a:r>
              <a:rPr lang="en-US"/>
              <a:t>FTC | Orlando, FL | November 4-8, 2024</a:t>
            </a:r>
            <a:endParaRPr lang="en-US" dirty="0"/>
          </a:p>
        </p:txBody>
      </p:sp>
      <p:sp>
        <p:nvSpPr>
          <p:cNvPr id="8" name="Footer Placeholder 7">
            <a:extLst>
              <a:ext uri="{FF2B5EF4-FFF2-40B4-BE49-F238E27FC236}">
                <a16:creationId xmlns:a16="http://schemas.microsoft.com/office/drawing/2014/main" id="{5137916E-E1FA-8BD9-9CFD-2E58C123ED78}"/>
              </a:ext>
            </a:extLst>
          </p:cNvPr>
          <p:cNvSpPr>
            <a:spLocks noGrp="1"/>
          </p:cNvSpPr>
          <p:nvPr>
            <p:ph type="ftr" sz="quarter" idx="13"/>
          </p:nvPr>
        </p:nvSpPr>
        <p:spPr/>
        <p:txBody>
          <a:bodyPr/>
          <a:lstStyle/>
          <a:p>
            <a:r>
              <a:rPr lang="en-US"/>
              <a:t>Analog Devices Confidential Information—Not for External Distribution. ©2024 Analog Devices, Inc. All Rights Reserved.</a:t>
            </a:r>
            <a:endParaRPr lang="en-IE" dirty="0"/>
          </a:p>
        </p:txBody>
      </p:sp>
      <p:sp>
        <p:nvSpPr>
          <p:cNvPr id="9" name="Slide Number Placeholder 8">
            <a:extLst>
              <a:ext uri="{FF2B5EF4-FFF2-40B4-BE49-F238E27FC236}">
                <a16:creationId xmlns:a16="http://schemas.microsoft.com/office/drawing/2014/main" id="{1361E876-700B-6056-7D95-3127834FE87E}"/>
              </a:ext>
            </a:extLst>
          </p:cNvPr>
          <p:cNvSpPr>
            <a:spLocks noGrp="1"/>
          </p:cNvSpPr>
          <p:nvPr>
            <p:ph type="sldNum" sz="quarter" idx="14"/>
          </p:nvPr>
        </p:nvSpPr>
        <p:spPr/>
        <p:txBody>
          <a:body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314627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80F7495-C78C-5BD8-12F5-D3FE1407E08D}"/>
              </a:ext>
            </a:extLst>
          </p:cNvPr>
          <p:cNvSpPr>
            <a:spLocks noGrp="1"/>
          </p:cNvSpPr>
          <p:nvPr>
            <p:ph idx="10"/>
          </p:nvPr>
        </p:nvSpPr>
        <p:spPr>
          <a:xfrm>
            <a:off x="417600"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727E58A3-0A5D-732B-0055-E391B11ABCF7}"/>
              </a:ext>
            </a:extLst>
          </p:cNvPr>
          <p:cNvSpPr>
            <a:spLocks noGrp="1"/>
          </p:cNvSpPr>
          <p:nvPr>
            <p:ph idx="11"/>
          </p:nvPr>
        </p:nvSpPr>
        <p:spPr>
          <a:xfrm>
            <a:off x="6294293"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9D0724DB-44AA-8EF1-D24E-EE31252C8A4D}"/>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3" name="Slide Number Placeholder 3">
            <a:extLst>
              <a:ext uri="{FF2B5EF4-FFF2-40B4-BE49-F238E27FC236}">
                <a16:creationId xmlns:a16="http://schemas.microsoft.com/office/drawing/2014/main" id="{12D86F02-FD9E-9CA8-C43A-A87AC3AFACC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Title 5">
            <a:extLst>
              <a:ext uri="{FF2B5EF4-FFF2-40B4-BE49-F238E27FC236}">
                <a16:creationId xmlns:a16="http://schemas.microsoft.com/office/drawing/2014/main" id="{18941DD9-5289-8381-97D8-48A472D3D163}"/>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4" name="Date Placeholder 3">
            <a:extLst>
              <a:ext uri="{FF2B5EF4-FFF2-40B4-BE49-F238E27FC236}">
                <a16:creationId xmlns:a16="http://schemas.microsoft.com/office/drawing/2014/main" id="{514A3EB2-F600-BB63-075C-FB8F95DC0263}"/>
              </a:ext>
            </a:extLst>
          </p:cNvPr>
          <p:cNvSpPr>
            <a:spLocks noGrp="1"/>
          </p:cNvSpPr>
          <p:nvPr>
            <p:ph type="dt" sz="half" idx="12"/>
          </p:nvPr>
        </p:nvSpPr>
        <p:spPr/>
        <p:txBody>
          <a:bodyPr/>
          <a:lstStyle/>
          <a:p>
            <a:r>
              <a:rPr lang="en-US"/>
              <a:t>FTC | Orlando, FL | November 4-8, 2024</a:t>
            </a:r>
          </a:p>
        </p:txBody>
      </p:sp>
    </p:spTree>
    <p:extLst>
      <p:ext uri="{BB962C8B-B14F-4D97-AF65-F5344CB8AC3E}">
        <p14:creationId xmlns:p14="http://schemas.microsoft.com/office/powerpoint/2010/main" val="14020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with Sub Header">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DEF11BB-C904-5C9F-F364-E905AEE95158}"/>
              </a:ext>
            </a:extLst>
          </p:cNvPr>
          <p:cNvSpPr>
            <a:spLocks noGrp="1"/>
          </p:cNvSpPr>
          <p:nvPr>
            <p:ph type="body" sz="quarter" idx="16" hasCustomPrompt="1"/>
          </p:nvPr>
        </p:nvSpPr>
        <p:spPr>
          <a:xfrm>
            <a:off x="417600" y="1364400"/>
            <a:ext cx="11344500" cy="2700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a:t>
            </a:r>
            <a:r>
              <a:rPr lang="en-GB" dirty="0" err="1"/>
              <a:t>Subheader</a:t>
            </a:r>
            <a:r>
              <a:rPr lang="en-GB" dirty="0"/>
              <a:t> in Barlow </a:t>
            </a:r>
            <a:r>
              <a:rPr lang="en-GB" dirty="0" err="1"/>
              <a:t>SemiBold</a:t>
            </a:r>
            <a:r>
              <a:rPr lang="en-GB" dirty="0"/>
              <a:t> 18 pt., Max One Line, Title Case</a:t>
            </a:r>
            <a:endParaRPr lang="en-US" dirty="0"/>
          </a:p>
        </p:txBody>
      </p:sp>
      <p:sp>
        <p:nvSpPr>
          <p:cNvPr id="8" name="Content Placeholder 2">
            <a:extLst>
              <a:ext uri="{FF2B5EF4-FFF2-40B4-BE49-F238E27FC236}">
                <a16:creationId xmlns:a16="http://schemas.microsoft.com/office/drawing/2014/main" id="{C5935695-BFE1-8BD6-08ED-49D19A252EC8}"/>
              </a:ext>
            </a:extLst>
          </p:cNvPr>
          <p:cNvSpPr>
            <a:spLocks noGrp="1"/>
          </p:cNvSpPr>
          <p:nvPr>
            <p:ph idx="11"/>
          </p:nvPr>
        </p:nvSpPr>
        <p:spPr>
          <a:xfrm>
            <a:off x="417600" y="1922400"/>
            <a:ext cx="11358000"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4" name="Legal Statement">
            <a:extLst>
              <a:ext uri="{FF2B5EF4-FFF2-40B4-BE49-F238E27FC236}">
                <a16:creationId xmlns:a16="http://schemas.microsoft.com/office/drawing/2014/main" id="{A88B1579-377C-8586-6E52-6B200302CCC1}"/>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5" name="Slide Number Placeholder 3">
            <a:extLst>
              <a:ext uri="{FF2B5EF4-FFF2-40B4-BE49-F238E27FC236}">
                <a16:creationId xmlns:a16="http://schemas.microsoft.com/office/drawing/2014/main" id="{A253026E-B5C4-FD0A-19D4-0B5461FD627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Title 5">
            <a:extLst>
              <a:ext uri="{FF2B5EF4-FFF2-40B4-BE49-F238E27FC236}">
                <a16:creationId xmlns:a16="http://schemas.microsoft.com/office/drawing/2014/main" id="{AA1A507F-49ED-2628-38B9-7F81817B7B96}"/>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2" name="Date Placeholder 1">
            <a:extLst>
              <a:ext uri="{FF2B5EF4-FFF2-40B4-BE49-F238E27FC236}">
                <a16:creationId xmlns:a16="http://schemas.microsoft.com/office/drawing/2014/main" id="{4C9B5694-ACF0-6EC3-B2CD-61A70638A872}"/>
              </a:ext>
            </a:extLst>
          </p:cNvPr>
          <p:cNvSpPr>
            <a:spLocks noGrp="1"/>
          </p:cNvSpPr>
          <p:nvPr>
            <p:ph type="dt" sz="half" idx="17"/>
          </p:nvPr>
        </p:nvSpPr>
        <p:spPr/>
        <p:txBody>
          <a:bodyPr/>
          <a:lstStyle/>
          <a:p>
            <a:r>
              <a:rPr lang="en-US"/>
              <a:t>FTC | Orlando, FL | November 4-8, 2024</a:t>
            </a:r>
          </a:p>
        </p:txBody>
      </p:sp>
    </p:spTree>
    <p:extLst>
      <p:ext uri="{BB962C8B-B14F-4D97-AF65-F5344CB8AC3E}">
        <p14:creationId xmlns:p14="http://schemas.microsoft.com/office/powerpoint/2010/main" val="73010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ub Header Two Column">
    <p:bg>
      <p:bgPr>
        <a:solidFill>
          <a:schemeClr val="bg1"/>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8943F822-F879-A359-A0CB-E4E9D060DA7E}"/>
              </a:ext>
            </a:extLst>
          </p:cNvPr>
          <p:cNvSpPr>
            <a:spLocks noGrp="1"/>
          </p:cNvSpPr>
          <p:nvPr>
            <p:ph type="body" sz="quarter" idx="22" hasCustomPrompt="1"/>
          </p:nvPr>
        </p:nvSpPr>
        <p:spPr>
          <a:xfrm>
            <a:off x="6287100" y="1362881"/>
            <a:ext cx="5486400" cy="2736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Title</a:t>
            </a:r>
            <a:endParaRPr lang="en-US" dirty="0"/>
          </a:p>
        </p:txBody>
      </p:sp>
      <p:sp>
        <p:nvSpPr>
          <p:cNvPr id="5" name="Text Placeholder 3">
            <a:extLst>
              <a:ext uri="{FF2B5EF4-FFF2-40B4-BE49-F238E27FC236}">
                <a16:creationId xmlns:a16="http://schemas.microsoft.com/office/drawing/2014/main" id="{1436D999-58A8-2BE5-FFFE-3347C537C4F7}"/>
              </a:ext>
            </a:extLst>
          </p:cNvPr>
          <p:cNvSpPr>
            <a:spLocks noGrp="1"/>
          </p:cNvSpPr>
          <p:nvPr>
            <p:ph type="body" sz="quarter" idx="16" hasCustomPrompt="1"/>
          </p:nvPr>
        </p:nvSpPr>
        <p:spPr>
          <a:xfrm>
            <a:off x="417599" y="1362881"/>
            <a:ext cx="5486400" cy="2736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Title</a:t>
            </a:r>
            <a:endParaRPr lang="en-US" dirty="0"/>
          </a:p>
        </p:txBody>
      </p:sp>
      <p:sp>
        <p:nvSpPr>
          <p:cNvPr id="10" name="Content Placeholder 2">
            <a:extLst>
              <a:ext uri="{FF2B5EF4-FFF2-40B4-BE49-F238E27FC236}">
                <a16:creationId xmlns:a16="http://schemas.microsoft.com/office/drawing/2014/main" id="{CA17CAD3-45BB-FDDB-D008-5419EA5DB376}"/>
              </a:ext>
            </a:extLst>
          </p:cNvPr>
          <p:cNvSpPr>
            <a:spLocks noGrp="1"/>
          </p:cNvSpPr>
          <p:nvPr>
            <p:ph idx="11"/>
          </p:nvPr>
        </p:nvSpPr>
        <p:spPr>
          <a:xfrm>
            <a:off x="417600" y="1921564"/>
            <a:ext cx="5486399"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614CBD0C-A49D-E688-875B-662AD4E5C923}"/>
              </a:ext>
            </a:extLst>
          </p:cNvPr>
          <p:cNvSpPr>
            <a:spLocks noGrp="1"/>
          </p:cNvSpPr>
          <p:nvPr>
            <p:ph idx="23"/>
          </p:nvPr>
        </p:nvSpPr>
        <p:spPr>
          <a:xfrm>
            <a:off x="6301565" y="1921564"/>
            <a:ext cx="5486399"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3" name="Legal Statement">
            <a:extLst>
              <a:ext uri="{FF2B5EF4-FFF2-40B4-BE49-F238E27FC236}">
                <a16:creationId xmlns:a16="http://schemas.microsoft.com/office/drawing/2014/main" id="{5B95C7BD-0ECF-E8E8-0AA1-669DC702782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7" name="Slide Number Placeholder 3">
            <a:extLst>
              <a:ext uri="{FF2B5EF4-FFF2-40B4-BE49-F238E27FC236}">
                <a16:creationId xmlns:a16="http://schemas.microsoft.com/office/drawing/2014/main" id="{3ED327D0-C0CF-65BA-41BD-4DD376DF5DBF}"/>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E7B0F791-FCAD-93C1-469A-FF5C9492342E}"/>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2" name="Date Placeholder 1">
            <a:extLst>
              <a:ext uri="{FF2B5EF4-FFF2-40B4-BE49-F238E27FC236}">
                <a16:creationId xmlns:a16="http://schemas.microsoft.com/office/drawing/2014/main" id="{30CECCBA-5758-BB6D-1DD0-F5F6E4B1BF72}"/>
              </a:ext>
            </a:extLst>
          </p:cNvPr>
          <p:cNvSpPr>
            <a:spLocks noGrp="1"/>
          </p:cNvSpPr>
          <p:nvPr>
            <p:ph type="dt" sz="half" idx="24"/>
          </p:nvPr>
        </p:nvSpPr>
        <p:spPr/>
        <p:txBody>
          <a:bodyPr/>
          <a:lstStyle/>
          <a:p>
            <a:r>
              <a:rPr lang="en-US"/>
              <a:t>FTC | Orlando, FL | November 4-8, 2024</a:t>
            </a:r>
          </a:p>
        </p:txBody>
      </p:sp>
    </p:spTree>
    <p:extLst>
      <p:ext uri="{BB962C8B-B14F-4D97-AF65-F5344CB8AC3E}">
        <p14:creationId xmlns:p14="http://schemas.microsoft.com/office/powerpoint/2010/main" val="407276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D6FD505D-77D2-F2AA-38CA-7D137C31B208}"/>
              </a:ext>
            </a:extLst>
          </p:cNvPr>
          <p:cNvSpPr>
            <a:spLocks noGrp="1"/>
          </p:cNvSpPr>
          <p:nvPr>
            <p:ph type="pic" sz="quarter" idx="16" hasCustomPrompt="1"/>
          </p:nvPr>
        </p:nvSpPr>
        <p:spPr>
          <a:xfrm>
            <a:off x="5822066" y="1050828"/>
            <a:ext cx="5958000" cy="5396400"/>
          </a:xfrm>
          <a:prstGeom prst="rect">
            <a:avLst/>
          </a:prstGeom>
          <a:noFill/>
          <a:ln>
            <a:noFill/>
          </a:ln>
        </p:spPr>
        <p:txBody>
          <a:bodyPr wrap="square" anchor="ctr">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dirty="0"/>
              <a:t>Click to add picture</a:t>
            </a:r>
          </a:p>
        </p:txBody>
      </p:sp>
      <p:sp>
        <p:nvSpPr>
          <p:cNvPr id="3" name="Title 5">
            <a:extLst>
              <a:ext uri="{FF2B5EF4-FFF2-40B4-BE49-F238E27FC236}">
                <a16:creationId xmlns:a16="http://schemas.microsoft.com/office/drawing/2014/main" id="{ADFE071F-83A9-FEE7-214E-2FCD9E1F5EC8}"/>
              </a:ext>
            </a:extLst>
          </p:cNvPr>
          <p:cNvSpPr>
            <a:spLocks noGrp="1"/>
          </p:cNvSpPr>
          <p:nvPr>
            <p:ph type="title" hasCustomPrompt="1"/>
          </p:nvPr>
        </p:nvSpPr>
        <p:spPr>
          <a:xfrm>
            <a:off x="417598" y="640080"/>
            <a:ext cx="5040000" cy="1270000"/>
          </a:xfrm>
        </p:spPr>
        <p:txBody>
          <a:bodyPr anchor="t"/>
          <a:lstStyle>
            <a:lvl1pPr algn="l">
              <a:defRPr sz="3200" spc="0" baseline="0"/>
            </a:lvl1pPr>
          </a:lstStyle>
          <a:p>
            <a:r>
              <a:rPr lang="en-GB" dirty="0"/>
              <a:t>Click to Add Title in Barlow Medium 32 pt. Max Three Lines, Title Case</a:t>
            </a:r>
            <a:endParaRPr lang="en-US" dirty="0"/>
          </a:p>
        </p:txBody>
      </p:sp>
      <p:sp>
        <p:nvSpPr>
          <p:cNvPr id="5" name="Content Placeholder 2">
            <a:extLst>
              <a:ext uri="{FF2B5EF4-FFF2-40B4-BE49-F238E27FC236}">
                <a16:creationId xmlns:a16="http://schemas.microsoft.com/office/drawing/2014/main" id="{21C0673C-A7DF-F8F0-75F9-2DE7661FFE59}"/>
              </a:ext>
            </a:extLst>
          </p:cNvPr>
          <p:cNvSpPr>
            <a:spLocks noGrp="1"/>
          </p:cNvSpPr>
          <p:nvPr>
            <p:ph idx="11"/>
          </p:nvPr>
        </p:nvSpPr>
        <p:spPr>
          <a:xfrm>
            <a:off x="417601" y="2191109"/>
            <a:ext cx="5040000" cy="4256119"/>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47974C77-A9A2-9C5D-4B14-33988A2D732F}"/>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4" name="Slide Number Placeholder 3">
            <a:extLst>
              <a:ext uri="{FF2B5EF4-FFF2-40B4-BE49-F238E27FC236}">
                <a16:creationId xmlns:a16="http://schemas.microsoft.com/office/drawing/2014/main" id="{26D7B890-9F88-CA9F-C400-1C66AD3B04AE}"/>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Date Placeholder 5">
            <a:extLst>
              <a:ext uri="{FF2B5EF4-FFF2-40B4-BE49-F238E27FC236}">
                <a16:creationId xmlns:a16="http://schemas.microsoft.com/office/drawing/2014/main" id="{EA5C8204-D434-90B9-69AA-3FDA9915419B}"/>
              </a:ext>
            </a:extLst>
          </p:cNvPr>
          <p:cNvSpPr>
            <a:spLocks noGrp="1"/>
          </p:cNvSpPr>
          <p:nvPr>
            <p:ph type="dt" sz="half" idx="17"/>
          </p:nvPr>
        </p:nvSpPr>
        <p:spPr/>
        <p:txBody>
          <a:bodyPr/>
          <a:lstStyle/>
          <a:p>
            <a:r>
              <a:rPr lang="en-US"/>
              <a:t>FTC | Orlando, FL | November 4-8, 2024</a:t>
            </a:r>
          </a:p>
        </p:txBody>
      </p:sp>
    </p:spTree>
    <p:extLst>
      <p:ext uri="{BB962C8B-B14F-4D97-AF65-F5344CB8AC3E}">
        <p14:creationId xmlns:p14="http://schemas.microsoft.com/office/powerpoint/2010/main" val="189603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 Blank">
    <p:bg>
      <p:bgPr>
        <a:solidFill>
          <a:schemeClr val="bg1"/>
        </a:solidFill>
        <a:effectLst/>
      </p:bgPr>
    </p:bg>
    <p:spTree>
      <p:nvGrpSpPr>
        <p:cNvPr id="1" name=""/>
        <p:cNvGrpSpPr/>
        <p:nvPr/>
      </p:nvGrpSpPr>
      <p:grpSpPr>
        <a:xfrm>
          <a:off x="0" y="0"/>
          <a:ext cx="0" cy="0"/>
          <a:chOff x="0" y="0"/>
          <a:chExt cx="0" cy="0"/>
        </a:xfrm>
      </p:grpSpPr>
      <p:sp>
        <p:nvSpPr>
          <p:cNvPr id="3" name="Legal Statement">
            <a:extLst>
              <a:ext uri="{FF2B5EF4-FFF2-40B4-BE49-F238E27FC236}">
                <a16:creationId xmlns:a16="http://schemas.microsoft.com/office/drawing/2014/main" id="{1B066EA6-D718-7545-E381-864DF12587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5" name="Slide Number Placeholder 3">
            <a:extLst>
              <a:ext uri="{FF2B5EF4-FFF2-40B4-BE49-F238E27FC236}">
                <a16:creationId xmlns:a16="http://schemas.microsoft.com/office/drawing/2014/main" id="{FB0EC10E-15B9-88B4-1BEB-1CF6CD00DA96}"/>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28760039-3EE1-0111-00FA-AC5941EF52FC}"/>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2" name="Date Placeholder 1">
            <a:extLst>
              <a:ext uri="{FF2B5EF4-FFF2-40B4-BE49-F238E27FC236}">
                <a16:creationId xmlns:a16="http://schemas.microsoft.com/office/drawing/2014/main" id="{0A7CE213-E76A-36F6-498E-CF709C4DC909}"/>
              </a:ext>
            </a:extLst>
          </p:cNvPr>
          <p:cNvSpPr>
            <a:spLocks noGrp="1"/>
          </p:cNvSpPr>
          <p:nvPr>
            <p:ph type="dt" sz="half" idx="10"/>
          </p:nvPr>
        </p:nvSpPr>
        <p:spPr/>
        <p:txBody>
          <a:bodyPr/>
          <a:lstStyle/>
          <a:p>
            <a:r>
              <a:rPr lang="en-US"/>
              <a:t>FTC | Orlando, FL | November 4-8, 2024</a:t>
            </a:r>
          </a:p>
        </p:txBody>
      </p:sp>
    </p:spTree>
    <p:extLst>
      <p:ext uri="{BB962C8B-B14F-4D97-AF65-F5344CB8AC3E}">
        <p14:creationId xmlns:p14="http://schemas.microsoft.com/office/powerpoint/2010/main" val="2079982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Alternate">
    <p:bg>
      <p:bgPr>
        <a:solidFill>
          <a:schemeClr val="bg1"/>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C0E1006A-6F73-6CC5-9A6B-003C025FE1EF}"/>
              </a:ext>
            </a:extLst>
          </p:cNvPr>
          <p:cNvSpPr>
            <a:spLocks noGrp="1"/>
          </p:cNvSpPr>
          <p:nvPr>
            <p:ph idx="21"/>
          </p:nvPr>
        </p:nvSpPr>
        <p:spPr>
          <a:xfrm>
            <a:off x="6299113" y="1611369"/>
            <a:ext cx="5473925" cy="4752217"/>
          </a:xfrm>
          <a:prstGeom prst="roundRect">
            <a:avLst>
              <a:gd name="adj" fmla="val 5234"/>
            </a:avLst>
          </a:prstGeom>
          <a:solidFill>
            <a:schemeClr val="bg1"/>
          </a:solidFill>
          <a:ln w="12700">
            <a:solidFill>
              <a:schemeClr val="tx2"/>
            </a:solidFill>
          </a:ln>
        </p:spPr>
        <p:txBody>
          <a:bodyPr lIns="144000" tIns="396000" rIns="144000" bIns="144000">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0B4FFC0-576B-550B-4CBA-830C438E3C74}"/>
              </a:ext>
            </a:extLst>
          </p:cNvPr>
          <p:cNvSpPr>
            <a:spLocks noGrp="1"/>
          </p:cNvSpPr>
          <p:nvPr>
            <p:ph idx="10"/>
          </p:nvPr>
        </p:nvSpPr>
        <p:spPr>
          <a:xfrm>
            <a:off x="428400" y="1611369"/>
            <a:ext cx="5473925" cy="4752217"/>
          </a:xfrm>
          <a:prstGeom prst="roundRect">
            <a:avLst>
              <a:gd name="adj" fmla="val 5234"/>
            </a:avLst>
          </a:prstGeom>
          <a:solidFill>
            <a:schemeClr val="bg1"/>
          </a:solidFill>
          <a:ln w="12700">
            <a:solidFill>
              <a:schemeClr val="tx2"/>
            </a:solidFill>
          </a:ln>
        </p:spPr>
        <p:txBody>
          <a:bodyPr lIns="144000" tIns="396000" rIns="144000" bIns="144000">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Text Placeholder 3">
            <a:extLst>
              <a:ext uri="{FF2B5EF4-FFF2-40B4-BE49-F238E27FC236}">
                <a16:creationId xmlns:a16="http://schemas.microsoft.com/office/drawing/2014/main" id="{E42180F3-8D99-D80C-3C16-210296F93547}"/>
              </a:ext>
            </a:extLst>
          </p:cNvPr>
          <p:cNvSpPr>
            <a:spLocks noGrp="1"/>
          </p:cNvSpPr>
          <p:nvPr>
            <p:ph type="body" sz="quarter" idx="20" hasCustomPrompt="1"/>
          </p:nvPr>
        </p:nvSpPr>
        <p:spPr>
          <a:xfrm>
            <a:off x="6839425" y="1424722"/>
            <a:ext cx="4320000" cy="360000"/>
          </a:xfrm>
          <a:prstGeom prst="roundRect">
            <a:avLst/>
          </a:prstGeom>
          <a:solidFill>
            <a:schemeClr val="tx2"/>
          </a:solidFill>
        </p:spPr>
        <p:txBody>
          <a:bodyPr anchor="ctr">
            <a:noAutofit/>
          </a:bodyPr>
          <a:lstStyle>
            <a:lvl1pPr marL="9525" indent="0" algn="ctr">
              <a:buNone/>
              <a:defRPr sz="1400" b="1" i="0" cap="all" spc="0" baseline="0">
                <a:solidFill>
                  <a:schemeClr val="bg1"/>
                </a:solidFill>
                <a:latin typeface="Barlow SemiBold" pitchFamily="2" charset="77"/>
              </a:defRPr>
            </a:lvl1pPr>
          </a:lstStyle>
          <a:p>
            <a:pPr lvl="0"/>
            <a:r>
              <a:rPr lang="en-GB" dirty="0"/>
              <a:t>CLICK TO EDIT</a:t>
            </a:r>
            <a:endParaRPr lang="en-US" dirty="0"/>
          </a:p>
        </p:txBody>
      </p:sp>
      <p:sp>
        <p:nvSpPr>
          <p:cNvPr id="7" name="Text Placeholder 3">
            <a:extLst>
              <a:ext uri="{FF2B5EF4-FFF2-40B4-BE49-F238E27FC236}">
                <a16:creationId xmlns:a16="http://schemas.microsoft.com/office/drawing/2014/main" id="{A529CD75-8F30-B30C-E480-81A1F577984F}"/>
              </a:ext>
            </a:extLst>
          </p:cNvPr>
          <p:cNvSpPr>
            <a:spLocks noGrp="1"/>
          </p:cNvSpPr>
          <p:nvPr>
            <p:ph type="body" sz="quarter" idx="19" hasCustomPrompt="1"/>
          </p:nvPr>
        </p:nvSpPr>
        <p:spPr>
          <a:xfrm>
            <a:off x="1048225" y="1424722"/>
            <a:ext cx="4320000" cy="360000"/>
          </a:xfrm>
          <a:prstGeom prst="roundRect">
            <a:avLst/>
          </a:prstGeom>
          <a:solidFill>
            <a:schemeClr val="tx2"/>
          </a:solidFill>
        </p:spPr>
        <p:txBody>
          <a:bodyPr anchor="ctr">
            <a:noAutofit/>
          </a:bodyPr>
          <a:lstStyle>
            <a:lvl1pPr marL="9525" indent="0" algn="ctr">
              <a:buNone/>
              <a:defRPr sz="1400" b="1" i="0" cap="all" spc="0" baseline="0">
                <a:solidFill>
                  <a:schemeClr val="bg1"/>
                </a:solidFill>
                <a:latin typeface="Barlow SemiBold" pitchFamily="2" charset="77"/>
              </a:defRPr>
            </a:lvl1pPr>
          </a:lstStyle>
          <a:p>
            <a:pPr lvl="0"/>
            <a:r>
              <a:rPr lang="en-GB" dirty="0"/>
              <a:t>CLICK TO EDIT</a:t>
            </a:r>
            <a:endParaRPr lang="en-US" dirty="0"/>
          </a:p>
        </p:txBody>
      </p:sp>
      <p:sp>
        <p:nvSpPr>
          <p:cNvPr id="4" name="Legal Statement">
            <a:extLst>
              <a:ext uri="{FF2B5EF4-FFF2-40B4-BE49-F238E27FC236}">
                <a16:creationId xmlns:a16="http://schemas.microsoft.com/office/drawing/2014/main" id="{52DA376E-BE10-B3A0-DBE8-9E5D6C7A2BF1}"/>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8" name="Slide Number Placeholder 3">
            <a:extLst>
              <a:ext uri="{FF2B5EF4-FFF2-40B4-BE49-F238E27FC236}">
                <a16:creationId xmlns:a16="http://schemas.microsoft.com/office/drawing/2014/main" id="{CD558F40-9DA9-CB95-74DD-933171C63430}"/>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9" name="Title 5">
            <a:extLst>
              <a:ext uri="{FF2B5EF4-FFF2-40B4-BE49-F238E27FC236}">
                <a16:creationId xmlns:a16="http://schemas.microsoft.com/office/drawing/2014/main" id="{5AF5B83E-6C3A-101F-034F-589F15E853BA}"/>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3" name="Date Placeholder 2">
            <a:extLst>
              <a:ext uri="{FF2B5EF4-FFF2-40B4-BE49-F238E27FC236}">
                <a16:creationId xmlns:a16="http://schemas.microsoft.com/office/drawing/2014/main" id="{897367DC-428E-41C0-95DC-94990F1FB4CE}"/>
              </a:ext>
            </a:extLst>
          </p:cNvPr>
          <p:cNvSpPr>
            <a:spLocks noGrp="1"/>
          </p:cNvSpPr>
          <p:nvPr>
            <p:ph type="dt" sz="half" idx="22"/>
          </p:nvPr>
        </p:nvSpPr>
        <p:spPr/>
        <p:txBody>
          <a:bodyPr/>
          <a:lstStyle/>
          <a:p>
            <a:r>
              <a:rPr lang="en-US"/>
              <a:t>FTC | Orlando, FL | November 4-8, 2024</a:t>
            </a:r>
          </a:p>
        </p:txBody>
      </p:sp>
    </p:spTree>
    <p:extLst>
      <p:ext uri="{BB962C8B-B14F-4D97-AF65-F5344CB8AC3E}">
        <p14:creationId xmlns:p14="http://schemas.microsoft.com/office/powerpoint/2010/main" val="3130033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Primary Blue">
    <p:bg>
      <p:bgPr>
        <a:solidFill>
          <a:schemeClr val="tx2"/>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412C34F2-A2E5-C931-892C-CE8C345AC02F}"/>
              </a:ext>
            </a:extLst>
          </p:cNvPr>
          <p:cNvSpPr>
            <a:spLocks noGrp="1"/>
          </p:cNvSpPr>
          <p:nvPr>
            <p:ph idx="11"/>
          </p:nvPr>
        </p:nvSpPr>
        <p:spPr>
          <a:xfrm>
            <a:off x="417600" y="1353312"/>
            <a:ext cx="11358000" cy="5094835"/>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25E0C486-E304-0B39-E7CF-15E096E1F31B}"/>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4" name="Legal Statement">
            <a:extLst>
              <a:ext uri="{FF2B5EF4-FFF2-40B4-BE49-F238E27FC236}">
                <a16:creationId xmlns:a16="http://schemas.microsoft.com/office/drawing/2014/main" id="{85BC1DD9-AC3F-0292-BB41-73EB158CEB50}"/>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5" name="Slide Number Placeholder 3">
            <a:extLst>
              <a:ext uri="{FF2B5EF4-FFF2-40B4-BE49-F238E27FC236}">
                <a16:creationId xmlns:a16="http://schemas.microsoft.com/office/drawing/2014/main" id="{A48B6C0D-5EBB-8307-1013-31292E06E600}"/>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7" name="Title 5">
            <a:extLst>
              <a:ext uri="{FF2B5EF4-FFF2-40B4-BE49-F238E27FC236}">
                <a16:creationId xmlns:a16="http://schemas.microsoft.com/office/drawing/2014/main" id="{2D195A7E-0C05-1F56-0D38-D979AC053415}"/>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
        <p:nvSpPr>
          <p:cNvPr id="2" name="Date Placeholder 1">
            <a:extLst>
              <a:ext uri="{FF2B5EF4-FFF2-40B4-BE49-F238E27FC236}">
                <a16:creationId xmlns:a16="http://schemas.microsoft.com/office/drawing/2014/main" id="{A50E06B7-36DF-2FAC-4400-FF8F7254C682}"/>
              </a:ext>
            </a:extLst>
          </p:cNvPr>
          <p:cNvSpPr>
            <a:spLocks noGrp="1"/>
          </p:cNvSpPr>
          <p:nvPr>
            <p:ph type="dt" sz="half" idx="12"/>
          </p:nvPr>
        </p:nvSpPr>
        <p:spPr/>
        <p:txBody>
          <a:bodyPr/>
          <a:lstStyle>
            <a:lvl1pPr>
              <a:defRPr>
                <a:solidFill>
                  <a:schemeClr val="bg1"/>
                </a:solidFill>
              </a:defRPr>
            </a:lvl1pPr>
          </a:lstStyle>
          <a:p>
            <a:r>
              <a:rPr lang="en-US" dirty="0"/>
              <a:t>FTC | Orlando, FL | November 4-8, 2024</a:t>
            </a:r>
          </a:p>
        </p:txBody>
      </p:sp>
    </p:spTree>
    <p:extLst>
      <p:ext uri="{BB962C8B-B14F-4D97-AF65-F5344CB8AC3E}">
        <p14:creationId xmlns:p14="http://schemas.microsoft.com/office/powerpoint/2010/main" val="43470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Dark Blue">
    <p:bg>
      <p:bgPr>
        <a:solidFill>
          <a:schemeClr val="accent1"/>
        </a:solid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EB10E12-5D30-25F8-D19C-B3E68E6B38A7}"/>
              </a:ext>
            </a:extLst>
          </p:cNvPr>
          <p:cNvSpPr>
            <a:spLocks noGrp="1"/>
          </p:cNvSpPr>
          <p:nvPr>
            <p:ph idx="11"/>
          </p:nvPr>
        </p:nvSpPr>
        <p:spPr>
          <a:xfrm>
            <a:off x="417600" y="1353312"/>
            <a:ext cx="11358000" cy="5094835"/>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02ACB762-6130-5103-7F8E-B72074746630}"/>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7" name="Legal Statement">
            <a:extLst>
              <a:ext uri="{FF2B5EF4-FFF2-40B4-BE49-F238E27FC236}">
                <a16:creationId xmlns:a16="http://schemas.microsoft.com/office/drawing/2014/main" id="{D55D98FE-1E49-E649-CF80-534ECD170896}"/>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9" name="Slide Number Placeholder 3">
            <a:extLst>
              <a:ext uri="{FF2B5EF4-FFF2-40B4-BE49-F238E27FC236}">
                <a16:creationId xmlns:a16="http://schemas.microsoft.com/office/drawing/2014/main" id="{52A745CB-3967-AEA6-EDEB-05D34A193713}"/>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43320B93-2F90-58F6-9BE3-C21659D0848E}"/>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
        <p:nvSpPr>
          <p:cNvPr id="2" name="Date Placeholder 1">
            <a:extLst>
              <a:ext uri="{FF2B5EF4-FFF2-40B4-BE49-F238E27FC236}">
                <a16:creationId xmlns:a16="http://schemas.microsoft.com/office/drawing/2014/main" id="{50712B14-832F-9BC1-F2B2-B207D91CADE2}"/>
              </a:ext>
            </a:extLst>
          </p:cNvPr>
          <p:cNvSpPr>
            <a:spLocks noGrp="1"/>
          </p:cNvSpPr>
          <p:nvPr>
            <p:ph type="dt" sz="half" idx="12"/>
          </p:nvPr>
        </p:nvSpPr>
        <p:spPr/>
        <p:txBody>
          <a:bodyPr/>
          <a:lstStyle>
            <a:lvl1pPr>
              <a:defRPr>
                <a:solidFill>
                  <a:schemeClr val="bg1"/>
                </a:solidFill>
              </a:defRPr>
            </a:lvl1pPr>
          </a:lstStyle>
          <a:p>
            <a:r>
              <a:rPr lang="en-US" dirty="0"/>
              <a:t>FTC | Orlando, FL | November 4-8, 2024</a:t>
            </a:r>
          </a:p>
        </p:txBody>
      </p:sp>
    </p:spTree>
    <p:extLst>
      <p:ext uri="{BB962C8B-B14F-4D97-AF65-F5344CB8AC3E}">
        <p14:creationId xmlns:p14="http://schemas.microsoft.com/office/powerpoint/2010/main" val="199281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Line Title and Content - Dark Blue">
    <p:bg>
      <p:bgPr>
        <a:solidFill>
          <a:schemeClr val="accent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1298877-00D0-02CC-EA8B-6319826E66D4}"/>
              </a:ext>
            </a:extLst>
          </p:cNvPr>
          <p:cNvSpPr>
            <a:spLocks noGrp="1"/>
          </p:cNvSpPr>
          <p:nvPr>
            <p:ph idx="11"/>
          </p:nvPr>
        </p:nvSpPr>
        <p:spPr>
          <a:xfrm>
            <a:off x="417600" y="1771752"/>
            <a:ext cx="11358000" cy="467556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pic>
        <p:nvPicPr>
          <p:cNvPr id="4" name="Picture 16">
            <a:extLst>
              <a:ext uri="{FF2B5EF4-FFF2-40B4-BE49-F238E27FC236}">
                <a16:creationId xmlns:a16="http://schemas.microsoft.com/office/drawing/2014/main" id="{E01E07D0-B84C-94C2-609C-807354D42E53}"/>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8" name="Legal Statement">
            <a:extLst>
              <a:ext uri="{FF2B5EF4-FFF2-40B4-BE49-F238E27FC236}">
                <a16:creationId xmlns:a16="http://schemas.microsoft.com/office/drawing/2014/main" id="{0F823DA7-FF9A-EFC6-F2C2-DE776C901A06}"/>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9" name="Slide Number Placeholder 3">
            <a:extLst>
              <a:ext uri="{FF2B5EF4-FFF2-40B4-BE49-F238E27FC236}">
                <a16:creationId xmlns:a16="http://schemas.microsoft.com/office/drawing/2014/main" id="{58E4D307-C8C1-6C95-AFDC-759E6C2C3865}"/>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2" name="Title 5">
            <a:extLst>
              <a:ext uri="{FF2B5EF4-FFF2-40B4-BE49-F238E27FC236}">
                <a16:creationId xmlns:a16="http://schemas.microsoft.com/office/drawing/2014/main" id="{98853D40-8423-5943-1966-67876C31EAE6}"/>
              </a:ext>
            </a:extLst>
          </p:cNvPr>
          <p:cNvSpPr>
            <a:spLocks noGrp="1"/>
          </p:cNvSpPr>
          <p:nvPr>
            <p:ph type="title" hasCustomPrompt="1"/>
          </p:nvPr>
        </p:nvSpPr>
        <p:spPr>
          <a:xfrm>
            <a:off x="417600" y="640080"/>
            <a:ext cx="10080000" cy="842400"/>
          </a:xfrm>
        </p:spPr>
        <p:txBody>
          <a:bodyPr tIns="36576" anchor="t" anchorCtr="0"/>
          <a:lstStyle>
            <a:lvl1pPr>
              <a:defRPr sz="3200" spc="0" baseline="0">
                <a:solidFill>
                  <a:schemeClr val="bg1"/>
                </a:solidFill>
              </a:defRPr>
            </a:lvl1pPr>
          </a:lstStyle>
          <a:p>
            <a:r>
              <a:rPr lang="en-GB" dirty="0"/>
              <a:t>Click to Add Title in Barlow Medium 32 pt. </a:t>
            </a:r>
            <a:br>
              <a:rPr lang="en-GB" dirty="0"/>
            </a:br>
            <a:r>
              <a:rPr lang="en-GB" dirty="0"/>
              <a:t>Max Two Lines, Title Case</a:t>
            </a:r>
            <a:endParaRPr lang="en-US" dirty="0"/>
          </a:p>
        </p:txBody>
      </p:sp>
      <p:sp>
        <p:nvSpPr>
          <p:cNvPr id="3" name="Date Placeholder 2">
            <a:extLst>
              <a:ext uri="{FF2B5EF4-FFF2-40B4-BE49-F238E27FC236}">
                <a16:creationId xmlns:a16="http://schemas.microsoft.com/office/drawing/2014/main" id="{55964D9A-42DA-B3D6-1096-F73B362F617C}"/>
              </a:ext>
            </a:extLst>
          </p:cNvPr>
          <p:cNvSpPr>
            <a:spLocks noGrp="1"/>
          </p:cNvSpPr>
          <p:nvPr>
            <p:ph type="dt" sz="half" idx="12"/>
          </p:nvPr>
        </p:nvSpPr>
        <p:spPr/>
        <p:txBody>
          <a:bodyPr/>
          <a:lstStyle>
            <a:lvl1pPr>
              <a:defRPr>
                <a:solidFill>
                  <a:schemeClr val="bg1"/>
                </a:solidFill>
              </a:defRPr>
            </a:lvl1pPr>
          </a:lstStyle>
          <a:p>
            <a:r>
              <a:rPr lang="en-US" dirty="0"/>
              <a:t>FTC | Orlando, FL | November 4-8, 2024</a:t>
            </a:r>
          </a:p>
        </p:txBody>
      </p:sp>
    </p:spTree>
    <p:extLst>
      <p:ext uri="{BB962C8B-B14F-4D97-AF65-F5344CB8AC3E}">
        <p14:creationId xmlns:p14="http://schemas.microsoft.com/office/powerpoint/2010/main" val="131622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Sub Header - Dark Blue">
    <p:bg>
      <p:bgPr>
        <a:solidFill>
          <a:schemeClr val="accent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DEF11BB-C904-5C9F-F364-E905AEE95158}"/>
              </a:ext>
            </a:extLst>
          </p:cNvPr>
          <p:cNvSpPr>
            <a:spLocks noGrp="1"/>
          </p:cNvSpPr>
          <p:nvPr>
            <p:ph type="body" sz="quarter" idx="16" hasCustomPrompt="1"/>
          </p:nvPr>
        </p:nvSpPr>
        <p:spPr>
          <a:xfrm>
            <a:off x="417600" y="1364400"/>
            <a:ext cx="11344500" cy="270000"/>
          </a:xfrm>
          <a:prstGeom prst="rect">
            <a:avLst/>
          </a:prstGeom>
        </p:spPr>
        <p:txBody>
          <a:bodyPr lIns="0" tIns="0" rIns="0" bIns="0">
            <a:noAutofit/>
          </a:bodyPr>
          <a:lstStyle>
            <a:lvl1pPr marL="9525" indent="0" algn="l">
              <a:buNone/>
              <a:defRPr sz="1800" b="0" i="0" cap="none" baseline="0">
                <a:solidFill>
                  <a:schemeClr val="accent2">
                    <a:lumMod val="60000"/>
                    <a:lumOff val="40000"/>
                  </a:schemeClr>
                </a:solidFill>
                <a:latin typeface="Barlow SemiBold" pitchFamily="2" charset="77"/>
              </a:defRPr>
            </a:lvl1pPr>
          </a:lstStyle>
          <a:p>
            <a:pPr lvl="0"/>
            <a:r>
              <a:rPr lang="en-GB" dirty="0"/>
              <a:t>Click to Add </a:t>
            </a:r>
            <a:r>
              <a:rPr lang="en-GB" dirty="0" err="1"/>
              <a:t>Subheader</a:t>
            </a:r>
            <a:r>
              <a:rPr lang="en-GB" dirty="0"/>
              <a:t> in Barlow </a:t>
            </a:r>
            <a:r>
              <a:rPr lang="en-GB" dirty="0" err="1"/>
              <a:t>SemiBold</a:t>
            </a:r>
            <a:r>
              <a:rPr lang="en-GB" dirty="0"/>
              <a:t> 18 pt., Max One Line, Title Case</a:t>
            </a:r>
            <a:endParaRPr lang="en-US" dirty="0"/>
          </a:p>
        </p:txBody>
      </p:sp>
      <p:sp>
        <p:nvSpPr>
          <p:cNvPr id="8" name="Content Placeholder 2">
            <a:extLst>
              <a:ext uri="{FF2B5EF4-FFF2-40B4-BE49-F238E27FC236}">
                <a16:creationId xmlns:a16="http://schemas.microsoft.com/office/drawing/2014/main" id="{C5935695-BFE1-8BD6-08ED-49D19A252EC8}"/>
              </a:ext>
            </a:extLst>
          </p:cNvPr>
          <p:cNvSpPr>
            <a:spLocks noGrp="1"/>
          </p:cNvSpPr>
          <p:nvPr>
            <p:ph idx="11"/>
          </p:nvPr>
        </p:nvSpPr>
        <p:spPr>
          <a:xfrm>
            <a:off x="417600" y="1922400"/>
            <a:ext cx="11358000" cy="452520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pic>
        <p:nvPicPr>
          <p:cNvPr id="4" name="Picture 16">
            <a:extLst>
              <a:ext uri="{FF2B5EF4-FFF2-40B4-BE49-F238E27FC236}">
                <a16:creationId xmlns:a16="http://schemas.microsoft.com/office/drawing/2014/main" id="{BC3E0B30-4B1F-2597-A54A-ACEF55669A78}"/>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9" name="Legal Statement">
            <a:extLst>
              <a:ext uri="{FF2B5EF4-FFF2-40B4-BE49-F238E27FC236}">
                <a16:creationId xmlns:a16="http://schemas.microsoft.com/office/drawing/2014/main" id="{F2D7AFB9-BB35-6BAD-4F95-1B4AAFD9396B}"/>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10" name="Slide Number Placeholder 3">
            <a:extLst>
              <a:ext uri="{FF2B5EF4-FFF2-40B4-BE49-F238E27FC236}">
                <a16:creationId xmlns:a16="http://schemas.microsoft.com/office/drawing/2014/main" id="{B0B882CF-0122-EBC9-F9BA-92246F1A6A6F}"/>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5" name="Title 5">
            <a:extLst>
              <a:ext uri="{FF2B5EF4-FFF2-40B4-BE49-F238E27FC236}">
                <a16:creationId xmlns:a16="http://schemas.microsoft.com/office/drawing/2014/main" id="{351E19C9-C3B9-95F2-8631-F77DC38B4A81}"/>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26038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Two Column">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E1A14D5-995E-5049-13B6-FC45A2D4487E}"/>
              </a:ext>
            </a:extLst>
          </p:cNvPr>
          <p:cNvSpPr/>
          <p:nvPr userDrawn="1"/>
        </p:nvSpPr>
        <p:spPr>
          <a:xfrm>
            <a:off x="0" y="172"/>
            <a:ext cx="5902325" cy="6857828"/>
          </a:xfrm>
          <a:prstGeom prst="rect">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5">
            <a:extLst>
              <a:ext uri="{FF2B5EF4-FFF2-40B4-BE49-F238E27FC236}">
                <a16:creationId xmlns:a16="http://schemas.microsoft.com/office/drawing/2014/main" id="{B2220010-7E9D-4CC5-9800-C952B9D6E58D}"/>
              </a:ext>
            </a:extLst>
          </p:cNvPr>
          <p:cNvSpPr>
            <a:spLocks noGrp="1"/>
          </p:cNvSpPr>
          <p:nvPr>
            <p:ph type="body" sz="quarter" idx="27" hasCustomPrompt="1"/>
          </p:nvPr>
        </p:nvSpPr>
        <p:spPr>
          <a:xfrm>
            <a:off x="417600" y="990000"/>
            <a:ext cx="5144303" cy="5468400"/>
          </a:xfrm>
          <a:prstGeom prst="rect">
            <a:avLst/>
          </a:prstGeom>
        </p:spPr>
        <p:txBody>
          <a:bodyPr lIns="0" tIns="0" rIns="0" bIns="0"/>
          <a:lstStyle>
            <a:lvl1pPr marL="0" indent="0">
              <a:lnSpc>
                <a:spcPct val="90000"/>
              </a:lnSpc>
              <a:buFontTx/>
              <a:buNone/>
              <a:tabLst>
                <a:tab pos="3508375" algn="l"/>
              </a:tabLst>
              <a:defRPr sz="5000" b="1" i="0" baseline="0">
                <a:solidFill>
                  <a:schemeClr val="bg1"/>
                </a:solidFill>
                <a:latin typeface="Barlow SemiBold" pitchFamily="2" charset="77"/>
              </a:defRPr>
            </a:lvl1pPr>
          </a:lstStyle>
          <a:p>
            <a:pPr lvl="0"/>
            <a:r>
              <a:rPr lang="en-GB" dirty="0"/>
              <a:t>Big Statement/Quote</a:t>
            </a:r>
            <a:br>
              <a:rPr lang="en-GB" dirty="0"/>
            </a:br>
            <a:r>
              <a:rPr lang="en-GB" dirty="0"/>
              <a:t>Two Columns, Barlow SemiBold,</a:t>
            </a:r>
            <a:br>
              <a:rPr lang="en-GB" dirty="0"/>
            </a:br>
            <a:r>
              <a:rPr lang="en-GB" dirty="0"/>
              <a:t>50 pt., Click to Edit</a:t>
            </a:r>
            <a:endParaRPr lang="en-US" dirty="0"/>
          </a:p>
        </p:txBody>
      </p:sp>
      <p:sp>
        <p:nvSpPr>
          <p:cNvPr id="4" name="Legal Statement">
            <a:extLst>
              <a:ext uri="{FF2B5EF4-FFF2-40B4-BE49-F238E27FC236}">
                <a16:creationId xmlns:a16="http://schemas.microsoft.com/office/drawing/2014/main" id="{59339391-6349-B106-157A-8926C560313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6" name="Slide Number Placeholder 3">
            <a:extLst>
              <a:ext uri="{FF2B5EF4-FFF2-40B4-BE49-F238E27FC236}">
                <a16:creationId xmlns:a16="http://schemas.microsoft.com/office/drawing/2014/main" id="{5A8BB947-F929-CC27-FA51-5F849163159B}"/>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7" name="Content Placeholder 2">
            <a:extLst>
              <a:ext uri="{FF2B5EF4-FFF2-40B4-BE49-F238E27FC236}">
                <a16:creationId xmlns:a16="http://schemas.microsoft.com/office/drawing/2014/main" id="{9C1050B6-525B-3A7B-AC73-4A4A2AD3668A}"/>
              </a:ext>
            </a:extLst>
          </p:cNvPr>
          <p:cNvSpPr>
            <a:spLocks noGrp="1"/>
          </p:cNvSpPr>
          <p:nvPr>
            <p:ph idx="23"/>
          </p:nvPr>
        </p:nvSpPr>
        <p:spPr>
          <a:xfrm>
            <a:off x="6289675" y="990000"/>
            <a:ext cx="5498289" cy="5456711"/>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0C8E61E0-5D13-D3B5-1BDD-CA76621AAB34}"/>
              </a:ext>
            </a:extLst>
          </p:cNvPr>
          <p:cNvSpPr>
            <a:spLocks noGrp="1"/>
          </p:cNvSpPr>
          <p:nvPr>
            <p:ph type="dt" sz="half" idx="28"/>
          </p:nvPr>
        </p:nvSpPr>
        <p:spPr/>
        <p:txBody>
          <a:bodyPr/>
          <a:lstStyle/>
          <a:p>
            <a:r>
              <a:rPr lang="en-US"/>
              <a:t>FTC | Orlando, FL | November 4-8, 2024</a:t>
            </a:r>
            <a:endParaRPr lang="en-US" dirty="0"/>
          </a:p>
        </p:txBody>
      </p:sp>
      <p:sp>
        <p:nvSpPr>
          <p:cNvPr id="3" name="Title 2">
            <a:extLst>
              <a:ext uri="{FF2B5EF4-FFF2-40B4-BE49-F238E27FC236}">
                <a16:creationId xmlns:a16="http://schemas.microsoft.com/office/drawing/2014/main" id="{E0482CAF-65FD-D879-E2CC-28E14746CF8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449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ig Statement Two Column - Blu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E1A14D5-995E-5049-13B6-FC45A2D4487E}"/>
              </a:ext>
            </a:extLst>
          </p:cNvPr>
          <p:cNvSpPr/>
          <p:nvPr userDrawn="1"/>
        </p:nvSpPr>
        <p:spPr>
          <a:xfrm>
            <a:off x="0" y="172"/>
            <a:ext cx="5902325" cy="6857828"/>
          </a:xfrm>
          <a:prstGeom prst="rect">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5">
            <a:extLst>
              <a:ext uri="{FF2B5EF4-FFF2-40B4-BE49-F238E27FC236}">
                <a16:creationId xmlns:a16="http://schemas.microsoft.com/office/drawing/2014/main" id="{B2220010-7E9D-4CC5-9800-C952B9D6E58D}"/>
              </a:ext>
            </a:extLst>
          </p:cNvPr>
          <p:cNvSpPr>
            <a:spLocks noGrp="1"/>
          </p:cNvSpPr>
          <p:nvPr>
            <p:ph type="body" sz="quarter" idx="27" hasCustomPrompt="1"/>
          </p:nvPr>
        </p:nvSpPr>
        <p:spPr>
          <a:xfrm>
            <a:off x="417600" y="990000"/>
            <a:ext cx="5144303" cy="5468400"/>
          </a:xfrm>
          <a:prstGeom prst="rect">
            <a:avLst/>
          </a:prstGeom>
        </p:spPr>
        <p:txBody>
          <a:bodyPr lIns="0" tIns="0" rIns="0" bIns="0"/>
          <a:lstStyle>
            <a:lvl1pPr marL="0" indent="0">
              <a:lnSpc>
                <a:spcPct val="90000"/>
              </a:lnSpc>
              <a:buFontTx/>
              <a:buNone/>
              <a:tabLst>
                <a:tab pos="3508375" algn="l"/>
              </a:tabLst>
              <a:defRPr sz="5000" b="1" i="0" baseline="0">
                <a:solidFill>
                  <a:schemeClr val="bg1"/>
                </a:solidFill>
                <a:latin typeface="Barlow SemiBold" pitchFamily="2" charset="77"/>
              </a:defRPr>
            </a:lvl1pPr>
          </a:lstStyle>
          <a:p>
            <a:pPr lvl="0"/>
            <a:r>
              <a:rPr lang="en-GB" dirty="0"/>
              <a:t>Big Statement/Quote</a:t>
            </a:r>
            <a:br>
              <a:rPr lang="en-GB" dirty="0"/>
            </a:br>
            <a:r>
              <a:rPr lang="en-GB" dirty="0"/>
              <a:t>Two Columns, Barlow SemiBold,</a:t>
            </a:r>
            <a:br>
              <a:rPr lang="en-GB" dirty="0"/>
            </a:br>
            <a:r>
              <a:rPr lang="en-GB" dirty="0"/>
              <a:t>50 pt., Click to Edit</a:t>
            </a:r>
            <a:endParaRPr lang="en-US" dirty="0"/>
          </a:p>
        </p:txBody>
      </p:sp>
      <p:sp>
        <p:nvSpPr>
          <p:cNvPr id="8" name="Content Placeholder 2">
            <a:extLst>
              <a:ext uri="{FF2B5EF4-FFF2-40B4-BE49-F238E27FC236}">
                <a16:creationId xmlns:a16="http://schemas.microsoft.com/office/drawing/2014/main" id="{4EAC019C-E00B-1BBC-26AB-EE9B29FD795D}"/>
              </a:ext>
            </a:extLst>
          </p:cNvPr>
          <p:cNvSpPr>
            <a:spLocks noGrp="1"/>
          </p:cNvSpPr>
          <p:nvPr>
            <p:ph idx="11"/>
          </p:nvPr>
        </p:nvSpPr>
        <p:spPr>
          <a:xfrm>
            <a:off x="6277310" y="990001"/>
            <a:ext cx="5498289" cy="546840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A3767269-D440-03F9-BB78-6AB3B10BD987}"/>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4" name="Legal Statement">
            <a:extLst>
              <a:ext uri="{FF2B5EF4-FFF2-40B4-BE49-F238E27FC236}">
                <a16:creationId xmlns:a16="http://schemas.microsoft.com/office/drawing/2014/main" id="{59339391-6349-B106-157A-8926C560313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6" name="Slide Number Placeholder 3">
            <a:extLst>
              <a:ext uri="{FF2B5EF4-FFF2-40B4-BE49-F238E27FC236}">
                <a16:creationId xmlns:a16="http://schemas.microsoft.com/office/drawing/2014/main" id="{5A8BB947-F929-CC27-FA51-5F849163159B}"/>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2" name="Title 1">
            <a:extLst>
              <a:ext uri="{FF2B5EF4-FFF2-40B4-BE49-F238E27FC236}">
                <a16:creationId xmlns:a16="http://schemas.microsoft.com/office/drawing/2014/main" id="{300D6C77-BF68-963F-F418-9C2634264B1E}"/>
              </a:ext>
            </a:extLst>
          </p:cNvPr>
          <p:cNvSpPr>
            <a:spLocks noGrp="1"/>
          </p:cNvSpPr>
          <p:nvPr>
            <p:ph type="title"/>
          </p:nvPr>
        </p:nvSpPr>
        <p:spPr/>
        <p:txBody>
          <a:bodyPr/>
          <a:lstStyle/>
          <a:p>
            <a:r>
              <a:rPr lang="en-US"/>
              <a:t>Click to edit Master title style</a:t>
            </a:r>
          </a:p>
        </p:txBody>
      </p:sp>
      <p:sp>
        <p:nvSpPr>
          <p:cNvPr id="7" name="Date Placeholder 6">
            <a:extLst>
              <a:ext uri="{FF2B5EF4-FFF2-40B4-BE49-F238E27FC236}">
                <a16:creationId xmlns:a16="http://schemas.microsoft.com/office/drawing/2014/main" id="{131E6725-631F-9164-C6CD-2745C56B3C32}"/>
              </a:ext>
            </a:extLst>
          </p:cNvPr>
          <p:cNvSpPr>
            <a:spLocks noGrp="1"/>
          </p:cNvSpPr>
          <p:nvPr>
            <p:ph type="dt" sz="half" idx="28"/>
          </p:nvPr>
        </p:nvSpPr>
        <p:spPr/>
        <p:txBody>
          <a:bodyPr/>
          <a:lstStyle>
            <a:lvl1pPr>
              <a:defRPr>
                <a:solidFill>
                  <a:schemeClr val="bg1"/>
                </a:solidFill>
              </a:defRPr>
            </a:lvl1pPr>
          </a:lstStyle>
          <a:p>
            <a:r>
              <a:rPr lang="en-US" dirty="0"/>
              <a:t>FTC | Orlando, FL | November 4-8, 2024</a:t>
            </a:r>
          </a:p>
        </p:txBody>
      </p:sp>
    </p:spTree>
    <p:extLst>
      <p:ext uri="{BB962C8B-B14F-4D97-AF65-F5344CB8AC3E}">
        <p14:creationId xmlns:p14="http://schemas.microsoft.com/office/powerpoint/2010/main" val="123723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ig Statement - Primary Blue">
    <p:bg>
      <p:bgPr>
        <a:solidFill>
          <a:schemeClr val="tx2"/>
        </a:solidFill>
        <a:effectLst/>
      </p:bgPr>
    </p:bg>
    <p:spTree>
      <p:nvGrpSpPr>
        <p:cNvPr id="1" name=""/>
        <p:cNvGrpSpPr/>
        <p:nvPr/>
      </p:nvGrpSpPr>
      <p:grpSpPr>
        <a:xfrm>
          <a:off x="0" y="0"/>
          <a:ext cx="0" cy="0"/>
          <a:chOff x="0" y="0"/>
          <a:chExt cx="0" cy="0"/>
        </a:xfrm>
      </p:grpSpPr>
      <p:pic>
        <p:nvPicPr>
          <p:cNvPr id="2" name="Picture 16">
            <a:extLst>
              <a:ext uri="{FF2B5EF4-FFF2-40B4-BE49-F238E27FC236}">
                <a16:creationId xmlns:a16="http://schemas.microsoft.com/office/drawing/2014/main" id="{F60630CF-4BC1-4126-BAD0-74F5C380BC67}"/>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3" name="Title 5">
            <a:extLst>
              <a:ext uri="{FF2B5EF4-FFF2-40B4-BE49-F238E27FC236}">
                <a16:creationId xmlns:a16="http://schemas.microsoft.com/office/drawing/2014/main" id="{405AAAEB-2168-EDFA-AE8A-1EB7C4DA252D}"/>
              </a:ext>
            </a:extLst>
          </p:cNvPr>
          <p:cNvSpPr>
            <a:spLocks noGrp="1"/>
          </p:cNvSpPr>
          <p:nvPr>
            <p:ph type="body" sz="quarter" idx="28" hasCustomPrompt="1"/>
          </p:nvPr>
        </p:nvSpPr>
        <p:spPr>
          <a:xfrm>
            <a:off x="419101" y="985720"/>
            <a:ext cx="11353799" cy="5468400"/>
          </a:xfrm>
          <a:prstGeom prst="rect">
            <a:avLst/>
          </a:prstGeom>
        </p:spPr>
        <p:txBody>
          <a:bodyPr lIns="0" tIns="0" rIns="0" bIns="0" anchor="ctr" anchorCtr="0"/>
          <a:lstStyle>
            <a:lvl1pPr marL="0" indent="0" algn="ctr">
              <a:lnSpc>
                <a:spcPct val="90000"/>
              </a:lnSpc>
              <a:buFontTx/>
              <a:buNone/>
              <a:tabLst>
                <a:tab pos="3508375" algn="l"/>
              </a:tabLst>
              <a:defRPr sz="5000" b="1" i="0">
                <a:solidFill>
                  <a:schemeClr val="bg1"/>
                </a:solidFill>
                <a:latin typeface="Barlow SemiBold" pitchFamily="2" charset="77"/>
              </a:defRPr>
            </a:lvl1pPr>
          </a:lstStyle>
          <a:p>
            <a:pPr lvl="0"/>
            <a:r>
              <a:rPr lang="en-GB" dirty="0"/>
              <a:t>Big Statement/Quote, One Column,</a:t>
            </a:r>
            <a:br>
              <a:rPr lang="en-GB" dirty="0"/>
            </a:br>
            <a:r>
              <a:rPr lang="en-GB" dirty="0"/>
              <a:t>Barlow SemiBold, 50 pt., Click to Edit</a:t>
            </a:r>
            <a:endParaRPr lang="en-US" dirty="0"/>
          </a:p>
        </p:txBody>
      </p:sp>
      <p:sp>
        <p:nvSpPr>
          <p:cNvPr id="4" name="Legal Statement">
            <a:extLst>
              <a:ext uri="{FF2B5EF4-FFF2-40B4-BE49-F238E27FC236}">
                <a16:creationId xmlns:a16="http://schemas.microsoft.com/office/drawing/2014/main" id="{711B7826-C8B8-BDAD-0A12-46CAFB749532}"/>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US"/>
              <a:t>Analog Devices Confidential Information—Not for External Distribution. ©2024 Analog Devices, Inc. All Rights Reserved.</a:t>
            </a:r>
            <a:endParaRPr lang="en-IE" dirty="0"/>
          </a:p>
        </p:txBody>
      </p:sp>
      <p:sp>
        <p:nvSpPr>
          <p:cNvPr id="5" name="Slide Number Placeholder 3">
            <a:extLst>
              <a:ext uri="{FF2B5EF4-FFF2-40B4-BE49-F238E27FC236}">
                <a16:creationId xmlns:a16="http://schemas.microsoft.com/office/drawing/2014/main" id="{D4E77862-06B8-49B9-8840-9C5CBFE1F73D}"/>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4095045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Video">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44B91048-928D-46CA-F288-0674C5E34E11}"/>
              </a:ext>
            </a:extLst>
          </p:cNvPr>
          <p:cNvSpPr>
            <a:spLocks noGrp="1"/>
          </p:cNvSpPr>
          <p:nvPr>
            <p:ph type="media" sz="quarter" idx="12" hasCustomPrompt="1"/>
          </p:nvPr>
        </p:nvSpPr>
        <p:spPr>
          <a:xfrm>
            <a:off x="0" y="0"/>
            <a:ext cx="12192000" cy="6853238"/>
          </a:xfrm>
          <a:prstGeom prst="rect">
            <a:avLst/>
          </a:prstGeom>
          <a:solidFill>
            <a:schemeClr val="accent1"/>
          </a:solidFill>
        </p:spPr>
        <p:txBody>
          <a:bodyPr anchor="ctr">
            <a:normAutofit/>
          </a:bodyPr>
          <a:lstStyle>
            <a:lvl1pPr marL="9525" indent="0" algn="ctr">
              <a:buNone/>
              <a:defRPr sz="2000">
                <a:solidFill>
                  <a:schemeClr val="bg1"/>
                </a:solidFill>
              </a:defRPr>
            </a:lvl1pPr>
          </a:lstStyle>
          <a:p>
            <a:r>
              <a:rPr lang="en-US" dirty="0"/>
              <a:t>Click the Icon to Add a Video</a:t>
            </a:r>
          </a:p>
        </p:txBody>
      </p:sp>
    </p:spTree>
    <p:extLst>
      <p:ext uri="{BB962C8B-B14F-4D97-AF65-F5344CB8AC3E}">
        <p14:creationId xmlns:p14="http://schemas.microsoft.com/office/powerpoint/2010/main" val="3872207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Section or Q&amp;A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50A1B7-5FB3-D524-5305-7E35ECEB1CBA}"/>
              </a:ext>
            </a:extLst>
          </p:cNvPr>
          <p:cNvPicPr>
            <a:picLocks noChangeAspect="1"/>
          </p:cNvPicPr>
          <p:nvPr userDrawn="1"/>
        </p:nvPicPr>
        <p:blipFill>
          <a:blip r:embed="rId2"/>
          <a:srcRect/>
          <a:stretch/>
        </p:blipFill>
        <p:spPr>
          <a:xfrm>
            <a:off x="0" y="0"/>
            <a:ext cx="12191999" cy="6858000"/>
          </a:xfrm>
          <a:prstGeom prst="rect">
            <a:avLst/>
          </a:prstGeom>
        </p:spPr>
      </p:pic>
      <p:pic>
        <p:nvPicPr>
          <p:cNvPr id="6" name="Picture 16">
            <a:extLst>
              <a:ext uri="{FF2B5EF4-FFF2-40B4-BE49-F238E27FC236}">
                <a16:creationId xmlns:a16="http://schemas.microsoft.com/office/drawing/2014/main" id="{4E4B78C0-381D-F1D6-2AE4-0563743A603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0924752" y="237509"/>
            <a:ext cx="981288" cy="395958"/>
          </a:xfrm>
          <a:prstGeom prst="rect">
            <a:avLst/>
          </a:prstGeom>
        </p:spPr>
      </p:pic>
      <p:sp>
        <p:nvSpPr>
          <p:cNvPr id="7" name="Content Placeholder 2"/>
          <p:cNvSpPr>
            <a:spLocks noGrp="1"/>
          </p:cNvSpPr>
          <p:nvPr>
            <p:ph idx="1" hasCustomPrompt="1"/>
          </p:nvPr>
        </p:nvSpPr>
        <p:spPr>
          <a:xfrm>
            <a:off x="355601" y="1705429"/>
            <a:ext cx="5557837" cy="4667408"/>
          </a:xfrm>
        </p:spPr>
        <p:txBody>
          <a:bodyPr lIns="0" tIns="0" rIns="0" bIns="0" anchor="ctr">
            <a:normAutofit/>
          </a:bodyPr>
          <a:lstStyle>
            <a:lvl1pPr marL="0" indent="0">
              <a:lnSpc>
                <a:spcPct val="90000"/>
              </a:lnSpc>
              <a:buNone/>
              <a:defRPr sz="4800">
                <a:solidFill>
                  <a:schemeClr val="bg1"/>
                </a:solidFill>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dirty="0"/>
              <a:t>Click to Edit Master Text Styles</a:t>
            </a:r>
          </a:p>
        </p:txBody>
      </p:sp>
      <p:sp>
        <p:nvSpPr>
          <p:cNvPr id="2" name="TextBox 1">
            <a:extLst>
              <a:ext uri="{FF2B5EF4-FFF2-40B4-BE49-F238E27FC236}">
                <a16:creationId xmlns:a16="http://schemas.microsoft.com/office/drawing/2014/main" id="{11ECC1EE-582D-A143-AF7D-E409C134D032}"/>
              </a:ext>
            </a:extLst>
          </p:cNvPr>
          <p:cNvSpPr txBox="1"/>
          <p:nvPr userDrawn="1"/>
        </p:nvSpPr>
        <p:spPr>
          <a:xfrm>
            <a:off x="16190976" y="694944"/>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
        <p:nvSpPr>
          <p:cNvPr id="13" name="Rectangle 12">
            <a:extLst>
              <a:ext uri="{FF2B5EF4-FFF2-40B4-BE49-F238E27FC236}">
                <a16:creationId xmlns:a16="http://schemas.microsoft.com/office/drawing/2014/main" id="{74041FE8-0344-5D47-9947-DD38BB729CF3}"/>
              </a:ext>
            </a:extLst>
          </p:cNvPr>
          <p:cNvSpPr/>
          <p:nvPr userDrawn="1"/>
        </p:nvSpPr>
        <p:spPr>
          <a:xfrm>
            <a:off x="0" y="6606769"/>
            <a:ext cx="12191999" cy="251231"/>
          </a:xfrm>
          <a:prstGeom prst="rect">
            <a:avLst/>
          </a:prstGeom>
          <a:no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3" name="Title 2">
            <a:extLst>
              <a:ext uri="{FF2B5EF4-FFF2-40B4-BE49-F238E27FC236}">
                <a16:creationId xmlns:a16="http://schemas.microsoft.com/office/drawing/2014/main" id="{BAE5A75E-CE41-5E5D-5CA6-E96375B8CF70}"/>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BBDC51B8-582A-747F-40DB-80CE8B78AA31}"/>
              </a:ext>
            </a:extLst>
          </p:cNvPr>
          <p:cNvSpPr>
            <a:spLocks noGrp="1"/>
          </p:cNvSpPr>
          <p:nvPr>
            <p:ph type="dt" sz="half" idx="10"/>
          </p:nvPr>
        </p:nvSpPr>
        <p:spPr/>
        <p:txBody>
          <a:bodyPr/>
          <a:lstStyle>
            <a:lvl1pPr>
              <a:defRPr>
                <a:solidFill>
                  <a:schemeClr val="bg1"/>
                </a:solidFill>
              </a:defRPr>
            </a:lvl1pPr>
          </a:lstStyle>
          <a:p>
            <a:r>
              <a:rPr lang="en-US" dirty="0"/>
              <a:t>FTC | Orlando, FL | November 4-8, 2024</a:t>
            </a:r>
          </a:p>
        </p:txBody>
      </p:sp>
      <p:sp>
        <p:nvSpPr>
          <p:cNvPr id="8" name="Footer Placeholder 7">
            <a:extLst>
              <a:ext uri="{FF2B5EF4-FFF2-40B4-BE49-F238E27FC236}">
                <a16:creationId xmlns:a16="http://schemas.microsoft.com/office/drawing/2014/main" id="{72440BDB-5628-BB4F-6161-6F8EF6EC981A}"/>
              </a:ext>
            </a:extLst>
          </p:cNvPr>
          <p:cNvSpPr>
            <a:spLocks noGrp="1"/>
          </p:cNvSpPr>
          <p:nvPr>
            <p:ph type="ftr" sz="quarter" idx="11"/>
          </p:nvPr>
        </p:nvSpPr>
        <p:spPr/>
        <p:txBody>
          <a:bodyPr/>
          <a:lstStyle/>
          <a:p>
            <a:r>
              <a:rPr lang="en-US" dirty="0">
                <a:solidFill>
                  <a:schemeClr val="bg1"/>
                </a:solidFill>
              </a:rPr>
              <a:t>Analog Devices Confidential Information—Not for External Distribution. ©2024 Analog Devices, Inc. All Rights Reserved</a:t>
            </a:r>
            <a:r>
              <a:rPr lang="en-US" dirty="0"/>
              <a:t>.</a:t>
            </a:r>
          </a:p>
        </p:txBody>
      </p:sp>
      <p:sp>
        <p:nvSpPr>
          <p:cNvPr id="9" name="Slide Number Placeholder 8">
            <a:extLst>
              <a:ext uri="{FF2B5EF4-FFF2-40B4-BE49-F238E27FC236}">
                <a16:creationId xmlns:a16="http://schemas.microsoft.com/office/drawing/2014/main" id="{EBC27866-B018-39BA-AD12-02E5BA089A3F}"/>
              </a:ext>
            </a:extLst>
          </p:cNvPr>
          <p:cNvSpPr>
            <a:spLocks noGrp="1"/>
          </p:cNvSpPr>
          <p:nvPr>
            <p:ph type="sldNum" sz="quarter" idx="12"/>
          </p:nvPr>
        </p:nvSpPr>
        <p:spPr/>
        <p:txBody>
          <a:bodyPr/>
          <a:lstStyle>
            <a:lvl1pPr>
              <a:defRPr>
                <a:solidFill>
                  <a:schemeClr val="bg1"/>
                </a:solidFill>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2788144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FTC Closing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50A1B7-5FB3-D524-5305-7E35ECEB1CBA}"/>
              </a:ext>
            </a:extLst>
          </p:cNvPr>
          <p:cNvPicPr>
            <a:picLocks noChangeAspect="1"/>
          </p:cNvPicPr>
          <p:nvPr userDrawn="1"/>
        </p:nvPicPr>
        <p:blipFill>
          <a:blip r:embed="rId2"/>
          <a:srcRect/>
          <a:stretch/>
        </p:blipFill>
        <p:spPr>
          <a:xfrm>
            <a:off x="0" y="0"/>
            <a:ext cx="12191999" cy="6858000"/>
          </a:xfrm>
          <a:prstGeom prst="rect">
            <a:avLst/>
          </a:prstGeom>
        </p:spPr>
      </p:pic>
      <p:sp>
        <p:nvSpPr>
          <p:cNvPr id="7" name="Content Placeholder 2"/>
          <p:cNvSpPr>
            <a:spLocks noGrp="1"/>
          </p:cNvSpPr>
          <p:nvPr>
            <p:ph idx="1" hasCustomPrompt="1"/>
          </p:nvPr>
        </p:nvSpPr>
        <p:spPr>
          <a:xfrm>
            <a:off x="355601" y="1705429"/>
            <a:ext cx="5557837" cy="4667408"/>
          </a:xfrm>
        </p:spPr>
        <p:txBody>
          <a:bodyPr lIns="0" tIns="0" rIns="0" bIns="0" anchor="ctr">
            <a:normAutofit/>
          </a:bodyPr>
          <a:lstStyle>
            <a:lvl1pPr marL="0" indent="0">
              <a:lnSpc>
                <a:spcPct val="90000"/>
              </a:lnSpc>
              <a:buNone/>
              <a:defRPr sz="4800">
                <a:solidFill>
                  <a:schemeClr val="bg1"/>
                </a:solidFill>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dirty="0"/>
              <a:t>Click to Edit Master Text Styles</a:t>
            </a:r>
          </a:p>
        </p:txBody>
      </p:sp>
      <p:sp>
        <p:nvSpPr>
          <p:cNvPr id="2" name="TextBox 1">
            <a:extLst>
              <a:ext uri="{FF2B5EF4-FFF2-40B4-BE49-F238E27FC236}">
                <a16:creationId xmlns:a16="http://schemas.microsoft.com/office/drawing/2014/main" id="{11ECC1EE-582D-A143-AF7D-E409C134D032}"/>
              </a:ext>
            </a:extLst>
          </p:cNvPr>
          <p:cNvSpPr txBox="1"/>
          <p:nvPr userDrawn="1"/>
        </p:nvSpPr>
        <p:spPr>
          <a:xfrm>
            <a:off x="16190976" y="694944"/>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
        <p:nvSpPr>
          <p:cNvPr id="3" name="Date Placeholder 2">
            <a:extLst>
              <a:ext uri="{FF2B5EF4-FFF2-40B4-BE49-F238E27FC236}">
                <a16:creationId xmlns:a16="http://schemas.microsoft.com/office/drawing/2014/main" id="{43D09E7D-CC74-5F0E-F282-79F0DC98A017}"/>
              </a:ext>
            </a:extLst>
          </p:cNvPr>
          <p:cNvSpPr>
            <a:spLocks noGrp="1"/>
          </p:cNvSpPr>
          <p:nvPr>
            <p:ph type="dt" sz="half" idx="10"/>
          </p:nvPr>
        </p:nvSpPr>
        <p:spPr/>
        <p:txBody>
          <a:bodyPr/>
          <a:lstStyle>
            <a:lvl1pPr>
              <a:defRPr>
                <a:solidFill>
                  <a:schemeClr val="bg1"/>
                </a:solidFill>
              </a:defRPr>
            </a:lvl1pPr>
          </a:lstStyle>
          <a:p>
            <a:r>
              <a:rPr lang="en-US" dirty="0"/>
              <a:t>FTC | Orlando, FL | November 4-8, 2024</a:t>
            </a:r>
          </a:p>
        </p:txBody>
      </p:sp>
      <p:sp>
        <p:nvSpPr>
          <p:cNvPr id="5" name="Footer Placeholder 4">
            <a:extLst>
              <a:ext uri="{FF2B5EF4-FFF2-40B4-BE49-F238E27FC236}">
                <a16:creationId xmlns:a16="http://schemas.microsoft.com/office/drawing/2014/main" id="{D0357B4C-7206-1793-903C-EA3E895532F6}"/>
              </a:ext>
            </a:extLst>
          </p:cNvPr>
          <p:cNvSpPr>
            <a:spLocks noGrp="1"/>
          </p:cNvSpPr>
          <p:nvPr>
            <p:ph type="ftr" sz="quarter" idx="11"/>
          </p:nvPr>
        </p:nvSpPr>
        <p:spPr/>
        <p:txBody>
          <a:bodyPr/>
          <a:lstStyle>
            <a:lvl1pPr>
              <a:defRPr>
                <a:solidFill>
                  <a:schemeClr val="bg1"/>
                </a:solidFill>
              </a:defRPr>
            </a:lvl1pPr>
          </a:lstStyle>
          <a:p>
            <a:r>
              <a:rPr lang="en-US" dirty="0"/>
              <a:t>Analog Devices Confidential Information—Not for External Distribution. ©2024 Analog Devices, Inc. All Rights Reserved.</a:t>
            </a:r>
          </a:p>
        </p:txBody>
      </p:sp>
      <p:sp>
        <p:nvSpPr>
          <p:cNvPr id="8" name="Slide Number Placeholder 7">
            <a:extLst>
              <a:ext uri="{FF2B5EF4-FFF2-40B4-BE49-F238E27FC236}">
                <a16:creationId xmlns:a16="http://schemas.microsoft.com/office/drawing/2014/main" id="{A0D1D7D5-1288-6D40-4F77-5A0967979463}"/>
              </a:ext>
            </a:extLst>
          </p:cNvPr>
          <p:cNvSpPr>
            <a:spLocks noGrp="1"/>
          </p:cNvSpPr>
          <p:nvPr>
            <p:ph type="sldNum" sz="quarter" idx="12"/>
          </p:nvPr>
        </p:nvSpPr>
        <p:spPr/>
        <p:txBody>
          <a:bodyPr/>
          <a:lstStyle>
            <a:lvl1pPr>
              <a:defRPr>
                <a:solidFill>
                  <a:schemeClr val="bg1"/>
                </a:solidFill>
              </a:defRPr>
            </a:lvl1pPr>
          </a:lstStyle>
          <a:p>
            <a:pPr>
              <a:defRPr/>
            </a:pPr>
            <a:fld id="{A9CE67A1-BA7F-A74E-B5D7-615746DEEC2B}" type="slidenum">
              <a:rPr lang="en-US" smtClean="0"/>
              <a:pPr>
                <a:defRPr/>
              </a:pPr>
              <a:t>‹#›</a:t>
            </a:fld>
            <a:endParaRPr lang="en-US" dirty="0"/>
          </a:p>
        </p:txBody>
      </p:sp>
      <p:sp>
        <p:nvSpPr>
          <p:cNvPr id="9" name="Title 8">
            <a:extLst>
              <a:ext uri="{FF2B5EF4-FFF2-40B4-BE49-F238E27FC236}">
                <a16:creationId xmlns:a16="http://schemas.microsoft.com/office/drawing/2014/main" id="{E42BBB23-2821-C235-5C29-5430735ECD1E}"/>
              </a:ext>
            </a:extLst>
          </p:cNvPr>
          <p:cNvSpPr>
            <a:spLocks noGrp="1"/>
          </p:cNvSpPr>
          <p:nvPr>
            <p:ph type="title"/>
          </p:nvPr>
        </p:nvSpPr>
        <p:spPr/>
        <p:txBody>
          <a:bodyPr/>
          <a:lstStyle/>
          <a:p>
            <a:r>
              <a:rPr lang="en-US"/>
              <a:t>Click to edit Master title style</a:t>
            </a:r>
          </a:p>
        </p:txBody>
      </p:sp>
      <p:pic>
        <p:nvPicPr>
          <p:cNvPr id="10" name="Picture 9" descr="A logo with a triangle and a face&#10;&#10;Description automatically generated with medium confidence">
            <a:extLst>
              <a:ext uri="{FF2B5EF4-FFF2-40B4-BE49-F238E27FC236}">
                <a16:creationId xmlns:a16="http://schemas.microsoft.com/office/drawing/2014/main" id="{97927FF6-0A81-8746-6279-E37E35465774}"/>
              </a:ext>
            </a:extLst>
          </p:cNvPr>
          <p:cNvPicPr>
            <a:picLocks noChangeAspect="1"/>
          </p:cNvPicPr>
          <p:nvPr userDrawn="1"/>
        </p:nvPicPr>
        <p:blipFill>
          <a:blip r:embed="rId3"/>
          <a:stretch>
            <a:fillRect/>
          </a:stretch>
        </p:blipFill>
        <p:spPr>
          <a:xfrm>
            <a:off x="10741753" y="163467"/>
            <a:ext cx="1089401" cy="953226"/>
          </a:xfrm>
          <a:prstGeom prst="rect">
            <a:avLst/>
          </a:prstGeom>
          <a:effectLst>
            <a:outerShdw blurRad="254000" sx="101000" sy="101000" algn="ctr" rotWithShape="0">
              <a:prstClr val="black">
                <a:alpha val="60000"/>
              </a:prstClr>
            </a:outerShdw>
          </a:effectLst>
        </p:spPr>
      </p:pic>
    </p:spTree>
    <p:extLst>
      <p:ext uri="{BB962C8B-B14F-4D97-AF65-F5344CB8AC3E}">
        <p14:creationId xmlns:p14="http://schemas.microsoft.com/office/powerpoint/2010/main" val="27105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91171D4C-9683-BD15-3D7B-0F5C911FF020}"/>
              </a:ext>
            </a:extLst>
          </p:cNvPr>
          <p:cNvSpPr>
            <a:spLocks noGrp="1"/>
          </p:cNvSpPr>
          <p:nvPr>
            <p:ph type="body" idx="1"/>
          </p:nvPr>
        </p:nvSpPr>
        <p:spPr>
          <a:xfrm>
            <a:off x="417600" y="1353312"/>
            <a:ext cx="11358000" cy="5094000"/>
          </a:xfrm>
          <a:prstGeom prst="rect">
            <a:avLst/>
          </a:prstGeom>
        </p:spPr>
        <p:txBody>
          <a:bodyPr vert="horz" lIns="0" tIns="0" rIns="0" bIns="0" rtlCol="0" anchor="t" anchorCtr="0">
            <a:normAutofit/>
          </a:bodyPr>
          <a:lstStyle/>
          <a:p>
            <a:pPr lvl="0"/>
            <a:r>
              <a:rPr lang="en-US" dirty="0"/>
              <a:t>Click to edit Master text styles</a:t>
            </a:r>
          </a:p>
          <a:p>
            <a:pPr lvl="1"/>
            <a:r>
              <a:rPr lang="en-US" dirty="0"/>
              <a:t>Second level</a:t>
            </a:r>
          </a:p>
          <a:p>
            <a:pPr lvl="2"/>
            <a:r>
              <a:rPr lang="en-US" dirty="0"/>
              <a:t>Third level</a:t>
            </a:r>
          </a:p>
        </p:txBody>
      </p:sp>
      <p:sp>
        <p:nvSpPr>
          <p:cNvPr id="3" name="Title 5"/>
          <p:cNvSpPr>
            <a:spLocks noGrp="1"/>
          </p:cNvSpPr>
          <p:nvPr>
            <p:ph type="title"/>
          </p:nvPr>
        </p:nvSpPr>
        <p:spPr>
          <a:xfrm>
            <a:off x="417600" y="640080"/>
            <a:ext cx="10080000" cy="450000"/>
          </a:xfrm>
          <a:prstGeom prst="rect">
            <a:avLst/>
          </a:prstGeom>
          <a:noFill/>
        </p:spPr>
        <p:txBody>
          <a:bodyPr vert="horz" wrap="square" lIns="0" tIns="36576" rIns="0" bIns="0" rtlCol="0" anchor="t" anchorCtr="0">
            <a:noAutofit/>
          </a:bodyPr>
          <a:lstStyle/>
          <a:p>
            <a:r>
              <a:rPr lang="en-US"/>
              <a:t>Click to edit Master title style</a:t>
            </a:r>
            <a:endParaRPr lang="en-US" dirty="0"/>
          </a:p>
        </p:txBody>
      </p:sp>
      <p:pic>
        <p:nvPicPr>
          <p:cNvPr id="4" name="Analog Logo">
            <a:extLst>
              <a:ext uri="{FF2B5EF4-FFF2-40B4-BE49-F238E27FC236}">
                <a16:creationId xmlns:a16="http://schemas.microsoft.com/office/drawing/2014/main" id="{C045C3B2-FF7D-A8D6-DE50-897DAAED8ED3}"/>
              </a:ext>
            </a:extLst>
          </p:cNvPr>
          <p:cNvPicPr>
            <a:picLocks noChangeAspect="1"/>
          </p:cNvPicPr>
          <p:nvPr userDrawn="1"/>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p:blipFill>
        <p:spPr>
          <a:xfrm>
            <a:off x="10911547" y="392097"/>
            <a:ext cx="869518" cy="246899"/>
          </a:xfrm>
          <a:prstGeom prst="rect">
            <a:avLst/>
          </a:prstGeom>
          <a:noFill/>
          <a:ln>
            <a:noFill/>
          </a:ln>
        </p:spPr>
      </p:pic>
      <p:sp>
        <p:nvSpPr>
          <p:cNvPr id="5" name="Legal Statement">
            <a:extLst>
              <a:ext uri="{FF2B5EF4-FFF2-40B4-BE49-F238E27FC236}">
                <a16:creationId xmlns:a16="http://schemas.microsoft.com/office/drawing/2014/main" id="{588B6EED-4863-B18E-517F-943471A959CE}"/>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US" dirty="0"/>
              <a:t>Analog Devices Confidential Information—Not for External Distribution. ©2024 Analog Devices, Inc. All Rights Reserved.</a:t>
            </a:r>
            <a:endParaRPr lang="en-IE" dirty="0"/>
          </a:p>
        </p:txBody>
      </p:sp>
      <p:sp>
        <p:nvSpPr>
          <p:cNvPr id="13" name="Slide Number Placeholder 3">
            <a:extLst>
              <a:ext uri="{FF2B5EF4-FFF2-40B4-BE49-F238E27FC236}">
                <a16:creationId xmlns:a16="http://schemas.microsoft.com/office/drawing/2014/main" id="{0C7B0831-6F35-A7A6-9972-3A008CCC5227}"/>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2" name="Date Placeholder 1">
            <a:extLst>
              <a:ext uri="{FF2B5EF4-FFF2-40B4-BE49-F238E27FC236}">
                <a16:creationId xmlns:a16="http://schemas.microsoft.com/office/drawing/2014/main" id="{98FCF778-89CD-0E66-9B05-23BEAC36C7FA}"/>
              </a:ext>
            </a:extLst>
          </p:cNvPr>
          <p:cNvSpPr>
            <a:spLocks noGrp="1"/>
          </p:cNvSpPr>
          <p:nvPr>
            <p:ph type="dt" sz="half" idx="2"/>
          </p:nvPr>
        </p:nvSpPr>
        <p:spPr>
          <a:xfrm>
            <a:off x="9037865" y="6465903"/>
            <a:ext cx="2743200" cy="365125"/>
          </a:xfrm>
          <a:prstGeom prst="rect">
            <a:avLst/>
          </a:prstGeom>
        </p:spPr>
        <p:txBody>
          <a:bodyPr vert="horz" lIns="91440" tIns="45720" rIns="91440" bIns="45720" rtlCol="0" anchor="ctr"/>
          <a:lstStyle>
            <a:lvl1pPr algn="r">
              <a:defRPr lang="en-US" sz="600" b="0" i="0" kern="1200" dirty="0" smtClean="0">
                <a:solidFill>
                  <a:schemeClr val="tx1"/>
                </a:solidFill>
                <a:latin typeface="Barlow" pitchFamily="2" charset="77"/>
                <a:ea typeface="+mn-ea"/>
                <a:cs typeface="Arial" panose="020B0604020202020204" pitchFamily="34" charset="0"/>
              </a:defRPr>
            </a:lvl1pPr>
          </a:lstStyle>
          <a:p>
            <a:r>
              <a:rPr lang="en-US" dirty="0"/>
              <a:t>FTC | Orlando, FL | November 4-8, 2024</a:t>
            </a:r>
          </a:p>
        </p:txBody>
      </p:sp>
    </p:spTree>
    <p:extLst>
      <p:ext uri="{BB962C8B-B14F-4D97-AF65-F5344CB8AC3E}">
        <p14:creationId xmlns:p14="http://schemas.microsoft.com/office/powerpoint/2010/main" val="2279805908"/>
      </p:ext>
    </p:extLst>
  </p:cSld>
  <p:clrMap bg1="lt1" tx1="dk1" bg2="lt2" tx2="dk2" accent1="accent1" accent2="accent2" accent3="accent3" accent4="accent4" accent5="accent5" accent6="accent6" hlink="hlink" folHlink="folHlink"/>
  <p:sldLayoutIdLst>
    <p:sldLayoutId id="2147483771" r:id="rId1"/>
    <p:sldLayoutId id="2147483678" r:id="rId2"/>
    <p:sldLayoutId id="2147483753" r:id="rId3"/>
    <p:sldLayoutId id="2147483709" r:id="rId4"/>
    <p:sldLayoutId id="2147483739" r:id="rId5"/>
    <p:sldLayoutId id="2147483743" r:id="rId6"/>
    <p:sldLayoutId id="2147483681" r:id="rId7"/>
    <p:sldLayoutId id="2147483722" r:id="rId8"/>
    <p:sldLayoutId id="2147483716" r:id="rId9"/>
    <p:sldLayoutId id="2147483762" r:id="rId10"/>
    <p:sldLayoutId id="2147483763" r:id="rId11"/>
    <p:sldLayoutId id="2147483769" r:id="rId12"/>
    <p:sldLayoutId id="2147483770" r:id="rId13"/>
    <p:sldLayoutId id="2147483772" r:id="rId14"/>
    <p:sldLayoutId id="2147483761" r:id="rId15"/>
    <p:sldLayoutId id="2147483758" r:id="rId16"/>
    <p:sldLayoutId id="2147483744" r:id="rId17"/>
    <p:sldLayoutId id="2147483787" r:id="rId18"/>
    <p:sldLayoutId id="2147483788"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5000"/>
        </a:lnSpc>
        <a:spcBef>
          <a:spcPct val="0"/>
        </a:spcBef>
        <a:buNone/>
        <a:defRPr sz="3200" b="0" i="0" kern="1200" spc="0" baseline="0">
          <a:solidFill>
            <a:schemeClr val="tx2"/>
          </a:solidFill>
          <a:latin typeface="Barlow Medium" pitchFamily="2" charset="77"/>
          <a:ea typeface="+mj-ea"/>
          <a:cs typeface="+mj-cs"/>
        </a:defRPr>
      </a:lvl1pPr>
    </p:titleStyle>
    <p:bodyStyle>
      <a:lvl1pPr marL="0" indent="0" algn="l" defTabSz="457200" rtl="0" eaLnBrk="1" latinLnBrk="0" hangingPunct="1">
        <a:lnSpc>
          <a:spcPct val="110000"/>
        </a:lnSpc>
        <a:spcBef>
          <a:spcPts val="0"/>
        </a:spcBef>
        <a:spcAft>
          <a:spcPts val="600"/>
        </a:spcAft>
        <a:buClr>
          <a:schemeClr val="tx1"/>
        </a:buClr>
        <a:buSzPct val="90000"/>
        <a:buFontTx/>
        <a:buNone/>
        <a:tabLst/>
        <a:defRPr lang="en-US" sz="1800" b="0" i="0" kern="1200" baseline="0" dirty="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2pPr>
      <a:lvl3pPr marL="867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dirty="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64">
          <p15:clr>
            <a:srgbClr val="F26B43"/>
          </p15:clr>
        </p15:guide>
        <p15:guide id="4" pos="1413">
          <p15:clr>
            <a:srgbClr val="F26B43"/>
          </p15:clr>
        </p15:guide>
        <p15:guide id="6" pos="3840">
          <p15:clr>
            <a:srgbClr val="F26B43"/>
          </p15:clr>
        </p15:guide>
        <p15:guide id="7" pos="5116">
          <p15:clr>
            <a:srgbClr val="F26B43"/>
          </p15:clr>
        </p15:guide>
        <p15:guide id="8" pos="6266">
          <p15:clr>
            <a:srgbClr val="F26B43"/>
          </p15:clr>
        </p15:guide>
        <p15:guide id="9" pos="7416">
          <p15:clr>
            <a:srgbClr val="F26B43"/>
          </p15:clr>
        </p15:guide>
        <p15:guide id="10" orient="horz">
          <p15:clr>
            <a:srgbClr val="F26B43"/>
          </p15:clr>
        </p15:guide>
        <p15:guide id="11" orient="horz" pos="4320">
          <p15:clr>
            <a:srgbClr val="F26B43"/>
          </p15:clr>
        </p15:guide>
        <p15:guide id="12" orient="horz" pos="624">
          <p15:clr>
            <a:srgbClr val="F26B43"/>
          </p15:clr>
        </p15:guide>
        <p15:guide id="20" orient="horz" pos="3920">
          <p15:clr>
            <a:srgbClr val="F26B43"/>
          </p15:clr>
        </p15:guide>
        <p15:guide id="22" pos="3962">
          <p15:clr>
            <a:srgbClr val="F26B43"/>
          </p15:clr>
        </p15:guide>
        <p15:guide id="23" pos="2570">
          <p15:clr>
            <a:srgbClr val="F26B43"/>
          </p15:clr>
        </p15:guide>
        <p15:guide id="24" pos="371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emf"/></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6.png"/><Relationship Id="rId7" Type="http://schemas.openxmlformats.org/officeDocument/2006/relationships/image" Target="../media/image26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8.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30.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31.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4.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image" Target="../media/image32.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4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4.png"/><Relationship Id="rId7"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26.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3" Type="http://schemas.openxmlformats.org/officeDocument/2006/relationships/image" Target="../media/image51.jf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9.xml"/><Relationship Id="rId5" Type="http://schemas.openxmlformats.org/officeDocument/2006/relationships/image" Target="../media/image50.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hyperlink" Target="mailto:SaiKumar.Kummari@analog.com" TargetMode="External"/><Relationship Id="rId2" Type="http://schemas.openxmlformats.org/officeDocument/2006/relationships/hyperlink" Target="mailto:Ahammad.Fahad@analog.com" TargetMode="Externa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9.xml"/><Relationship Id="rId5" Type="http://schemas.openxmlformats.org/officeDocument/2006/relationships/hyperlink" Target="https://www.pngall.com/scribble-png/" TargetMode="External"/><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53FD477-4573-CC04-22C3-721EEDD82977}"/>
              </a:ext>
            </a:extLst>
          </p:cNvPr>
          <p:cNvSpPr>
            <a:spLocks noGrp="1"/>
          </p:cNvSpPr>
          <p:nvPr>
            <p:ph type="body" sz="quarter" idx="14"/>
          </p:nvPr>
        </p:nvSpPr>
        <p:spPr>
          <a:xfrm>
            <a:off x="434293" y="4667812"/>
            <a:ext cx="2019658" cy="270000"/>
          </a:xfrm>
        </p:spPr>
        <p:txBody>
          <a:bodyPr/>
          <a:lstStyle/>
          <a:p>
            <a:r>
              <a:rPr lang="en-US"/>
              <a:t>Fahad Ahammad		</a:t>
            </a:r>
            <a:endParaRPr lang="en-US" dirty="0"/>
          </a:p>
        </p:txBody>
      </p:sp>
      <p:sp>
        <p:nvSpPr>
          <p:cNvPr id="8" name="Text Placeholder 7">
            <a:extLst>
              <a:ext uri="{FF2B5EF4-FFF2-40B4-BE49-F238E27FC236}">
                <a16:creationId xmlns:a16="http://schemas.microsoft.com/office/drawing/2014/main" id="{6FDC1F2C-56A1-EC29-E397-579117C09E85}"/>
              </a:ext>
            </a:extLst>
          </p:cNvPr>
          <p:cNvSpPr>
            <a:spLocks noGrp="1"/>
          </p:cNvSpPr>
          <p:nvPr>
            <p:ph type="body" sz="quarter" idx="15"/>
          </p:nvPr>
        </p:nvSpPr>
        <p:spPr>
          <a:xfrm>
            <a:off x="434293" y="4963932"/>
            <a:ext cx="2880000" cy="390388"/>
          </a:xfrm>
        </p:spPr>
        <p:txBody>
          <a:bodyPr/>
          <a:lstStyle/>
          <a:p>
            <a:r>
              <a:rPr lang="en-US"/>
              <a:t>Engineer, Central Applications</a:t>
            </a:r>
            <a:endParaRPr lang="en-US" dirty="0"/>
          </a:p>
        </p:txBody>
      </p:sp>
      <p:sp>
        <p:nvSpPr>
          <p:cNvPr id="6" name="Text Placeholder 5">
            <a:extLst>
              <a:ext uri="{FF2B5EF4-FFF2-40B4-BE49-F238E27FC236}">
                <a16:creationId xmlns:a16="http://schemas.microsoft.com/office/drawing/2014/main" id="{AC468577-1D4C-DC73-4D6E-337D7775A54B}"/>
              </a:ext>
            </a:extLst>
          </p:cNvPr>
          <p:cNvSpPr>
            <a:spLocks noGrp="1"/>
          </p:cNvSpPr>
          <p:nvPr>
            <p:ph type="body" sz="quarter" idx="10"/>
          </p:nvPr>
        </p:nvSpPr>
        <p:spPr>
          <a:xfrm>
            <a:off x="434403" y="2448560"/>
            <a:ext cx="5040000" cy="1979006"/>
          </a:xfrm>
        </p:spPr>
        <p:txBody>
          <a:bodyPr/>
          <a:lstStyle/>
          <a:p>
            <a:r>
              <a:rPr lang="en-US"/>
              <a:t>Comparative Efficiency Analysis between USB PD and PPS for Fast Charging</a:t>
            </a:r>
            <a:endParaRPr lang="en-US" dirty="0"/>
          </a:p>
        </p:txBody>
      </p:sp>
    </p:spTree>
    <p:extLst>
      <p:ext uri="{BB962C8B-B14F-4D97-AF65-F5344CB8AC3E}">
        <p14:creationId xmlns:p14="http://schemas.microsoft.com/office/powerpoint/2010/main" val="135483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Arrow: Down 5">
            <a:extLst>
              <a:ext uri="{FF2B5EF4-FFF2-40B4-BE49-F238E27FC236}">
                <a16:creationId xmlns:a16="http://schemas.microsoft.com/office/drawing/2014/main" id="{8EB808E2-3506-821D-96C8-925591B90AA0}"/>
              </a:ext>
            </a:extLst>
          </p:cNvPr>
          <p:cNvSpPr/>
          <p:nvPr/>
        </p:nvSpPr>
        <p:spPr>
          <a:xfrm rot="14765709">
            <a:off x="5592371" y="-2585074"/>
            <a:ext cx="1704975" cy="12357908"/>
          </a:xfrm>
          <a:prstGeom prst="downArrow">
            <a:avLst/>
          </a:prstGeom>
          <a:solidFill>
            <a:schemeClr val="bg1">
              <a:lumMod val="95000"/>
              <a:alpha val="78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5" name="Title 4">
            <a:extLst>
              <a:ext uri="{FF2B5EF4-FFF2-40B4-BE49-F238E27FC236}">
                <a16:creationId xmlns:a16="http://schemas.microsoft.com/office/drawing/2014/main" id="{C4143FC3-9B4E-8C27-793C-40FCD0CB826F}"/>
              </a:ext>
            </a:extLst>
          </p:cNvPr>
          <p:cNvSpPr>
            <a:spLocks noGrp="1"/>
          </p:cNvSpPr>
          <p:nvPr>
            <p:ph type="title"/>
          </p:nvPr>
        </p:nvSpPr>
        <p:spPr>
          <a:xfrm>
            <a:off x="417600" y="640080"/>
            <a:ext cx="10080000" cy="450000"/>
          </a:xfrm>
        </p:spPr>
        <p:txBody>
          <a:bodyPr/>
          <a:lstStyle/>
          <a:p>
            <a:r>
              <a:rPr lang="en-US" dirty="0"/>
              <a:t>Standardization of Charging  </a:t>
            </a:r>
          </a:p>
        </p:txBody>
      </p:sp>
      <p:grpSp>
        <p:nvGrpSpPr>
          <p:cNvPr id="63" name="Group 62">
            <a:extLst>
              <a:ext uri="{FF2B5EF4-FFF2-40B4-BE49-F238E27FC236}">
                <a16:creationId xmlns:a16="http://schemas.microsoft.com/office/drawing/2014/main" id="{0B444901-C1F3-4AFC-FDF1-8F68523582EC}"/>
              </a:ext>
            </a:extLst>
          </p:cNvPr>
          <p:cNvGrpSpPr/>
          <p:nvPr/>
        </p:nvGrpSpPr>
        <p:grpSpPr>
          <a:xfrm>
            <a:off x="90864" y="5062004"/>
            <a:ext cx="1702804" cy="1516669"/>
            <a:chOff x="159038" y="4848658"/>
            <a:chExt cx="2297463" cy="1909294"/>
          </a:xfrm>
        </p:grpSpPr>
        <p:grpSp>
          <p:nvGrpSpPr>
            <p:cNvPr id="89" name="Group 88">
              <a:extLst>
                <a:ext uri="{FF2B5EF4-FFF2-40B4-BE49-F238E27FC236}">
                  <a16:creationId xmlns:a16="http://schemas.microsoft.com/office/drawing/2014/main" id="{5BBD22D0-6522-C9F0-90C1-6304910811CA}"/>
                </a:ext>
              </a:extLst>
            </p:cNvPr>
            <p:cNvGrpSpPr/>
            <p:nvPr/>
          </p:nvGrpSpPr>
          <p:grpSpPr>
            <a:xfrm>
              <a:off x="159038" y="4848658"/>
              <a:ext cx="2297463" cy="1909294"/>
              <a:chOff x="304638" y="1276582"/>
              <a:chExt cx="2498651" cy="2089298"/>
            </a:xfrm>
          </p:grpSpPr>
          <p:sp>
            <p:nvSpPr>
              <p:cNvPr id="7" name="Rectangle: Rounded Corners 6">
                <a:extLst>
                  <a:ext uri="{FF2B5EF4-FFF2-40B4-BE49-F238E27FC236}">
                    <a16:creationId xmlns:a16="http://schemas.microsoft.com/office/drawing/2014/main" id="{7719941F-90D5-FDC9-4A97-C37DC5BE4312}"/>
                  </a:ext>
                </a:extLst>
              </p:cNvPr>
              <p:cNvSpPr/>
              <p:nvPr/>
            </p:nvSpPr>
            <p:spPr>
              <a:xfrm>
                <a:off x="304638" y="1276582"/>
                <a:ext cx="2498651" cy="2089298"/>
              </a:xfrm>
              <a:prstGeom prst="roundRect">
                <a:avLst/>
              </a:prstGeom>
              <a:solidFill>
                <a:schemeClr val="accent5">
                  <a:lumMod val="20000"/>
                  <a:lumOff val="80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pic>
            <p:nvPicPr>
              <p:cNvPr id="55" name="Picture 54" descr="A yellow and black sign with a circular symbol&#10;&#10;Description automatically generated with medium confidence">
                <a:extLst>
                  <a:ext uri="{FF2B5EF4-FFF2-40B4-BE49-F238E27FC236}">
                    <a16:creationId xmlns:a16="http://schemas.microsoft.com/office/drawing/2014/main" id="{A6D992D0-823A-DB0D-274A-9F49B7DD54B2}"/>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07065" y="1727257"/>
                <a:ext cx="2212493" cy="1074640"/>
              </a:xfrm>
              <a:prstGeom prst="rect">
                <a:avLst/>
              </a:prstGeom>
            </p:spPr>
          </p:pic>
          <p:sp>
            <p:nvSpPr>
              <p:cNvPr id="57" name="TextBox 56">
                <a:extLst>
                  <a:ext uri="{FF2B5EF4-FFF2-40B4-BE49-F238E27FC236}">
                    <a16:creationId xmlns:a16="http://schemas.microsoft.com/office/drawing/2014/main" id="{455396C2-F8FF-41A4-6622-D52FACC8C02D}"/>
                  </a:ext>
                </a:extLst>
              </p:cNvPr>
              <p:cNvSpPr txBox="1"/>
              <p:nvPr/>
            </p:nvSpPr>
            <p:spPr>
              <a:xfrm>
                <a:off x="542670" y="1897647"/>
                <a:ext cx="426221" cy="254192"/>
              </a:xfrm>
              <a:prstGeom prst="rect">
                <a:avLst/>
              </a:prstGeom>
            </p:spPr>
            <p:txBody>
              <a:bodyPr vert="horz" wrap="none" lIns="0" tIns="0" rIns="0" bIns="0" rtlCol="0" anchor="t" anchorCtr="0">
                <a:normAutofit/>
              </a:bodyPr>
              <a:lstStyle/>
              <a:p>
                <a:pPr algn="l"/>
                <a:r>
                  <a:rPr lang="en-US" sz="1050" b="1" dirty="0"/>
                  <a:t>5V</a:t>
                </a:r>
              </a:p>
            </p:txBody>
          </p:sp>
        </p:grpSp>
        <p:sp>
          <p:nvSpPr>
            <p:cNvPr id="28" name="TextBox 27">
              <a:extLst>
                <a:ext uri="{FF2B5EF4-FFF2-40B4-BE49-F238E27FC236}">
                  <a16:creationId xmlns:a16="http://schemas.microsoft.com/office/drawing/2014/main" id="{356DF623-168A-25EE-F8DD-5068E431FAA1}"/>
                </a:ext>
              </a:extLst>
            </p:cNvPr>
            <p:cNvSpPr txBox="1"/>
            <p:nvPr/>
          </p:nvSpPr>
          <p:spPr>
            <a:xfrm>
              <a:off x="826380" y="6407993"/>
              <a:ext cx="779989" cy="181973"/>
            </a:xfrm>
            <a:prstGeom prst="rect">
              <a:avLst/>
            </a:prstGeom>
          </p:spPr>
          <p:txBody>
            <a:bodyPr vert="horz" wrap="none" lIns="0" tIns="0" rIns="0" bIns="0" rtlCol="0" anchor="t" anchorCtr="0">
              <a:normAutofit lnSpcReduction="10000"/>
            </a:bodyPr>
            <a:lstStyle/>
            <a:p>
              <a:pPr algn="l"/>
              <a:r>
                <a:rPr lang="en-US" sz="1050" b="1" dirty="0">
                  <a:solidFill>
                    <a:schemeClr val="tx2"/>
                  </a:solidFill>
                </a:rPr>
                <a:t>Linear Charger</a:t>
              </a:r>
              <a:endParaRPr lang="en-US" sz="1600" b="1" dirty="0">
                <a:solidFill>
                  <a:schemeClr val="tx2"/>
                </a:solidFill>
              </a:endParaRPr>
            </a:p>
          </p:txBody>
        </p:sp>
      </p:grpSp>
      <p:grpSp>
        <p:nvGrpSpPr>
          <p:cNvPr id="62" name="Group 61">
            <a:extLst>
              <a:ext uri="{FF2B5EF4-FFF2-40B4-BE49-F238E27FC236}">
                <a16:creationId xmlns:a16="http://schemas.microsoft.com/office/drawing/2014/main" id="{09ED65CD-18E3-2627-4266-5EFB0EA64F1C}"/>
              </a:ext>
            </a:extLst>
          </p:cNvPr>
          <p:cNvGrpSpPr/>
          <p:nvPr/>
        </p:nvGrpSpPr>
        <p:grpSpPr>
          <a:xfrm>
            <a:off x="7455757" y="707865"/>
            <a:ext cx="3767784" cy="1938745"/>
            <a:chOff x="6392127" y="1009125"/>
            <a:chExt cx="3767784" cy="1938745"/>
          </a:xfrm>
        </p:grpSpPr>
        <p:grpSp>
          <p:nvGrpSpPr>
            <p:cNvPr id="39" name="Group 38">
              <a:extLst>
                <a:ext uri="{FF2B5EF4-FFF2-40B4-BE49-F238E27FC236}">
                  <a16:creationId xmlns:a16="http://schemas.microsoft.com/office/drawing/2014/main" id="{BA578C82-3455-5E94-A0F5-CF1EC843DF12}"/>
                </a:ext>
              </a:extLst>
            </p:cNvPr>
            <p:cNvGrpSpPr/>
            <p:nvPr/>
          </p:nvGrpSpPr>
          <p:grpSpPr>
            <a:xfrm>
              <a:off x="6392127" y="1009125"/>
              <a:ext cx="3767784" cy="1938745"/>
              <a:chOff x="6392127" y="1009125"/>
              <a:chExt cx="3767784" cy="1938745"/>
            </a:xfrm>
          </p:grpSpPr>
          <p:grpSp>
            <p:nvGrpSpPr>
              <p:cNvPr id="37" name="Group 36">
                <a:extLst>
                  <a:ext uri="{FF2B5EF4-FFF2-40B4-BE49-F238E27FC236}">
                    <a16:creationId xmlns:a16="http://schemas.microsoft.com/office/drawing/2014/main" id="{C83228B8-09EB-F846-DB86-B7E828D6498B}"/>
                  </a:ext>
                </a:extLst>
              </p:cNvPr>
              <p:cNvGrpSpPr/>
              <p:nvPr/>
            </p:nvGrpSpPr>
            <p:grpSpPr>
              <a:xfrm>
                <a:off x="6392127" y="1009125"/>
                <a:ext cx="3767784" cy="1938745"/>
                <a:chOff x="6392127" y="1009125"/>
                <a:chExt cx="3767784" cy="1938745"/>
              </a:xfrm>
            </p:grpSpPr>
            <p:sp>
              <p:nvSpPr>
                <p:cNvPr id="10" name="Rectangle: Rounded Corners 9">
                  <a:extLst>
                    <a:ext uri="{FF2B5EF4-FFF2-40B4-BE49-F238E27FC236}">
                      <a16:creationId xmlns:a16="http://schemas.microsoft.com/office/drawing/2014/main" id="{65277FAF-EE5A-4C58-CE29-2D8FBB2EBE78}"/>
                    </a:ext>
                  </a:extLst>
                </p:cNvPr>
                <p:cNvSpPr/>
                <p:nvPr/>
              </p:nvSpPr>
              <p:spPr>
                <a:xfrm>
                  <a:off x="7998051" y="1009125"/>
                  <a:ext cx="2161860" cy="1938745"/>
                </a:xfrm>
                <a:prstGeom prst="roundRect">
                  <a:avLst/>
                </a:prstGeom>
                <a:solidFill>
                  <a:schemeClr val="accent5">
                    <a:lumMod val="20000"/>
                    <a:lumOff val="80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4" name="TextBox 13">
                  <a:extLst>
                    <a:ext uri="{FF2B5EF4-FFF2-40B4-BE49-F238E27FC236}">
                      <a16:creationId xmlns:a16="http://schemas.microsoft.com/office/drawing/2014/main" id="{7280D48F-481C-EB83-2915-C070654B75C5}"/>
                    </a:ext>
                  </a:extLst>
                </p:cNvPr>
                <p:cNvSpPr txBox="1"/>
                <p:nvPr/>
              </p:nvSpPr>
              <p:spPr>
                <a:xfrm>
                  <a:off x="8391089" y="1266525"/>
                  <a:ext cx="563083" cy="253765"/>
                </a:xfrm>
                <a:prstGeom prst="rect">
                  <a:avLst/>
                </a:prstGeom>
              </p:spPr>
              <p:txBody>
                <a:bodyPr vert="horz" wrap="none" lIns="0" tIns="0" rIns="0" bIns="0" rtlCol="0" anchor="t" anchorCtr="0">
                  <a:normAutofit/>
                </a:bodyPr>
                <a:lstStyle/>
                <a:p>
                  <a:pPr algn="l"/>
                  <a:r>
                    <a:rPr lang="en-US" sz="1050" b="1" dirty="0"/>
                    <a:t>3.3 – 4.2V</a:t>
                  </a:r>
                </a:p>
              </p:txBody>
            </p:sp>
            <p:sp>
              <p:nvSpPr>
                <p:cNvPr id="16" name="TextBox 15">
                  <a:extLst>
                    <a:ext uri="{FF2B5EF4-FFF2-40B4-BE49-F238E27FC236}">
                      <a16:creationId xmlns:a16="http://schemas.microsoft.com/office/drawing/2014/main" id="{82F2BCE8-E52A-2D41-84EF-49A95DFE2EA3}"/>
                    </a:ext>
                  </a:extLst>
                </p:cNvPr>
                <p:cNvSpPr txBox="1"/>
                <p:nvPr/>
              </p:nvSpPr>
              <p:spPr>
                <a:xfrm>
                  <a:off x="9653849" y="1706202"/>
                  <a:ext cx="223802" cy="119448"/>
                </a:xfrm>
                <a:prstGeom prst="rect">
                  <a:avLst/>
                </a:prstGeom>
              </p:spPr>
              <p:txBody>
                <a:bodyPr vert="horz" wrap="none" lIns="0" tIns="0" rIns="0" bIns="0" rtlCol="0" anchor="t" anchorCtr="0">
                  <a:normAutofit fontScale="92500" lnSpcReduction="10000"/>
                </a:bodyPr>
                <a:lstStyle/>
                <a:p>
                  <a:pPr algn="l"/>
                  <a:r>
                    <a:rPr lang="en-US" sz="900" b="1" dirty="0"/>
                    <a:t>3.3V</a:t>
                  </a:r>
                </a:p>
              </p:txBody>
            </p:sp>
            <p:sp>
              <p:nvSpPr>
                <p:cNvPr id="23" name="Arrow: Bent 22">
                  <a:extLst>
                    <a:ext uri="{FF2B5EF4-FFF2-40B4-BE49-F238E27FC236}">
                      <a16:creationId xmlns:a16="http://schemas.microsoft.com/office/drawing/2014/main" id="{2BDB141A-5B0F-206F-03C7-06E56010BE54}"/>
                    </a:ext>
                  </a:extLst>
                </p:cNvPr>
                <p:cNvSpPr/>
                <p:nvPr/>
              </p:nvSpPr>
              <p:spPr>
                <a:xfrm>
                  <a:off x="6392127" y="1544320"/>
                  <a:ext cx="1619762" cy="1294791"/>
                </a:xfrm>
                <a:prstGeom prst="bentArrow">
                  <a:avLst>
                    <a:gd name="adj1" fmla="val 20292"/>
                    <a:gd name="adj2" fmla="val 25000"/>
                    <a:gd name="adj3" fmla="val 25000"/>
                    <a:gd name="adj4" fmla="val 38257"/>
                  </a:avLst>
                </a:prstGeom>
                <a:solidFill>
                  <a:schemeClr val="bg1"/>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sp>
            <p:nvSpPr>
              <p:cNvPr id="32" name="TextBox 31">
                <a:extLst>
                  <a:ext uri="{FF2B5EF4-FFF2-40B4-BE49-F238E27FC236}">
                    <a16:creationId xmlns:a16="http://schemas.microsoft.com/office/drawing/2014/main" id="{A0DD4F03-7CF3-7581-861D-329555B0B3C4}"/>
                  </a:ext>
                </a:extLst>
              </p:cNvPr>
              <p:cNvSpPr txBox="1"/>
              <p:nvPr/>
            </p:nvSpPr>
            <p:spPr>
              <a:xfrm>
                <a:off x="8543277" y="2554339"/>
                <a:ext cx="1181746" cy="388640"/>
              </a:xfrm>
              <a:prstGeom prst="rect">
                <a:avLst/>
              </a:prstGeom>
            </p:spPr>
            <p:txBody>
              <a:bodyPr vert="horz" wrap="none" lIns="0" tIns="0" rIns="0" bIns="0" rtlCol="0" anchor="t" anchorCtr="0">
                <a:normAutofit/>
              </a:bodyPr>
              <a:lstStyle/>
              <a:p>
                <a:pPr algn="ctr"/>
                <a:r>
                  <a:rPr lang="en-US" sz="1050" b="1" dirty="0">
                    <a:solidFill>
                      <a:schemeClr val="tx2"/>
                    </a:solidFill>
                  </a:rPr>
                  <a:t>Direct Charger</a:t>
                </a:r>
              </a:p>
              <a:p>
                <a:pPr algn="ctr"/>
                <a:r>
                  <a:rPr lang="en-US" sz="1050" b="1" dirty="0">
                    <a:solidFill>
                      <a:schemeClr val="tx2"/>
                    </a:solidFill>
                  </a:rPr>
                  <a:t>(PPS Compliant)</a:t>
                </a:r>
              </a:p>
            </p:txBody>
          </p:sp>
        </p:grpSp>
        <p:pic>
          <p:nvPicPr>
            <p:cNvPr id="41" name="Picture 40" descr="A diagram of a car battery&#10;&#10;Description automatically generated with medium confidence">
              <a:extLst>
                <a:ext uri="{FF2B5EF4-FFF2-40B4-BE49-F238E27FC236}">
                  <a16:creationId xmlns:a16="http://schemas.microsoft.com/office/drawing/2014/main" id="{BF4C0C67-834D-7B05-DD02-7B5E742AA47C}"/>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110287" y="1324237"/>
              <a:ext cx="1951226" cy="1103597"/>
            </a:xfrm>
            <a:prstGeom prst="rect">
              <a:avLst/>
            </a:prstGeom>
          </p:spPr>
        </p:pic>
      </p:grpSp>
      <p:grpSp>
        <p:nvGrpSpPr>
          <p:cNvPr id="54" name="Group 53">
            <a:extLst>
              <a:ext uri="{FF2B5EF4-FFF2-40B4-BE49-F238E27FC236}">
                <a16:creationId xmlns:a16="http://schemas.microsoft.com/office/drawing/2014/main" id="{5D829B81-A0DA-8F91-D559-609DEEE09C17}"/>
              </a:ext>
            </a:extLst>
          </p:cNvPr>
          <p:cNvGrpSpPr/>
          <p:nvPr/>
        </p:nvGrpSpPr>
        <p:grpSpPr>
          <a:xfrm>
            <a:off x="6655285" y="2009106"/>
            <a:ext cx="2323695" cy="2267836"/>
            <a:chOff x="5336128" y="2918684"/>
            <a:chExt cx="2323695" cy="2267836"/>
          </a:xfrm>
        </p:grpSpPr>
        <p:sp>
          <p:nvSpPr>
            <p:cNvPr id="9" name="Rectangle: Rounded Corners 8">
              <a:extLst>
                <a:ext uri="{FF2B5EF4-FFF2-40B4-BE49-F238E27FC236}">
                  <a16:creationId xmlns:a16="http://schemas.microsoft.com/office/drawing/2014/main" id="{E0042262-0B11-743D-C64A-401503D18251}"/>
                </a:ext>
              </a:extLst>
            </p:cNvPr>
            <p:cNvSpPr/>
            <p:nvPr/>
          </p:nvSpPr>
          <p:spPr>
            <a:xfrm>
              <a:off x="5336128" y="2918684"/>
              <a:ext cx="2323695" cy="2267836"/>
            </a:xfrm>
            <a:prstGeom prst="roundRect">
              <a:avLst/>
            </a:prstGeom>
            <a:solidFill>
              <a:schemeClr val="accent5">
                <a:lumMod val="20000"/>
                <a:lumOff val="80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5" name="Rectangle: Rounded Corners 74">
              <a:extLst>
                <a:ext uri="{FF2B5EF4-FFF2-40B4-BE49-F238E27FC236}">
                  <a16:creationId xmlns:a16="http://schemas.microsoft.com/office/drawing/2014/main" id="{F5DBA638-94AF-61D4-36A0-ECF4907B34A3}"/>
                </a:ext>
              </a:extLst>
            </p:cNvPr>
            <p:cNvSpPr/>
            <p:nvPr/>
          </p:nvSpPr>
          <p:spPr>
            <a:xfrm>
              <a:off x="6291995" y="2918684"/>
              <a:ext cx="1287742" cy="1841276"/>
            </a:xfrm>
            <a:prstGeom prst="roundRect">
              <a:avLst/>
            </a:prstGeom>
            <a:solidFill>
              <a:schemeClr val="accent5">
                <a:lumMod val="20000"/>
                <a:lumOff val="8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7" name="TextBox 76">
              <a:extLst>
                <a:ext uri="{FF2B5EF4-FFF2-40B4-BE49-F238E27FC236}">
                  <a16:creationId xmlns:a16="http://schemas.microsoft.com/office/drawing/2014/main" id="{0B2CC083-5581-02D7-9DD5-4FFE22A71358}"/>
                </a:ext>
              </a:extLst>
            </p:cNvPr>
            <p:cNvSpPr txBox="1"/>
            <p:nvPr/>
          </p:nvSpPr>
          <p:spPr>
            <a:xfrm>
              <a:off x="5719567" y="2972148"/>
              <a:ext cx="613797" cy="277333"/>
            </a:xfrm>
            <a:prstGeom prst="rect">
              <a:avLst/>
            </a:prstGeom>
          </p:spPr>
          <p:txBody>
            <a:bodyPr vert="horz" wrap="none" lIns="0" tIns="0" rIns="0" bIns="0" rtlCol="0" anchor="t" anchorCtr="0">
              <a:normAutofit/>
            </a:bodyPr>
            <a:lstStyle/>
            <a:p>
              <a:pPr algn="l"/>
              <a:r>
                <a:rPr lang="en-US" sz="1050" b="1" dirty="0"/>
                <a:t>5-20VIN</a:t>
              </a:r>
            </a:p>
          </p:txBody>
        </p:sp>
        <p:sp>
          <p:nvSpPr>
            <p:cNvPr id="30" name="TextBox 29">
              <a:extLst>
                <a:ext uri="{FF2B5EF4-FFF2-40B4-BE49-F238E27FC236}">
                  <a16:creationId xmlns:a16="http://schemas.microsoft.com/office/drawing/2014/main" id="{0EE78990-0699-D1F6-C233-74E2F19AD711}"/>
                </a:ext>
              </a:extLst>
            </p:cNvPr>
            <p:cNvSpPr txBox="1"/>
            <p:nvPr/>
          </p:nvSpPr>
          <p:spPr>
            <a:xfrm>
              <a:off x="5553376" y="4804454"/>
              <a:ext cx="1896836" cy="371523"/>
            </a:xfrm>
            <a:prstGeom prst="rect">
              <a:avLst/>
            </a:prstGeom>
          </p:spPr>
          <p:txBody>
            <a:bodyPr vert="horz" wrap="none" lIns="0" tIns="0" rIns="0" bIns="0" rtlCol="0" anchor="t" anchorCtr="0">
              <a:normAutofit/>
            </a:bodyPr>
            <a:lstStyle/>
            <a:p>
              <a:pPr algn="ctr"/>
              <a:r>
                <a:rPr lang="en-US" sz="1050" b="1" dirty="0">
                  <a:solidFill>
                    <a:schemeClr val="tx2"/>
                  </a:solidFill>
                </a:rPr>
                <a:t>Switching charger (Wide VIN)</a:t>
              </a:r>
            </a:p>
            <a:p>
              <a:pPr algn="ctr"/>
              <a:r>
                <a:rPr lang="en-US" sz="1050" b="1" dirty="0">
                  <a:solidFill>
                    <a:schemeClr val="tx2"/>
                  </a:solidFill>
                </a:rPr>
                <a:t>PD Compliant</a:t>
              </a:r>
              <a:endParaRPr lang="en-US" sz="1600" b="1" dirty="0">
                <a:solidFill>
                  <a:schemeClr val="tx2"/>
                </a:solidFill>
              </a:endParaRPr>
            </a:p>
          </p:txBody>
        </p:sp>
        <p:pic>
          <p:nvPicPr>
            <p:cNvPr id="52" name="Picture 51" descr="A diagram of a charge controller&#10;&#10;Description automatically generated">
              <a:extLst>
                <a:ext uri="{FF2B5EF4-FFF2-40B4-BE49-F238E27FC236}">
                  <a16:creationId xmlns:a16="http://schemas.microsoft.com/office/drawing/2014/main" id="{4B7F7D61-34BB-B126-AE5B-CD5469EA6C5F}"/>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434900" y="3069842"/>
              <a:ext cx="2121687" cy="1512721"/>
            </a:xfrm>
            <a:prstGeom prst="rect">
              <a:avLst/>
            </a:prstGeom>
          </p:spPr>
        </p:pic>
        <p:sp>
          <p:nvSpPr>
            <p:cNvPr id="53" name="TextBox 52">
              <a:extLst>
                <a:ext uri="{FF2B5EF4-FFF2-40B4-BE49-F238E27FC236}">
                  <a16:creationId xmlns:a16="http://schemas.microsoft.com/office/drawing/2014/main" id="{5A1EA221-0DA9-BA85-323B-3227C2702F35}"/>
                </a:ext>
              </a:extLst>
            </p:cNvPr>
            <p:cNvSpPr txBox="1"/>
            <p:nvPr/>
          </p:nvSpPr>
          <p:spPr>
            <a:xfrm>
              <a:off x="6692993" y="2972148"/>
              <a:ext cx="779989" cy="242367"/>
            </a:xfrm>
            <a:prstGeom prst="rect">
              <a:avLst/>
            </a:prstGeom>
          </p:spPr>
          <p:txBody>
            <a:bodyPr vert="horz" wrap="none" lIns="0" tIns="0" rIns="0" bIns="0" rtlCol="0" anchor="t" anchorCtr="0">
              <a:normAutofit/>
            </a:bodyPr>
            <a:lstStyle/>
            <a:p>
              <a:pPr algn="l"/>
              <a:r>
                <a:rPr lang="en-US" sz="1000" b="1" dirty="0"/>
                <a:t>MAX77986</a:t>
              </a:r>
            </a:p>
          </p:txBody>
        </p:sp>
      </p:grpSp>
      <p:sp>
        <p:nvSpPr>
          <p:cNvPr id="67" name="Rectangle: Rounded Corners 66">
            <a:extLst>
              <a:ext uri="{FF2B5EF4-FFF2-40B4-BE49-F238E27FC236}">
                <a16:creationId xmlns:a16="http://schemas.microsoft.com/office/drawing/2014/main" id="{E6FB6F7D-5945-6A06-2C3F-CC0ECC7842DF}"/>
              </a:ext>
            </a:extLst>
          </p:cNvPr>
          <p:cNvSpPr/>
          <p:nvPr/>
        </p:nvSpPr>
        <p:spPr>
          <a:xfrm>
            <a:off x="156821" y="5344858"/>
            <a:ext cx="1570889" cy="964250"/>
          </a:xfrm>
          <a:prstGeom prst="roundRect">
            <a:avLst>
              <a:gd name="adj" fmla="val 10065"/>
            </a:avLst>
          </a:prstGeom>
          <a:solidFill>
            <a:schemeClr val="accent6">
              <a:lumMod val="20000"/>
              <a:lumOff val="80000"/>
              <a:alpha val="47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70" name="Group 69">
            <a:extLst>
              <a:ext uri="{FF2B5EF4-FFF2-40B4-BE49-F238E27FC236}">
                <a16:creationId xmlns:a16="http://schemas.microsoft.com/office/drawing/2014/main" id="{B9AB6D6D-0298-5356-132A-D080D9EEEEE0}"/>
              </a:ext>
            </a:extLst>
          </p:cNvPr>
          <p:cNvGrpSpPr/>
          <p:nvPr/>
        </p:nvGrpSpPr>
        <p:grpSpPr>
          <a:xfrm>
            <a:off x="1926398" y="3922486"/>
            <a:ext cx="2308992" cy="1968830"/>
            <a:chOff x="2780955" y="3899079"/>
            <a:chExt cx="2402731" cy="2109543"/>
          </a:xfrm>
        </p:grpSpPr>
        <p:sp>
          <p:nvSpPr>
            <p:cNvPr id="8" name="Rectangle: Rounded Corners 7">
              <a:extLst>
                <a:ext uri="{FF2B5EF4-FFF2-40B4-BE49-F238E27FC236}">
                  <a16:creationId xmlns:a16="http://schemas.microsoft.com/office/drawing/2014/main" id="{515BEFAA-4F5F-C89C-64BB-D6B735061E6D}"/>
                </a:ext>
              </a:extLst>
            </p:cNvPr>
            <p:cNvSpPr/>
            <p:nvPr/>
          </p:nvSpPr>
          <p:spPr>
            <a:xfrm>
              <a:off x="2780955" y="3899079"/>
              <a:ext cx="2402731" cy="2081956"/>
            </a:xfrm>
            <a:prstGeom prst="roundRect">
              <a:avLst/>
            </a:prstGeom>
            <a:solidFill>
              <a:schemeClr val="accent5">
                <a:lumMod val="20000"/>
                <a:lumOff val="80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81" name="Rectangle: Rounded Corners 80">
              <a:extLst>
                <a:ext uri="{FF2B5EF4-FFF2-40B4-BE49-F238E27FC236}">
                  <a16:creationId xmlns:a16="http://schemas.microsoft.com/office/drawing/2014/main" id="{16CB4240-3160-5CE4-4C28-447388D666D7}"/>
                </a:ext>
              </a:extLst>
            </p:cNvPr>
            <p:cNvSpPr/>
            <p:nvPr/>
          </p:nvSpPr>
          <p:spPr>
            <a:xfrm>
              <a:off x="3080870" y="3938239"/>
              <a:ext cx="1994255" cy="1804842"/>
            </a:xfrm>
            <a:prstGeom prst="roundRect">
              <a:avLst/>
            </a:prstGeom>
            <a:solidFill>
              <a:schemeClr val="accent5">
                <a:lumMod val="20000"/>
                <a:lumOff val="8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91" name="TextBox 90">
              <a:extLst>
                <a:ext uri="{FF2B5EF4-FFF2-40B4-BE49-F238E27FC236}">
                  <a16:creationId xmlns:a16="http://schemas.microsoft.com/office/drawing/2014/main" id="{D46A0696-F16C-06DE-D859-A8431913B26B}"/>
                </a:ext>
              </a:extLst>
            </p:cNvPr>
            <p:cNvSpPr txBox="1"/>
            <p:nvPr/>
          </p:nvSpPr>
          <p:spPr>
            <a:xfrm>
              <a:off x="3243632" y="4025206"/>
              <a:ext cx="779989" cy="242367"/>
            </a:xfrm>
            <a:prstGeom prst="rect">
              <a:avLst/>
            </a:prstGeom>
          </p:spPr>
          <p:txBody>
            <a:bodyPr vert="horz" wrap="none" lIns="0" tIns="0" rIns="0" bIns="0" rtlCol="0" anchor="t" anchorCtr="0">
              <a:normAutofit/>
            </a:bodyPr>
            <a:lstStyle/>
            <a:p>
              <a:pPr algn="l"/>
              <a:r>
                <a:rPr lang="en-US" sz="1050" b="1" dirty="0"/>
                <a:t>5V</a:t>
              </a:r>
              <a:endParaRPr lang="en-US" sz="1600" b="1" dirty="0"/>
            </a:p>
          </p:txBody>
        </p:sp>
        <p:sp>
          <p:nvSpPr>
            <p:cNvPr id="29" name="TextBox 28">
              <a:extLst>
                <a:ext uri="{FF2B5EF4-FFF2-40B4-BE49-F238E27FC236}">
                  <a16:creationId xmlns:a16="http://schemas.microsoft.com/office/drawing/2014/main" id="{C15CF0E0-7223-6504-D6CC-5DE5A2F3FE97}"/>
                </a:ext>
              </a:extLst>
            </p:cNvPr>
            <p:cNvSpPr txBox="1"/>
            <p:nvPr/>
          </p:nvSpPr>
          <p:spPr>
            <a:xfrm>
              <a:off x="3243632" y="5770668"/>
              <a:ext cx="779989" cy="237954"/>
            </a:xfrm>
            <a:prstGeom prst="rect">
              <a:avLst/>
            </a:prstGeom>
          </p:spPr>
          <p:txBody>
            <a:bodyPr vert="horz" wrap="none" lIns="0" tIns="0" rIns="0" bIns="0" rtlCol="0" anchor="t" anchorCtr="0">
              <a:normAutofit/>
            </a:bodyPr>
            <a:lstStyle/>
            <a:p>
              <a:pPr algn="l"/>
              <a:r>
                <a:rPr lang="en-US" sz="1050" b="1" dirty="0">
                  <a:solidFill>
                    <a:schemeClr val="tx2"/>
                  </a:solidFill>
                </a:rPr>
                <a:t>Switching charger (BC1.2)</a:t>
              </a:r>
              <a:endParaRPr lang="en-US" sz="1600" b="1" dirty="0">
                <a:solidFill>
                  <a:schemeClr val="tx2"/>
                </a:solidFill>
              </a:endParaRPr>
            </a:p>
          </p:txBody>
        </p:sp>
        <p:sp>
          <p:nvSpPr>
            <p:cNvPr id="48" name="TextBox 47">
              <a:extLst>
                <a:ext uri="{FF2B5EF4-FFF2-40B4-BE49-F238E27FC236}">
                  <a16:creationId xmlns:a16="http://schemas.microsoft.com/office/drawing/2014/main" id="{D89371DA-876C-6B4E-375B-5A9F137C901F}"/>
                </a:ext>
              </a:extLst>
            </p:cNvPr>
            <p:cNvSpPr txBox="1"/>
            <p:nvPr/>
          </p:nvSpPr>
          <p:spPr>
            <a:xfrm>
              <a:off x="4281052" y="3996412"/>
              <a:ext cx="779989" cy="242367"/>
            </a:xfrm>
            <a:prstGeom prst="rect">
              <a:avLst/>
            </a:prstGeom>
          </p:spPr>
          <p:txBody>
            <a:bodyPr vert="horz" wrap="none" lIns="0" tIns="0" rIns="0" bIns="0" rtlCol="0" anchor="t" anchorCtr="0">
              <a:normAutofit/>
            </a:bodyPr>
            <a:lstStyle/>
            <a:p>
              <a:pPr algn="l"/>
              <a:r>
                <a:rPr lang="en-US" sz="1000" b="1" dirty="0"/>
                <a:t>MAX77840</a:t>
              </a:r>
              <a:endParaRPr lang="en-US" sz="1400" b="1" dirty="0"/>
            </a:p>
          </p:txBody>
        </p:sp>
        <p:pic>
          <p:nvPicPr>
            <p:cNvPr id="69" name="Picture 68" descr="A diagram of a charge controller&#10;&#10;Description automatically generated">
              <a:extLst>
                <a:ext uri="{FF2B5EF4-FFF2-40B4-BE49-F238E27FC236}">
                  <a16:creationId xmlns:a16="http://schemas.microsoft.com/office/drawing/2014/main" id="{6E13D381-BFEB-6F2F-56DB-E65D0E48FA20}"/>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2819869" y="4157684"/>
              <a:ext cx="2304748" cy="1585397"/>
            </a:xfrm>
            <a:prstGeom prst="rect">
              <a:avLst/>
            </a:prstGeom>
          </p:spPr>
        </p:pic>
      </p:grpSp>
      <p:grpSp>
        <p:nvGrpSpPr>
          <p:cNvPr id="96" name="Group 95">
            <a:extLst>
              <a:ext uri="{FF2B5EF4-FFF2-40B4-BE49-F238E27FC236}">
                <a16:creationId xmlns:a16="http://schemas.microsoft.com/office/drawing/2014/main" id="{CF28163C-8522-2F06-A05D-75A254FE7717}"/>
              </a:ext>
            </a:extLst>
          </p:cNvPr>
          <p:cNvGrpSpPr/>
          <p:nvPr/>
        </p:nvGrpSpPr>
        <p:grpSpPr>
          <a:xfrm>
            <a:off x="4337766" y="2726598"/>
            <a:ext cx="2204547" cy="2142587"/>
            <a:chOff x="4337766" y="3014617"/>
            <a:chExt cx="2204547" cy="2142587"/>
          </a:xfrm>
        </p:grpSpPr>
        <p:sp>
          <p:nvSpPr>
            <p:cNvPr id="72" name="Rectangle: Rounded Corners 71">
              <a:extLst>
                <a:ext uri="{FF2B5EF4-FFF2-40B4-BE49-F238E27FC236}">
                  <a16:creationId xmlns:a16="http://schemas.microsoft.com/office/drawing/2014/main" id="{075D856D-597E-F911-F6CA-C1A7751FAD71}"/>
                </a:ext>
              </a:extLst>
            </p:cNvPr>
            <p:cNvSpPr/>
            <p:nvPr/>
          </p:nvSpPr>
          <p:spPr>
            <a:xfrm>
              <a:off x="4337766" y="3014617"/>
              <a:ext cx="2204547" cy="2111720"/>
            </a:xfrm>
            <a:prstGeom prst="roundRect">
              <a:avLst/>
            </a:prstGeom>
            <a:solidFill>
              <a:schemeClr val="accent5">
                <a:lumMod val="20000"/>
                <a:lumOff val="80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4" name="Rectangle: Rounded Corners 73">
              <a:extLst>
                <a:ext uri="{FF2B5EF4-FFF2-40B4-BE49-F238E27FC236}">
                  <a16:creationId xmlns:a16="http://schemas.microsoft.com/office/drawing/2014/main" id="{430A0711-6952-32D1-C818-964CD7ADE179}"/>
                </a:ext>
              </a:extLst>
            </p:cNvPr>
            <p:cNvSpPr/>
            <p:nvPr/>
          </p:nvSpPr>
          <p:spPr>
            <a:xfrm>
              <a:off x="4601438" y="3050687"/>
              <a:ext cx="1848701" cy="1662425"/>
            </a:xfrm>
            <a:prstGeom prst="roundRect">
              <a:avLst/>
            </a:prstGeom>
            <a:solidFill>
              <a:schemeClr val="accent5">
                <a:lumMod val="20000"/>
                <a:lumOff val="8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6" name="TextBox 75">
              <a:extLst>
                <a:ext uri="{FF2B5EF4-FFF2-40B4-BE49-F238E27FC236}">
                  <a16:creationId xmlns:a16="http://schemas.microsoft.com/office/drawing/2014/main" id="{1D3848B8-0626-6F4E-14AE-0CDFB2B108F6}"/>
                </a:ext>
              </a:extLst>
            </p:cNvPr>
            <p:cNvSpPr txBox="1"/>
            <p:nvPr/>
          </p:nvSpPr>
          <p:spPr>
            <a:xfrm>
              <a:off x="4803479" y="3057110"/>
              <a:ext cx="685731" cy="223242"/>
            </a:xfrm>
            <a:prstGeom prst="rect">
              <a:avLst/>
            </a:prstGeom>
          </p:spPr>
          <p:txBody>
            <a:bodyPr vert="horz" wrap="none" lIns="0" tIns="0" rIns="0" bIns="0" rtlCol="0" anchor="t" anchorCtr="0">
              <a:normAutofit/>
            </a:bodyPr>
            <a:lstStyle/>
            <a:p>
              <a:pPr algn="l"/>
              <a:r>
                <a:rPr lang="en-US" sz="1050" b="1" dirty="0"/>
                <a:t>5V/9V</a:t>
              </a:r>
              <a:endParaRPr lang="en-US" sz="1600" b="1" dirty="0"/>
            </a:p>
          </p:txBody>
        </p:sp>
        <p:sp>
          <p:nvSpPr>
            <p:cNvPr id="79" name="TextBox 78">
              <a:extLst>
                <a:ext uri="{FF2B5EF4-FFF2-40B4-BE49-F238E27FC236}">
                  <a16:creationId xmlns:a16="http://schemas.microsoft.com/office/drawing/2014/main" id="{E5CC9E34-7B89-FB9B-0F88-1B1E0C4643D7}"/>
                </a:ext>
              </a:extLst>
            </p:cNvPr>
            <p:cNvSpPr txBox="1"/>
            <p:nvPr/>
          </p:nvSpPr>
          <p:spPr>
            <a:xfrm>
              <a:off x="4586669" y="4749181"/>
              <a:ext cx="1709959" cy="408023"/>
            </a:xfrm>
            <a:prstGeom prst="rect">
              <a:avLst/>
            </a:prstGeom>
          </p:spPr>
          <p:txBody>
            <a:bodyPr vert="horz" wrap="none" lIns="0" tIns="0" rIns="0" bIns="0" rtlCol="0" anchor="t" anchorCtr="0">
              <a:normAutofit/>
            </a:bodyPr>
            <a:lstStyle/>
            <a:p>
              <a:pPr algn="ctr"/>
              <a:r>
                <a:rPr lang="en-US" sz="1050" b="1" dirty="0">
                  <a:solidFill>
                    <a:schemeClr val="tx2"/>
                  </a:solidFill>
                </a:rPr>
                <a:t>Switching charger (added CC</a:t>
              </a:r>
            </a:p>
            <a:p>
              <a:pPr algn="ctr"/>
              <a:r>
                <a:rPr lang="en-US" sz="1050" b="1" dirty="0">
                  <a:solidFill>
                    <a:schemeClr val="tx2"/>
                  </a:solidFill>
                </a:rPr>
                <a:t>detection)</a:t>
              </a:r>
              <a:endParaRPr lang="en-US" sz="1600" b="1" dirty="0">
                <a:solidFill>
                  <a:schemeClr val="tx2"/>
                </a:solidFill>
              </a:endParaRPr>
            </a:p>
          </p:txBody>
        </p:sp>
        <p:sp>
          <p:nvSpPr>
            <p:cNvPr id="82" name="TextBox 81">
              <a:extLst>
                <a:ext uri="{FF2B5EF4-FFF2-40B4-BE49-F238E27FC236}">
                  <a16:creationId xmlns:a16="http://schemas.microsoft.com/office/drawing/2014/main" id="{5B343F21-C0DC-0127-B612-799EC5832813}"/>
                </a:ext>
              </a:extLst>
            </p:cNvPr>
            <p:cNvSpPr txBox="1"/>
            <p:nvPr/>
          </p:nvSpPr>
          <p:spPr>
            <a:xfrm>
              <a:off x="5753148" y="3141195"/>
              <a:ext cx="685731" cy="223242"/>
            </a:xfrm>
            <a:prstGeom prst="rect">
              <a:avLst/>
            </a:prstGeom>
          </p:spPr>
          <p:txBody>
            <a:bodyPr vert="horz" wrap="none" lIns="0" tIns="0" rIns="0" bIns="0" rtlCol="0" anchor="t" anchorCtr="0">
              <a:normAutofit/>
            </a:bodyPr>
            <a:lstStyle/>
            <a:p>
              <a:pPr algn="l"/>
              <a:endParaRPr lang="en-US" sz="1400" b="1" dirty="0"/>
            </a:p>
          </p:txBody>
        </p:sp>
        <p:pic>
          <p:nvPicPr>
            <p:cNvPr id="94" name="Picture 93">
              <a:extLst>
                <a:ext uri="{FF2B5EF4-FFF2-40B4-BE49-F238E27FC236}">
                  <a16:creationId xmlns:a16="http://schemas.microsoft.com/office/drawing/2014/main" id="{1A401DAF-2190-A841-C1BE-2D08257BD9D6}"/>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4370678" y="3172063"/>
              <a:ext cx="2138270" cy="1587351"/>
            </a:xfrm>
            <a:prstGeom prst="rect">
              <a:avLst/>
            </a:prstGeom>
          </p:spPr>
        </p:pic>
        <p:sp>
          <p:nvSpPr>
            <p:cNvPr id="95" name="TextBox 94">
              <a:extLst>
                <a:ext uri="{FF2B5EF4-FFF2-40B4-BE49-F238E27FC236}">
                  <a16:creationId xmlns:a16="http://schemas.microsoft.com/office/drawing/2014/main" id="{F70166A2-81AE-13C9-F5FA-2E03BC9B56AD}"/>
                </a:ext>
              </a:extLst>
            </p:cNvPr>
            <p:cNvSpPr txBox="1"/>
            <p:nvPr/>
          </p:nvSpPr>
          <p:spPr>
            <a:xfrm>
              <a:off x="5756016" y="3090260"/>
              <a:ext cx="749559" cy="226200"/>
            </a:xfrm>
            <a:prstGeom prst="rect">
              <a:avLst/>
            </a:prstGeom>
          </p:spPr>
          <p:txBody>
            <a:bodyPr vert="horz" wrap="none" lIns="0" tIns="0" rIns="0" bIns="0" rtlCol="0" anchor="t" anchorCtr="0">
              <a:normAutofit/>
            </a:bodyPr>
            <a:lstStyle/>
            <a:p>
              <a:pPr algn="l"/>
              <a:r>
                <a:rPr lang="en-US" sz="1000" b="1" dirty="0"/>
                <a:t>MAX77787</a:t>
              </a:r>
              <a:endParaRPr lang="en-US" sz="1400" b="1" dirty="0"/>
            </a:p>
          </p:txBody>
        </p:sp>
      </p:grpSp>
      <p:grpSp>
        <p:nvGrpSpPr>
          <p:cNvPr id="12" name="Group 11">
            <a:extLst>
              <a:ext uri="{FF2B5EF4-FFF2-40B4-BE49-F238E27FC236}">
                <a16:creationId xmlns:a16="http://schemas.microsoft.com/office/drawing/2014/main" id="{9180B4E4-8E3E-5445-9933-803335C358DC}"/>
              </a:ext>
            </a:extLst>
          </p:cNvPr>
          <p:cNvGrpSpPr/>
          <p:nvPr/>
        </p:nvGrpSpPr>
        <p:grpSpPr>
          <a:xfrm>
            <a:off x="251329" y="5163681"/>
            <a:ext cx="499242" cy="226200"/>
            <a:chOff x="251329" y="5390860"/>
            <a:chExt cx="499242" cy="226200"/>
          </a:xfrm>
        </p:grpSpPr>
        <p:cxnSp>
          <p:nvCxnSpPr>
            <p:cNvPr id="3" name="Straight Arrow Connector 2">
              <a:extLst>
                <a:ext uri="{FF2B5EF4-FFF2-40B4-BE49-F238E27FC236}">
                  <a16:creationId xmlns:a16="http://schemas.microsoft.com/office/drawing/2014/main" id="{F7545B85-5F3A-3861-4ABF-AC840DC0565C}"/>
                </a:ext>
              </a:extLst>
            </p:cNvPr>
            <p:cNvCxnSpPr/>
            <p:nvPr/>
          </p:nvCxnSpPr>
          <p:spPr>
            <a:xfrm>
              <a:off x="253080" y="5557851"/>
              <a:ext cx="4662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59B5362-2597-57AA-95A5-2E1621047EE7}"/>
                </a:ext>
              </a:extLst>
            </p:cNvPr>
            <p:cNvSpPr txBox="1"/>
            <p:nvPr/>
          </p:nvSpPr>
          <p:spPr>
            <a:xfrm>
              <a:off x="251329" y="5390860"/>
              <a:ext cx="499242" cy="226200"/>
            </a:xfrm>
            <a:prstGeom prst="rect">
              <a:avLst/>
            </a:prstGeom>
          </p:spPr>
          <p:txBody>
            <a:bodyPr vert="horz" wrap="none" lIns="0" tIns="0" rIns="0" bIns="0" rtlCol="0" anchor="t" anchorCtr="0">
              <a:normAutofit/>
            </a:bodyPr>
            <a:lstStyle/>
            <a:p>
              <a:pPr algn="l"/>
              <a:r>
                <a:rPr lang="en-US" sz="1050" b="1" dirty="0"/>
                <a:t>500mA</a:t>
              </a:r>
            </a:p>
          </p:txBody>
        </p:sp>
      </p:grpSp>
      <p:grpSp>
        <p:nvGrpSpPr>
          <p:cNvPr id="13" name="Group 12">
            <a:extLst>
              <a:ext uri="{FF2B5EF4-FFF2-40B4-BE49-F238E27FC236}">
                <a16:creationId xmlns:a16="http://schemas.microsoft.com/office/drawing/2014/main" id="{8FDD269B-A473-0334-9657-E1767A1B9992}"/>
              </a:ext>
            </a:extLst>
          </p:cNvPr>
          <p:cNvGrpSpPr/>
          <p:nvPr/>
        </p:nvGrpSpPr>
        <p:grpSpPr>
          <a:xfrm>
            <a:off x="251329" y="5163681"/>
            <a:ext cx="499242" cy="226200"/>
            <a:chOff x="251329" y="5390860"/>
            <a:chExt cx="499242" cy="226200"/>
          </a:xfrm>
        </p:grpSpPr>
        <p:cxnSp>
          <p:nvCxnSpPr>
            <p:cNvPr id="15" name="Straight Arrow Connector 14">
              <a:extLst>
                <a:ext uri="{FF2B5EF4-FFF2-40B4-BE49-F238E27FC236}">
                  <a16:creationId xmlns:a16="http://schemas.microsoft.com/office/drawing/2014/main" id="{6DA53B6D-A6EB-2536-83D1-843ACF7E31E3}"/>
                </a:ext>
              </a:extLst>
            </p:cNvPr>
            <p:cNvCxnSpPr/>
            <p:nvPr/>
          </p:nvCxnSpPr>
          <p:spPr>
            <a:xfrm>
              <a:off x="253080" y="5557851"/>
              <a:ext cx="4662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F2884CA-C82A-5172-DCC6-B94B490BB3A2}"/>
                </a:ext>
              </a:extLst>
            </p:cNvPr>
            <p:cNvSpPr txBox="1"/>
            <p:nvPr/>
          </p:nvSpPr>
          <p:spPr>
            <a:xfrm>
              <a:off x="251329" y="5390860"/>
              <a:ext cx="499242" cy="226200"/>
            </a:xfrm>
            <a:prstGeom prst="rect">
              <a:avLst/>
            </a:prstGeom>
          </p:spPr>
          <p:txBody>
            <a:bodyPr vert="horz" wrap="none" lIns="0" tIns="0" rIns="0" bIns="0" rtlCol="0" anchor="t" anchorCtr="0">
              <a:normAutofit/>
            </a:bodyPr>
            <a:lstStyle/>
            <a:p>
              <a:pPr algn="l"/>
              <a:r>
                <a:rPr lang="en-US" sz="1050" b="1" dirty="0"/>
                <a:t>1.5A</a:t>
              </a:r>
            </a:p>
          </p:txBody>
        </p:sp>
      </p:grpSp>
      <p:grpSp>
        <p:nvGrpSpPr>
          <p:cNvPr id="18" name="Group 17">
            <a:extLst>
              <a:ext uri="{FF2B5EF4-FFF2-40B4-BE49-F238E27FC236}">
                <a16:creationId xmlns:a16="http://schemas.microsoft.com/office/drawing/2014/main" id="{749C7729-9999-7601-0036-0145C09C9EF4}"/>
              </a:ext>
            </a:extLst>
          </p:cNvPr>
          <p:cNvGrpSpPr/>
          <p:nvPr/>
        </p:nvGrpSpPr>
        <p:grpSpPr>
          <a:xfrm>
            <a:off x="2358717" y="4234466"/>
            <a:ext cx="499242" cy="226200"/>
            <a:chOff x="251329" y="5390860"/>
            <a:chExt cx="499242" cy="226200"/>
          </a:xfrm>
        </p:grpSpPr>
        <p:cxnSp>
          <p:nvCxnSpPr>
            <p:cNvPr id="19" name="Straight Arrow Connector 18">
              <a:extLst>
                <a:ext uri="{FF2B5EF4-FFF2-40B4-BE49-F238E27FC236}">
                  <a16:creationId xmlns:a16="http://schemas.microsoft.com/office/drawing/2014/main" id="{0B1D8D5E-ABA6-60DA-C1D9-A1A57997E1B2}"/>
                </a:ext>
              </a:extLst>
            </p:cNvPr>
            <p:cNvCxnSpPr/>
            <p:nvPr/>
          </p:nvCxnSpPr>
          <p:spPr>
            <a:xfrm>
              <a:off x="253080" y="5557851"/>
              <a:ext cx="4662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8188742-5D3E-94EF-5546-7EFF74D90396}"/>
                </a:ext>
              </a:extLst>
            </p:cNvPr>
            <p:cNvSpPr txBox="1"/>
            <p:nvPr/>
          </p:nvSpPr>
          <p:spPr>
            <a:xfrm>
              <a:off x="251329" y="5390860"/>
              <a:ext cx="499242" cy="226200"/>
            </a:xfrm>
            <a:prstGeom prst="rect">
              <a:avLst/>
            </a:prstGeom>
          </p:spPr>
          <p:txBody>
            <a:bodyPr vert="horz" wrap="none" lIns="0" tIns="0" rIns="0" bIns="0" rtlCol="0" anchor="t" anchorCtr="0">
              <a:normAutofit/>
            </a:bodyPr>
            <a:lstStyle/>
            <a:p>
              <a:pPr algn="l"/>
              <a:r>
                <a:rPr lang="en-US" sz="1050" b="1" dirty="0"/>
                <a:t>1.5A</a:t>
              </a:r>
            </a:p>
          </p:txBody>
        </p:sp>
      </p:grpSp>
      <p:grpSp>
        <p:nvGrpSpPr>
          <p:cNvPr id="21" name="Group 20">
            <a:extLst>
              <a:ext uri="{FF2B5EF4-FFF2-40B4-BE49-F238E27FC236}">
                <a16:creationId xmlns:a16="http://schemas.microsoft.com/office/drawing/2014/main" id="{4832C52B-439A-58AA-5999-D343873C5E84}"/>
              </a:ext>
            </a:extLst>
          </p:cNvPr>
          <p:cNvGrpSpPr/>
          <p:nvPr/>
        </p:nvGrpSpPr>
        <p:grpSpPr>
          <a:xfrm>
            <a:off x="4808231" y="2956034"/>
            <a:ext cx="499242" cy="226200"/>
            <a:chOff x="251329" y="5390860"/>
            <a:chExt cx="499242" cy="226200"/>
          </a:xfrm>
        </p:grpSpPr>
        <p:cxnSp>
          <p:nvCxnSpPr>
            <p:cNvPr id="22" name="Straight Arrow Connector 21">
              <a:extLst>
                <a:ext uri="{FF2B5EF4-FFF2-40B4-BE49-F238E27FC236}">
                  <a16:creationId xmlns:a16="http://schemas.microsoft.com/office/drawing/2014/main" id="{0F489890-297F-74A5-7768-7043D0842F96}"/>
                </a:ext>
              </a:extLst>
            </p:cNvPr>
            <p:cNvCxnSpPr/>
            <p:nvPr/>
          </p:nvCxnSpPr>
          <p:spPr>
            <a:xfrm>
              <a:off x="253080" y="5557851"/>
              <a:ext cx="4662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2503E7E6-A8DF-D310-C454-449264F33989}"/>
                </a:ext>
              </a:extLst>
            </p:cNvPr>
            <p:cNvSpPr txBox="1"/>
            <p:nvPr/>
          </p:nvSpPr>
          <p:spPr>
            <a:xfrm>
              <a:off x="251329" y="5390860"/>
              <a:ext cx="499242" cy="226200"/>
            </a:xfrm>
            <a:prstGeom prst="rect">
              <a:avLst/>
            </a:prstGeom>
          </p:spPr>
          <p:txBody>
            <a:bodyPr vert="horz" wrap="none" lIns="0" tIns="0" rIns="0" bIns="0" rtlCol="0" anchor="t" anchorCtr="0">
              <a:normAutofit/>
            </a:bodyPr>
            <a:lstStyle/>
            <a:p>
              <a:pPr algn="l"/>
              <a:r>
                <a:rPr lang="en-US" sz="1050" b="1" dirty="0"/>
                <a:t>3A</a:t>
              </a:r>
            </a:p>
          </p:txBody>
        </p:sp>
      </p:grpSp>
      <p:sp>
        <p:nvSpPr>
          <p:cNvPr id="36" name="TextBox 35">
            <a:extLst>
              <a:ext uri="{FF2B5EF4-FFF2-40B4-BE49-F238E27FC236}">
                <a16:creationId xmlns:a16="http://schemas.microsoft.com/office/drawing/2014/main" id="{16F954F5-5A36-7B6B-DDAC-F51E49022527}"/>
              </a:ext>
            </a:extLst>
          </p:cNvPr>
          <p:cNvSpPr txBox="1"/>
          <p:nvPr/>
        </p:nvSpPr>
        <p:spPr>
          <a:xfrm>
            <a:off x="7068640" y="2279712"/>
            <a:ext cx="499242" cy="226200"/>
          </a:xfrm>
          <a:prstGeom prst="rect">
            <a:avLst/>
          </a:prstGeom>
        </p:spPr>
        <p:txBody>
          <a:bodyPr vert="horz" wrap="none" lIns="0" tIns="0" rIns="0" bIns="0" rtlCol="0" anchor="t" anchorCtr="0">
            <a:normAutofit/>
          </a:bodyPr>
          <a:lstStyle/>
          <a:p>
            <a:pPr algn="l"/>
            <a:r>
              <a:rPr lang="en-US" sz="1050" b="1" dirty="0"/>
              <a:t>Up to 5A</a:t>
            </a:r>
          </a:p>
        </p:txBody>
      </p:sp>
      <p:sp>
        <p:nvSpPr>
          <p:cNvPr id="38" name="TextBox 37">
            <a:extLst>
              <a:ext uri="{FF2B5EF4-FFF2-40B4-BE49-F238E27FC236}">
                <a16:creationId xmlns:a16="http://schemas.microsoft.com/office/drawing/2014/main" id="{3B62D6A1-5A31-9FB8-0A69-90FBA4CEF65B}"/>
              </a:ext>
            </a:extLst>
          </p:cNvPr>
          <p:cNvSpPr txBox="1"/>
          <p:nvPr/>
        </p:nvSpPr>
        <p:spPr>
          <a:xfrm>
            <a:off x="9435860" y="1172547"/>
            <a:ext cx="499242" cy="226200"/>
          </a:xfrm>
          <a:prstGeom prst="rect">
            <a:avLst/>
          </a:prstGeom>
        </p:spPr>
        <p:txBody>
          <a:bodyPr vert="horz" wrap="none" lIns="0" tIns="0" rIns="0" bIns="0" rtlCol="0" anchor="t" anchorCtr="0">
            <a:normAutofit/>
          </a:bodyPr>
          <a:lstStyle/>
          <a:p>
            <a:pPr algn="l"/>
            <a:r>
              <a:rPr lang="en-US" sz="1050" b="1" dirty="0"/>
              <a:t>Up to 5A</a:t>
            </a:r>
          </a:p>
        </p:txBody>
      </p:sp>
      <p:sp>
        <p:nvSpPr>
          <p:cNvPr id="45" name="Footer Placeholder 2">
            <a:extLst>
              <a:ext uri="{FF2B5EF4-FFF2-40B4-BE49-F238E27FC236}">
                <a16:creationId xmlns:a16="http://schemas.microsoft.com/office/drawing/2014/main" id="{B335AF5F-28BF-E4C7-1A6B-5088A7E4081A}"/>
              </a:ext>
            </a:extLst>
          </p:cNvPr>
          <p:cNvSpPr>
            <a:spLocks noGrp="1"/>
          </p:cNvSpPr>
          <p:nvPr>
            <p:ph type="ftr" sz="quarter" idx="3"/>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46" name="Slide Number Placeholder 3">
            <a:extLst>
              <a:ext uri="{FF2B5EF4-FFF2-40B4-BE49-F238E27FC236}">
                <a16:creationId xmlns:a16="http://schemas.microsoft.com/office/drawing/2014/main" id="{4315FB2E-C072-C123-DE65-71274D197E8F}"/>
              </a:ext>
            </a:extLst>
          </p:cNvPr>
          <p:cNvSpPr>
            <a:spLocks noGrp="1"/>
          </p:cNvSpPr>
          <p:nvPr>
            <p:ph type="sldNum" sz="quarter" idx="4"/>
          </p:nvPr>
        </p:nvSpPr>
        <p:spPr>
          <a:xfrm>
            <a:off x="417601" y="6582557"/>
            <a:ext cx="247878" cy="144000"/>
          </a:xfrm>
        </p:spPr>
        <p:txBody>
          <a:bodyPr/>
          <a:lstStyle/>
          <a:p>
            <a:pPr>
              <a:defRPr/>
            </a:pPr>
            <a:fld id="{A9CE67A1-BA7F-A74E-B5D7-615746DEEC2B}" type="slidenum">
              <a:rPr lang="en-US" smtClean="0"/>
              <a:pPr>
                <a:defRPr/>
              </a:pPr>
              <a:t>2</a:t>
            </a:fld>
            <a:endParaRPr lang="en-US" dirty="0"/>
          </a:p>
        </p:txBody>
      </p:sp>
      <p:sp>
        <p:nvSpPr>
          <p:cNvPr id="47" name="Date Placeholder 5">
            <a:extLst>
              <a:ext uri="{FF2B5EF4-FFF2-40B4-BE49-F238E27FC236}">
                <a16:creationId xmlns:a16="http://schemas.microsoft.com/office/drawing/2014/main" id="{1BD5E2B4-3F7B-85CC-F325-8DFDA85927C1}"/>
              </a:ext>
            </a:extLst>
          </p:cNvPr>
          <p:cNvSpPr>
            <a:spLocks noGrp="1"/>
          </p:cNvSpPr>
          <p:nvPr>
            <p:ph type="dt" sz="half" idx="12"/>
          </p:nvPr>
        </p:nvSpPr>
        <p:spPr>
          <a:xfrm>
            <a:off x="9037865" y="6465903"/>
            <a:ext cx="2743200" cy="365125"/>
          </a:xfrm>
        </p:spPr>
        <p:txBody>
          <a:bodyPr/>
          <a:lstStyle/>
          <a:p>
            <a:r>
              <a:rPr lang="en-US"/>
              <a:t>FTC | Orlando, FL | November 4-8, 2024</a:t>
            </a:r>
            <a:endParaRPr lang="en-US" dirty="0"/>
          </a:p>
        </p:txBody>
      </p:sp>
      <p:grpSp>
        <p:nvGrpSpPr>
          <p:cNvPr id="25" name="Group 24">
            <a:extLst>
              <a:ext uri="{FF2B5EF4-FFF2-40B4-BE49-F238E27FC236}">
                <a16:creationId xmlns:a16="http://schemas.microsoft.com/office/drawing/2014/main" id="{04997F79-61C5-4B66-ED6A-2793698EC015}"/>
              </a:ext>
            </a:extLst>
          </p:cNvPr>
          <p:cNvGrpSpPr/>
          <p:nvPr/>
        </p:nvGrpSpPr>
        <p:grpSpPr>
          <a:xfrm>
            <a:off x="8974515" y="2766882"/>
            <a:ext cx="3134618" cy="2295122"/>
            <a:chOff x="8974515" y="2766882"/>
            <a:chExt cx="3134618" cy="2295122"/>
          </a:xfrm>
        </p:grpSpPr>
        <p:sp>
          <p:nvSpPr>
            <p:cNvPr id="27" name="Arrow: Right 26">
              <a:extLst>
                <a:ext uri="{FF2B5EF4-FFF2-40B4-BE49-F238E27FC236}">
                  <a16:creationId xmlns:a16="http://schemas.microsoft.com/office/drawing/2014/main" id="{09DF1972-053D-6085-3B94-25A648FE2FDF}"/>
                </a:ext>
              </a:extLst>
            </p:cNvPr>
            <p:cNvSpPr/>
            <p:nvPr/>
          </p:nvSpPr>
          <p:spPr>
            <a:xfrm>
              <a:off x="8974515" y="3634590"/>
              <a:ext cx="472015" cy="522081"/>
            </a:xfrm>
            <a:prstGeom prst="rightArrow">
              <a:avLst/>
            </a:prstGeom>
            <a:solidFill>
              <a:schemeClr val="bg1"/>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60" name="Group 59">
              <a:extLst>
                <a:ext uri="{FF2B5EF4-FFF2-40B4-BE49-F238E27FC236}">
                  <a16:creationId xmlns:a16="http://schemas.microsoft.com/office/drawing/2014/main" id="{0567B80A-4088-78DE-5AA6-EABAAD910721}"/>
                </a:ext>
              </a:extLst>
            </p:cNvPr>
            <p:cNvGrpSpPr/>
            <p:nvPr/>
          </p:nvGrpSpPr>
          <p:grpSpPr>
            <a:xfrm>
              <a:off x="9434585" y="2766882"/>
              <a:ext cx="2674548" cy="2295122"/>
              <a:chOff x="8812639" y="3121555"/>
              <a:chExt cx="2674548" cy="2295122"/>
            </a:xfrm>
          </p:grpSpPr>
          <p:sp>
            <p:nvSpPr>
              <p:cNvPr id="11" name="Rectangle: Rounded Corners 10">
                <a:extLst>
                  <a:ext uri="{FF2B5EF4-FFF2-40B4-BE49-F238E27FC236}">
                    <a16:creationId xmlns:a16="http://schemas.microsoft.com/office/drawing/2014/main" id="{330CCB7E-1A2E-6987-E06C-3131891AE5BA}"/>
                  </a:ext>
                </a:extLst>
              </p:cNvPr>
              <p:cNvSpPr/>
              <p:nvPr/>
            </p:nvSpPr>
            <p:spPr>
              <a:xfrm>
                <a:off x="8812639" y="3121555"/>
                <a:ext cx="2641158" cy="2295122"/>
              </a:xfrm>
              <a:prstGeom prst="roundRect">
                <a:avLst/>
              </a:prstGeom>
              <a:solidFill>
                <a:schemeClr val="accent5">
                  <a:lumMod val="20000"/>
                  <a:lumOff val="80000"/>
                </a:schemeClr>
              </a:solidFill>
              <a:ln>
                <a:solidFill>
                  <a:schemeClr val="accent1"/>
                </a:solidFill>
                <a:miter lim="800000"/>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85" name="Rectangle: Rounded Corners 84">
                <a:extLst>
                  <a:ext uri="{FF2B5EF4-FFF2-40B4-BE49-F238E27FC236}">
                    <a16:creationId xmlns:a16="http://schemas.microsoft.com/office/drawing/2014/main" id="{4E864882-DBC2-C5CB-0B18-983E22205945}"/>
                  </a:ext>
                </a:extLst>
              </p:cNvPr>
              <p:cNvSpPr/>
              <p:nvPr/>
            </p:nvSpPr>
            <p:spPr>
              <a:xfrm>
                <a:off x="9640159" y="3173429"/>
                <a:ext cx="1729012" cy="1701109"/>
              </a:xfrm>
              <a:prstGeom prst="roundRect">
                <a:avLst/>
              </a:prstGeom>
              <a:solidFill>
                <a:schemeClr val="accent5">
                  <a:lumMod val="20000"/>
                  <a:lumOff val="8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26" name="TextBox 25">
                <a:extLst>
                  <a:ext uri="{FF2B5EF4-FFF2-40B4-BE49-F238E27FC236}">
                    <a16:creationId xmlns:a16="http://schemas.microsoft.com/office/drawing/2014/main" id="{7DAAFC47-549E-378D-D3E5-0EAF2214105D}"/>
                  </a:ext>
                </a:extLst>
              </p:cNvPr>
              <p:cNvSpPr txBox="1"/>
              <p:nvPr/>
            </p:nvSpPr>
            <p:spPr>
              <a:xfrm>
                <a:off x="10645536" y="3207090"/>
                <a:ext cx="273420" cy="125849"/>
              </a:xfrm>
              <a:prstGeom prst="rect">
                <a:avLst/>
              </a:prstGeom>
            </p:spPr>
            <p:txBody>
              <a:bodyPr vert="horz" wrap="none" lIns="0" tIns="0" rIns="0" bIns="0" rtlCol="0" anchor="t" anchorCtr="0">
                <a:normAutofit lnSpcReduction="10000"/>
              </a:bodyPr>
              <a:lstStyle/>
              <a:p>
                <a:pPr algn="l"/>
                <a:r>
                  <a:rPr lang="en-US" sz="900" b="1" dirty="0"/>
                  <a:t>LTC7825</a:t>
                </a:r>
              </a:p>
            </p:txBody>
          </p:sp>
          <p:sp>
            <p:nvSpPr>
              <p:cNvPr id="33" name="TextBox 32">
                <a:extLst>
                  <a:ext uri="{FF2B5EF4-FFF2-40B4-BE49-F238E27FC236}">
                    <a16:creationId xmlns:a16="http://schemas.microsoft.com/office/drawing/2014/main" id="{9F7F227D-B29E-B8DD-B928-D82309F57AA8}"/>
                  </a:ext>
                </a:extLst>
              </p:cNvPr>
              <p:cNvSpPr txBox="1"/>
              <p:nvPr/>
            </p:nvSpPr>
            <p:spPr>
              <a:xfrm>
                <a:off x="9202926" y="5041787"/>
                <a:ext cx="1916635" cy="302408"/>
              </a:xfrm>
              <a:prstGeom prst="rect">
                <a:avLst/>
              </a:prstGeom>
            </p:spPr>
            <p:txBody>
              <a:bodyPr vert="horz" wrap="none" lIns="0" tIns="0" rIns="0" bIns="0" rtlCol="0" anchor="t" anchorCtr="0">
                <a:normAutofit lnSpcReduction="10000"/>
              </a:bodyPr>
              <a:lstStyle/>
              <a:p>
                <a:pPr algn="ctr"/>
                <a:r>
                  <a:rPr lang="en-US" sz="1050" b="1" dirty="0">
                    <a:solidFill>
                      <a:schemeClr val="tx2"/>
                    </a:solidFill>
                  </a:rPr>
                  <a:t>Switched Capacitor Converter</a:t>
                </a:r>
              </a:p>
              <a:p>
                <a:pPr algn="ctr"/>
                <a:r>
                  <a:rPr lang="en-US" sz="1050" b="1" dirty="0">
                    <a:solidFill>
                      <a:schemeClr val="tx2"/>
                    </a:solidFill>
                  </a:rPr>
                  <a:t>(PD/PPS Compliant)</a:t>
                </a:r>
                <a:endParaRPr lang="en-US" sz="1600" b="1" dirty="0">
                  <a:solidFill>
                    <a:schemeClr val="tx2"/>
                  </a:solidFill>
                </a:endParaRPr>
              </a:p>
            </p:txBody>
          </p:sp>
          <p:pic>
            <p:nvPicPr>
              <p:cNvPr id="59" name="Picture 58" descr="A group of circles with numbers and symbols&#10;&#10;Description automatically generated">
                <a:extLst>
                  <a:ext uri="{FF2B5EF4-FFF2-40B4-BE49-F238E27FC236}">
                    <a16:creationId xmlns:a16="http://schemas.microsoft.com/office/drawing/2014/main" id="{9F67B1EC-30B1-7813-54EB-12D415EA40DB}"/>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8846029" y="3512537"/>
                <a:ext cx="2641158" cy="1340328"/>
              </a:xfrm>
              <a:prstGeom prst="rect">
                <a:avLst/>
              </a:prstGeom>
            </p:spPr>
          </p:pic>
        </p:grpSp>
        <p:sp>
          <p:nvSpPr>
            <p:cNvPr id="40" name="TextBox 39">
              <a:extLst>
                <a:ext uri="{FF2B5EF4-FFF2-40B4-BE49-F238E27FC236}">
                  <a16:creationId xmlns:a16="http://schemas.microsoft.com/office/drawing/2014/main" id="{44B34F6B-AB67-F1F8-44A3-C9850530AADA}"/>
                </a:ext>
              </a:extLst>
            </p:cNvPr>
            <p:cNvSpPr txBox="1"/>
            <p:nvPr/>
          </p:nvSpPr>
          <p:spPr>
            <a:xfrm>
              <a:off x="9729884" y="3185616"/>
              <a:ext cx="499242" cy="226200"/>
            </a:xfrm>
            <a:prstGeom prst="rect">
              <a:avLst/>
            </a:prstGeom>
          </p:spPr>
          <p:txBody>
            <a:bodyPr vert="horz" wrap="none" lIns="0" tIns="0" rIns="0" bIns="0" rtlCol="0" anchor="t" anchorCtr="0">
              <a:normAutofit/>
            </a:bodyPr>
            <a:lstStyle/>
            <a:p>
              <a:pPr algn="l"/>
              <a:r>
                <a:rPr lang="en-US" sz="1050" b="1" dirty="0"/>
                <a:t>Up to 5A</a:t>
              </a:r>
            </a:p>
          </p:txBody>
        </p:sp>
        <p:sp>
          <p:nvSpPr>
            <p:cNvPr id="42" name="TextBox 41">
              <a:extLst>
                <a:ext uri="{FF2B5EF4-FFF2-40B4-BE49-F238E27FC236}">
                  <a16:creationId xmlns:a16="http://schemas.microsoft.com/office/drawing/2014/main" id="{F88CB67E-E207-D0C3-8CFA-59D1B05E01DA}"/>
                </a:ext>
              </a:extLst>
            </p:cNvPr>
            <p:cNvSpPr txBox="1"/>
            <p:nvPr/>
          </p:nvSpPr>
          <p:spPr>
            <a:xfrm>
              <a:off x="9697963" y="3058733"/>
              <a:ext cx="563083" cy="253765"/>
            </a:xfrm>
            <a:prstGeom prst="rect">
              <a:avLst/>
            </a:prstGeom>
          </p:spPr>
          <p:txBody>
            <a:bodyPr vert="horz" wrap="none" lIns="0" tIns="0" rIns="0" bIns="0" rtlCol="0" anchor="t" anchorCtr="0">
              <a:normAutofit/>
            </a:bodyPr>
            <a:lstStyle/>
            <a:p>
              <a:pPr algn="l"/>
              <a:r>
                <a:rPr lang="en-US" sz="1050" b="1" dirty="0"/>
                <a:t>6.6 – 8.4V</a:t>
              </a:r>
            </a:p>
          </p:txBody>
        </p:sp>
        <p:sp>
          <p:nvSpPr>
            <p:cNvPr id="2" name="Rectangle 1">
              <a:extLst>
                <a:ext uri="{FF2B5EF4-FFF2-40B4-BE49-F238E27FC236}">
                  <a16:creationId xmlns:a16="http://schemas.microsoft.com/office/drawing/2014/main" id="{5395C01A-59D7-ED97-6B14-2489E93636A2}"/>
                </a:ext>
              </a:extLst>
            </p:cNvPr>
            <p:cNvSpPr/>
            <p:nvPr/>
          </p:nvSpPr>
          <p:spPr>
            <a:xfrm>
              <a:off x="9579937" y="4358479"/>
              <a:ext cx="637374" cy="302408"/>
            </a:xfrm>
            <a:prstGeom prst="rect">
              <a:avLst/>
            </a:prstGeom>
            <a:solidFill>
              <a:schemeClr val="accent3">
                <a:lumMod val="20000"/>
                <a:lumOff val="80000"/>
              </a:schemeClr>
            </a:solidFill>
            <a:ln>
              <a:solidFill>
                <a:schemeClr val="accent3">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r>
                <a:rPr lang="en-US" sz="700" b="1" dirty="0">
                  <a:solidFill>
                    <a:srgbClr val="000000"/>
                  </a:solidFill>
                  <a:latin typeface="Barlow" pitchFamily="2" charset="77"/>
                  <a:cs typeface="Arial" panose="020B0604020202020204" pitchFamily="34" charset="0"/>
                </a:rPr>
                <a:t>MAX77986</a:t>
              </a:r>
            </a:p>
          </p:txBody>
        </p:sp>
      </p:grpSp>
      <p:grpSp>
        <p:nvGrpSpPr>
          <p:cNvPr id="92" name="Group 91">
            <a:extLst>
              <a:ext uri="{FF2B5EF4-FFF2-40B4-BE49-F238E27FC236}">
                <a16:creationId xmlns:a16="http://schemas.microsoft.com/office/drawing/2014/main" id="{E4BB856E-CA6A-F143-67D3-9F65129CC052}"/>
              </a:ext>
            </a:extLst>
          </p:cNvPr>
          <p:cNvGrpSpPr/>
          <p:nvPr/>
        </p:nvGrpSpPr>
        <p:grpSpPr>
          <a:xfrm>
            <a:off x="5293265" y="4505134"/>
            <a:ext cx="4278436" cy="2125149"/>
            <a:chOff x="5293265" y="4505134"/>
            <a:chExt cx="4278436" cy="2125149"/>
          </a:xfrm>
        </p:grpSpPr>
        <p:pic>
          <p:nvPicPr>
            <p:cNvPr id="68" name="Picture 67">
              <a:extLst>
                <a:ext uri="{FF2B5EF4-FFF2-40B4-BE49-F238E27FC236}">
                  <a16:creationId xmlns:a16="http://schemas.microsoft.com/office/drawing/2014/main" id="{F718169B-D77B-9889-429D-98A41CF2E78A}"/>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7648947" y="4505134"/>
              <a:ext cx="1922754" cy="2125149"/>
            </a:xfrm>
            <a:prstGeom prst="rect">
              <a:avLst/>
            </a:prstGeom>
          </p:spPr>
        </p:pic>
        <p:pic>
          <p:nvPicPr>
            <p:cNvPr id="73" name="Picture 72">
              <a:extLst>
                <a:ext uri="{FF2B5EF4-FFF2-40B4-BE49-F238E27FC236}">
                  <a16:creationId xmlns:a16="http://schemas.microsoft.com/office/drawing/2014/main" id="{EF11C9C8-C252-CF96-68DB-0A0B97C9B4CE}"/>
                </a:ext>
              </a:extLst>
            </p:cNvPr>
            <p:cNvPicPr>
              <a:picLocks noChangeAspect="1"/>
            </p:cNvPicPr>
            <p:nvPr/>
          </p:nvPicPr>
          <p:blipFill>
            <a:blip r:embed="rId10"/>
            <a:stretch>
              <a:fillRect/>
            </a:stretch>
          </p:blipFill>
          <p:spPr>
            <a:xfrm>
              <a:off x="5293265" y="4951500"/>
              <a:ext cx="2138001" cy="1463936"/>
            </a:xfrm>
            <a:prstGeom prst="rect">
              <a:avLst/>
            </a:prstGeom>
          </p:spPr>
        </p:pic>
        <p:sp>
          <p:nvSpPr>
            <p:cNvPr id="78" name="Oval 77">
              <a:extLst>
                <a:ext uri="{FF2B5EF4-FFF2-40B4-BE49-F238E27FC236}">
                  <a16:creationId xmlns:a16="http://schemas.microsoft.com/office/drawing/2014/main" id="{EFB8B2CE-4411-5F21-3308-EFC9F337E951}"/>
                </a:ext>
              </a:extLst>
            </p:cNvPr>
            <p:cNvSpPr/>
            <p:nvPr/>
          </p:nvSpPr>
          <p:spPr>
            <a:xfrm>
              <a:off x="7833637" y="4910240"/>
              <a:ext cx="1287046" cy="957838"/>
            </a:xfrm>
            <a:prstGeom prst="ellipse">
              <a:avLst/>
            </a:prstGeom>
            <a:noFill/>
            <a:ln w="28575">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cxnSp>
          <p:nvCxnSpPr>
            <p:cNvPr id="83" name="Straight Connector 82">
              <a:extLst>
                <a:ext uri="{FF2B5EF4-FFF2-40B4-BE49-F238E27FC236}">
                  <a16:creationId xmlns:a16="http://schemas.microsoft.com/office/drawing/2014/main" id="{95C73062-3A94-1160-77D6-209CB1B2DCB2}"/>
                </a:ext>
              </a:extLst>
            </p:cNvPr>
            <p:cNvCxnSpPr>
              <a:cxnSpLocks/>
              <a:stCxn id="78" idx="1"/>
            </p:cNvCxnSpPr>
            <p:nvPr/>
          </p:nvCxnSpPr>
          <p:spPr>
            <a:xfrm flipH="1" flipV="1">
              <a:off x="7391678" y="4965601"/>
              <a:ext cx="630443" cy="84911"/>
            </a:xfrm>
            <a:prstGeom prst="line">
              <a:avLst/>
            </a:prstGeom>
            <a:ln w="190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9EF1E211-0B37-8992-A64F-2568A54ECD24}"/>
                </a:ext>
              </a:extLst>
            </p:cNvPr>
            <p:cNvCxnSpPr>
              <a:cxnSpLocks/>
              <a:stCxn id="78" idx="3"/>
            </p:cNvCxnSpPr>
            <p:nvPr/>
          </p:nvCxnSpPr>
          <p:spPr>
            <a:xfrm flipH="1">
              <a:off x="7431266" y="5727806"/>
              <a:ext cx="590855" cy="661389"/>
            </a:xfrm>
            <a:prstGeom prst="line">
              <a:avLst/>
            </a:prstGeom>
            <a:ln w="1905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6350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2" nodeType="click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500"/>
                                        <p:tgtEl>
                                          <p:spTgt spid="67"/>
                                        </p:tgtEl>
                                      </p:cBhvr>
                                    </p:animEffect>
                                  </p:childTnLst>
                                </p:cTn>
                              </p:par>
                              <p:par>
                                <p:cTn id="16" presetID="10" presetClass="exit" presetSubtype="0" fill="hold" nodeType="withEffect">
                                  <p:stCondLst>
                                    <p:cond delay="0"/>
                                  </p:stCondLst>
                                  <p:childTnLst>
                                    <p:animEffect transition="out" filter="fade">
                                      <p:cBhvr>
                                        <p:cTn id="17" dur="500"/>
                                        <p:tgtEl>
                                          <p:spTgt spid="12"/>
                                        </p:tgtEl>
                                      </p:cBhvr>
                                    </p:animEffect>
                                    <p:set>
                                      <p:cBhvr>
                                        <p:cTn id="18" dur="1" fill="hold">
                                          <p:stCondLst>
                                            <p:cond delay="499"/>
                                          </p:stCondLst>
                                        </p:cTn>
                                        <p:tgtEl>
                                          <p:spTgt spid="12"/>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27" presetClass="emph" presetSubtype="0" repeatCount="indefinite" fill="remove" grpId="0" nodeType="withEffect">
                                  <p:stCondLst>
                                    <p:cond delay="0"/>
                                  </p:stCondLst>
                                  <p:childTnLst>
                                    <p:animClr clrSpc="rgb" dir="cw">
                                      <p:cBhvr override="childStyle">
                                        <p:cTn id="23" dur="1500" autoRev="1" fill="remove"/>
                                        <p:tgtEl>
                                          <p:spTgt spid="67"/>
                                        </p:tgtEl>
                                        <p:attrNameLst>
                                          <p:attrName>style.color</p:attrName>
                                        </p:attrNameLst>
                                      </p:cBhvr>
                                      <p:to>
                                        <a:srgbClr val="FF6969"/>
                                      </p:to>
                                    </p:animClr>
                                    <p:animClr clrSpc="rgb" dir="cw">
                                      <p:cBhvr>
                                        <p:cTn id="24" dur="1500" autoRev="1" fill="remove"/>
                                        <p:tgtEl>
                                          <p:spTgt spid="67"/>
                                        </p:tgtEl>
                                        <p:attrNameLst>
                                          <p:attrName>fillcolor</p:attrName>
                                        </p:attrNameLst>
                                      </p:cBhvr>
                                      <p:to>
                                        <a:srgbClr val="FF6969"/>
                                      </p:to>
                                    </p:animClr>
                                    <p:set>
                                      <p:cBhvr>
                                        <p:cTn id="25" dur="1500" autoRev="1" fill="remove"/>
                                        <p:tgtEl>
                                          <p:spTgt spid="67"/>
                                        </p:tgtEl>
                                        <p:attrNameLst>
                                          <p:attrName>fill.type</p:attrName>
                                        </p:attrNameLst>
                                      </p:cBhvr>
                                      <p:to>
                                        <p:strVal val="solid"/>
                                      </p:to>
                                    </p:set>
                                    <p:set>
                                      <p:cBhvr>
                                        <p:cTn id="26" dur="1500" autoRev="1" fill="remove"/>
                                        <p:tgtEl>
                                          <p:spTgt spid="67"/>
                                        </p:tgtEl>
                                        <p:attrNameLst>
                                          <p:attrName>fill.on</p:attrName>
                                        </p:attrNameLst>
                                      </p:cBhvr>
                                      <p:to>
                                        <p:strVal val="true"/>
                                      </p:to>
                                    </p:set>
                                  </p:childTnLst>
                                </p:cTn>
                              </p:par>
                              <p:par>
                                <p:cTn id="27" presetID="6" presetClass="emph" presetSubtype="0" repeatCount="indefinite" autoRev="1" fill="hold" grpId="1" nodeType="withEffect">
                                  <p:stCondLst>
                                    <p:cond delay="0"/>
                                  </p:stCondLst>
                                  <p:childTnLst>
                                    <p:animScale>
                                      <p:cBhvr>
                                        <p:cTn id="28" dur="1500" fill="hold"/>
                                        <p:tgtEl>
                                          <p:spTgt spid="67"/>
                                        </p:tgtEl>
                                      </p:cBhvr>
                                      <p:by x="110000" y="110000"/>
                                    </p:animScale>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0"/>
                                        </p:tgtEl>
                                        <p:attrNameLst>
                                          <p:attrName>style.visibility</p:attrName>
                                        </p:attrNameLst>
                                      </p:cBhvr>
                                      <p:to>
                                        <p:strVal val="visible"/>
                                      </p:to>
                                    </p:set>
                                    <p:animEffect transition="in" filter="fade">
                                      <p:cBhvr>
                                        <p:cTn id="33" dur="500"/>
                                        <p:tgtEl>
                                          <p:spTgt spid="70"/>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xit" presetSubtype="0" fill="hold" grpId="3" nodeType="withEffect">
                                  <p:stCondLst>
                                    <p:cond delay="0"/>
                                  </p:stCondLst>
                                  <p:childTnLst>
                                    <p:animEffect transition="out" filter="fade">
                                      <p:cBhvr>
                                        <p:cTn id="38" dur="500"/>
                                        <p:tgtEl>
                                          <p:spTgt spid="67"/>
                                        </p:tgtEl>
                                      </p:cBhvr>
                                    </p:animEffect>
                                    <p:set>
                                      <p:cBhvr>
                                        <p:cTn id="39" dur="1" fill="hold">
                                          <p:stCondLst>
                                            <p:cond delay="499"/>
                                          </p:stCondLst>
                                        </p:cTn>
                                        <p:tgtEl>
                                          <p:spTgt spid="6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6"/>
                                        </p:tgtEl>
                                        <p:attrNameLst>
                                          <p:attrName>style.visibility</p:attrName>
                                        </p:attrNameLst>
                                      </p:cBhvr>
                                      <p:to>
                                        <p:strVal val="visible"/>
                                      </p:to>
                                    </p:set>
                                    <p:animEffect transition="in" filter="fade">
                                      <p:cBhvr>
                                        <p:cTn id="44" dur="500"/>
                                        <p:tgtEl>
                                          <p:spTgt spid="96"/>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500"/>
                                        <p:tgtEl>
                                          <p:spTgt spid="54"/>
                                        </p:tgtEl>
                                      </p:cBhvr>
                                    </p:animEffect>
                                  </p:childTnLst>
                                </p:cTn>
                              </p:par>
                              <p:par>
                                <p:cTn id="53" presetID="10" presetClass="entr" presetSubtype="0" fill="hold" nodeType="withEffect">
                                  <p:stCondLst>
                                    <p:cond delay="0"/>
                                  </p:stCondLst>
                                  <p:childTnLst>
                                    <p:set>
                                      <p:cBhvr>
                                        <p:cTn id="54" dur="1" fill="hold">
                                          <p:stCondLst>
                                            <p:cond delay="0"/>
                                          </p:stCondLst>
                                        </p:cTn>
                                        <p:tgtEl>
                                          <p:spTgt spid="92"/>
                                        </p:tgtEl>
                                        <p:attrNameLst>
                                          <p:attrName>style.visibility</p:attrName>
                                        </p:attrNameLst>
                                      </p:cBhvr>
                                      <p:to>
                                        <p:strVal val="visible"/>
                                      </p:to>
                                    </p:set>
                                    <p:animEffect transition="in" filter="fade">
                                      <p:cBhvr>
                                        <p:cTn id="55" dur="500"/>
                                        <p:tgtEl>
                                          <p:spTgt spid="9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2"/>
                                        </p:tgtEl>
                                        <p:attrNameLst>
                                          <p:attrName>style.visibility</p:attrName>
                                        </p:attrNameLst>
                                      </p:cBhvr>
                                      <p:to>
                                        <p:strVal val="visible"/>
                                      </p:to>
                                    </p:set>
                                    <p:animEffect transition="in" filter="fade">
                                      <p:cBhvr>
                                        <p:cTn id="63" dur="500"/>
                                        <p:tgtEl>
                                          <p:spTgt spid="6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7" grpId="1" animBg="1"/>
      <p:bldP spid="67" grpId="2" animBg="1"/>
      <p:bldP spid="67" grpId="3" animBg="1"/>
      <p:bldP spid="36"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34">
            <a:extLst>
              <a:ext uri="{FF2B5EF4-FFF2-40B4-BE49-F238E27FC236}">
                <a16:creationId xmlns:a16="http://schemas.microsoft.com/office/drawing/2014/main" id="{DA730096-DDB6-6C1B-876A-AA100488079E}"/>
              </a:ext>
            </a:extLst>
          </p:cNvPr>
          <p:cNvSpPr>
            <a:spLocks noGrp="1"/>
          </p:cNvSpPr>
          <p:nvPr>
            <p:ph idx="11"/>
          </p:nvPr>
        </p:nvSpPr>
        <p:spPr>
          <a:xfrm>
            <a:off x="417000" y="1292259"/>
            <a:ext cx="11358000" cy="5094835"/>
          </a:xfrm>
        </p:spPr>
        <p:txBody>
          <a:bodyPr/>
          <a:lstStyle/>
          <a:p>
            <a:pPr marL="285750" indent="-285750">
              <a:buFont typeface="Arial" panose="020B0604020202020204" pitchFamily="34" charset="0"/>
              <a:buChar char="•"/>
            </a:pPr>
            <a:r>
              <a:rPr lang="en-US" dirty="0"/>
              <a:t>USB C Fundamentals</a:t>
            </a:r>
          </a:p>
          <a:p>
            <a:pPr marL="285750" indent="69850">
              <a:buFont typeface="Arial" panose="020B0604020202020204" pitchFamily="34" charset="0"/>
              <a:buChar char="•"/>
            </a:pPr>
            <a:r>
              <a:rPr lang="en-US" dirty="0"/>
              <a:t>   </a:t>
            </a:r>
            <a:r>
              <a:rPr lang="en-US" sz="1600" dirty="0"/>
              <a:t>USB Power &amp; Data Role</a:t>
            </a:r>
          </a:p>
          <a:p>
            <a:pPr marL="285750" indent="69850">
              <a:buFont typeface="Arial" panose="020B0604020202020204" pitchFamily="34" charset="0"/>
              <a:buChar char="•"/>
            </a:pPr>
            <a:r>
              <a:rPr lang="en-US" sz="1600" dirty="0"/>
              <a:t>   Typical Fast Charging Solution</a:t>
            </a:r>
          </a:p>
          <a:p>
            <a:pPr marL="285750" indent="69850">
              <a:buFont typeface="Arial" panose="020B0604020202020204" pitchFamily="34" charset="0"/>
              <a:buChar char="•"/>
            </a:pPr>
            <a:r>
              <a:rPr lang="en-US" sz="1600" dirty="0"/>
              <a:t>    Type C Adapter Detection</a:t>
            </a:r>
          </a:p>
          <a:p>
            <a:pPr marL="285750" indent="-285750">
              <a:buFont typeface="Arial" panose="020B0604020202020204" pitchFamily="34" charset="0"/>
              <a:buChar char="•"/>
            </a:pPr>
            <a:r>
              <a:rPr lang="en-US" dirty="0"/>
              <a:t>USB PD Charging</a:t>
            </a:r>
          </a:p>
          <a:p>
            <a:pPr marL="285750" indent="69850">
              <a:buFont typeface="Arial" panose="020B0604020202020204" pitchFamily="34" charset="0"/>
              <a:buChar char="•"/>
            </a:pPr>
            <a:r>
              <a:rPr lang="en-US" sz="1800" dirty="0"/>
              <a:t>   </a:t>
            </a:r>
            <a:r>
              <a:rPr lang="en-US" sz="1600" dirty="0"/>
              <a:t>USB PD negotiation sequence (Standalone Mode)</a:t>
            </a:r>
          </a:p>
          <a:p>
            <a:pPr marL="285750" indent="69850">
              <a:buFont typeface="Arial" panose="020B0604020202020204" pitchFamily="34" charset="0"/>
              <a:buChar char="•"/>
            </a:pPr>
            <a:r>
              <a:rPr lang="en-US" sz="1600" dirty="0"/>
              <a:t>   MAX77958 PD Negotiation Commands</a:t>
            </a:r>
          </a:p>
          <a:p>
            <a:pPr marL="285750" indent="69850">
              <a:buFont typeface="Arial" panose="020B0604020202020204" pitchFamily="34" charset="0"/>
              <a:buChar char="•"/>
            </a:pPr>
            <a:r>
              <a:rPr lang="en-US" sz="1600" dirty="0"/>
              <a:t>    Using additional MCU</a:t>
            </a:r>
          </a:p>
          <a:p>
            <a:pPr marL="285750" indent="69850">
              <a:buFont typeface="Arial" panose="020B0604020202020204" pitchFamily="34" charset="0"/>
              <a:buChar char="•"/>
            </a:pPr>
            <a:r>
              <a:rPr lang="en-US" sz="1600" dirty="0"/>
              <a:t>    Dynamic Voltage Negotiation to improve Efficiency</a:t>
            </a:r>
            <a:endParaRPr lang="en-US" dirty="0"/>
          </a:p>
          <a:p>
            <a:pPr marL="285750" indent="-285750">
              <a:buFont typeface="Arial" panose="020B0604020202020204" pitchFamily="34" charset="0"/>
              <a:buChar char="•"/>
            </a:pPr>
            <a:r>
              <a:rPr lang="en-US" dirty="0"/>
              <a:t>Direct Charging</a:t>
            </a:r>
          </a:p>
          <a:p>
            <a:pPr marL="285750" indent="-22225">
              <a:buFont typeface="Arial" panose="020B0604020202020204" pitchFamily="34" charset="0"/>
              <a:buChar char="•"/>
            </a:pPr>
            <a:r>
              <a:rPr lang="en-US" dirty="0"/>
              <a:t>    </a:t>
            </a:r>
            <a:r>
              <a:rPr lang="en-US" sz="1600" dirty="0"/>
              <a:t>Solve Heating crisis</a:t>
            </a:r>
          </a:p>
          <a:p>
            <a:pPr marL="285750" indent="-22225">
              <a:buFont typeface="Arial" panose="020B0604020202020204" pitchFamily="34" charset="0"/>
              <a:buChar char="•"/>
            </a:pPr>
            <a:r>
              <a:rPr lang="en-US" sz="1600" dirty="0"/>
              <a:t>     MAX77958 PPS Commands &amp; Introduction to charging S/M</a:t>
            </a:r>
          </a:p>
          <a:p>
            <a:pPr marL="285750" indent="-285750">
              <a:buFont typeface="Arial" panose="020B0604020202020204" pitchFamily="34" charset="0"/>
              <a:buChar char="•"/>
            </a:pPr>
            <a:r>
              <a:rPr lang="en-US" dirty="0"/>
              <a:t>Efficiency Analysis</a:t>
            </a:r>
          </a:p>
          <a:p>
            <a:pPr marL="285750" indent="-285750">
              <a:buFont typeface="Arial" panose="020B0604020202020204" pitchFamily="34" charset="0"/>
              <a:buChar char="•"/>
            </a:pPr>
            <a:r>
              <a:rPr lang="en-US" dirty="0"/>
              <a:t>How to Find Opportunities?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Efficiency Analysis</a:t>
            </a:r>
          </a:p>
          <a:p>
            <a:pPr marL="285750" indent="-285750">
              <a:buFont typeface="Wingdings" panose="05000000000000000000" pitchFamily="2" charset="2"/>
              <a:buChar char="Ø"/>
            </a:pPr>
            <a:endParaRPr lang="en-US" dirty="0"/>
          </a:p>
          <a:p>
            <a:r>
              <a:rPr lang="en-US" dirty="0"/>
              <a:t>      </a:t>
            </a:r>
          </a:p>
        </p:txBody>
      </p:sp>
      <p:sp>
        <p:nvSpPr>
          <p:cNvPr id="45" name="Footer Placeholder 2">
            <a:extLst>
              <a:ext uri="{FF2B5EF4-FFF2-40B4-BE49-F238E27FC236}">
                <a16:creationId xmlns:a16="http://schemas.microsoft.com/office/drawing/2014/main" id="{B335AF5F-28BF-E4C7-1A6B-5088A7E4081A}"/>
              </a:ext>
            </a:extLst>
          </p:cNvPr>
          <p:cNvSpPr>
            <a:spLocks noGrp="1"/>
          </p:cNvSpPr>
          <p:nvPr>
            <p:ph type="ftr" sz="quarter" idx="3"/>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46" name="Slide Number Placeholder 3">
            <a:extLst>
              <a:ext uri="{FF2B5EF4-FFF2-40B4-BE49-F238E27FC236}">
                <a16:creationId xmlns:a16="http://schemas.microsoft.com/office/drawing/2014/main" id="{4315FB2E-C072-C123-DE65-71274D197E8F}"/>
              </a:ext>
            </a:extLst>
          </p:cNvPr>
          <p:cNvSpPr>
            <a:spLocks noGrp="1"/>
          </p:cNvSpPr>
          <p:nvPr>
            <p:ph type="sldNum" sz="quarter" idx="4"/>
          </p:nvPr>
        </p:nvSpPr>
        <p:spPr>
          <a:xfrm>
            <a:off x="417601" y="6582557"/>
            <a:ext cx="247878" cy="144000"/>
          </a:xfrm>
        </p:spPr>
        <p:txBody>
          <a:bodyPr/>
          <a:lstStyle/>
          <a:p>
            <a:fld id="{A9CE67A1-BA7F-A74E-B5D7-615746DEEC2B}" type="slidenum">
              <a:rPr lang="en-US" smtClean="0"/>
              <a:pPr/>
              <a:t>3</a:t>
            </a:fld>
            <a:endParaRPr lang="en-US" dirty="0"/>
          </a:p>
        </p:txBody>
      </p:sp>
      <p:sp>
        <p:nvSpPr>
          <p:cNvPr id="5" name="Title 4">
            <a:extLst>
              <a:ext uri="{FF2B5EF4-FFF2-40B4-BE49-F238E27FC236}">
                <a16:creationId xmlns:a16="http://schemas.microsoft.com/office/drawing/2014/main" id="{C4143FC3-9B4E-8C27-793C-40FCD0CB826F}"/>
              </a:ext>
            </a:extLst>
          </p:cNvPr>
          <p:cNvSpPr>
            <a:spLocks noGrp="1"/>
          </p:cNvSpPr>
          <p:nvPr>
            <p:ph type="title"/>
          </p:nvPr>
        </p:nvSpPr>
        <p:spPr>
          <a:xfrm>
            <a:off x="417600" y="640080"/>
            <a:ext cx="10080000" cy="450000"/>
          </a:xfrm>
        </p:spPr>
        <p:txBody>
          <a:bodyPr/>
          <a:lstStyle/>
          <a:p>
            <a:r>
              <a:rPr lang="en-US" dirty="0"/>
              <a:t>Agenda</a:t>
            </a:r>
          </a:p>
        </p:txBody>
      </p:sp>
      <p:sp>
        <p:nvSpPr>
          <p:cNvPr id="47" name="Date Placeholder 5">
            <a:extLst>
              <a:ext uri="{FF2B5EF4-FFF2-40B4-BE49-F238E27FC236}">
                <a16:creationId xmlns:a16="http://schemas.microsoft.com/office/drawing/2014/main" id="{1BD5E2B4-3F7B-85CC-F325-8DFDA85927C1}"/>
              </a:ext>
            </a:extLst>
          </p:cNvPr>
          <p:cNvSpPr>
            <a:spLocks noGrp="1"/>
          </p:cNvSpPr>
          <p:nvPr>
            <p:ph type="dt" sz="half" idx="12"/>
          </p:nvPr>
        </p:nvSpPr>
        <p:spPr>
          <a:xfrm>
            <a:off x="9037865" y="6465903"/>
            <a:ext cx="2743200" cy="365125"/>
          </a:xfrm>
        </p:spPr>
        <p:txBody>
          <a:bodyPr/>
          <a:lstStyle/>
          <a:p>
            <a:r>
              <a:rPr lang="en-US"/>
              <a:t>FTC | Orlando, FL | November 4-8, 2024</a:t>
            </a:r>
            <a:endParaRPr lang="en-US" dirty="0"/>
          </a:p>
        </p:txBody>
      </p:sp>
    </p:spTree>
    <p:extLst>
      <p:ext uri="{BB962C8B-B14F-4D97-AF65-F5344CB8AC3E}">
        <p14:creationId xmlns:p14="http://schemas.microsoft.com/office/powerpoint/2010/main" val="414920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B7CD29-95D7-37A6-CE21-27BABBDFC687}"/>
              </a:ext>
            </a:extLst>
          </p:cNvPr>
          <p:cNvSpPr>
            <a:spLocks noGrp="1"/>
          </p:cNvSpPr>
          <p:nvPr>
            <p:ph idx="1"/>
          </p:nvPr>
        </p:nvSpPr>
        <p:spPr>
          <a:xfrm>
            <a:off x="355601" y="1705429"/>
            <a:ext cx="5557837" cy="4667408"/>
          </a:xfrm>
        </p:spPr>
        <p:txBody>
          <a:bodyPr/>
          <a:lstStyle/>
          <a:p>
            <a:r>
              <a:rPr lang="en-US"/>
              <a:t>USB C Fundamentals</a:t>
            </a:r>
            <a:endParaRPr lang="en-US" dirty="0"/>
          </a:p>
        </p:txBody>
      </p:sp>
      <p:sp>
        <p:nvSpPr>
          <p:cNvPr id="3" name="Footer Placeholder 3">
            <a:extLst>
              <a:ext uri="{FF2B5EF4-FFF2-40B4-BE49-F238E27FC236}">
                <a16:creationId xmlns:a16="http://schemas.microsoft.com/office/drawing/2014/main" id="{925F240A-740E-2FD0-1C77-39D14576936D}"/>
              </a:ext>
            </a:extLst>
          </p:cNvPr>
          <p:cNvSpPr>
            <a:spLocks noGrp="1"/>
          </p:cNvSpPr>
          <p:nvPr>
            <p:ph type="ftr" sz="quarter" idx="11"/>
          </p:nvPr>
        </p:nvSpPr>
        <p:spPr>
          <a:xfrm>
            <a:off x="342900" y="6616018"/>
            <a:ext cx="7545737" cy="251230"/>
          </a:xfrm>
        </p:spPr>
        <p:txBody>
          <a:bodyPr/>
          <a:lstStyle/>
          <a:p>
            <a:r>
              <a:rPr lang="en-US" dirty="0">
                <a:solidFill>
                  <a:schemeClr val="bg1"/>
                </a:solidFill>
              </a:rPr>
              <a:t>Analog Devices Confidential Information—Not for External Distribution. ©2024 Analog Devices, Inc. All Rights Reserved.</a:t>
            </a:r>
          </a:p>
        </p:txBody>
      </p:sp>
      <p:sp>
        <p:nvSpPr>
          <p:cNvPr id="7" name="Date Placeholder 5">
            <a:extLst>
              <a:ext uri="{FF2B5EF4-FFF2-40B4-BE49-F238E27FC236}">
                <a16:creationId xmlns:a16="http://schemas.microsoft.com/office/drawing/2014/main" id="{08A27076-7D99-FC54-FE5F-FEFEB602D53B}"/>
              </a:ext>
            </a:extLst>
          </p:cNvPr>
          <p:cNvSpPr>
            <a:spLocks noGrp="1"/>
          </p:cNvSpPr>
          <p:nvPr>
            <p:ph type="dt" sz="half" idx="10"/>
          </p:nvPr>
        </p:nvSpPr>
        <p:spPr>
          <a:xfrm>
            <a:off x="7888637" y="6599019"/>
            <a:ext cx="2741264" cy="251229"/>
          </a:xfrm>
        </p:spPr>
        <p:txBody>
          <a:bodyPr/>
          <a:lstStyle/>
          <a:p>
            <a:r>
              <a:rPr lang="en-US"/>
              <a:t>FTC | Orlando, FL | November 4-8, 2024</a:t>
            </a:r>
            <a:endParaRPr lang="en-US" dirty="0"/>
          </a:p>
        </p:txBody>
      </p:sp>
    </p:spTree>
    <p:custDataLst>
      <p:tags r:id="rId1"/>
    </p:custDataLst>
    <p:extLst>
      <p:ext uri="{BB962C8B-B14F-4D97-AF65-F5344CB8AC3E}">
        <p14:creationId xmlns:p14="http://schemas.microsoft.com/office/powerpoint/2010/main" val="132146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a:t>USB Data &amp; Power Flow</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5</a:t>
            </a:fld>
            <a:endParaRPr lang="en-US" dirty="0"/>
          </a:p>
        </p:txBody>
      </p:sp>
      <p:sp>
        <p:nvSpPr>
          <p:cNvPr id="8" name="Rectangle: Rounded Corners 7">
            <a:extLst>
              <a:ext uri="{FF2B5EF4-FFF2-40B4-BE49-F238E27FC236}">
                <a16:creationId xmlns:a16="http://schemas.microsoft.com/office/drawing/2014/main" id="{DA181714-B80B-97A9-B2F2-04DA14961A3D}"/>
              </a:ext>
            </a:extLst>
          </p:cNvPr>
          <p:cNvSpPr/>
          <p:nvPr/>
        </p:nvSpPr>
        <p:spPr>
          <a:xfrm>
            <a:off x="437322" y="1345209"/>
            <a:ext cx="4946336" cy="2220222"/>
          </a:xfrm>
          <a:prstGeom prst="roundRect">
            <a:avLst>
              <a:gd name="adj" fmla="val 6690"/>
            </a:avLst>
          </a:prstGeom>
          <a:solidFill>
            <a:schemeClr val="accent1">
              <a:lumMod val="20000"/>
              <a:lumOff val="80000"/>
            </a:schemeClr>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t"/>
          <a:lstStyle/>
          <a:p>
            <a:pPr>
              <a:lnSpc>
                <a:spcPct val="90000"/>
              </a:lnSpc>
            </a:pPr>
            <a:endParaRPr lang="en-US" b="1"/>
          </a:p>
        </p:txBody>
      </p:sp>
      <p:sp>
        <p:nvSpPr>
          <p:cNvPr id="9" name="Rectangle: Rounded Corners 8">
            <a:extLst>
              <a:ext uri="{FF2B5EF4-FFF2-40B4-BE49-F238E27FC236}">
                <a16:creationId xmlns:a16="http://schemas.microsoft.com/office/drawing/2014/main" id="{30DCF7E9-3964-4701-01F2-6AE193D04B86}"/>
              </a:ext>
            </a:extLst>
          </p:cNvPr>
          <p:cNvSpPr/>
          <p:nvPr/>
        </p:nvSpPr>
        <p:spPr>
          <a:xfrm>
            <a:off x="589722" y="1497609"/>
            <a:ext cx="4619276" cy="422952"/>
          </a:xfrm>
          <a:prstGeom prst="roundRect">
            <a:avLst>
              <a:gd name="adj" fmla="val 6690"/>
            </a:avLst>
          </a:prstGeom>
          <a:solidFill>
            <a:schemeClr val="accent2">
              <a:lumMod val="40000"/>
              <a:lumOff val="60000"/>
            </a:schemeClr>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lnSpc>
                <a:spcPct val="90000"/>
              </a:lnSpc>
            </a:pPr>
            <a:r>
              <a:rPr lang="en-US" b="1"/>
              <a:t>Power Roles </a:t>
            </a:r>
          </a:p>
        </p:txBody>
      </p:sp>
      <p:sp>
        <p:nvSpPr>
          <p:cNvPr id="10" name="Rectangle: Rounded Corners 9">
            <a:extLst>
              <a:ext uri="{FF2B5EF4-FFF2-40B4-BE49-F238E27FC236}">
                <a16:creationId xmlns:a16="http://schemas.microsoft.com/office/drawing/2014/main" id="{634C9039-5D81-FB90-3F98-E6BD55E03663}"/>
              </a:ext>
            </a:extLst>
          </p:cNvPr>
          <p:cNvSpPr/>
          <p:nvPr/>
        </p:nvSpPr>
        <p:spPr>
          <a:xfrm>
            <a:off x="613668" y="2049450"/>
            <a:ext cx="1380866" cy="1360864"/>
          </a:xfrm>
          <a:prstGeom prst="roundRect">
            <a:avLst>
              <a:gd name="adj" fmla="val 6690"/>
            </a:avLst>
          </a:prstGeom>
          <a:solidFill>
            <a:schemeClr val="accent1">
              <a:lumMod val="40000"/>
              <a:lumOff val="60000"/>
            </a:schemeClr>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lnSpc>
                <a:spcPct val="90000"/>
              </a:lnSpc>
            </a:pPr>
            <a:endParaRPr lang="en-US" sz="1050"/>
          </a:p>
        </p:txBody>
      </p:sp>
      <p:sp>
        <p:nvSpPr>
          <p:cNvPr id="11" name="Rectangle: Rounded Corners 10">
            <a:extLst>
              <a:ext uri="{FF2B5EF4-FFF2-40B4-BE49-F238E27FC236}">
                <a16:creationId xmlns:a16="http://schemas.microsoft.com/office/drawing/2014/main" id="{25870B13-0AFD-31FB-AD40-8F5E41FD3074}"/>
              </a:ext>
            </a:extLst>
          </p:cNvPr>
          <p:cNvSpPr/>
          <p:nvPr/>
        </p:nvSpPr>
        <p:spPr>
          <a:xfrm>
            <a:off x="3780890" y="2056623"/>
            <a:ext cx="1408243" cy="1360864"/>
          </a:xfrm>
          <a:prstGeom prst="roundRect">
            <a:avLst>
              <a:gd name="adj" fmla="val 6690"/>
            </a:avLst>
          </a:prstGeom>
          <a:solidFill>
            <a:schemeClr val="accent1">
              <a:lumMod val="40000"/>
              <a:lumOff val="60000"/>
            </a:schemeClr>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marL="285750" indent="-285750">
              <a:lnSpc>
                <a:spcPct val="90000"/>
              </a:lnSpc>
              <a:buFont typeface="Arial" panose="020B0604020202020204" pitchFamily="34" charset="0"/>
              <a:buChar char="•"/>
            </a:pPr>
            <a:endParaRPr lang="en-US" sz="1050"/>
          </a:p>
        </p:txBody>
      </p:sp>
      <p:sp>
        <p:nvSpPr>
          <p:cNvPr id="12" name="Rectangle: Rounded Corners 11">
            <a:extLst>
              <a:ext uri="{FF2B5EF4-FFF2-40B4-BE49-F238E27FC236}">
                <a16:creationId xmlns:a16="http://schemas.microsoft.com/office/drawing/2014/main" id="{5CF50408-46F4-87EC-2504-9657DCE73423}"/>
              </a:ext>
            </a:extLst>
          </p:cNvPr>
          <p:cNvSpPr/>
          <p:nvPr/>
        </p:nvSpPr>
        <p:spPr>
          <a:xfrm>
            <a:off x="2197279" y="2067298"/>
            <a:ext cx="1380866" cy="1360864"/>
          </a:xfrm>
          <a:prstGeom prst="roundRect">
            <a:avLst>
              <a:gd name="adj" fmla="val 6690"/>
            </a:avLst>
          </a:prstGeom>
          <a:solidFill>
            <a:schemeClr val="accent1">
              <a:lumMod val="40000"/>
              <a:lumOff val="60000"/>
            </a:schemeClr>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lnSpc>
                <a:spcPct val="90000"/>
              </a:lnSpc>
            </a:pPr>
            <a:endParaRPr lang="en-US" sz="1050"/>
          </a:p>
        </p:txBody>
      </p:sp>
      <p:sp>
        <p:nvSpPr>
          <p:cNvPr id="13" name="TextBox 12">
            <a:extLst>
              <a:ext uri="{FF2B5EF4-FFF2-40B4-BE49-F238E27FC236}">
                <a16:creationId xmlns:a16="http://schemas.microsoft.com/office/drawing/2014/main" id="{D8620FEC-46AB-2AA3-2879-DA211C480E8E}"/>
              </a:ext>
            </a:extLst>
          </p:cNvPr>
          <p:cNvSpPr txBox="1"/>
          <p:nvPr/>
        </p:nvSpPr>
        <p:spPr>
          <a:xfrm>
            <a:off x="699488" y="2102191"/>
            <a:ext cx="1209226" cy="322730"/>
          </a:xfrm>
          <a:prstGeom prst="rect">
            <a:avLst/>
          </a:prstGeom>
          <a:noFill/>
          <a:effectLst>
            <a:outerShdw blurRad="63500" sx="102000" sy="102000" algn="ctr" rotWithShape="0">
              <a:prstClr val="black">
                <a:alpha val="40000"/>
              </a:prstClr>
            </a:outerShdw>
          </a:effectLst>
        </p:spPr>
        <p:txBody>
          <a:bodyPr wrap="square" lIns="0" tIns="0" rIns="0" bIns="0" rtlCol="0">
            <a:noAutofit/>
          </a:bodyPr>
          <a:lstStyle/>
          <a:p>
            <a:pPr algn="ctr" defTabSz="457200">
              <a:spcBef>
                <a:spcPts val="1000"/>
              </a:spcBef>
              <a:buClr>
                <a:srgbClr val="1E4056"/>
              </a:buClr>
              <a:buSzPct val="75000"/>
            </a:pPr>
            <a:r>
              <a:rPr lang="en-US" sz="2000" b="1" dirty="0">
                <a:solidFill>
                  <a:srgbClr val="000000"/>
                </a:solidFill>
              </a:rPr>
              <a:t>Source</a:t>
            </a:r>
          </a:p>
        </p:txBody>
      </p:sp>
      <p:sp>
        <p:nvSpPr>
          <p:cNvPr id="14" name="TextBox 13">
            <a:extLst>
              <a:ext uri="{FF2B5EF4-FFF2-40B4-BE49-F238E27FC236}">
                <a16:creationId xmlns:a16="http://schemas.microsoft.com/office/drawing/2014/main" id="{2F6D3EF4-5727-D0E4-F3F7-4F170241EEC0}"/>
              </a:ext>
            </a:extLst>
          </p:cNvPr>
          <p:cNvSpPr txBox="1"/>
          <p:nvPr/>
        </p:nvSpPr>
        <p:spPr>
          <a:xfrm>
            <a:off x="691268" y="2418068"/>
            <a:ext cx="1303266" cy="807871"/>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dirty="0">
                <a:solidFill>
                  <a:srgbClr val="000000"/>
                </a:solidFill>
              </a:rPr>
              <a:t>Provides power on </a:t>
            </a:r>
            <a:r>
              <a:rPr lang="en-US" sz="1050" dirty="0" err="1">
                <a:solidFill>
                  <a:srgbClr val="000000"/>
                </a:solidFill>
              </a:rPr>
              <a:t>Vbus</a:t>
            </a:r>
            <a:r>
              <a:rPr lang="en-US" sz="1050" dirty="0">
                <a:solidFill>
                  <a:srgbClr val="000000"/>
                </a:solidFill>
              </a:rPr>
              <a:t>.</a:t>
            </a:r>
          </a:p>
          <a:p>
            <a:pPr defTabSz="457200">
              <a:spcBef>
                <a:spcPts val="1000"/>
              </a:spcBef>
              <a:buClr>
                <a:srgbClr val="1E4056"/>
              </a:buClr>
              <a:buSzPct val="75000"/>
            </a:pPr>
            <a:r>
              <a:rPr lang="en-US" sz="1050" dirty="0">
                <a:solidFill>
                  <a:srgbClr val="000000"/>
                </a:solidFill>
              </a:rPr>
              <a:t>E.g. Wall charger</a:t>
            </a:r>
          </a:p>
        </p:txBody>
      </p:sp>
      <p:sp>
        <p:nvSpPr>
          <p:cNvPr id="15" name="TextBox 14">
            <a:extLst>
              <a:ext uri="{FF2B5EF4-FFF2-40B4-BE49-F238E27FC236}">
                <a16:creationId xmlns:a16="http://schemas.microsoft.com/office/drawing/2014/main" id="{8058C262-CA31-D21F-DB01-1FF6A745BDAD}"/>
              </a:ext>
            </a:extLst>
          </p:cNvPr>
          <p:cNvSpPr txBox="1"/>
          <p:nvPr/>
        </p:nvSpPr>
        <p:spPr>
          <a:xfrm>
            <a:off x="2323423" y="2447776"/>
            <a:ext cx="1209226" cy="807871"/>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dirty="0">
                <a:solidFill>
                  <a:srgbClr val="000000"/>
                </a:solidFill>
              </a:rPr>
              <a:t>Consumes power from </a:t>
            </a:r>
            <a:r>
              <a:rPr lang="en-US" sz="1050" dirty="0" err="1">
                <a:solidFill>
                  <a:srgbClr val="000000"/>
                </a:solidFill>
              </a:rPr>
              <a:t>Vbus</a:t>
            </a:r>
            <a:r>
              <a:rPr lang="en-US" sz="1050" dirty="0">
                <a:solidFill>
                  <a:srgbClr val="000000"/>
                </a:solidFill>
              </a:rPr>
              <a:t>.</a:t>
            </a:r>
          </a:p>
          <a:p>
            <a:pPr defTabSz="457200">
              <a:spcBef>
                <a:spcPts val="1000"/>
              </a:spcBef>
              <a:buClr>
                <a:srgbClr val="1E4056"/>
              </a:buClr>
              <a:buSzPct val="75000"/>
            </a:pPr>
            <a:r>
              <a:rPr lang="en-US" sz="1050" dirty="0">
                <a:solidFill>
                  <a:srgbClr val="000000"/>
                </a:solidFill>
              </a:rPr>
              <a:t>E.g. USB keyboard</a:t>
            </a:r>
          </a:p>
        </p:txBody>
      </p:sp>
      <p:sp>
        <p:nvSpPr>
          <p:cNvPr id="16" name="TextBox 15">
            <a:extLst>
              <a:ext uri="{FF2B5EF4-FFF2-40B4-BE49-F238E27FC236}">
                <a16:creationId xmlns:a16="http://schemas.microsoft.com/office/drawing/2014/main" id="{DCB4EF58-0CE2-916F-1B31-AAE15771D409}"/>
              </a:ext>
            </a:extLst>
          </p:cNvPr>
          <p:cNvSpPr txBox="1"/>
          <p:nvPr/>
        </p:nvSpPr>
        <p:spPr>
          <a:xfrm>
            <a:off x="2340569" y="2102191"/>
            <a:ext cx="1209226" cy="322730"/>
          </a:xfrm>
          <a:prstGeom prst="rect">
            <a:avLst/>
          </a:prstGeom>
          <a:noFill/>
          <a:effectLst>
            <a:outerShdw blurRad="63500" sx="102000" sy="102000" algn="ctr" rotWithShape="0">
              <a:prstClr val="black">
                <a:alpha val="40000"/>
              </a:prstClr>
            </a:outerShdw>
          </a:effectLst>
        </p:spPr>
        <p:txBody>
          <a:bodyPr wrap="square" lIns="0" tIns="0" rIns="0" bIns="0" rtlCol="0">
            <a:noAutofit/>
          </a:bodyPr>
          <a:lstStyle/>
          <a:p>
            <a:pPr algn="ctr" defTabSz="457200">
              <a:spcBef>
                <a:spcPts val="1000"/>
              </a:spcBef>
              <a:buClr>
                <a:srgbClr val="1E4056"/>
              </a:buClr>
              <a:buSzPct val="75000"/>
            </a:pPr>
            <a:r>
              <a:rPr lang="en-US" sz="2000" b="1">
                <a:solidFill>
                  <a:srgbClr val="000000"/>
                </a:solidFill>
              </a:rPr>
              <a:t>Sink</a:t>
            </a:r>
          </a:p>
        </p:txBody>
      </p:sp>
      <p:sp>
        <p:nvSpPr>
          <p:cNvPr id="17" name="TextBox 16">
            <a:extLst>
              <a:ext uri="{FF2B5EF4-FFF2-40B4-BE49-F238E27FC236}">
                <a16:creationId xmlns:a16="http://schemas.microsoft.com/office/drawing/2014/main" id="{947BD1FF-6F6C-B490-F0FF-9A6632B5365F}"/>
              </a:ext>
            </a:extLst>
          </p:cNvPr>
          <p:cNvSpPr txBox="1"/>
          <p:nvPr/>
        </p:nvSpPr>
        <p:spPr>
          <a:xfrm>
            <a:off x="3901969" y="2102191"/>
            <a:ext cx="1209226" cy="322730"/>
          </a:xfrm>
          <a:prstGeom prst="rect">
            <a:avLst/>
          </a:prstGeom>
          <a:noFill/>
          <a:effectLst>
            <a:outerShdw blurRad="63500" sx="102000" sy="102000" algn="ctr" rotWithShape="0">
              <a:prstClr val="black">
                <a:alpha val="40000"/>
              </a:prstClr>
            </a:outerShdw>
          </a:effectLst>
        </p:spPr>
        <p:txBody>
          <a:bodyPr wrap="square" lIns="0" tIns="0" rIns="0" bIns="0" rtlCol="0">
            <a:noAutofit/>
          </a:bodyPr>
          <a:lstStyle/>
          <a:p>
            <a:pPr algn="ctr" defTabSz="457200">
              <a:spcBef>
                <a:spcPts val="1000"/>
              </a:spcBef>
              <a:buClr>
                <a:srgbClr val="1E4056"/>
              </a:buClr>
              <a:buSzPct val="75000"/>
            </a:pPr>
            <a:r>
              <a:rPr lang="en-US" sz="2000" b="1">
                <a:solidFill>
                  <a:srgbClr val="000000"/>
                </a:solidFill>
              </a:rPr>
              <a:t>DRP</a:t>
            </a:r>
          </a:p>
        </p:txBody>
      </p:sp>
      <p:sp>
        <p:nvSpPr>
          <p:cNvPr id="18" name="TextBox 17">
            <a:extLst>
              <a:ext uri="{FF2B5EF4-FFF2-40B4-BE49-F238E27FC236}">
                <a16:creationId xmlns:a16="http://schemas.microsoft.com/office/drawing/2014/main" id="{7A24C7C1-F541-5E35-17C7-6F9D8D7EF80B}"/>
              </a:ext>
            </a:extLst>
          </p:cNvPr>
          <p:cNvSpPr txBox="1"/>
          <p:nvPr/>
        </p:nvSpPr>
        <p:spPr>
          <a:xfrm>
            <a:off x="4013659" y="2578728"/>
            <a:ext cx="1209226" cy="807871"/>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dirty="0">
                <a:solidFill>
                  <a:srgbClr val="000000"/>
                </a:solidFill>
              </a:rPr>
              <a:t>Can operate as Source &amp; Sink.</a:t>
            </a:r>
          </a:p>
          <a:p>
            <a:pPr defTabSz="457200">
              <a:spcBef>
                <a:spcPts val="1000"/>
              </a:spcBef>
              <a:buClr>
                <a:srgbClr val="1E4056"/>
              </a:buClr>
              <a:buSzPct val="75000"/>
            </a:pPr>
            <a:r>
              <a:rPr lang="en-US" sz="1050" dirty="0">
                <a:solidFill>
                  <a:srgbClr val="000000"/>
                </a:solidFill>
              </a:rPr>
              <a:t>E.g. Laptop Port</a:t>
            </a:r>
          </a:p>
        </p:txBody>
      </p:sp>
      <p:sp>
        <p:nvSpPr>
          <p:cNvPr id="19" name="Rectangle: Rounded Corners 18">
            <a:extLst>
              <a:ext uri="{FF2B5EF4-FFF2-40B4-BE49-F238E27FC236}">
                <a16:creationId xmlns:a16="http://schemas.microsoft.com/office/drawing/2014/main" id="{ED0F8B4D-1F62-CEEE-42A3-748D123B9A41}"/>
              </a:ext>
            </a:extLst>
          </p:cNvPr>
          <p:cNvSpPr/>
          <p:nvPr/>
        </p:nvSpPr>
        <p:spPr>
          <a:xfrm>
            <a:off x="6355821" y="1303646"/>
            <a:ext cx="4946336" cy="2220222"/>
          </a:xfrm>
          <a:prstGeom prst="roundRect">
            <a:avLst>
              <a:gd name="adj" fmla="val 6690"/>
            </a:avLst>
          </a:prstGeom>
          <a:solidFill>
            <a:srgbClr val="C9BFEF"/>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t"/>
          <a:lstStyle/>
          <a:p>
            <a:pPr>
              <a:lnSpc>
                <a:spcPct val="90000"/>
              </a:lnSpc>
            </a:pPr>
            <a:endParaRPr lang="en-US" b="1"/>
          </a:p>
        </p:txBody>
      </p:sp>
      <p:sp>
        <p:nvSpPr>
          <p:cNvPr id="20" name="Rectangle: Rounded Corners 19">
            <a:extLst>
              <a:ext uri="{FF2B5EF4-FFF2-40B4-BE49-F238E27FC236}">
                <a16:creationId xmlns:a16="http://schemas.microsoft.com/office/drawing/2014/main" id="{7531D9D1-3EA8-17EF-0394-A4A2DE412712}"/>
              </a:ext>
            </a:extLst>
          </p:cNvPr>
          <p:cNvSpPr/>
          <p:nvPr/>
        </p:nvSpPr>
        <p:spPr>
          <a:xfrm>
            <a:off x="6508221" y="1456046"/>
            <a:ext cx="4619276" cy="422952"/>
          </a:xfrm>
          <a:prstGeom prst="roundRect">
            <a:avLst>
              <a:gd name="adj" fmla="val 6690"/>
            </a:avLst>
          </a:prstGeom>
          <a:solidFill>
            <a:schemeClr val="accent5">
              <a:lumMod val="60000"/>
              <a:lumOff val="40000"/>
            </a:schemeClr>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lnSpc>
                <a:spcPct val="90000"/>
              </a:lnSpc>
            </a:pPr>
            <a:r>
              <a:rPr lang="en-US" b="1"/>
              <a:t>Data Roles </a:t>
            </a:r>
          </a:p>
        </p:txBody>
      </p:sp>
      <p:sp>
        <p:nvSpPr>
          <p:cNvPr id="21" name="Rectangle: Rounded Corners 20">
            <a:extLst>
              <a:ext uri="{FF2B5EF4-FFF2-40B4-BE49-F238E27FC236}">
                <a16:creationId xmlns:a16="http://schemas.microsoft.com/office/drawing/2014/main" id="{631500D5-2AC5-A849-351E-2060A22DBDD4}"/>
              </a:ext>
            </a:extLst>
          </p:cNvPr>
          <p:cNvSpPr/>
          <p:nvPr/>
        </p:nvSpPr>
        <p:spPr>
          <a:xfrm>
            <a:off x="6532167" y="2007887"/>
            <a:ext cx="1380866" cy="1360864"/>
          </a:xfrm>
          <a:prstGeom prst="roundRect">
            <a:avLst>
              <a:gd name="adj" fmla="val 6690"/>
            </a:avLst>
          </a:prstGeom>
          <a:solidFill>
            <a:srgbClr val="ECD4EC"/>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lnSpc>
                <a:spcPct val="90000"/>
              </a:lnSpc>
            </a:pPr>
            <a:endParaRPr lang="en-US" sz="1050"/>
          </a:p>
        </p:txBody>
      </p:sp>
      <p:sp>
        <p:nvSpPr>
          <p:cNvPr id="22" name="Rectangle: Rounded Corners 21">
            <a:extLst>
              <a:ext uri="{FF2B5EF4-FFF2-40B4-BE49-F238E27FC236}">
                <a16:creationId xmlns:a16="http://schemas.microsoft.com/office/drawing/2014/main" id="{7BA92AA2-6A2B-B66A-61DC-3E05B5B90D5E}"/>
              </a:ext>
            </a:extLst>
          </p:cNvPr>
          <p:cNvSpPr/>
          <p:nvPr/>
        </p:nvSpPr>
        <p:spPr>
          <a:xfrm>
            <a:off x="9699389" y="2015060"/>
            <a:ext cx="1408243" cy="1360864"/>
          </a:xfrm>
          <a:prstGeom prst="roundRect">
            <a:avLst>
              <a:gd name="adj" fmla="val 6690"/>
            </a:avLst>
          </a:prstGeom>
          <a:solidFill>
            <a:srgbClr val="ECD4EC"/>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marL="285750" indent="-285750">
              <a:lnSpc>
                <a:spcPct val="90000"/>
              </a:lnSpc>
              <a:buFont typeface="Arial" panose="020B0604020202020204" pitchFamily="34" charset="0"/>
              <a:buChar char="•"/>
            </a:pPr>
            <a:endParaRPr lang="en-US" sz="1050"/>
          </a:p>
        </p:txBody>
      </p:sp>
      <p:sp>
        <p:nvSpPr>
          <p:cNvPr id="23" name="Rectangle: Rounded Corners 22">
            <a:extLst>
              <a:ext uri="{FF2B5EF4-FFF2-40B4-BE49-F238E27FC236}">
                <a16:creationId xmlns:a16="http://schemas.microsoft.com/office/drawing/2014/main" id="{95FBDF79-411D-D21B-E706-3FCF678E3E77}"/>
              </a:ext>
            </a:extLst>
          </p:cNvPr>
          <p:cNvSpPr/>
          <p:nvPr/>
        </p:nvSpPr>
        <p:spPr>
          <a:xfrm>
            <a:off x="8115778" y="2025735"/>
            <a:ext cx="1380866" cy="1360864"/>
          </a:xfrm>
          <a:prstGeom prst="roundRect">
            <a:avLst>
              <a:gd name="adj" fmla="val 6690"/>
            </a:avLst>
          </a:prstGeom>
          <a:solidFill>
            <a:srgbClr val="ECD4EC"/>
          </a:solidFill>
          <a:ln>
            <a:noFill/>
          </a:ln>
          <a:effectLst>
            <a:outerShdw blurRad="63500" sx="102000" sy="102000" algn="c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lnSpc>
                <a:spcPct val="90000"/>
              </a:lnSpc>
            </a:pPr>
            <a:endParaRPr lang="en-US" sz="1050"/>
          </a:p>
        </p:txBody>
      </p:sp>
      <p:sp>
        <p:nvSpPr>
          <p:cNvPr id="24" name="TextBox 23">
            <a:extLst>
              <a:ext uri="{FF2B5EF4-FFF2-40B4-BE49-F238E27FC236}">
                <a16:creationId xmlns:a16="http://schemas.microsoft.com/office/drawing/2014/main" id="{B9D74F0F-6940-C063-05DC-C13F596BA10E}"/>
              </a:ext>
            </a:extLst>
          </p:cNvPr>
          <p:cNvSpPr txBox="1"/>
          <p:nvPr/>
        </p:nvSpPr>
        <p:spPr>
          <a:xfrm>
            <a:off x="6617987" y="2060628"/>
            <a:ext cx="1209226" cy="322730"/>
          </a:xfrm>
          <a:prstGeom prst="rect">
            <a:avLst/>
          </a:prstGeom>
          <a:noFill/>
          <a:effectLst>
            <a:outerShdw blurRad="63500" sx="102000" sy="102000" algn="ctr" rotWithShape="0">
              <a:prstClr val="black">
                <a:alpha val="40000"/>
              </a:prstClr>
            </a:outerShdw>
          </a:effectLst>
        </p:spPr>
        <p:txBody>
          <a:bodyPr wrap="square" lIns="0" tIns="0" rIns="0" bIns="0" rtlCol="0">
            <a:noAutofit/>
          </a:bodyPr>
          <a:lstStyle/>
          <a:p>
            <a:pPr algn="ctr" defTabSz="457200">
              <a:spcBef>
                <a:spcPts val="1000"/>
              </a:spcBef>
              <a:buClr>
                <a:srgbClr val="1E4056"/>
              </a:buClr>
              <a:buSzPct val="75000"/>
            </a:pPr>
            <a:r>
              <a:rPr lang="en-US" sz="2000" b="1" dirty="0">
                <a:solidFill>
                  <a:srgbClr val="000000"/>
                </a:solidFill>
              </a:rPr>
              <a:t>DFP</a:t>
            </a:r>
          </a:p>
        </p:txBody>
      </p:sp>
      <p:sp>
        <p:nvSpPr>
          <p:cNvPr id="25" name="TextBox 24">
            <a:extLst>
              <a:ext uri="{FF2B5EF4-FFF2-40B4-BE49-F238E27FC236}">
                <a16:creationId xmlns:a16="http://schemas.microsoft.com/office/drawing/2014/main" id="{09C611AF-3A67-EEFF-0625-009D1579EC76}"/>
              </a:ext>
            </a:extLst>
          </p:cNvPr>
          <p:cNvSpPr txBox="1"/>
          <p:nvPr/>
        </p:nvSpPr>
        <p:spPr>
          <a:xfrm>
            <a:off x="6621210" y="2591245"/>
            <a:ext cx="1303266" cy="807871"/>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dirty="0">
                <a:solidFill>
                  <a:srgbClr val="000000"/>
                </a:solidFill>
              </a:rPr>
              <a:t>Sends data downstream.</a:t>
            </a:r>
          </a:p>
          <a:p>
            <a:pPr defTabSz="457200">
              <a:spcBef>
                <a:spcPts val="1000"/>
              </a:spcBef>
              <a:buClr>
                <a:srgbClr val="1E4056"/>
              </a:buClr>
              <a:buSzPct val="75000"/>
            </a:pPr>
            <a:r>
              <a:rPr lang="en-US" sz="1050" dirty="0">
                <a:solidFill>
                  <a:srgbClr val="000000"/>
                </a:solidFill>
              </a:rPr>
              <a:t>E.g. port on a Host or hub</a:t>
            </a:r>
          </a:p>
        </p:txBody>
      </p:sp>
      <p:sp>
        <p:nvSpPr>
          <p:cNvPr id="26" name="TextBox 25">
            <a:extLst>
              <a:ext uri="{FF2B5EF4-FFF2-40B4-BE49-F238E27FC236}">
                <a16:creationId xmlns:a16="http://schemas.microsoft.com/office/drawing/2014/main" id="{92856F1A-F4DF-4E41-CB46-CFCD37E464A9}"/>
              </a:ext>
            </a:extLst>
          </p:cNvPr>
          <p:cNvSpPr txBox="1"/>
          <p:nvPr/>
        </p:nvSpPr>
        <p:spPr>
          <a:xfrm>
            <a:off x="8201598" y="2580976"/>
            <a:ext cx="1209226" cy="807871"/>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dirty="0">
                <a:solidFill>
                  <a:srgbClr val="000000"/>
                </a:solidFill>
              </a:rPr>
              <a:t>Consumes data from DFP.</a:t>
            </a:r>
          </a:p>
          <a:p>
            <a:pPr defTabSz="457200">
              <a:spcBef>
                <a:spcPts val="1000"/>
              </a:spcBef>
              <a:buClr>
                <a:srgbClr val="1E4056"/>
              </a:buClr>
              <a:buSzPct val="75000"/>
            </a:pPr>
            <a:r>
              <a:rPr lang="en-US" sz="1050" dirty="0">
                <a:solidFill>
                  <a:srgbClr val="000000"/>
                </a:solidFill>
              </a:rPr>
              <a:t>E.g. Display monitor port</a:t>
            </a:r>
          </a:p>
        </p:txBody>
      </p:sp>
      <p:sp>
        <p:nvSpPr>
          <p:cNvPr id="27" name="TextBox 26">
            <a:extLst>
              <a:ext uri="{FF2B5EF4-FFF2-40B4-BE49-F238E27FC236}">
                <a16:creationId xmlns:a16="http://schemas.microsoft.com/office/drawing/2014/main" id="{A8A8C426-67B8-CED7-6EF9-E246D3A411F0}"/>
              </a:ext>
            </a:extLst>
          </p:cNvPr>
          <p:cNvSpPr txBox="1"/>
          <p:nvPr/>
        </p:nvSpPr>
        <p:spPr>
          <a:xfrm>
            <a:off x="8259068" y="2050555"/>
            <a:ext cx="1209226" cy="322730"/>
          </a:xfrm>
          <a:prstGeom prst="rect">
            <a:avLst/>
          </a:prstGeom>
          <a:noFill/>
          <a:effectLst>
            <a:outerShdw blurRad="63500" sx="102000" sy="102000" algn="ctr" rotWithShape="0">
              <a:prstClr val="black">
                <a:alpha val="40000"/>
              </a:prstClr>
            </a:outerShdw>
          </a:effectLst>
        </p:spPr>
        <p:txBody>
          <a:bodyPr wrap="square" lIns="0" tIns="0" rIns="0" bIns="0" rtlCol="0">
            <a:noAutofit/>
          </a:bodyPr>
          <a:lstStyle/>
          <a:p>
            <a:pPr algn="ctr" defTabSz="457200">
              <a:spcBef>
                <a:spcPts val="1000"/>
              </a:spcBef>
              <a:buClr>
                <a:srgbClr val="1E4056"/>
              </a:buClr>
              <a:buSzPct val="75000"/>
            </a:pPr>
            <a:r>
              <a:rPr lang="en-US" sz="2000" b="1" dirty="0">
                <a:solidFill>
                  <a:srgbClr val="000000"/>
                </a:solidFill>
              </a:rPr>
              <a:t>UFP</a:t>
            </a:r>
          </a:p>
        </p:txBody>
      </p:sp>
      <p:sp>
        <p:nvSpPr>
          <p:cNvPr id="28" name="TextBox 27">
            <a:extLst>
              <a:ext uri="{FF2B5EF4-FFF2-40B4-BE49-F238E27FC236}">
                <a16:creationId xmlns:a16="http://schemas.microsoft.com/office/drawing/2014/main" id="{7EF69069-AEEC-0E46-9795-2B991A9933F2}"/>
              </a:ext>
            </a:extLst>
          </p:cNvPr>
          <p:cNvSpPr txBox="1"/>
          <p:nvPr/>
        </p:nvSpPr>
        <p:spPr>
          <a:xfrm>
            <a:off x="9820468" y="2060628"/>
            <a:ext cx="1209226" cy="322730"/>
          </a:xfrm>
          <a:prstGeom prst="rect">
            <a:avLst/>
          </a:prstGeom>
          <a:noFill/>
          <a:effectLst>
            <a:outerShdw blurRad="63500" sx="102000" sy="102000" algn="ctr" rotWithShape="0">
              <a:prstClr val="black">
                <a:alpha val="40000"/>
              </a:prstClr>
            </a:outerShdw>
          </a:effectLst>
        </p:spPr>
        <p:txBody>
          <a:bodyPr wrap="square" lIns="0" tIns="0" rIns="0" bIns="0" rtlCol="0">
            <a:noAutofit/>
          </a:bodyPr>
          <a:lstStyle/>
          <a:p>
            <a:pPr algn="ctr" defTabSz="457200">
              <a:spcBef>
                <a:spcPts val="1000"/>
              </a:spcBef>
              <a:buClr>
                <a:srgbClr val="1E4056"/>
              </a:buClr>
              <a:buSzPct val="75000"/>
            </a:pPr>
            <a:r>
              <a:rPr lang="en-US" sz="2000" b="1" dirty="0">
                <a:solidFill>
                  <a:srgbClr val="000000"/>
                </a:solidFill>
              </a:rPr>
              <a:t>DRD</a:t>
            </a:r>
          </a:p>
        </p:txBody>
      </p:sp>
      <p:sp>
        <p:nvSpPr>
          <p:cNvPr id="29" name="TextBox 28">
            <a:extLst>
              <a:ext uri="{FF2B5EF4-FFF2-40B4-BE49-F238E27FC236}">
                <a16:creationId xmlns:a16="http://schemas.microsoft.com/office/drawing/2014/main" id="{EE985615-614E-9BFD-2980-31E0838F8C9E}"/>
              </a:ext>
            </a:extLst>
          </p:cNvPr>
          <p:cNvSpPr txBox="1"/>
          <p:nvPr/>
        </p:nvSpPr>
        <p:spPr>
          <a:xfrm>
            <a:off x="9851431" y="2531359"/>
            <a:ext cx="1209226" cy="807871"/>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dirty="0">
                <a:solidFill>
                  <a:srgbClr val="000000"/>
                </a:solidFill>
              </a:rPr>
              <a:t>Can operate as DFP or UFP.</a:t>
            </a:r>
          </a:p>
          <a:p>
            <a:pPr defTabSz="457200">
              <a:spcBef>
                <a:spcPts val="1000"/>
              </a:spcBef>
              <a:buClr>
                <a:srgbClr val="1E4056"/>
              </a:buClr>
              <a:buSzPct val="75000"/>
            </a:pPr>
            <a:r>
              <a:rPr lang="en-US" sz="1050" dirty="0">
                <a:solidFill>
                  <a:srgbClr val="000000"/>
                </a:solidFill>
              </a:rPr>
              <a:t>E.g. Laptop Port</a:t>
            </a:r>
          </a:p>
        </p:txBody>
      </p:sp>
      <p:pic>
        <p:nvPicPr>
          <p:cNvPr id="31" name="Picture 2">
            <a:extLst>
              <a:ext uri="{FF2B5EF4-FFF2-40B4-BE49-F238E27FC236}">
                <a16:creationId xmlns:a16="http://schemas.microsoft.com/office/drawing/2014/main" id="{A59D0D84-75A4-F0A2-18B6-9E3EA35549F1}"/>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p:blipFill>
        <p:spPr bwMode="auto">
          <a:xfrm>
            <a:off x="2340569" y="3773407"/>
            <a:ext cx="1349400" cy="89375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E6B0A66D-2484-78DD-38B6-4543278C3C4C}"/>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047320" y="4220286"/>
            <a:ext cx="1074734" cy="460186"/>
          </a:xfrm>
          <a:prstGeom prst="rect">
            <a:avLst/>
          </a:prstGeom>
        </p:spPr>
      </p:pic>
      <p:pic>
        <p:nvPicPr>
          <p:cNvPr id="33" name="Picture 3">
            <a:extLst>
              <a:ext uri="{FF2B5EF4-FFF2-40B4-BE49-F238E27FC236}">
                <a16:creationId xmlns:a16="http://schemas.microsoft.com/office/drawing/2014/main" id="{93933EA8-702B-B013-3F94-27A4B212A5B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p:blipFill>
        <p:spPr bwMode="auto">
          <a:xfrm>
            <a:off x="2126357" y="4897996"/>
            <a:ext cx="1637650" cy="92479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67DD0BA7-A342-7246-8E1F-D6DD165DFC69}"/>
              </a:ext>
            </a:extLst>
          </p:cNvPr>
          <p:cNvPicPr>
            <a:picLocks noChangeAspect="1"/>
          </p:cNvPicPr>
          <p:nvPr/>
        </p:nvPicPr>
        <p:blipFill>
          <a:blip r:embed="rId6"/>
          <a:stretch>
            <a:fillRect/>
          </a:stretch>
        </p:blipFill>
        <p:spPr>
          <a:xfrm>
            <a:off x="9851431" y="3978743"/>
            <a:ext cx="1673270" cy="1152346"/>
          </a:xfrm>
          <a:prstGeom prst="rect">
            <a:avLst/>
          </a:prstGeom>
        </p:spPr>
      </p:pic>
      <p:pic>
        <p:nvPicPr>
          <p:cNvPr id="35" name="Picture 34">
            <a:extLst>
              <a:ext uri="{FF2B5EF4-FFF2-40B4-BE49-F238E27FC236}">
                <a16:creationId xmlns:a16="http://schemas.microsoft.com/office/drawing/2014/main" id="{5C7C1973-BDE1-19D0-3730-D9ADFF2B8A17}"/>
              </a:ext>
            </a:extLst>
          </p:cNvPr>
          <p:cNvPicPr>
            <a:picLocks noChangeAspect="1"/>
          </p:cNvPicPr>
          <p:nvPr/>
        </p:nvPicPr>
        <p:blipFill>
          <a:blip r:embed="rId7"/>
          <a:stretch>
            <a:fillRect/>
          </a:stretch>
        </p:blipFill>
        <p:spPr>
          <a:xfrm>
            <a:off x="8333195" y="4218101"/>
            <a:ext cx="1087207" cy="898127"/>
          </a:xfrm>
          <a:prstGeom prst="rect">
            <a:avLst/>
          </a:prstGeom>
        </p:spPr>
      </p:pic>
      <p:pic>
        <p:nvPicPr>
          <p:cNvPr id="36" name="Picture 35">
            <a:extLst>
              <a:ext uri="{FF2B5EF4-FFF2-40B4-BE49-F238E27FC236}">
                <a16:creationId xmlns:a16="http://schemas.microsoft.com/office/drawing/2014/main" id="{FC220F57-7E25-87AB-EA40-A665756B0749}"/>
              </a:ext>
            </a:extLst>
          </p:cNvPr>
          <p:cNvPicPr>
            <a:picLocks noChangeAspect="1"/>
          </p:cNvPicPr>
          <p:nvPr/>
        </p:nvPicPr>
        <p:blipFill>
          <a:blip r:embed="rId8"/>
          <a:stretch>
            <a:fillRect/>
          </a:stretch>
        </p:blipFill>
        <p:spPr>
          <a:xfrm>
            <a:off x="626450" y="3881308"/>
            <a:ext cx="1056181" cy="945361"/>
          </a:xfrm>
          <a:prstGeom prst="rect">
            <a:avLst/>
          </a:prstGeom>
        </p:spPr>
      </p:pic>
      <p:pic>
        <p:nvPicPr>
          <p:cNvPr id="37" name="Picture 36">
            <a:extLst>
              <a:ext uri="{FF2B5EF4-FFF2-40B4-BE49-F238E27FC236}">
                <a16:creationId xmlns:a16="http://schemas.microsoft.com/office/drawing/2014/main" id="{8E60859D-C462-6266-9719-1055946BFCBF}"/>
              </a:ext>
            </a:extLst>
          </p:cNvPr>
          <p:cNvPicPr>
            <a:picLocks noChangeAspect="1"/>
          </p:cNvPicPr>
          <p:nvPr/>
        </p:nvPicPr>
        <p:blipFill>
          <a:blip r:embed="rId8"/>
          <a:stretch>
            <a:fillRect/>
          </a:stretch>
        </p:blipFill>
        <p:spPr>
          <a:xfrm>
            <a:off x="6552569" y="4082235"/>
            <a:ext cx="1056181" cy="945361"/>
          </a:xfrm>
          <a:prstGeom prst="rect">
            <a:avLst/>
          </a:prstGeom>
        </p:spPr>
      </p:pic>
      <p:sp>
        <p:nvSpPr>
          <p:cNvPr id="3" name="Date Placeholder 3">
            <a:extLst>
              <a:ext uri="{FF2B5EF4-FFF2-40B4-BE49-F238E27FC236}">
                <a16:creationId xmlns:a16="http://schemas.microsoft.com/office/drawing/2014/main" id="{63B346CB-A519-7550-8F96-59852A5DEF3E}"/>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38" name="TextBox 37">
            <a:extLst>
              <a:ext uri="{FF2B5EF4-FFF2-40B4-BE49-F238E27FC236}">
                <a16:creationId xmlns:a16="http://schemas.microsoft.com/office/drawing/2014/main" id="{57EAE9B9-A153-D092-416B-CF0B1487D626}"/>
              </a:ext>
            </a:extLst>
          </p:cNvPr>
          <p:cNvSpPr txBox="1"/>
          <p:nvPr/>
        </p:nvSpPr>
        <p:spPr>
          <a:xfrm>
            <a:off x="4065266" y="2343956"/>
            <a:ext cx="887734" cy="361849"/>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b="1" dirty="0">
                <a:solidFill>
                  <a:srgbClr val="000000"/>
                </a:solidFill>
              </a:rPr>
              <a:t>Dual Role Port</a:t>
            </a:r>
          </a:p>
        </p:txBody>
      </p:sp>
      <p:sp>
        <p:nvSpPr>
          <p:cNvPr id="39" name="TextBox 38">
            <a:extLst>
              <a:ext uri="{FF2B5EF4-FFF2-40B4-BE49-F238E27FC236}">
                <a16:creationId xmlns:a16="http://schemas.microsoft.com/office/drawing/2014/main" id="{570EA5A5-D3EE-21FC-BE45-BE0BB4BB8C42}"/>
              </a:ext>
            </a:extLst>
          </p:cNvPr>
          <p:cNvSpPr txBox="1"/>
          <p:nvPr/>
        </p:nvSpPr>
        <p:spPr>
          <a:xfrm>
            <a:off x="6625926" y="2293557"/>
            <a:ext cx="1201287" cy="361849"/>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b="1" dirty="0">
                <a:solidFill>
                  <a:srgbClr val="000000"/>
                </a:solidFill>
              </a:rPr>
              <a:t>Downstream Facing Port </a:t>
            </a:r>
          </a:p>
        </p:txBody>
      </p:sp>
      <p:sp>
        <p:nvSpPr>
          <p:cNvPr id="40" name="TextBox 39">
            <a:extLst>
              <a:ext uri="{FF2B5EF4-FFF2-40B4-BE49-F238E27FC236}">
                <a16:creationId xmlns:a16="http://schemas.microsoft.com/office/drawing/2014/main" id="{1E3B3488-B537-9664-888F-BA36D730B242}"/>
              </a:ext>
            </a:extLst>
          </p:cNvPr>
          <p:cNvSpPr txBox="1"/>
          <p:nvPr/>
        </p:nvSpPr>
        <p:spPr>
          <a:xfrm>
            <a:off x="8302612" y="2326414"/>
            <a:ext cx="1201287" cy="293977"/>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b="1" dirty="0">
                <a:solidFill>
                  <a:srgbClr val="000000"/>
                </a:solidFill>
              </a:rPr>
              <a:t>Upstream Facing Port </a:t>
            </a:r>
          </a:p>
        </p:txBody>
      </p:sp>
      <p:sp>
        <p:nvSpPr>
          <p:cNvPr id="42" name="TextBox 41">
            <a:extLst>
              <a:ext uri="{FF2B5EF4-FFF2-40B4-BE49-F238E27FC236}">
                <a16:creationId xmlns:a16="http://schemas.microsoft.com/office/drawing/2014/main" id="{2B29AB2C-60F2-9862-FEFD-7CECAAD687BE}"/>
              </a:ext>
            </a:extLst>
          </p:cNvPr>
          <p:cNvSpPr txBox="1"/>
          <p:nvPr/>
        </p:nvSpPr>
        <p:spPr>
          <a:xfrm>
            <a:off x="9994721" y="2330610"/>
            <a:ext cx="854058" cy="257568"/>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defTabSz="457200">
              <a:spcBef>
                <a:spcPts val="1000"/>
              </a:spcBef>
              <a:buClr>
                <a:srgbClr val="1E4056"/>
              </a:buClr>
              <a:buSzPct val="75000"/>
            </a:pPr>
            <a:r>
              <a:rPr lang="en-US" sz="1050" b="1" dirty="0">
                <a:solidFill>
                  <a:srgbClr val="000000"/>
                </a:solidFill>
              </a:rPr>
              <a:t>Dual Role Data</a:t>
            </a:r>
          </a:p>
        </p:txBody>
      </p:sp>
    </p:spTree>
    <p:extLst>
      <p:ext uri="{BB962C8B-B14F-4D97-AF65-F5344CB8AC3E}">
        <p14:creationId xmlns:p14="http://schemas.microsoft.com/office/powerpoint/2010/main" val="773433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D979B7F-0A8E-6008-5F64-A7E2F8B66313}"/>
              </a:ext>
            </a:extLst>
          </p:cNvPr>
          <p:cNvGrpSpPr/>
          <p:nvPr/>
        </p:nvGrpSpPr>
        <p:grpSpPr>
          <a:xfrm>
            <a:off x="677446" y="1599820"/>
            <a:ext cx="3754466" cy="3372714"/>
            <a:chOff x="677446" y="1599820"/>
            <a:chExt cx="3754466" cy="3372714"/>
          </a:xfrm>
        </p:grpSpPr>
        <p:sp>
          <p:nvSpPr>
            <p:cNvPr id="471" name="Rectangle 470">
              <a:extLst>
                <a:ext uri="{FF2B5EF4-FFF2-40B4-BE49-F238E27FC236}">
                  <a16:creationId xmlns:a16="http://schemas.microsoft.com/office/drawing/2014/main" id="{5C21D891-C682-7E7A-1C17-22D5E68029B9}"/>
                </a:ext>
              </a:extLst>
            </p:cNvPr>
            <p:cNvSpPr/>
            <p:nvPr/>
          </p:nvSpPr>
          <p:spPr>
            <a:xfrm>
              <a:off x="677446" y="1599820"/>
              <a:ext cx="3701414" cy="3372714"/>
            </a:xfrm>
            <a:prstGeom prst="rect">
              <a:avLst/>
            </a:prstGeom>
            <a:solidFill>
              <a:schemeClr val="bg2">
                <a:lumMod val="20000"/>
                <a:lumOff val="80000"/>
              </a:schemeClr>
            </a:solidFill>
            <a:ln>
              <a:solidFill>
                <a:schemeClr val="accent1"/>
              </a:solidFill>
              <a:miter lim="800000"/>
            </a:ln>
            <a:effectLst>
              <a:outerShdw blurRad="50800" dist="38100" dir="13500000" algn="br"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472" name="Straight Connector 471">
              <a:extLst>
                <a:ext uri="{FF2B5EF4-FFF2-40B4-BE49-F238E27FC236}">
                  <a16:creationId xmlns:a16="http://schemas.microsoft.com/office/drawing/2014/main" id="{38735847-84F5-DA84-B05F-B0165F6D1AD6}"/>
                </a:ext>
              </a:extLst>
            </p:cNvPr>
            <p:cNvCxnSpPr>
              <a:cxnSpLocks/>
            </p:cNvCxnSpPr>
            <p:nvPr/>
          </p:nvCxnSpPr>
          <p:spPr>
            <a:xfrm>
              <a:off x="3962845" y="3579726"/>
              <a:ext cx="888" cy="311706"/>
            </a:xfrm>
            <a:prstGeom prst="line">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74" name="Arrow: Left-Right 473">
              <a:extLst>
                <a:ext uri="{FF2B5EF4-FFF2-40B4-BE49-F238E27FC236}">
                  <a16:creationId xmlns:a16="http://schemas.microsoft.com/office/drawing/2014/main" id="{2E32DE8A-F517-811A-54CD-158E34422F07}"/>
                </a:ext>
              </a:extLst>
            </p:cNvPr>
            <p:cNvSpPr/>
            <p:nvPr/>
          </p:nvSpPr>
          <p:spPr>
            <a:xfrm rot="5400000">
              <a:off x="2082782" y="3727558"/>
              <a:ext cx="401739" cy="135991"/>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476" name="Rectangle: Rounded Corners 475">
              <a:extLst>
                <a:ext uri="{FF2B5EF4-FFF2-40B4-BE49-F238E27FC236}">
                  <a16:creationId xmlns:a16="http://schemas.microsoft.com/office/drawing/2014/main" id="{FCEF9C9A-56FD-26E5-52AC-81B5BD2CE020}"/>
                </a:ext>
              </a:extLst>
            </p:cNvPr>
            <p:cNvSpPr/>
            <p:nvPr/>
          </p:nvSpPr>
          <p:spPr>
            <a:xfrm>
              <a:off x="1471494" y="4000576"/>
              <a:ext cx="1556905" cy="724633"/>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MCU</a:t>
              </a:r>
              <a:endParaRPr lang="en-US" sz="600" b="1" dirty="0">
                <a:solidFill>
                  <a:schemeClr val="tx1">
                    <a:lumMod val="85000"/>
                    <a:lumOff val="15000"/>
                  </a:schemeClr>
                </a:solidFill>
                <a:latin typeface="Barlow" panose="00000500000000000000" pitchFamily="2" charset="0"/>
              </a:endParaRPr>
            </a:p>
          </p:txBody>
        </p:sp>
        <p:sp>
          <p:nvSpPr>
            <p:cNvPr id="494" name="Rectangle: Rounded Corners 493">
              <a:extLst>
                <a:ext uri="{FF2B5EF4-FFF2-40B4-BE49-F238E27FC236}">
                  <a16:creationId xmlns:a16="http://schemas.microsoft.com/office/drawing/2014/main" id="{718389FF-1C02-C871-17E1-315C3587C99A}"/>
                </a:ext>
              </a:extLst>
            </p:cNvPr>
            <p:cNvSpPr/>
            <p:nvPr/>
          </p:nvSpPr>
          <p:spPr>
            <a:xfrm>
              <a:off x="4172877" y="2808510"/>
              <a:ext cx="259035" cy="885426"/>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95" name="Oval 494">
              <a:extLst>
                <a:ext uri="{FF2B5EF4-FFF2-40B4-BE49-F238E27FC236}">
                  <a16:creationId xmlns:a16="http://schemas.microsoft.com/office/drawing/2014/main" id="{A95783EE-00A1-64C1-65EB-80A617414F8A}"/>
                </a:ext>
              </a:extLst>
            </p:cNvPr>
            <p:cNvSpPr/>
            <p:nvPr/>
          </p:nvSpPr>
          <p:spPr>
            <a:xfrm>
              <a:off x="4257758" y="2920962"/>
              <a:ext cx="90270" cy="892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496" name="Oval 495">
              <a:extLst>
                <a:ext uri="{FF2B5EF4-FFF2-40B4-BE49-F238E27FC236}">
                  <a16:creationId xmlns:a16="http://schemas.microsoft.com/office/drawing/2014/main" id="{61E05C3E-1175-885D-359A-A972A657746D}"/>
                </a:ext>
              </a:extLst>
            </p:cNvPr>
            <p:cNvSpPr/>
            <p:nvPr/>
          </p:nvSpPr>
          <p:spPr>
            <a:xfrm>
              <a:off x="4253150" y="3203199"/>
              <a:ext cx="90270" cy="892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497" name="Oval 496">
              <a:extLst>
                <a:ext uri="{FF2B5EF4-FFF2-40B4-BE49-F238E27FC236}">
                  <a16:creationId xmlns:a16="http://schemas.microsoft.com/office/drawing/2014/main" id="{0905A47D-10DD-2216-5A20-0793B4E00F03}"/>
                </a:ext>
              </a:extLst>
            </p:cNvPr>
            <p:cNvSpPr/>
            <p:nvPr/>
          </p:nvSpPr>
          <p:spPr>
            <a:xfrm>
              <a:off x="4256520" y="3392802"/>
              <a:ext cx="90270" cy="892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cxnSp>
          <p:nvCxnSpPr>
            <p:cNvPr id="483" name="Connector: Elbow 482">
              <a:extLst>
                <a:ext uri="{FF2B5EF4-FFF2-40B4-BE49-F238E27FC236}">
                  <a16:creationId xmlns:a16="http://schemas.microsoft.com/office/drawing/2014/main" id="{E1551451-98EB-B774-7670-1B06875AA6C1}"/>
                </a:ext>
              </a:extLst>
            </p:cNvPr>
            <p:cNvCxnSpPr>
              <a:cxnSpLocks/>
              <a:endCxn id="494" idx="1"/>
            </p:cNvCxnSpPr>
            <p:nvPr/>
          </p:nvCxnSpPr>
          <p:spPr>
            <a:xfrm>
              <a:off x="3066500" y="3010035"/>
              <a:ext cx="1106377" cy="241188"/>
            </a:xfrm>
            <a:prstGeom prst="bentConnector3">
              <a:avLst>
                <a:gd name="adj1" fmla="val 50000"/>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91" name="Straight Connector 490">
              <a:extLst>
                <a:ext uri="{FF2B5EF4-FFF2-40B4-BE49-F238E27FC236}">
                  <a16:creationId xmlns:a16="http://schemas.microsoft.com/office/drawing/2014/main" id="{6D3B62FE-AA35-5B69-ADCF-157661A1A3AD}"/>
                </a:ext>
              </a:extLst>
            </p:cNvPr>
            <p:cNvCxnSpPr>
              <a:cxnSpLocks/>
            </p:cNvCxnSpPr>
            <p:nvPr/>
          </p:nvCxnSpPr>
          <p:spPr>
            <a:xfrm>
              <a:off x="3877397" y="3892003"/>
              <a:ext cx="174123"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92" name="Straight Connector 491">
              <a:extLst>
                <a:ext uri="{FF2B5EF4-FFF2-40B4-BE49-F238E27FC236}">
                  <a16:creationId xmlns:a16="http://schemas.microsoft.com/office/drawing/2014/main" id="{C3748844-D9A6-F97B-9300-598B24531A3A}"/>
                </a:ext>
              </a:extLst>
            </p:cNvPr>
            <p:cNvCxnSpPr>
              <a:cxnSpLocks/>
            </p:cNvCxnSpPr>
            <p:nvPr/>
          </p:nvCxnSpPr>
          <p:spPr>
            <a:xfrm>
              <a:off x="3892055" y="3925330"/>
              <a:ext cx="137767"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93" name="Straight Connector 492">
              <a:extLst>
                <a:ext uri="{FF2B5EF4-FFF2-40B4-BE49-F238E27FC236}">
                  <a16:creationId xmlns:a16="http://schemas.microsoft.com/office/drawing/2014/main" id="{29D6B128-6FB0-C2F6-E985-4AD5FDE6FA69}"/>
                </a:ext>
              </a:extLst>
            </p:cNvPr>
            <p:cNvCxnSpPr>
              <a:cxnSpLocks/>
            </p:cNvCxnSpPr>
            <p:nvPr/>
          </p:nvCxnSpPr>
          <p:spPr>
            <a:xfrm>
              <a:off x="3934316" y="3957515"/>
              <a:ext cx="55896"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86" name="Straight Connector 485">
              <a:extLst>
                <a:ext uri="{FF2B5EF4-FFF2-40B4-BE49-F238E27FC236}">
                  <a16:creationId xmlns:a16="http://schemas.microsoft.com/office/drawing/2014/main" id="{46F410D8-E0CC-7D2F-4F4E-B7FC5D8EFA1C}"/>
                </a:ext>
              </a:extLst>
            </p:cNvPr>
            <p:cNvCxnSpPr>
              <a:cxnSpLocks/>
            </p:cNvCxnSpPr>
            <p:nvPr/>
          </p:nvCxnSpPr>
          <p:spPr>
            <a:xfrm flipH="1">
              <a:off x="3960153" y="3582455"/>
              <a:ext cx="19858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87" name="Connector: Elbow 486">
              <a:extLst>
                <a:ext uri="{FF2B5EF4-FFF2-40B4-BE49-F238E27FC236}">
                  <a16:creationId xmlns:a16="http://schemas.microsoft.com/office/drawing/2014/main" id="{58F02D76-0EED-2D55-CEF7-082FDE0AB1C9}"/>
                </a:ext>
              </a:extLst>
            </p:cNvPr>
            <p:cNvCxnSpPr>
              <a:cxnSpLocks/>
            </p:cNvCxnSpPr>
            <p:nvPr/>
          </p:nvCxnSpPr>
          <p:spPr>
            <a:xfrm>
              <a:off x="3066500" y="3161655"/>
              <a:ext cx="1101528" cy="252067"/>
            </a:xfrm>
            <a:prstGeom prst="bentConnector3">
              <a:avLst>
                <a:gd name="adj1" fmla="val 37391"/>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88" name="TextBox 487">
              <a:extLst>
                <a:ext uri="{FF2B5EF4-FFF2-40B4-BE49-F238E27FC236}">
                  <a16:creationId xmlns:a16="http://schemas.microsoft.com/office/drawing/2014/main" id="{7F6D691B-B779-7F45-2820-7452DC73C179}"/>
                </a:ext>
              </a:extLst>
            </p:cNvPr>
            <p:cNvSpPr txBox="1"/>
            <p:nvPr/>
          </p:nvSpPr>
          <p:spPr>
            <a:xfrm>
              <a:off x="3707518" y="3064418"/>
              <a:ext cx="344002"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CC1</a:t>
              </a:r>
            </a:p>
          </p:txBody>
        </p:sp>
        <p:sp>
          <p:nvSpPr>
            <p:cNvPr id="489" name="TextBox 488">
              <a:extLst>
                <a:ext uri="{FF2B5EF4-FFF2-40B4-BE49-F238E27FC236}">
                  <a16:creationId xmlns:a16="http://schemas.microsoft.com/office/drawing/2014/main" id="{E8335043-EC83-4CA3-F193-7701C227B480}"/>
                </a:ext>
              </a:extLst>
            </p:cNvPr>
            <p:cNvSpPr txBox="1"/>
            <p:nvPr/>
          </p:nvSpPr>
          <p:spPr>
            <a:xfrm>
              <a:off x="3712357" y="3237364"/>
              <a:ext cx="403020"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CC2</a:t>
              </a:r>
            </a:p>
          </p:txBody>
        </p:sp>
        <p:sp>
          <p:nvSpPr>
            <p:cNvPr id="475" name="Rectangle: Rounded Corners 474">
              <a:extLst>
                <a:ext uri="{FF2B5EF4-FFF2-40B4-BE49-F238E27FC236}">
                  <a16:creationId xmlns:a16="http://schemas.microsoft.com/office/drawing/2014/main" id="{1A47ACC8-58C2-4147-64A4-5C2A663A781E}"/>
                </a:ext>
              </a:extLst>
            </p:cNvPr>
            <p:cNvSpPr/>
            <p:nvPr/>
          </p:nvSpPr>
          <p:spPr>
            <a:xfrm>
              <a:off x="1509595" y="2820695"/>
              <a:ext cx="1556905" cy="750882"/>
            </a:xfrm>
            <a:prstGeom prst="roundRect">
              <a:avLst>
                <a:gd name="adj" fmla="val 11327"/>
              </a:avLst>
            </a:prstGeom>
            <a:solidFill>
              <a:srgbClr val="2BC5B6"/>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PD CONTROLLER WITH PPS SUPPORT</a:t>
              </a:r>
            </a:p>
          </p:txBody>
        </p:sp>
        <p:cxnSp>
          <p:nvCxnSpPr>
            <p:cNvPr id="503" name="Straight Connector 502">
              <a:extLst>
                <a:ext uri="{FF2B5EF4-FFF2-40B4-BE49-F238E27FC236}">
                  <a16:creationId xmlns:a16="http://schemas.microsoft.com/office/drawing/2014/main" id="{7FC833B5-C341-436C-D6E2-3D09831D4317}"/>
                </a:ext>
              </a:extLst>
            </p:cNvPr>
            <p:cNvCxnSpPr>
              <a:cxnSpLocks/>
              <a:stCxn id="501" idx="2"/>
              <a:endCxn id="475" idx="0"/>
            </p:cNvCxnSpPr>
            <p:nvPr/>
          </p:nvCxnSpPr>
          <p:spPr>
            <a:xfrm>
              <a:off x="2288046" y="2559461"/>
              <a:ext cx="2" cy="261234"/>
            </a:xfrm>
            <a:prstGeom prst="line">
              <a:avLst/>
            </a:prstGeom>
            <a:ln w="12700"/>
          </p:spPr>
          <p:style>
            <a:lnRef idx="2">
              <a:schemeClr val="dk1"/>
            </a:lnRef>
            <a:fillRef idx="0">
              <a:schemeClr val="dk1"/>
            </a:fillRef>
            <a:effectRef idx="1">
              <a:schemeClr val="dk1"/>
            </a:effectRef>
            <a:fontRef idx="minor">
              <a:schemeClr val="tx1"/>
            </a:fontRef>
          </p:style>
        </p:cxnSp>
        <p:cxnSp>
          <p:nvCxnSpPr>
            <p:cNvPr id="505" name="Connector: Elbow 504">
              <a:extLst>
                <a:ext uri="{FF2B5EF4-FFF2-40B4-BE49-F238E27FC236}">
                  <a16:creationId xmlns:a16="http://schemas.microsoft.com/office/drawing/2014/main" id="{0B831F8D-9081-61D3-7E9B-E5F1F3A63ACA}"/>
                </a:ext>
              </a:extLst>
            </p:cNvPr>
            <p:cNvCxnSpPr>
              <a:cxnSpLocks/>
            </p:cNvCxnSpPr>
            <p:nvPr/>
          </p:nvCxnSpPr>
          <p:spPr>
            <a:xfrm rot="16200000" flipV="1">
              <a:off x="1140877" y="2022323"/>
              <a:ext cx="305327" cy="279706"/>
            </a:xfrm>
            <a:prstGeom prst="bentConnector3">
              <a:avLst>
                <a:gd name="adj1" fmla="val 710"/>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7" name="Straight Connector 506">
              <a:extLst>
                <a:ext uri="{FF2B5EF4-FFF2-40B4-BE49-F238E27FC236}">
                  <a16:creationId xmlns:a16="http://schemas.microsoft.com/office/drawing/2014/main" id="{6A7FEB61-C30E-50F7-2067-6F492B147407}"/>
                </a:ext>
              </a:extLst>
            </p:cNvPr>
            <p:cNvCxnSpPr/>
            <p:nvPr/>
          </p:nvCxnSpPr>
          <p:spPr>
            <a:xfrm>
              <a:off x="994947" y="2005585"/>
              <a:ext cx="31748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09" name="TextBox 508">
              <a:extLst>
                <a:ext uri="{FF2B5EF4-FFF2-40B4-BE49-F238E27FC236}">
                  <a16:creationId xmlns:a16="http://schemas.microsoft.com/office/drawing/2014/main" id="{C0368CD4-550C-4C5D-D862-825ED88C81D3}"/>
                </a:ext>
              </a:extLst>
            </p:cNvPr>
            <p:cNvSpPr txBox="1"/>
            <p:nvPr/>
          </p:nvSpPr>
          <p:spPr>
            <a:xfrm>
              <a:off x="880677" y="1794384"/>
              <a:ext cx="678393"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VSUPPLY</a:t>
              </a:r>
            </a:p>
          </p:txBody>
        </p:sp>
        <p:cxnSp>
          <p:nvCxnSpPr>
            <p:cNvPr id="511" name="Connector: Elbow 510">
              <a:extLst>
                <a:ext uri="{FF2B5EF4-FFF2-40B4-BE49-F238E27FC236}">
                  <a16:creationId xmlns:a16="http://schemas.microsoft.com/office/drawing/2014/main" id="{AAEC02E7-707D-D887-8639-1F5A6B295721}"/>
                </a:ext>
              </a:extLst>
            </p:cNvPr>
            <p:cNvCxnSpPr>
              <a:stCxn id="501" idx="3"/>
              <a:endCxn id="494" idx="0"/>
            </p:cNvCxnSpPr>
            <p:nvPr/>
          </p:nvCxnSpPr>
          <p:spPr>
            <a:xfrm>
              <a:off x="3142698" y="2309487"/>
              <a:ext cx="1159697" cy="499023"/>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01" name="Rectangle: Rounded Corners 500">
              <a:extLst>
                <a:ext uri="{FF2B5EF4-FFF2-40B4-BE49-F238E27FC236}">
                  <a16:creationId xmlns:a16="http://schemas.microsoft.com/office/drawing/2014/main" id="{4484C5A7-7546-1439-D7BD-C71B3D814FDB}"/>
                </a:ext>
              </a:extLst>
            </p:cNvPr>
            <p:cNvSpPr/>
            <p:nvPr/>
          </p:nvSpPr>
          <p:spPr>
            <a:xfrm>
              <a:off x="1433393" y="2059512"/>
              <a:ext cx="1709305" cy="499949"/>
            </a:xfrm>
            <a:prstGeom prst="roundRect">
              <a:avLst>
                <a:gd name="adj" fmla="val 11327"/>
              </a:avLst>
            </a:prstGeom>
            <a:solidFill>
              <a:schemeClr val="bg1">
                <a:lumMod val="95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BUCK-BOOST H-BRIDGE FETs</a:t>
              </a:r>
              <a:endParaRPr lang="en-US" sz="600" b="1" dirty="0">
                <a:solidFill>
                  <a:schemeClr val="tx1">
                    <a:lumMod val="85000"/>
                    <a:lumOff val="15000"/>
                  </a:schemeClr>
                </a:solidFill>
                <a:latin typeface="Barlow" panose="00000500000000000000" pitchFamily="2" charset="0"/>
              </a:endParaRPr>
            </a:p>
          </p:txBody>
        </p:sp>
        <p:cxnSp>
          <p:nvCxnSpPr>
            <p:cNvPr id="520" name="Connector: Elbow 519">
              <a:extLst>
                <a:ext uri="{FF2B5EF4-FFF2-40B4-BE49-F238E27FC236}">
                  <a16:creationId xmlns:a16="http://schemas.microsoft.com/office/drawing/2014/main" id="{F77375FA-FF2B-E523-43C9-C2FBFCEB2A30}"/>
                </a:ext>
              </a:extLst>
            </p:cNvPr>
            <p:cNvCxnSpPr>
              <a:cxnSpLocks/>
              <a:endCxn id="476" idx="1"/>
            </p:cNvCxnSpPr>
            <p:nvPr/>
          </p:nvCxnSpPr>
          <p:spPr>
            <a:xfrm rot="16200000" flipH="1">
              <a:off x="611911" y="3503309"/>
              <a:ext cx="1426813" cy="292353"/>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3" name="Straight Connector 522">
              <a:extLst>
                <a:ext uri="{FF2B5EF4-FFF2-40B4-BE49-F238E27FC236}">
                  <a16:creationId xmlns:a16="http://schemas.microsoft.com/office/drawing/2014/main" id="{FF68681D-85F0-D354-62D1-AE5ECFD04EAB}"/>
                </a:ext>
              </a:extLst>
            </p:cNvPr>
            <p:cNvCxnSpPr>
              <a:cxnSpLocks/>
              <a:stCxn id="475" idx="1"/>
            </p:cNvCxnSpPr>
            <p:nvPr/>
          </p:nvCxnSpPr>
          <p:spPr>
            <a:xfrm flipH="1">
              <a:off x="1179139" y="3196136"/>
              <a:ext cx="330456"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26" name="TextBox 525">
              <a:extLst>
                <a:ext uri="{FF2B5EF4-FFF2-40B4-BE49-F238E27FC236}">
                  <a16:creationId xmlns:a16="http://schemas.microsoft.com/office/drawing/2014/main" id="{8800BCCD-CCA1-42CE-66C4-ACBC1BC53969}"/>
                </a:ext>
              </a:extLst>
            </p:cNvPr>
            <p:cNvSpPr txBox="1"/>
            <p:nvPr/>
          </p:nvSpPr>
          <p:spPr>
            <a:xfrm>
              <a:off x="987941" y="2750423"/>
              <a:ext cx="463867"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VDD</a:t>
              </a:r>
            </a:p>
          </p:txBody>
        </p:sp>
        <p:cxnSp>
          <p:nvCxnSpPr>
            <p:cNvPr id="527" name="Straight Connector 526">
              <a:extLst>
                <a:ext uri="{FF2B5EF4-FFF2-40B4-BE49-F238E27FC236}">
                  <a16:creationId xmlns:a16="http://schemas.microsoft.com/office/drawing/2014/main" id="{39F0F146-A004-C538-4730-DB76A1A36EDF}"/>
                </a:ext>
              </a:extLst>
            </p:cNvPr>
            <p:cNvCxnSpPr/>
            <p:nvPr/>
          </p:nvCxnSpPr>
          <p:spPr>
            <a:xfrm>
              <a:off x="1026739" y="2932152"/>
              <a:ext cx="31748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34" name="TextBox 533">
              <a:extLst>
                <a:ext uri="{FF2B5EF4-FFF2-40B4-BE49-F238E27FC236}">
                  <a16:creationId xmlns:a16="http://schemas.microsoft.com/office/drawing/2014/main" id="{FD9388D7-FE3B-A9CE-66EF-8E5EBA2658C1}"/>
                </a:ext>
              </a:extLst>
            </p:cNvPr>
            <p:cNvSpPr txBox="1"/>
            <p:nvPr/>
          </p:nvSpPr>
          <p:spPr>
            <a:xfrm>
              <a:off x="1762301" y="1765529"/>
              <a:ext cx="781465" cy="293983"/>
            </a:xfrm>
            <a:prstGeom prst="rect">
              <a:avLst/>
            </a:prstGeom>
          </p:spPr>
          <p:txBody>
            <a:bodyPr vert="horz" wrap="none" lIns="0" tIns="0" rIns="0" bIns="0" rtlCol="0" anchor="t" anchorCtr="0">
              <a:normAutofit fontScale="85000" lnSpcReduction="20000"/>
            </a:bodyPr>
            <a:lstStyle/>
            <a:p>
              <a:pPr algn="l"/>
              <a:r>
                <a:rPr lang="en-US" sz="1400" b="1" dirty="0">
                  <a:solidFill>
                    <a:schemeClr val="accent2">
                      <a:lumMod val="75000"/>
                    </a:schemeClr>
                  </a:solidFill>
                </a:rPr>
                <a:t>Source Side (Fast Charging capable)</a:t>
              </a:r>
            </a:p>
            <a:p>
              <a:pPr algn="l"/>
              <a:r>
                <a:rPr lang="en-US" sz="1400" b="1" dirty="0">
                  <a:solidFill>
                    <a:schemeClr val="accent2">
                      <a:lumMod val="75000"/>
                    </a:schemeClr>
                  </a:solidFill>
                </a:rPr>
                <a:t>        </a:t>
              </a:r>
            </a:p>
          </p:txBody>
        </p:sp>
      </p:grpSp>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Typical Fast Charging Solution</a:t>
            </a:r>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6</a:t>
            </a:fld>
            <a:endParaRPr lang="en-US" dirty="0"/>
          </a:p>
        </p:txBody>
      </p:sp>
      <p:grpSp>
        <p:nvGrpSpPr>
          <p:cNvPr id="309" name="Group 308">
            <a:extLst>
              <a:ext uri="{FF2B5EF4-FFF2-40B4-BE49-F238E27FC236}">
                <a16:creationId xmlns:a16="http://schemas.microsoft.com/office/drawing/2014/main" id="{0598B6FD-5B35-DF4A-12CB-BB4FFB9192B5}"/>
              </a:ext>
            </a:extLst>
          </p:cNvPr>
          <p:cNvGrpSpPr/>
          <p:nvPr/>
        </p:nvGrpSpPr>
        <p:grpSpPr>
          <a:xfrm>
            <a:off x="4568920" y="3133982"/>
            <a:ext cx="2666809" cy="231495"/>
            <a:chOff x="4911362" y="644220"/>
            <a:chExt cx="2166817" cy="204546"/>
          </a:xfrm>
        </p:grpSpPr>
        <p:pic>
          <p:nvPicPr>
            <p:cNvPr id="310" name="Picture 309">
              <a:extLst>
                <a:ext uri="{FF2B5EF4-FFF2-40B4-BE49-F238E27FC236}">
                  <a16:creationId xmlns:a16="http://schemas.microsoft.com/office/drawing/2014/main" id="{BCFE4080-1336-7FE8-BDD3-3C3B4F7F15A6}"/>
                </a:ext>
              </a:extLst>
            </p:cNvPr>
            <p:cNvPicPr>
              <a:picLocks noChangeAspect="1"/>
            </p:cNvPicPr>
            <p:nvPr/>
          </p:nvPicPr>
          <p:blipFill rotWithShape="1">
            <a:blip r:embed="rId3">
              <a:clrChange>
                <a:clrFrom>
                  <a:srgbClr val="FFFFFF"/>
                </a:clrFrom>
                <a:clrTo>
                  <a:srgbClr val="FFFFFF">
                    <a:alpha val="0"/>
                  </a:srgbClr>
                </a:clrTo>
              </a:clrChange>
            </a:blip>
            <a:srcRect b="4496"/>
            <a:stretch/>
          </p:blipFill>
          <p:spPr>
            <a:xfrm rot="16200000">
              <a:off x="5363587" y="191995"/>
              <a:ext cx="204545" cy="1108996"/>
            </a:xfrm>
            <a:prstGeom prst="rect">
              <a:avLst/>
            </a:prstGeom>
          </p:spPr>
        </p:pic>
        <p:pic>
          <p:nvPicPr>
            <p:cNvPr id="311" name="Picture 310">
              <a:extLst>
                <a:ext uri="{FF2B5EF4-FFF2-40B4-BE49-F238E27FC236}">
                  <a16:creationId xmlns:a16="http://schemas.microsoft.com/office/drawing/2014/main" id="{F5A84085-0BA1-684F-610B-BD4B60090A4C}"/>
                </a:ext>
              </a:extLst>
            </p:cNvPr>
            <p:cNvPicPr>
              <a:picLocks noChangeAspect="1"/>
            </p:cNvPicPr>
            <p:nvPr/>
          </p:nvPicPr>
          <p:blipFill rotWithShape="1">
            <a:blip r:embed="rId3">
              <a:clrChange>
                <a:clrFrom>
                  <a:srgbClr val="FFFFFF"/>
                </a:clrFrom>
                <a:clrTo>
                  <a:srgbClr val="FFFFFF">
                    <a:alpha val="0"/>
                  </a:srgbClr>
                </a:clrTo>
              </a:clrChange>
            </a:blip>
            <a:srcRect b="4496"/>
            <a:stretch/>
          </p:blipFill>
          <p:spPr>
            <a:xfrm rot="16200000" flipV="1">
              <a:off x="6421409" y="191996"/>
              <a:ext cx="204545" cy="1108995"/>
            </a:xfrm>
            <a:prstGeom prst="rect">
              <a:avLst/>
            </a:prstGeom>
          </p:spPr>
        </p:pic>
      </p:grpSp>
      <p:sp>
        <p:nvSpPr>
          <p:cNvPr id="490" name="TextBox 489">
            <a:extLst>
              <a:ext uri="{FF2B5EF4-FFF2-40B4-BE49-F238E27FC236}">
                <a16:creationId xmlns:a16="http://schemas.microsoft.com/office/drawing/2014/main" id="{0BDA8561-8BFA-3B0C-92DC-A73837FB73B3}"/>
              </a:ext>
            </a:extLst>
          </p:cNvPr>
          <p:cNvSpPr txBox="1"/>
          <p:nvPr/>
        </p:nvSpPr>
        <p:spPr>
          <a:xfrm>
            <a:off x="3901997" y="2495637"/>
            <a:ext cx="476864"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VBUS</a:t>
            </a:r>
          </a:p>
        </p:txBody>
      </p:sp>
      <p:grpSp>
        <p:nvGrpSpPr>
          <p:cNvPr id="4" name="Group 3">
            <a:extLst>
              <a:ext uri="{FF2B5EF4-FFF2-40B4-BE49-F238E27FC236}">
                <a16:creationId xmlns:a16="http://schemas.microsoft.com/office/drawing/2014/main" id="{74846AAC-284C-FAD8-2CA0-CD19AB5A480F}"/>
              </a:ext>
            </a:extLst>
          </p:cNvPr>
          <p:cNvGrpSpPr/>
          <p:nvPr/>
        </p:nvGrpSpPr>
        <p:grpSpPr>
          <a:xfrm>
            <a:off x="7384835" y="1786565"/>
            <a:ext cx="4262310" cy="3159898"/>
            <a:chOff x="7384835" y="1786565"/>
            <a:chExt cx="4262310" cy="3159898"/>
          </a:xfrm>
        </p:grpSpPr>
        <p:sp>
          <p:nvSpPr>
            <p:cNvPr id="375" name="Rectangle 374">
              <a:extLst>
                <a:ext uri="{FF2B5EF4-FFF2-40B4-BE49-F238E27FC236}">
                  <a16:creationId xmlns:a16="http://schemas.microsoft.com/office/drawing/2014/main" id="{9CE64B35-07C5-2747-8A6A-76F2962DBA82}"/>
                </a:ext>
              </a:extLst>
            </p:cNvPr>
            <p:cNvSpPr/>
            <p:nvPr/>
          </p:nvSpPr>
          <p:spPr>
            <a:xfrm>
              <a:off x="7468552" y="1786565"/>
              <a:ext cx="4178593" cy="3159898"/>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377" name="Straight Connector 376">
              <a:extLst>
                <a:ext uri="{FF2B5EF4-FFF2-40B4-BE49-F238E27FC236}">
                  <a16:creationId xmlns:a16="http://schemas.microsoft.com/office/drawing/2014/main" id="{B7A98040-3442-754C-F8AB-BDA8CA17D5D5}"/>
                </a:ext>
              </a:extLst>
            </p:cNvPr>
            <p:cNvCxnSpPr>
              <a:cxnSpLocks/>
            </p:cNvCxnSpPr>
            <p:nvPr/>
          </p:nvCxnSpPr>
          <p:spPr>
            <a:xfrm flipH="1">
              <a:off x="7610657" y="2871098"/>
              <a:ext cx="1407351" cy="0"/>
            </a:xfrm>
            <a:prstGeom prst="line">
              <a:avLst/>
            </a:prstGeom>
            <a:ln w="15875"/>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78" name="Straight Connector 377">
              <a:extLst>
                <a:ext uri="{FF2B5EF4-FFF2-40B4-BE49-F238E27FC236}">
                  <a16:creationId xmlns:a16="http://schemas.microsoft.com/office/drawing/2014/main" id="{B3B255F1-8092-3902-4768-3552F3793DA6}"/>
                </a:ext>
              </a:extLst>
            </p:cNvPr>
            <p:cNvCxnSpPr>
              <a:cxnSpLocks/>
              <a:endCxn id="413" idx="6"/>
            </p:cNvCxnSpPr>
            <p:nvPr/>
          </p:nvCxnSpPr>
          <p:spPr>
            <a:xfrm flipH="1" flipV="1">
              <a:off x="7558748" y="3446973"/>
              <a:ext cx="877817" cy="762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79" name="Straight Connector 378">
              <a:extLst>
                <a:ext uri="{FF2B5EF4-FFF2-40B4-BE49-F238E27FC236}">
                  <a16:creationId xmlns:a16="http://schemas.microsoft.com/office/drawing/2014/main" id="{AE056822-3380-4E43-FFFA-72B26274D947}"/>
                </a:ext>
              </a:extLst>
            </p:cNvPr>
            <p:cNvCxnSpPr>
              <a:cxnSpLocks/>
              <a:endCxn id="412" idx="6"/>
            </p:cNvCxnSpPr>
            <p:nvPr/>
          </p:nvCxnSpPr>
          <p:spPr>
            <a:xfrm flipH="1" flipV="1">
              <a:off x="7555378" y="3257370"/>
              <a:ext cx="884103" cy="4754"/>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380" name="Rectangle 379">
              <a:extLst>
                <a:ext uri="{FF2B5EF4-FFF2-40B4-BE49-F238E27FC236}">
                  <a16:creationId xmlns:a16="http://schemas.microsoft.com/office/drawing/2014/main" id="{0021EFCC-EA65-6176-466A-E110F9345071}"/>
                </a:ext>
              </a:extLst>
            </p:cNvPr>
            <p:cNvSpPr/>
            <p:nvPr/>
          </p:nvSpPr>
          <p:spPr>
            <a:xfrm>
              <a:off x="8961919" y="4140519"/>
              <a:ext cx="200766" cy="211540"/>
            </a:xfrm>
            <a:prstGeom prst="rect">
              <a:avLst/>
            </a:prstGeom>
            <a:solidFill>
              <a:schemeClr val="bg1"/>
            </a:solidFill>
            <a:ln w="28575">
              <a:solidFill>
                <a:schemeClr val="bg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381" name="Rectangle: Rounded Corners 380">
              <a:extLst>
                <a:ext uri="{FF2B5EF4-FFF2-40B4-BE49-F238E27FC236}">
                  <a16:creationId xmlns:a16="http://schemas.microsoft.com/office/drawing/2014/main" id="{E07E14A2-CA41-8C0B-1CA8-A12BA679B03C}"/>
                </a:ext>
              </a:extLst>
            </p:cNvPr>
            <p:cNvSpPr/>
            <p:nvPr/>
          </p:nvSpPr>
          <p:spPr>
            <a:xfrm>
              <a:off x="8435601" y="3009285"/>
              <a:ext cx="1055675" cy="694205"/>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b="1" dirty="0">
                  <a:solidFill>
                    <a:schemeClr val="tx1">
                      <a:lumMod val="85000"/>
                      <a:lumOff val="15000"/>
                    </a:schemeClr>
                  </a:solidFill>
                  <a:latin typeface="Barlow" panose="00000500000000000000" pitchFamily="2" charset="0"/>
                </a:rPr>
                <a:t>PD CONTROLLER</a:t>
              </a:r>
            </a:p>
            <a:p>
              <a:pPr algn="ctr"/>
              <a:r>
                <a:rPr lang="en-US" sz="1050" b="1" dirty="0">
                  <a:solidFill>
                    <a:schemeClr val="tx1">
                      <a:lumMod val="85000"/>
                      <a:lumOff val="15000"/>
                    </a:schemeClr>
                  </a:solidFill>
                  <a:latin typeface="Barlow" panose="00000500000000000000" pitchFamily="2" charset="0"/>
                </a:rPr>
                <a:t>WITH PPS SUPPORT</a:t>
              </a:r>
              <a:endParaRPr lang="en-US" sz="600" b="1" dirty="0">
                <a:solidFill>
                  <a:schemeClr val="tx1">
                    <a:lumMod val="85000"/>
                    <a:lumOff val="15000"/>
                  </a:schemeClr>
                </a:solidFill>
                <a:latin typeface="Barlow" panose="00000500000000000000" pitchFamily="2" charset="0"/>
              </a:endParaRPr>
            </a:p>
          </p:txBody>
        </p:sp>
        <p:sp>
          <p:nvSpPr>
            <p:cNvPr id="382" name="Rectangle: Rounded Corners 381">
              <a:extLst>
                <a:ext uri="{FF2B5EF4-FFF2-40B4-BE49-F238E27FC236}">
                  <a16:creationId xmlns:a16="http://schemas.microsoft.com/office/drawing/2014/main" id="{19084D1E-F60E-1398-E7FD-943C24EC0EC3}"/>
                </a:ext>
              </a:extLst>
            </p:cNvPr>
            <p:cNvSpPr/>
            <p:nvPr/>
          </p:nvSpPr>
          <p:spPr>
            <a:xfrm>
              <a:off x="9942311" y="3107102"/>
              <a:ext cx="1043107" cy="601611"/>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b="1" dirty="0">
                  <a:solidFill>
                    <a:schemeClr val="tx1">
                      <a:lumMod val="85000"/>
                      <a:lumOff val="15000"/>
                    </a:schemeClr>
                  </a:solidFill>
                  <a:latin typeface="Barlow" panose="00000500000000000000" pitchFamily="2" charset="0"/>
                </a:rPr>
                <a:t>CHARGER</a:t>
              </a:r>
              <a:endParaRPr lang="en-US" sz="600" b="1" dirty="0">
                <a:solidFill>
                  <a:schemeClr val="tx1">
                    <a:lumMod val="85000"/>
                    <a:lumOff val="15000"/>
                  </a:schemeClr>
                </a:solidFill>
                <a:latin typeface="Barlow" panose="00000500000000000000" pitchFamily="2" charset="0"/>
              </a:endParaRPr>
            </a:p>
          </p:txBody>
        </p:sp>
        <p:sp>
          <p:nvSpPr>
            <p:cNvPr id="384" name="Rectangle: Rounded Corners 383">
              <a:extLst>
                <a:ext uri="{FF2B5EF4-FFF2-40B4-BE49-F238E27FC236}">
                  <a16:creationId xmlns:a16="http://schemas.microsoft.com/office/drawing/2014/main" id="{F6ECBEED-D36D-AEF1-5C6A-F5143446D272}"/>
                </a:ext>
              </a:extLst>
            </p:cNvPr>
            <p:cNvSpPr/>
            <p:nvPr/>
          </p:nvSpPr>
          <p:spPr>
            <a:xfrm>
              <a:off x="8430506" y="4040341"/>
              <a:ext cx="1031847"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b="1" dirty="0">
                  <a:solidFill>
                    <a:schemeClr val="tx1">
                      <a:lumMod val="85000"/>
                      <a:lumOff val="15000"/>
                    </a:schemeClr>
                  </a:solidFill>
                  <a:latin typeface="Barlow" panose="00000500000000000000" pitchFamily="2" charset="0"/>
                </a:rPr>
                <a:t>MCU </a:t>
              </a:r>
              <a:endParaRPr lang="en-US" sz="600" b="1" dirty="0">
                <a:solidFill>
                  <a:schemeClr val="tx1">
                    <a:lumMod val="85000"/>
                    <a:lumOff val="15000"/>
                  </a:schemeClr>
                </a:solidFill>
                <a:latin typeface="Barlow" panose="00000500000000000000" pitchFamily="2" charset="0"/>
              </a:endParaRPr>
            </a:p>
          </p:txBody>
        </p:sp>
        <p:grpSp>
          <p:nvGrpSpPr>
            <p:cNvPr id="385" name="Group 384">
              <a:extLst>
                <a:ext uri="{FF2B5EF4-FFF2-40B4-BE49-F238E27FC236}">
                  <a16:creationId xmlns:a16="http://schemas.microsoft.com/office/drawing/2014/main" id="{DFA03057-B445-715F-192F-F49519506E4D}"/>
                </a:ext>
              </a:extLst>
            </p:cNvPr>
            <p:cNvGrpSpPr/>
            <p:nvPr/>
          </p:nvGrpSpPr>
          <p:grpSpPr>
            <a:xfrm>
              <a:off x="11295957" y="4709288"/>
              <a:ext cx="174123" cy="65512"/>
              <a:chOff x="8643839" y="3430799"/>
              <a:chExt cx="290244" cy="111833"/>
            </a:xfrm>
          </p:grpSpPr>
          <p:cxnSp>
            <p:nvCxnSpPr>
              <p:cNvPr id="386" name="Straight Connector 385">
                <a:extLst>
                  <a:ext uri="{FF2B5EF4-FFF2-40B4-BE49-F238E27FC236}">
                    <a16:creationId xmlns:a16="http://schemas.microsoft.com/office/drawing/2014/main" id="{7599BB3D-73B8-4A54-33C6-A896EF9771D7}"/>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87" name="Straight Connector 386">
                <a:extLst>
                  <a:ext uri="{FF2B5EF4-FFF2-40B4-BE49-F238E27FC236}">
                    <a16:creationId xmlns:a16="http://schemas.microsoft.com/office/drawing/2014/main" id="{0E3BB4E7-9775-3048-51E1-63F50BE5495B}"/>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88" name="Straight Connector 387">
                <a:extLst>
                  <a:ext uri="{FF2B5EF4-FFF2-40B4-BE49-F238E27FC236}">
                    <a16:creationId xmlns:a16="http://schemas.microsoft.com/office/drawing/2014/main" id="{C0B407AA-3841-6505-E9DB-2957CE934063}"/>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cxnSp>
          <p:nvCxnSpPr>
            <p:cNvPr id="390" name="Connector: Elbow 389">
              <a:extLst>
                <a:ext uri="{FF2B5EF4-FFF2-40B4-BE49-F238E27FC236}">
                  <a16:creationId xmlns:a16="http://schemas.microsoft.com/office/drawing/2014/main" id="{25E1034C-DFDF-7D3B-D548-EBCF8EC94F34}"/>
                </a:ext>
              </a:extLst>
            </p:cNvPr>
            <p:cNvCxnSpPr>
              <a:cxnSpLocks/>
              <a:stCxn id="381" idx="0"/>
            </p:cNvCxnSpPr>
            <p:nvPr/>
          </p:nvCxnSpPr>
          <p:spPr>
            <a:xfrm rot="16200000" flipH="1">
              <a:off x="9657728" y="2314996"/>
              <a:ext cx="100626" cy="1489204"/>
            </a:xfrm>
            <a:prstGeom prst="bentConnector4">
              <a:avLst>
                <a:gd name="adj1" fmla="val -135157"/>
                <a:gd name="adj2" fmla="val 99982"/>
              </a:avLst>
            </a:prstGeom>
            <a:ln w="1905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91" name="Straight Connector 390">
              <a:extLst>
                <a:ext uri="{FF2B5EF4-FFF2-40B4-BE49-F238E27FC236}">
                  <a16:creationId xmlns:a16="http://schemas.microsoft.com/office/drawing/2014/main" id="{2D4A1CCE-1377-BD45-F348-C58A71F8B4B3}"/>
                </a:ext>
              </a:extLst>
            </p:cNvPr>
            <p:cNvCxnSpPr>
              <a:cxnSpLocks/>
            </p:cNvCxnSpPr>
            <p:nvPr/>
          </p:nvCxnSpPr>
          <p:spPr>
            <a:xfrm flipH="1">
              <a:off x="7643734" y="3584894"/>
              <a:ext cx="22391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92" name="Straight Connector 391">
              <a:extLst>
                <a:ext uri="{FF2B5EF4-FFF2-40B4-BE49-F238E27FC236}">
                  <a16:creationId xmlns:a16="http://schemas.microsoft.com/office/drawing/2014/main" id="{03C4C5D8-9660-560C-3DA1-C0C7C80C47F5}"/>
                </a:ext>
              </a:extLst>
            </p:cNvPr>
            <p:cNvCxnSpPr>
              <a:cxnSpLocks/>
            </p:cNvCxnSpPr>
            <p:nvPr/>
          </p:nvCxnSpPr>
          <p:spPr>
            <a:xfrm>
              <a:off x="7867646" y="3584894"/>
              <a:ext cx="0" cy="18995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393" name="TextBox 392">
              <a:extLst>
                <a:ext uri="{FF2B5EF4-FFF2-40B4-BE49-F238E27FC236}">
                  <a16:creationId xmlns:a16="http://schemas.microsoft.com/office/drawing/2014/main" id="{C134A9DA-827F-1150-2C49-46D465E7D169}"/>
                </a:ext>
              </a:extLst>
            </p:cNvPr>
            <p:cNvSpPr txBox="1"/>
            <p:nvPr/>
          </p:nvSpPr>
          <p:spPr>
            <a:xfrm>
              <a:off x="7595911" y="2820934"/>
              <a:ext cx="40588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VBUS</a:t>
              </a:r>
            </a:p>
          </p:txBody>
        </p:sp>
        <p:sp>
          <p:nvSpPr>
            <p:cNvPr id="394" name="TextBox 393">
              <a:extLst>
                <a:ext uri="{FF2B5EF4-FFF2-40B4-BE49-F238E27FC236}">
                  <a16:creationId xmlns:a16="http://schemas.microsoft.com/office/drawing/2014/main" id="{1A510757-74C9-FBE2-A8C0-FE8ED593B86E}"/>
                </a:ext>
              </a:extLst>
            </p:cNvPr>
            <p:cNvSpPr txBox="1"/>
            <p:nvPr/>
          </p:nvSpPr>
          <p:spPr>
            <a:xfrm>
              <a:off x="7620157" y="3086122"/>
              <a:ext cx="32573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CC1</a:t>
              </a:r>
            </a:p>
          </p:txBody>
        </p:sp>
        <p:sp>
          <p:nvSpPr>
            <p:cNvPr id="395" name="TextBox 394">
              <a:extLst>
                <a:ext uri="{FF2B5EF4-FFF2-40B4-BE49-F238E27FC236}">
                  <a16:creationId xmlns:a16="http://schemas.microsoft.com/office/drawing/2014/main" id="{D14A9514-7A40-5DAF-3E2A-FA75CCBC533A}"/>
                </a:ext>
              </a:extLst>
            </p:cNvPr>
            <p:cNvSpPr txBox="1"/>
            <p:nvPr/>
          </p:nvSpPr>
          <p:spPr>
            <a:xfrm>
              <a:off x="7610657" y="3268460"/>
              <a:ext cx="343364"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CC2</a:t>
              </a:r>
            </a:p>
          </p:txBody>
        </p:sp>
        <p:cxnSp>
          <p:nvCxnSpPr>
            <p:cNvPr id="396" name="Connector: Elbow 395">
              <a:extLst>
                <a:ext uri="{FF2B5EF4-FFF2-40B4-BE49-F238E27FC236}">
                  <a16:creationId xmlns:a16="http://schemas.microsoft.com/office/drawing/2014/main" id="{36D47D60-0330-9B67-DA77-DD2EED482990}"/>
                </a:ext>
              </a:extLst>
            </p:cNvPr>
            <p:cNvCxnSpPr>
              <a:cxnSpLocks/>
              <a:stCxn id="382" idx="3"/>
              <a:endCxn id="406" idx="0"/>
            </p:cNvCxnSpPr>
            <p:nvPr/>
          </p:nvCxnSpPr>
          <p:spPr>
            <a:xfrm>
              <a:off x="10985418" y="3407908"/>
              <a:ext cx="396872" cy="774441"/>
            </a:xfrm>
            <a:prstGeom prst="bentConnector2">
              <a:avLst/>
            </a:prstGeom>
            <a:ln w="15875"/>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97" name="Straight Connector 396">
              <a:extLst>
                <a:ext uri="{FF2B5EF4-FFF2-40B4-BE49-F238E27FC236}">
                  <a16:creationId xmlns:a16="http://schemas.microsoft.com/office/drawing/2014/main" id="{B295494A-D213-B6BE-2045-84B2893F5FD5}"/>
                </a:ext>
              </a:extLst>
            </p:cNvPr>
            <p:cNvCxnSpPr>
              <a:cxnSpLocks/>
              <a:stCxn id="406" idx="0"/>
            </p:cNvCxnSpPr>
            <p:nvPr/>
          </p:nvCxnSpPr>
          <p:spPr>
            <a:xfrm>
              <a:off x="11382290" y="4182349"/>
              <a:ext cx="305" cy="526943"/>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398" name="Arrow: Left-Right 397">
              <a:extLst>
                <a:ext uri="{FF2B5EF4-FFF2-40B4-BE49-F238E27FC236}">
                  <a16:creationId xmlns:a16="http://schemas.microsoft.com/office/drawing/2014/main" id="{AA8143B1-3119-C43E-7D8F-B0D51D008A9C}"/>
                </a:ext>
              </a:extLst>
            </p:cNvPr>
            <p:cNvSpPr/>
            <p:nvPr/>
          </p:nvSpPr>
          <p:spPr>
            <a:xfrm>
              <a:off x="9513453" y="3318031"/>
              <a:ext cx="406681" cy="154401"/>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399" name="Arrow: Left-Right 398">
              <a:extLst>
                <a:ext uri="{FF2B5EF4-FFF2-40B4-BE49-F238E27FC236}">
                  <a16:creationId xmlns:a16="http://schemas.microsoft.com/office/drawing/2014/main" id="{F74A88A9-B05B-55A6-8C44-95D2A9956652}"/>
                </a:ext>
              </a:extLst>
            </p:cNvPr>
            <p:cNvSpPr/>
            <p:nvPr/>
          </p:nvSpPr>
          <p:spPr>
            <a:xfrm rot="5400000">
              <a:off x="8765264" y="3804530"/>
              <a:ext cx="331271" cy="144867"/>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400" name="TextBox 399">
              <a:extLst>
                <a:ext uri="{FF2B5EF4-FFF2-40B4-BE49-F238E27FC236}">
                  <a16:creationId xmlns:a16="http://schemas.microsoft.com/office/drawing/2014/main" id="{8B3EF381-6AD8-EFD9-588A-BEFBC0238E48}"/>
                </a:ext>
              </a:extLst>
            </p:cNvPr>
            <p:cNvSpPr txBox="1"/>
            <p:nvPr/>
          </p:nvSpPr>
          <p:spPr>
            <a:xfrm>
              <a:off x="9568066" y="3292491"/>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sp>
          <p:nvSpPr>
            <p:cNvPr id="401" name="TextBox 400">
              <a:extLst>
                <a:ext uri="{FF2B5EF4-FFF2-40B4-BE49-F238E27FC236}">
                  <a16:creationId xmlns:a16="http://schemas.microsoft.com/office/drawing/2014/main" id="{6D343155-5287-CB64-7448-AB09FC7F8FE1}"/>
                </a:ext>
              </a:extLst>
            </p:cNvPr>
            <p:cNvSpPr txBox="1"/>
            <p:nvPr/>
          </p:nvSpPr>
          <p:spPr>
            <a:xfrm rot="16200000">
              <a:off x="8771716" y="3776936"/>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grpSp>
          <p:nvGrpSpPr>
            <p:cNvPr id="402" name="Group 401">
              <a:extLst>
                <a:ext uri="{FF2B5EF4-FFF2-40B4-BE49-F238E27FC236}">
                  <a16:creationId xmlns:a16="http://schemas.microsoft.com/office/drawing/2014/main" id="{CA689A4A-B81A-E6EF-AEEA-AB5BECD11171}"/>
                </a:ext>
              </a:extLst>
            </p:cNvPr>
            <p:cNvGrpSpPr/>
            <p:nvPr/>
          </p:nvGrpSpPr>
          <p:grpSpPr>
            <a:xfrm>
              <a:off x="7779464" y="3774844"/>
              <a:ext cx="174123" cy="65512"/>
              <a:chOff x="8643839" y="3430799"/>
              <a:chExt cx="290244" cy="111833"/>
            </a:xfrm>
          </p:grpSpPr>
          <p:cxnSp>
            <p:nvCxnSpPr>
              <p:cNvPr id="403" name="Straight Connector 402">
                <a:extLst>
                  <a:ext uri="{FF2B5EF4-FFF2-40B4-BE49-F238E27FC236}">
                    <a16:creationId xmlns:a16="http://schemas.microsoft.com/office/drawing/2014/main" id="{4FD3935F-D342-38E2-0638-5B17749AE0ED}"/>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04" name="Straight Connector 403">
                <a:extLst>
                  <a:ext uri="{FF2B5EF4-FFF2-40B4-BE49-F238E27FC236}">
                    <a16:creationId xmlns:a16="http://schemas.microsoft.com/office/drawing/2014/main" id="{C33D94D9-2B78-3842-A7EC-8AEEB4C217FD}"/>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05" name="Straight Connector 404">
                <a:extLst>
                  <a:ext uri="{FF2B5EF4-FFF2-40B4-BE49-F238E27FC236}">
                    <a16:creationId xmlns:a16="http://schemas.microsoft.com/office/drawing/2014/main" id="{BBCA9914-A2FE-AC63-CE05-4CA382A65A70}"/>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pic>
          <p:nvPicPr>
            <p:cNvPr id="406" name="Picture 405">
              <a:extLst>
                <a:ext uri="{FF2B5EF4-FFF2-40B4-BE49-F238E27FC236}">
                  <a16:creationId xmlns:a16="http://schemas.microsoft.com/office/drawing/2014/main" id="{CB599770-A282-D3D8-A5EC-6C37BBCFE6ED}"/>
                </a:ext>
              </a:extLst>
            </p:cNvPr>
            <p:cNvPicPr>
              <a:picLocks noChangeAspect="1"/>
            </p:cNvPicPr>
            <p:nvPr/>
          </p:nvPicPr>
          <p:blipFill>
            <a:blip r:embed="rId4"/>
            <a:stretch>
              <a:fillRect/>
            </a:stretch>
          </p:blipFill>
          <p:spPr>
            <a:xfrm>
              <a:off x="11194722" y="4182349"/>
              <a:ext cx="375136" cy="356208"/>
            </a:xfrm>
            <a:prstGeom prst="rect">
              <a:avLst/>
            </a:prstGeom>
          </p:spPr>
        </p:pic>
        <p:grpSp>
          <p:nvGrpSpPr>
            <p:cNvPr id="409" name="Group 408">
              <a:extLst>
                <a:ext uri="{FF2B5EF4-FFF2-40B4-BE49-F238E27FC236}">
                  <a16:creationId xmlns:a16="http://schemas.microsoft.com/office/drawing/2014/main" id="{8A0D24FC-ED9F-6B2C-F3CF-6A5C928A90BA}"/>
                </a:ext>
              </a:extLst>
            </p:cNvPr>
            <p:cNvGrpSpPr/>
            <p:nvPr/>
          </p:nvGrpSpPr>
          <p:grpSpPr>
            <a:xfrm>
              <a:off x="7384835" y="2818063"/>
              <a:ext cx="259035" cy="885426"/>
              <a:chOff x="6498615" y="3069590"/>
              <a:chExt cx="303099" cy="1091099"/>
            </a:xfrm>
          </p:grpSpPr>
          <p:sp>
            <p:nvSpPr>
              <p:cNvPr id="410" name="Rectangle: Rounded Corners 409">
                <a:extLst>
                  <a:ext uri="{FF2B5EF4-FFF2-40B4-BE49-F238E27FC236}">
                    <a16:creationId xmlns:a16="http://schemas.microsoft.com/office/drawing/2014/main" id="{FCEEFE6B-7F0B-2F01-E6CB-158E1BB37BAA}"/>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1" name="Oval 410">
                <a:extLst>
                  <a:ext uri="{FF2B5EF4-FFF2-40B4-BE49-F238E27FC236}">
                    <a16:creationId xmlns:a16="http://schemas.microsoft.com/office/drawing/2014/main" id="{B0CAF504-DA55-B54A-4649-F25B7A77F1E0}"/>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412" name="Oval 411">
                <a:extLst>
                  <a:ext uri="{FF2B5EF4-FFF2-40B4-BE49-F238E27FC236}">
                    <a16:creationId xmlns:a16="http://schemas.microsoft.com/office/drawing/2014/main" id="{4B08A2B2-B7B0-7DCD-4989-2DE6A48008A3}"/>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413" name="Oval 412">
                <a:extLst>
                  <a:ext uri="{FF2B5EF4-FFF2-40B4-BE49-F238E27FC236}">
                    <a16:creationId xmlns:a16="http://schemas.microsoft.com/office/drawing/2014/main" id="{A5AD6681-B891-9296-0F52-266E01DCBE37}"/>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sp>
          <p:nvSpPr>
            <p:cNvPr id="414" name="TextBox 413">
              <a:extLst>
                <a:ext uri="{FF2B5EF4-FFF2-40B4-BE49-F238E27FC236}">
                  <a16:creationId xmlns:a16="http://schemas.microsoft.com/office/drawing/2014/main" id="{7DA312BB-BE15-B3CD-4787-8374C6F36612}"/>
                </a:ext>
              </a:extLst>
            </p:cNvPr>
            <p:cNvSpPr txBox="1"/>
            <p:nvPr/>
          </p:nvSpPr>
          <p:spPr>
            <a:xfrm>
              <a:off x="8947660" y="1843269"/>
              <a:ext cx="781465" cy="293983"/>
            </a:xfrm>
            <a:prstGeom prst="rect">
              <a:avLst/>
            </a:prstGeom>
          </p:spPr>
          <p:txBody>
            <a:bodyPr vert="horz" wrap="none" lIns="0" tIns="0" rIns="0" bIns="0" rtlCol="0" anchor="t" anchorCtr="0">
              <a:normAutofit/>
            </a:bodyPr>
            <a:lstStyle/>
            <a:p>
              <a:pPr algn="l"/>
              <a:r>
                <a:rPr lang="en-US" sz="1400" b="1" dirty="0">
                  <a:solidFill>
                    <a:schemeClr val="accent2">
                      <a:lumMod val="75000"/>
                    </a:schemeClr>
                  </a:solidFill>
                </a:rPr>
                <a:t>Sink side (Fast Charging capable)</a:t>
              </a:r>
            </a:p>
          </p:txBody>
        </p:sp>
        <p:cxnSp>
          <p:nvCxnSpPr>
            <p:cNvPr id="420" name="Connector: Elbow 419">
              <a:extLst>
                <a:ext uri="{FF2B5EF4-FFF2-40B4-BE49-F238E27FC236}">
                  <a16:creationId xmlns:a16="http://schemas.microsoft.com/office/drawing/2014/main" id="{287BB070-4A29-1447-0B6C-CB06F6FC62C1}"/>
                </a:ext>
              </a:extLst>
            </p:cNvPr>
            <p:cNvCxnSpPr>
              <a:cxnSpLocks/>
              <a:stCxn id="461" idx="3"/>
              <a:endCxn id="406" idx="0"/>
            </p:cNvCxnSpPr>
            <p:nvPr/>
          </p:nvCxnSpPr>
          <p:spPr>
            <a:xfrm>
              <a:off x="11030043" y="2495637"/>
              <a:ext cx="352247" cy="1686712"/>
            </a:xfrm>
            <a:prstGeom prst="bentConnector2">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21" name="Connector: Elbow 420">
              <a:extLst>
                <a:ext uri="{FF2B5EF4-FFF2-40B4-BE49-F238E27FC236}">
                  <a16:creationId xmlns:a16="http://schemas.microsoft.com/office/drawing/2014/main" id="{DBAB89F8-A3FB-C129-81B9-A481EAC0154E}"/>
                </a:ext>
              </a:extLst>
            </p:cNvPr>
            <p:cNvCxnSpPr>
              <a:cxnSpLocks/>
              <a:stCxn id="461" idx="1"/>
              <a:endCxn id="411" idx="0"/>
            </p:cNvCxnSpPr>
            <p:nvPr/>
          </p:nvCxnSpPr>
          <p:spPr>
            <a:xfrm rot="10800000" flipV="1">
              <a:off x="7514851" y="2495637"/>
              <a:ext cx="2366122" cy="434878"/>
            </a:xfrm>
            <a:prstGeom prst="bentConnector2">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31" name="Straight Connector 430">
              <a:extLst>
                <a:ext uri="{FF2B5EF4-FFF2-40B4-BE49-F238E27FC236}">
                  <a16:creationId xmlns:a16="http://schemas.microsoft.com/office/drawing/2014/main" id="{7CBA2FA6-CECD-1BBF-EDCF-EA83F66A2369}"/>
                </a:ext>
              </a:extLst>
            </p:cNvPr>
            <p:cNvCxnSpPr>
              <a:cxnSpLocks/>
            </p:cNvCxnSpPr>
            <p:nvPr/>
          </p:nvCxnSpPr>
          <p:spPr>
            <a:xfrm>
              <a:off x="10977505" y="4156944"/>
              <a:ext cx="401730" cy="0"/>
            </a:xfrm>
            <a:prstGeom prst="line">
              <a:avLst/>
            </a:prstGeom>
            <a:ln w="12700">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32" name="Straight Connector 431">
              <a:extLst>
                <a:ext uri="{FF2B5EF4-FFF2-40B4-BE49-F238E27FC236}">
                  <a16:creationId xmlns:a16="http://schemas.microsoft.com/office/drawing/2014/main" id="{FFBFAD84-F9C5-0761-6E06-3BA424AB5382}"/>
                </a:ext>
              </a:extLst>
            </p:cNvPr>
            <p:cNvCxnSpPr>
              <a:cxnSpLocks/>
            </p:cNvCxnSpPr>
            <p:nvPr/>
          </p:nvCxnSpPr>
          <p:spPr>
            <a:xfrm>
              <a:off x="10980865" y="4590730"/>
              <a:ext cx="401730" cy="0"/>
            </a:xfrm>
            <a:prstGeom prst="line">
              <a:avLst/>
            </a:prstGeom>
            <a:ln w="12700">
              <a:solidFill>
                <a:schemeClr val="dk1"/>
              </a:solidFill>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433" name="Rectangle: Rounded Corners 432">
              <a:extLst>
                <a:ext uri="{FF2B5EF4-FFF2-40B4-BE49-F238E27FC236}">
                  <a16:creationId xmlns:a16="http://schemas.microsoft.com/office/drawing/2014/main" id="{F15C2B46-9E11-06DE-65B7-5AAE4B738BEF}"/>
                </a:ext>
              </a:extLst>
            </p:cNvPr>
            <p:cNvSpPr/>
            <p:nvPr/>
          </p:nvSpPr>
          <p:spPr>
            <a:xfrm>
              <a:off x="9951519" y="4042599"/>
              <a:ext cx="1012601" cy="599353"/>
            </a:xfrm>
            <a:prstGeom prst="roundRect">
              <a:avLst>
                <a:gd name="adj" fmla="val 1001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b="1" dirty="0">
                  <a:solidFill>
                    <a:schemeClr val="tx1">
                      <a:lumMod val="85000"/>
                      <a:lumOff val="15000"/>
                    </a:schemeClr>
                  </a:solidFill>
                  <a:latin typeface="Barlow" panose="00000500000000000000" pitchFamily="2" charset="0"/>
                </a:rPr>
                <a:t>FUEL GAUGE</a:t>
              </a:r>
              <a:endParaRPr lang="en-US" sz="700" b="1" dirty="0">
                <a:solidFill>
                  <a:schemeClr val="tx1">
                    <a:lumMod val="85000"/>
                    <a:lumOff val="15000"/>
                  </a:schemeClr>
                </a:solidFill>
                <a:latin typeface="Barlow" panose="00000500000000000000" pitchFamily="2" charset="0"/>
              </a:endParaRPr>
            </a:p>
          </p:txBody>
        </p:sp>
        <p:sp>
          <p:nvSpPr>
            <p:cNvPr id="434" name="Arrow: Left-Right 433">
              <a:extLst>
                <a:ext uri="{FF2B5EF4-FFF2-40B4-BE49-F238E27FC236}">
                  <a16:creationId xmlns:a16="http://schemas.microsoft.com/office/drawing/2014/main" id="{945E7A4A-EBC7-C2BD-C9E9-90BAB56701E2}"/>
                </a:ext>
              </a:extLst>
            </p:cNvPr>
            <p:cNvSpPr/>
            <p:nvPr/>
          </p:nvSpPr>
          <p:spPr>
            <a:xfrm>
              <a:off x="9477778" y="4254711"/>
              <a:ext cx="460356" cy="140530"/>
            </a:xfrm>
            <a:prstGeom prst="leftRightArrow">
              <a:avLst>
                <a:gd name="adj1" fmla="val 64384"/>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435" name="TextBox 434">
              <a:extLst>
                <a:ext uri="{FF2B5EF4-FFF2-40B4-BE49-F238E27FC236}">
                  <a16:creationId xmlns:a16="http://schemas.microsoft.com/office/drawing/2014/main" id="{E519A015-7AEE-9F9E-B7F0-15575E5F1CC3}"/>
                </a:ext>
              </a:extLst>
            </p:cNvPr>
            <p:cNvSpPr txBox="1"/>
            <p:nvPr/>
          </p:nvSpPr>
          <p:spPr>
            <a:xfrm>
              <a:off x="9548686" y="4214027"/>
              <a:ext cx="484281"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I2C</a:t>
              </a:r>
            </a:p>
          </p:txBody>
        </p:sp>
        <p:sp>
          <p:nvSpPr>
            <p:cNvPr id="461" name="Rectangle: Rounded Corners 460">
              <a:extLst>
                <a:ext uri="{FF2B5EF4-FFF2-40B4-BE49-F238E27FC236}">
                  <a16:creationId xmlns:a16="http://schemas.microsoft.com/office/drawing/2014/main" id="{F0462CE1-8601-0CEA-ADED-1ADA31C68E96}"/>
                </a:ext>
              </a:extLst>
            </p:cNvPr>
            <p:cNvSpPr/>
            <p:nvPr/>
          </p:nvSpPr>
          <p:spPr>
            <a:xfrm>
              <a:off x="9880973" y="2194831"/>
              <a:ext cx="1149070" cy="601611"/>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b="1" dirty="0">
                  <a:solidFill>
                    <a:schemeClr val="tx1">
                      <a:lumMod val="85000"/>
                      <a:lumOff val="15000"/>
                    </a:schemeClr>
                  </a:solidFill>
                  <a:latin typeface="Barlow" panose="00000500000000000000" pitchFamily="2" charset="0"/>
                </a:rPr>
                <a:t>LOAD SWITCH/S.C.C.</a:t>
              </a:r>
              <a:endParaRPr lang="en-US" sz="600" b="1" dirty="0">
                <a:solidFill>
                  <a:schemeClr val="tx1">
                    <a:lumMod val="85000"/>
                    <a:lumOff val="15000"/>
                  </a:schemeClr>
                </a:solidFill>
                <a:latin typeface="Barlow" panose="00000500000000000000" pitchFamily="2" charset="0"/>
              </a:endParaRPr>
            </a:p>
          </p:txBody>
        </p:sp>
      </p:grpSp>
      <p:sp>
        <p:nvSpPr>
          <p:cNvPr id="7" name="Date Placeholder 3">
            <a:extLst>
              <a:ext uri="{FF2B5EF4-FFF2-40B4-BE49-F238E27FC236}">
                <a16:creationId xmlns:a16="http://schemas.microsoft.com/office/drawing/2014/main" id="{DF15F44E-485B-652E-EA31-F0A0072D3244}"/>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Tree>
    <p:extLst>
      <p:ext uri="{BB962C8B-B14F-4D97-AF65-F5344CB8AC3E}">
        <p14:creationId xmlns:p14="http://schemas.microsoft.com/office/powerpoint/2010/main" val="177075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0"/>
                                        </p:tgtEl>
                                        <p:attrNameLst>
                                          <p:attrName>style.visibility</p:attrName>
                                        </p:attrNameLst>
                                      </p:cBhvr>
                                      <p:to>
                                        <p:strVal val="visible"/>
                                      </p:to>
                                    </p:set>
                                    <p:animEffect transition="in" filter="fade">
                                      <p:cBhvr>
                                        <p:cTn id="10" dur="500"/>
                                        <p:tgtEl>
                                          <p:spTgt spid="49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9"/>
                                        </p:tgtEl>
                                        <p:attrNameLst>
                                          <p:attrName>style.visibility</p:attrName>
                                        </p:attrNameLst>
                                      </p:cBhvr>
                                      <p:to>
                                        <p:strVal val="visible"/>
                                      </p:to>
                                    </p:set>
                                    <p:animEffect transition="in" filter="fade">
                                      <p:cBhvr>
                                        <p:cTn id="15" dur="500"/>
                                        <p:tgtEl>
                                          <p:spTgt spid="30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Feature Comparison: MAX77958 vs. MAX25432B in PD and PPS Applications</a:t>
            </a:r>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7</a:t>
            </a:fld>
            <a:endParaRPr lang="en-US" dirty="0"/>
          </a:p>
        </p:txBody>
      </p:sp>
      <p:sp>
        <p:nvSpPr>
          <p:cNvPr id="7" name="Date Placeholder 3">
            <a:extLst>
              <a:ext uri="{FF2B5EF4-FFF2-40B4-BE49-F238E27FC236}">
                <a16:creationId xmlns:a16="http://schemas.microsoft.com/office/drawing/2014/main" id="{DF15F44E-485B-652E-EA31-F0A0072D3244}"/>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graphicFrame>
        <p:nvGraphicFramePr>
          <p:cNvPr id="8" name="Table 7">
            <a:extLst>
              <a:ext uri="{FF2B5EF4-FFF2-40B4-BE49-F238E27FC236}">
                <a16:creationId xmlns:a16="http://schemas.microsoft.com/office/drawing/2014/main" id="{708F1EEC-4D9F-6E52-397D-0FCC80124C0A}"/>
              </a:ext>
            </a:extLst>
          </p:cNvPr>
          <p:cNvGraphicFramePr>
            <a:graphicFrameLocks noGrp="1"/>
          </p:cNvGraphicFramePr>
          <p:nvPr>
            <p:extLst>
              <p:ext uri="{D42A27DB-BD31-4B8C-83A1-F6EECF244321}">
                <p14:modId xmlns:p14="http://schemas.microsoft.com/office/powerpoint/2010/main" val="1905169446"/>
              </p:ext>
            </p:extLst>
          </p:nvPr>
        </p:nvGraphicFramePr>
        <p:xfrm>
          <a:off x="457079" y="1500071"/>
          <a:ext cx="6549117" cy="2966720"/>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3782468800"/>
                    </a:ext>
                  </a:extLst>
                </a:gridCol>
                <a:gridCol w="1896685">
                  <a:extLst>
                    <a:ext uri="{9D8B030D-6E8A-4147-A177-3AD203B41FA5}">
                      <a16:colId xmlns:a16="http://schemas.microsoft.com/office/drawing/2014/main" val="2922471940"/>
                    </a:ext>
                  </a:extLst>
                </a:gridCol>
                <a:gridCol w="1943099">
                  <a:extLst>
                    <a:ext uri="{9D8B030D-6E8A-4147-A177-3AD203B41FA5}">
                      <a16:colId xmlns:a16="http://schemas.microsoft.com/office/drawing/2014/main" val="3613776899"/>
                    </a:ext>
                  </a:extLst>
                </a:gridCol>
              </a:tblGrid>
              <a:tr h="370840">
                <a:tc>
                  <a:txBody>
                    <a:bodyPr/>
                    <a:lstStyle/>
                    <a:p>
                      <a:r>
                        <a:rPr lang="en-US" dirty="0"/>
                        <a:t>Role</a:t>
                      </a:r>
                    </a:p>
                  </a:txBody>
                  <a:tcPr/>
                </a:tc>
                <a:tc>
                  <a:txBody>
                    <a:bodyPr/>
                    <a:lstStyle/>
                    <a:p>
                      <a:pPr algn="ctr"/>
                      <a:r>
                        <a:rPr lang="en-US" b="1" dirty="0"/>
                        <a:t>MAX77958</a:t>
                      </a:r>
                    </a:p>
                  </a:txBody>
                  <a:tcPr/>
                </a:tc>
                <a:tc>
                  <a:txBody>
                    <a:bodyPr/>
                    <a:lstStyle/>
                    <a:p>
                      <a:pPr algn="ctr"/>
                      <a:r>
                        <a:rPr lang="en-US" b="1" dirty="0"/>
                        <a:t>MAX25432B</a:t>
                      </a:r>
                    </a:p>
                  </a:txBody>
                  <a:tcPr/>
                </a:tc>
                <a:extLst>
                  <a:ext uri="{0D108BD9-81ED-4DB2-BD59-A6C34878D82A}">
                    <a16:rowId xmlns:a16="http://schemas.microsoft.com/office/drawing/2014/main" val="1599622229"/>
                  </a:ext>
                </a:extLst>
              </a:tr>
              <a:tr h="370840">
                <a:tc>
                  <a:txBody>
                    <a:bodyPr/>
                    <a:lstStyle/>
                    <a:p>
                      <a:r>
                        <a:rPr lang="en-US" dirty="0"/>
                        <a:t>Sink PD capable</a:t>
                      </a:r>
                    </a:p>
                  </a:txBody>
                  <a:tcPr/>
                </a:tc>
                <a:tc>
                  <a:txBody>
                    <a:bodyPr/>
                    <a:lstStyle/>
                    <a:p>
                      <a:pPr algn="ctr"/>
                      <a:r>
                        <a:rPr lang="en-US" b="1" dirty="0">
                          <a:solidFill>
                            <a:srgbClr val="00B050"/>
                          </a:solidFill>
                        </a:rPr>
                        <a:t>Y</a:t>
                      </a:r>
                    </a:p>
                  </a:txBody>
                  <a:tcPr/>
                </a:tc>
                <a:tc>
                  <a:txBody>
                    <a:bodyPr/>
                    <a:lstStyle/>
                    <a:p>
                      <a:pPr algn="ctr"/>
                      <a:r>
                        <a:rPr lang="en-US" b="1" dirty="0">
                          <a:solidFill>
                            <a:srgbClr val="FF0000"/>
                          </a:solidFill>
                        </a:rPr>
                        <a:t>N</a:t>
                      </a:r>
                    </a:p>
                  </a:txBody>
                  <a:tcPr/>
                </a:tc>
                <a:extLst>
                  <a:ext uri="{0D108BD9-81ED-4DB2-BD59-A6C34878D82A}">
                    <a16:rowId xmlns:a16="http://schemas.microsoft.com/office/drawing/2014/main" val="2440900852"/>
                  </a:ext>
                </a:extLst>
              </a:tr>
              <a:tr h="370840">
                <a:tc>
                  <a:txBody>
                    <a:bodyPr/>
                    <a:lstStyle/>
                    <a:p>
                      <a:r>
                        <a:rPr lang="en-US" dirty="0"/>
                        <a:t>Sink PPS capable</a:t>
                      </a:r>
                    </a:p>
                  </a:txBody>
                  <a:tcPr/>
                </a:tc>
                <a:tc>
                  <a:txBody>
                    <a:bodyPr/>
                    <a:lstStyle/>
                    <a:p>
                      <a:pPr algn="ctr"/>
                      <a:r>
                        <a:rPr lang="en-US" b="1" dirty="0">
                          <a:solidFill>
                            <a:srgbClr val="00B050"/>
                          </a:solidFill>
                        </a:rPr>
                        <a:t>Y</a:t>
                      </a:r>
                    </a:p>
                  </a:txBody>
                  <a:tcPr/>
                </a:tc>
                <a:tc>
                  <a:txBody>
                    <a:bodyPr/>
                    <a:lstStyle/>
                    <a:p>
                      <a:pPr algn="ctr"/>
                      <a:r>
                        <a:rPr lang="en-US" b="1" dirty="0">
                          <a:solidFill>
                            <a:srgbClr val="FF0000"/>
                          </a:solidFill>
                        </a:rPr>
                        <a:t>N</a:t>
                      </a:r>
                    </a:p>
                  </a:txBody>
                  <a:tcPr/>
                </a:tc>
                <a:extLst>
                  <a:ext uri="{0D108BD9-81ED-4DB2-BD59-A6C34878D82A}">
                    <a16:rowId xmlns:a16="http://schemas.microsoft.com/office/drawing/2014/main" val="3379246199"/>
                  </a:ext>
                </a:extLst>
              </a:tr>
              <a:tr h="370840">
                <a:tc>
                  <a:txBody>
                    <a:bodyPr/>
                    <a:lstStyle/>
                    <a:p>
                      <a:r>
                        <a:rPr lang="en-US" dirty="0"/>
                        <a:t>Source PD capable </a:t>
                      </a:r>
                    </a:p>
                  </a:txBody>
                  <a:tcPr/>
                </a:tc>
                <a:tc>
                  <a:txBody>
                    <a:bodyPr/>
                    <a:lstStyle/>
                    <a:p>
                      <a:pPr algn="ctr"/>
                      <a:r>
                        <a:rPr lang="en-US" b="1" dirty="0">
                          <a:solidFill>
                            <a:srgbClr val="00B050"/>
                          </a:solidFill>
                        </a:rPr>
                        <a:t>Y</a:t>
                      </a:r>
                    </a:p>
                  </a:txBody>
                  <a:tcPr/>
                </a:tc>
                <a:tc>
                  <a:txBody>
                    <a:bodyPr/>
                    <a:lstStyle/>
                    <a:p>
                      <a:pPr algn="ctr"/>
                      <a:r>
                        <a:rPr lang="en-US" b="1" dirty="0">
                          <a:solidFill>
                            <a:srgbClr val="00B050"/>
                          </a:solidFill>
                        </a:rPr>
                        <a:t>Y</a:t>
                      </a:r>
                    </a:p>
                  </a:txBody>
                  <a:tcPr/>
                </a:tc>
                <a:extLst>
                  <a:ext uri="{0D108BD9-81ED-4DB2-BD59-A6C34878D82A}">
                    <a16:rowId xmlns:a16="http://schemas.microsoft.com/office/drawing/2014/main" val="2689074835"/>
                  </a:ext>
                </a:extLst>
              </a:tr>
              <a:tr h="370840">
                <a:tc>
                  <a:txBody>
                    <a:bodyPr/>
                    <a:lstStyle/>
                    <a:p>
                      <a:r>
                        <a:rPr lang="en-US" dirty="0"/>
                        <a:t>Source PPS capable </a:t>
                      </a:r>
                    </a:p>
                  </a:txBody>
                  <a:tcPr/>
                </a:tc>
                <a:tc>
                  <a:txBody>
                    <a:bodyPr/>
                    <a:lstStyle/>
                    <a:p>
                      <a:pPr algn="ctr"/>
                      <a:r>
                        <a:rPr lang="en-US" b="1" dirty="0">
                          <a:solidFill>
                            <a:srgbClr val="FF0000"/>
                          </a:solidFill>
                        </a:rPr>
                        <a:t>N</a:t>
                      </a:r>
                    </a:p>
                  </a:txBody>
                  <a:tcPr/>
                </a:tc>
                <a:tc>
                  <a:txBody>
                    <a:bodyPr/>
                    <a:lstStyle/>
                    <a:p>
                      <a:pPr algn="ctr"/>
                      <a:r>
                        <a:rPr lang="en-US" b="1" dirty="0">
                          <a:solidFill>
                            <a:srgbClr val="00B050"/>
                          </a:solidFill>
                        </a:rPr>
                        <a:t>Y</a:t>
                      </a:r>
                    </a:p>
                  </a:txBody>
                  <a:tcPr/>
                </a:tc>
                <a:extLst>
                  <a:ext uri="{0D108BD9-81ED-4DB2-BD59-A6C34878D82A}">
                    <a16:rowId xmlns:a16="http://schemas.microsoft.com/office/drawing/2014/main" val="115509575"/>
                  </a:ext>
                </a:extLst>
              </a:tr>
              <a:tr h="370840">
                <a:tc>
                  <a:txBody>
                    <a:bodyPr/>
                    <a:lstStyle/>
                    <a:p>
                      <a:r>
                        <a:rPr lang="en-US" dirty="0"/>
                        <a:t>DRP</a:t>
                      </a:r>
                    </a:p>
                  </a:txBody>
                  <a:tcPr/>
                </a:tc>
                <a:tc>
                  <a:txBody>
                    <a:bodyPr/>
                    <a:lstStyle/>
                    <a:p>
                      <a:pPr algn="ctr"/>
                      <a:r>
                        <a:rPr lang="en-US" b="1" dirty="0">
                          <a:solidFill>
                            <a:srgbClr val="00B050"/>
                          </a:solidFill>
                        </a:rPr>
                        <a:t>Y</a:t>
                      </a:r>
                    </a:p>
                  </a:txBody>
                  <a:tcPr/>
                </a:tc>
                <a:tc>
                  <a:txBody>
                    <a:bodyPr/>
                    <a:lstStyle/>
                    <a:p>
                      <a:pPr algn="ctr"/>
                      <a:r>
                        <a:rPr lang="en-US" b="1" dirty="0">
                          <a:solidFill>
                            <a:srgbClr val="FF0000"/>
                          </a:solidFill>
                        </a:rPr>
                        <a:t>N</a:t>
                      </a:r>
                    </a:p>
                  </a:txBody>
                  <a:tcPr/>
                </a:tc>
                <a:extLst>
                  <a:ext uri="{0D108BD9-81ED-4DB2-BD59-A6C34878D82A}">
                    <a16:rowId xmlns:a16="http://schemas.microsoft.com/office/drawing/2014/main" val="3625959542"/>
                  </a:ext>
                </a:extLst>
              </a:tr>
              <a:tr h="370840">
                <a:tc>
                  <a:txBody>
                    <a:bodyPr/>
                    <a:lstStyle/>
                    <a:p>
                      <a:r>
                        <a:rPr lang="en-US" dirty="0"/>
                        <a:t>Automotive</a:t>
                      </a:r>
                    </a:p>
                  </a:txBody>
                  <a:tcPr/>
                </a:tc>
                <a:tc>
                  <a:txBody>
                    <a:bodyPr/>
                    <a:lstStyle/>
                    <a:p>
                      <a:pPr algn="ctr"/>
                      <a:r>
                        <a:rPr lang="en-US" b="1" dirty="0">
                          <a:solidFill>
                            <a:srgbClr val="FF0000"/>
                          </a:solidFill>
                        </a:rPr>
                        <a:t>N</a:t>
                      </a:r>
                    </a:p>
                  </a:txBody>
                  <a:tcPr/>
                </a:tc>
                <a:tc>
                  <a:txBody>
                    <a:bodyPr/>
                    <a:lstStyle/>
                    <a:p>
                      <a:pPr algn="ctr"/>
                      <a:r>
                        <a:rPr lang="en-US" b="1" dirty="0">
                          <a:solidFill>
                            <a:srgbClr val="00B050"/>
                          </a:solidFill>
                        </a:rPr>
                        <a:t>Y</a:t>
                      </a:r>
                    </a:p>
                  </a:txBody>
                  <a:tcPr/>
                </a:tc>
                <a:extLst>
                  <a:ext uri="{0D108BD9-81ED-4DB2-BD59-A6C34878D82A}">
                    <a16:rowId xmlns:a16="http://schemas.microsoft.com/office/drawing/2014/main" val="469760084"/>
                  </a:ext>
                </a:extLst>
              </a:tr>
              <a:tr h="370840">
                <a:tc>
                  <a:txBody>
                    <a:bodyPr/>
                    <a:lstStyle/>
                    <a:p>
                      <a:r>
                        <a:rPr lang="en-US" dirty="0"/>
                        <a:t>Standalone Operation</a:t>
                      </a:r>
                    </a:p>
                  </a:txBody>
                  <a:tcPr/>
                </a:tc>
                <a:tc>
                  <a:txBody>
                    <a:bodyPr/>
                    <a:lstStyle/>
                    <a:p>
                      <a:pPr algn="ctr"/>
                      <a:r>
                        <a:rPr lang="en-US" b="1" dirty="0">
                          <a:solidFill>
                            <a:schemeClr val="accent4"/>
                          </a:solidFill>
                        </a:rPr>
                        <a:t>Y</a:t>
                      </a:r>
                    </a:p>
                  </a:txBody>
                  <a:tcPr/>
                </a:tc>
                <a:tc>
                  <a:txBody>
                    <a:bodyPr/>
                    <a:lstStyle/>
                    <a:p>
                      <a:pPr algn="ctr"/>
                      <a:r>
                        <a:rPr lang="en-US" b="1" dirty="0">
                          <a:solidFill>
                            <a:srgbClr val="FF0000"/>
                          </a:solidFill>
                        </a:rPr>
                        <a:t>N</a:t>
                      </a:r>
                    </a:p>
                  </a:txBody>
                  <a:tcPr/>
                </a:tc>
                <a:extLst>
                  <a:ext uri="{0D108BD9-81ED-4DB2-BD59-A6C34878D82A}">
                    <a16:rowId xmlns:a16="http://schemas.microsoft.com/office/drawing/2014/main" val="2310231641"/>
                  </a:ext>
                </a:extLst>
              </a:tr>
            </a:tbl>
          </a:graphicData>
        </a:graphic>
      </p:graphicFrame>
      <p:grpSp>
        <p:nvGrpSpPr>
          <p:cNvPr id="24" name="Group 23">
            <a:extLst>
              <a:ext uri="{FF2B5EF4-FFF2-40B4-BE49-F238E27FC236}">
                <a16:creationId xmlns:a16="http://schemas.microsoft.com/office/drawing/2014/main" id="{F2C29A22-E3FC-4B97-EF8E-46B1036AD12B}"/>
              </a:ext>
            </a:extLst>
          </p:cNvPr>
          <p:cNvGrpSpPr/>
          <p:nvPr/>
        </p:nvGrpSpPr>
        <p:grpSpPr>
          <a:xfrm>
            <a:off x="228166" y="4516904"/>
            <a:ext cx="5791200" cy="1975716"/>
            <a:chOff x="566057" y="4389777"/>
            <a:chExt cx="5791200" cy="1975716"/>
          </a:xfrm>
        </p:grpSpPr>
        <p:sp>
          <p:nvSpPr>
            <p:cNvPr id="12" name="Oval 11">
              <a:extLst>
                <a:ext uri="{FF2B5EF4-FFF2-40B4-BE49-F238E27FC236}">
                  <a16:creationId xmlns:a16="http://schemas.microsoft.com/office/drawing/2014/main" id="{6EBF431F-C093-3260-AF61-FAAFF2687CF0}"/>
                </a:ext>
              </a:extLst>
            </p:cNvPr>
            <p:cNvSpPr/>
            <p:nvPr/>
          </p:nvSpPr>
          <p:spPr>
            <a:xfrm>
              <a:off x="566057" y="4389777"/>
              <a:ext cx="5791200" cy="1975716"/>
            </a:xfrm>
            <a:prstGeom prst="ellipse">
              <a:avLst/>
            </a:prstGeom>
            <a:solidFill>
              <a:schemeClr val="accent2">
                <a:lumMod val="20000"/>
                <a:lumOff val="8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cs typeface="Arial" panose="020B0604020202020204" pitchFamily="34" charset="0"/>
              </a:endParaRPr>
            </a:p>
          </p:txBody>
        </p:sp>
        <p:sp>
          <p:nvSpPr>
            <p:cNvPr id="13" name="TextBox 12">
              <a:extLst>
                <a:ext uri="{FF2B5EF4-FFF2-40B4-BE49-F238E27FC236}">
                  <a16:creationId xmlns:a16="http://schemas.microsoft.com/office/drawing/2014/main" id="{DBB2F830-F116-7EA4-2BDA-A39A5B840955}"/>
                </a:ext>
              </a:extLst>
            </p:cNvPr>
            <p:cNvSpPr txBox="1"/>
            <p:nvPr/>
          </p:nvSpPr>
          <p:spPr>
            <a:xfrm>
              <a:off x="980112" y="5060338"/>
              <a:ext cx="1009254"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dirty="0">
                  <a:solidFill>
                    <a:srgbClr val="1668B3"/>
                  </a:solidFill>
                  <a:cs typeface="Arial"/>
                  <a:sym typeface="Arial"/>
                  <a:rtl val="0"/>
                </a:rPr>
                <a:t>Power Banks</a:t>
              </a:r>
              <a:endParaRPr lang="en-US" sz="1134" spc="0" baseline="0" dirty="0">
                <a:solidFill>
                  <a:srgbClr val="1668B3"/>
                </a:solidFill>
                <a:cs typeface="Arial"/>
                <a:sym typeface="Arial"/>
                <a:rtl val="0"/>
              </a:endParaRPr>
            </a:p>
          </p:txBody>
        </p:sp>
        <p:sp>
          <p:nvSpPr>
            <p:cNvPr id="14" name="TextBox 13">
              <a:extLst>
                <a:ext uri="{FF2B5EF4-FFF2-40B4-BE49-F238E27FC236}">
                  <a16:creationId xmlns:a16="http://schemas.microsoft.com/office/drawing/2014/main" id="{932E711D-E2A6-DFA6-EB89-7686B52A5522}"/>
                </a:ext>
              </a:extLst>
            </p:cNvPr>
            <p:cNvSpPr txBox="1"/>
            <p:nvPr/>
          </p:nvSpPr>
          <p:spPr>
            <a:xfrm>
              <a:off x="1519852" y="5698421"/>
              <a:ext cx="1009254" cy="174536"/>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VR Headset</a:t>
              </a:r>
            </a:p>
          </p:txBody>
        </p:sp>
        <p:sp>
          <p:nvSpPr>
            <p:cNvPr id="15" name="TextBox 14">
              <a:extLst>
                <a:ext uri="{FF2B5EF4-FFF2-40B4-BE49-F238E27FC236}">
                  <a16:creationId xmlns:a16="http://schemas.microsoft.com/office/drawing/2014/main" id="{97A07079-0C30-1D73-ABDE-3A5203D76B9C}"/>
                </a:ext>
              </a:extLst>
            </p:cNvPr>
            <p:cNvSpPr txBox="1"/>
            <p:nvPr/>
          </p:nvSpPr>
          <p:spPr>
            <a:xfrm>
              <a:off x="1951899" y="4643965"/>
              <a:ext cx="1009254" cy="174536"/>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PD adapter</a:t>
              </a:r>
            </a:p>
          </p:txBody>
        </p:sp>
        <p:sp>
          <p:nvSpPr>
            <p:cNvPr id="16" name="TextBox 15">
              <a:extLst>
                <a:ext uri="{FF2B5EF4-FFF2-40B4-BE49-F238E27FC236}">
                  <a16:creationId xmlns:a16="http://schemas.microsoft.com/office/drawing/2014/main" id="{11A574D8-F030-2B82-61A2-370D891B71DE}"/>
                </a:ext>
              </a:extLst>
            </p:cNvPr>
            <p:cNvSpPr txBox="1"/>
            <p:nvPr/>
          </p:nvSpPr>
          <p:spPr>
            <a:xfrm>
              <a:off x="2274648" y="5006975"/>
              <a:ext cx="1009254" cy="174536"/>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Mobile  Phones</a:t>
              </a:r>
            </a:p>
          </p:txBody>
        </p:sp>
        <p:sp>
          <p:nvSpPr>
            <p:cNvPr id="17" name="TextBox 16">
              <a:extLst>
                <a:ext uri="{FF2B5EF4-FFF2-40B4-BE49-F238E27FC236}">
                  <a16:creationId xmlns:a16="http://schemas.microsoft.com/office/drawing/2014/main" id="{02A9E41C-3DAF-DCDE-2C3F-E0EA178B6187}"/>
                </a:ext>
              </a:extLst>
            </p:cNvPr>
            <p:cNvSpPr txBox="1"/>
            <p:nvPr/>
          </p:nvSpPr>
          <p:spPr>
            <a:xfrm>
              <a:off x="2884714" y="5974237"/>
              <a:ext cx="1009254" cy="174536"/>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Tablets</a:t>
              </a:r>
            </a:p>
          </p:txBody>
        </p:sp>
        <p:sp>
          <p:nvSpPr>
            <p:cNvPr id="18" name="TextBox 17">
              <a:extLst>
                <a:ext uri="{FF2B5EF4-FFF2-40B4-BE49-F238E27FC236}">
                  <a16:creationId xmlns:a16="http://schemas.microsoft.com/office/drawing/2014/main" id="{775828F2-6006-3D06-5840-3B11B15F8172}"/>
                </a:ext>
              </a:extLst>
            </p:cNvPr>
            <p:cNvSpPr txBox="1"/>
            <p:nvPr/>
          </p:nvSpPr>
          <p:spPr>
            <a:xfrm>
              <a:off x="3769379" y="5753169"/>
              <a:ext cx="1356233" cy="349070"/>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dirty="0">
                  <a:solidFill>
                    <a:srgbClr val="1668B3"/>
                  </a:solidFill>
                  <a:cs typeface="Arial"/>
                  <a:sym typeface="Arial"/>
                  <a:rtl val="0"/>
                </a:rPr>
                <a:t>Normal/Gaming Laptops</a:t>
              </a:r>
              <a:endParaRPr lang="en-US" sz="1134" spc="0" baseline="0" dirty="0">
                <a:solidFill>
                  <a:srgbClr val="1668B3"/>
                </a:solidFill>
                <a:cs typeface="Arial"/>
                <a:sym typeface="Arial"/>
                <a:rtl val="0"/>
              </a:endParaRPr>
            </a:p>
          </p:txBody>
        </p:sp>
        <p:sp>
          <p:nvSpPr>
            <p:cNvPr id="19" name="TextBox 18">
              <a:extLst>
                <a:ext uri="{FF2B5EF4-FFF2-40B4-BE49-F238E27FC236}">
                  <a16:creationId xmlns:a16="http://schemas.microsoft.com/office/drawing/2014/main" id="{354EB131-A054-35CC-9814-53284606C46F}"/>
                </a:ext>
              </a:extLst>
            </p:cNvPr>
            <p:cNvSpPr txBox="1"/>
            <p:nvPr/>
          </p:nvSpPr>
          <p:spPr>
            <a:xfrm>
              <a:off x="3760052" y="4879503"/>
              <a:ext cx="135623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Gaming consoles</a:t>
              </a:r>
            </a:p>
          </p:txBody>
        </p:sp>
        <p:sp>
          <p:nvSpPr>
            <p:cNvPr id="21" name="TextBox 20">
              <a:extLst>
                <a:ext uri="{FF2B5EF4-FFF2-40B4-BE49-F238E27FC236}">
                  <a16:creationId xmlns:a16="http://schemas.microsoft.com/office/drawing/2014/main" id="{2CE34024-DBDF-3363-5DB6-50C1D56B0EEE}"/>
                </a:ext>
              </a:extLst>
            </p:cNvPr>
            <p:cNvSpPr txBox="1"/>
            <p:nvPr/>
          </p:nvSpPr>
          <p:spPr>
            <a:xfrm>
              <a:off x="4718437" y="5327098"/>
              <a:ext cx="1183887"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dirty="0">
                  <a:solidFill>
                    <a:srgbClr val="1668B3"/>
                  </a:solidFill>
                  <a:cs typeface="Arial"/>
                  <a:sym typeface="Arial"/>
                  <a:rtl val="0"/>
                </a:rPr>
                <a:t>Camera Charging</a:t>
              </a:r>
              <a:endParaRPr lang="en-US" sz="1134" spc="0" baseline="0" dirty="0">
                <a:solidFill>
                  <a:srgbClr val="1668B3"/>
                </a:solidFill>
                <a:cs typeface="Arial"/>
                <a:sym typeface="Arial"/>
                <a:rtl val="0"/>
              </a:endParaRPr>
            </a:p>
          </p:txBody>
        </p:sp>
        <p:sp>
          <p:nvSpPr>
            <p:cNvPr id="22" name="TextBox 21">
              <a:extLst>
                <a:ext uri="{FF2B5EF4-FFF2-40B4-BE49-F238E27FC236}">
                  <a16:creationId xmlns:a16="http://schemas.microsoft.com/office/drawing/2014/main" id="{8DA870CD-1B28-823B-1B09-9C2A35580B18}"/>
                </a:ext>
              </a:extLst>
            </p:cNvPr>
            <p:cNvSpPr txBox="1"/>
            <p:nvPr/>
          </p:nvSpPr>
          <p:spPr>
            <a:xfrm>
              <a:off x="3215852" y="4519175"/>
              <a:ext cx="135623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Portable monitors</a:t>
              </a:r>
            </a:p>
          </p:txBody>
        </p:sp>
        <p:sp>
          <p:nvSpPr>
            <p:cNvPr id="23" name="TextBox 22">
              <a:extLst>
                <a:ext uri="{FF2B5EF4-FFF2-40B4-BE49-F238E27FC236}">
                  <a16:creationId xmlns:a16="http://schemas.microsoft.com/office/drawing/2014/main" id="{CF7FA4F5-C653-F67F-C287-CE42D6069B00}"/>
                </a:ext>
              </a:extLst>
            </p:cNvPr>
            <p:cNvSpPr txBox="1"/>
            <p:nvPr/>
          </p:nvSpPr>
          <p:spPr>
            <a:xfrm>
              <a:off x="2350197" y="5131766"/>
              <a:ext cx="2519729" cy="553998"/>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3600" b="1" spc="0" baseline="0" dirty="0">
                  <a:solidFill>
                    <a:srgbClr val="1668B3"/>
                  </a:solidFill>
                  <a:cs typeface="Arial"/>
                  <a:sym typeface="Arial"/>
                  <a:rtl val="0"/>
                </a:rPr>
                <a:t>MAX77958</a:t>
              </a:r>
            </a:p>
          </p:txBody>
        </p:sp>
      </p:grpSp>
      <p:grpSp>
        <p:nvGrpSpPr>
          <p:cNvPr id="42" name="Group 41">
            <a:extLst>
              <a:ext uri="{FF2B5EF4-FFF2-40B4-BE49-F238E27FC236}">
                <a16:creationId xmlns:a16="http://schemas.microsoft.com/office/drawing/2014/main" id="{E50F3E5E-8EBB-E103-2AD3-A6617B63F0A8}"/>
              </a:ext>
            </a:extLst>
          </p:cNvPr>
          <p:cNvGrpSpPr/>
          <p:nvPr/>
        </p:nvGrpSpPr>
        <p:grpSpPr>
          <a:xfrm>
            <a:off x="7391399" y="1774930"/>
            <a:ext cx="4702629" cy="1975716"/>
            <a:chOff x="7391399" y="1774930"/>
            <a:chExt cx="4702629" cy="1975716"/>
          </a:xfrm>
        </p:grpSpPr>
        <p:grpSp>
          <p:nvGrpSpPr>
            <p:cNvPr id="25" name="Group 24">
              <a:extLst>
                <a:ext uri="{FF2B5EF4-FFF2-40B4-BE49-F238E27FC236}">
                  <a16:creationId xmlns:a16="http://schemas.microsoft.com/office/drawing/2014/main" id="{FE841C23-0D00-C28C-4DAB-E899FA165C7E}"/>
                </a:ext>
              </a:extLst>
            </p:cNvPr>
            <p:cNvGrpSpPr/>
            <p:nvPr/>
          </p:nvGrpSpPr>
          <p:grpSpPr>
            <a:xfrm>
              <a:off x="7391399" y="1774930"/>
              <a:ext cx="4702629" cy="1975716"/>
              <a:chOff x="566057" y="4389777"/>
              <a:chExt cx="5791200" cy="1975716"/>
            </a:xfrm>
          </p:grpSpPr>
          <p:sp>
            <p:nvSpPr>
              <p:cNvPr id="26" name="Oval 25">
                <a:extLst>
                  <a:ext uri="{FF2B5EF4-FFF2-40B4-BE49-F238E27FC236}">
                    <a16:creationId xmlns:a16="http://schemas.microsoft.com/office/drawing/2014/main" id="{3EDFEF68-D2C0-BE3B-9A77-08E949AA6B88}"/>
                  </a:ext>
                </a:extLst>
              </p:cNvPr>
              <p:cNvSpPr/>
              <p:nvPr/>
            </p:nvSpPr>
            <p:spPr>
              <a:xfrm>
                <a:off x="566057" y="4389777"/>
                <a:ext cx="5791200" cy="1975716"/>
              </a:xfrm>
              <a:prstGeom prst="ellipse">
                <a:avLst/>
              </a:prstGeom>
              <a:solidFill>
                <a:schemeClr val="accent2">
                  <a:lumMod val="20000"/>
                  <a:lumOff val="8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cs typeface="Arial" panose="020B0604020202020204" pitchFamily="34" charset="0"/>
                </a:endParaRPr>
              </a:p>
            </p:txBody>
          </p:sp>
          <p:sp>
            <p:nvSpPr>
              <p:cNvPr id="36" name="TextBox 35">
                <a:extLst>
                  <a:ext uri="{FF2B5EF4-FFF2-40B4-BE49-F238E27FC236}">
                    <a16:creationId xmlns:a16="http://schemas.microsoft.com/office/drawing/2014/main" id="{EA290EFC-6189-93D7-1DB0-692508382B3E}"/>
                  </a:ext>
                </a:extLst>
              </p:cNvPr>
              <p:cNvSpPr txBox="1"/>
              <p:nvPr/>
            </p:nvSpPr>
            <p:spPr>
              <a:xfrm>
                <a:off x="1804811" y="5100636"/>
                <a:ext cx="3198485" cy="553998"/>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3600" b="1" spc="0" baseline="0" dirty="0">
                    <a:solidFill>
                      <a:srgbClr val="1668B3"/>
                    </a:solidFill>
                    <a:cs typeface="Arial"/>
                    <a:sym typeface="Arial"/>
                    <a:rtl val="0"/>
                  </a:rPr>
                  <a:t>MAX25432B</a:t>
                </a:r>
              </a:p>
            </p:txBody>
          </p:sp>
        </p:grpSp>
        <p:sp>
          <p:nvSpPr>
            <p:cNvPr id="37" name="TextBox 36">
              <a:extLst>
                <a:ext uri="{FF2B5EF4-FFF2-40B4-BE49-F238E27FC236}">
                  <a16:creationId xmlns:a16="http://schemas.microsoft.com/office/drawing/2014/main" id="{174EE519-EE22-EE2C-5AB5-A1998EA75AB6}"/>
                </a:ext>
              </a:extLst>
            </p:cNvPr>
            <p:cNvSpPr txBox="1"/>
            <p:nvPr/>
          </p:nvSpPr>
          <p:spPr>
            <a:xfrm>
              <a:off x="8031239" y="2138637"/>
              <a:ext cx="219760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Automotive dashboard charging</a:t>
              </a:r>
            </a:p>
          </p:txBody>
        </p:sp>
        <p:sp>
          <p:nvSpPr>
            <p:cNvPr id="38" name="TextBox 37">
              <a:extLst>
                <a:ext uri="{FF2B5EF4-FFF2-40B4-BE49-F238E27FC236}">
                  <a16:creationId xmlns:a16="http://schemas.microsoft.com/office/drawing/2014/main" id="{BE42C6B1-F2CC-0B60-E223-C396F7A23F51}"/>
                </a:ext>
              </a:extLst>
            </p:cNvPr>
            <p:cNvSpPr txBox="1"/>
            <p:nvPr/>
          </p:nvSpPr>
          <p:spPr>
            <a:xfrm>
              <a:off x="7939064" y="3099048"/>
              <a:ext cx="219760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Conference USB hubs</a:t>
              </a:r>
            </a:p>
          </p:txBody>
        </p:sp>
        <p:sp>
          <p:nvSpPr>
            <p:cNvPr id="39" name="TextBox 38">
              <a:extLst>
                <a:ext uri="{FF2B5EF4-FFF2-40B4-BE49-F238E27FC236}">
                  <a16:creationId xmlns:a16="http://schemas.microsoft.com/office/drawing/2014/main" id="{23CA9F17-96EA-0D1A-B6B1-E9316B49A92D}"/>
                </a:ext>
              </a:extLst>
            </p:cNvPr>
            <p:cNvSpPr txBox="1"/>
            <p:nvPr/>
          </p:nvSpPr>
          <p:spPr>
            <a:xfrm>
              <a:off x="10682264" y="2294699"/>
              <a:ext cx="1183165"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Charging stations</a:t>
              </a:r>
            </a:p>
          </p:txBody>
        </p:sp>
        <p:sp>
          <p:nvSpPr>
            <p:cNvPr id="40" name="TextBox 39">
              <a:extLst>
                <a:ext uri="{FF2B5EF4-FFF2-40B4-BE49-F238E27FC236}">
                  <a16:creationId xmlns:a16="http://schemas.microsoft.com/office/drawing/2014/main" id="{9238E27F-DBF1-3201-15D5-A3AA8971ABF0}"/>
                </a:ext>
              </a:extLst>
            </p:cNvPr>
            <p:cNvSpPr txBox="1"/>
            <p:nvPr/>
          </p:nvSpPr>
          <p:spPr>
            <a:xfrm>
              <a:off x="9257135" y="3385021"/>
              <a:ext cx="219760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dirty="0">
                  <a:solidFill>
                    <a:srgbClr val="1668B3"/>
                  </a:solidFill>
                  <a:cs typeface="Arial"/>
                  <a:sym typeface="Arial"/>
                  <a:rtl val="0"/>
                </a:rPr>
                <a:t>Dedicated Charging modules</a:t>
              </a:r>
              <a:endParaRPr lang="en-US" sz="1134" spc="0" baseline="0" dirty="0">
                <a:solidFill>
                  <a:srgbClr val="1668B3"/>
                </a:solidFill>
                <a:cs typeface="Arial"/>
                <a:sym typeface="Arial"/>
                <a:rtl val="0"/>
              </a:endParaRPr>
            </a:p>
          </p:txBody>
        </p:sp>
      </p:grpSp>
    </p:spTree>
    <p:extLst>
      <p:ext uri="{BB962C8B-B14F-4D97-AF65-F5344CB8AC3E}">
        <p14:creationId xmlns:p14="http://schemas.microsoft.com/office/powerpoint/2010/main" val="314975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C73C0E1-03A3-2D2C-0F57-E5EE7EC8F06D}"/>
              </a:ext>
            </a:extLst>
          </p:cNvPr>
          <p:cNvGrpSpPr/>
          <p:nvPr/>
        </p:nvGrpSpPr>
        <p:grpSpPr>
          <a:xfrm>
            <a:off x="284381" y="1541001"/>
            <a:ext cx="5720967" cy="4245097"/>
            <a:chOff x="404012" y="1142931"/>
            <a:chExt cx="5720967" cy="4245097"/>
          </a:xfrm>
        </p:grpSpPr>
        <p:grpSp>
          <p:nvGrpSpPr>
            <p:cNvPr id="263" name="Group 262">
              <a:extLst>
                <a:ext uri="{FF2B5EF4-FFF2-40B4-BE49-F238E27FC236}">
                  <a16:creationId xmlns:a16="http://schemas.microsoft.com/office/drawing/2014/main" id="{060296F2-05EB-534E-0DDD-7E9D36639D29}"/>
                </a:ext>
              </a:extLst>
            </p:cNvPr>
            <p:cNvGrpSpPr/>
            <p:nvPr/>
          </p:nvGrpSpPr>
          <p:grpSpPr>
            <a:xfrm>
              <a:off x="404012" y="1142931"/>
              <a:ext cx="5720967" cy="4244698"/>
              <a:chOff x="288215" y="1246054"/>
              <a:chExt cx="5720967" cy="4244698"/>
            </a:xfrm>
          </p:grpSpPr>
          <p:sp>
            <p:nvSpPr>
              <p:cNvPr id="264" name="Rectangle 263">
                <a:extLst>
                  <a:ext uri="{FF2B5EF4-FFF2-40B4-BE49-F238E27FC236}">
                    <a16:creationId xmlns:a16="http://schemas.microsoft.com/office/drawing/2014/main" id="{46588AED-2A79-9120-B9C0-5AB799939AB6}"/>
                  </a:ext>
                </a:extLst>
              </p:cNvPr>
              <p:cNvSpPr/>
              <p:nvPr/>
            </p:nvSpPr>
            <p:spPr>
              <a:xfrm>
                <a:off x="305206" y="1246054"/>
                <a:ext cx="5406919" cy="4244698"/>
              </a:xfrm>
              <a:prstGeom prst="rect">
                <a:avLst/>
              </a:prstGeom>
              <a:solidFill>
                <a:schemeClr val="bg2">
                  <a:lumMod val="20000"/>
                  <a:lumOff val="80000"/>
                </a:schemeClr>
              </a:solidFill>
              <a:ln>
                <a:solidFill>
                  <a:schemeClr val="accent1"/>
                </a:solidFill>
                <a:miter lim="800000"/>
              </a:ln>
              <a:effectLst>
                <a:outerShdw blurRad="50800" dist="38100" dir="13500000" algn="br"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265" name="Straight Connector 264">
                <a:extLst>
                  <a:ext uri="{FF2B5EF4-FFF2-40B4-BE49-F238E27FC236}">
                    <a16:creationId xmlns:a16="http://schemas.microsoft.com/office/drawing/2014/main" id="{00639B11-8C8D-33E4-44BF-54FD718F1194}"/>
                  </a:ext>
                </a:extLst>
              </p:cNvPr>
              <p:cNvCxnSpPr>
                <a:cxnSpLocks/>
              </p:cNvCxnSpPr>
              <p:nvPr/>
            </p:nvCxnSpPr>
            <p:spPr>
              <a:xfrm>
                <a:off x="5357716" y="4062280"/>
                <a:ext cx="888" cy="311706"/>
              </a:xfrm>
              <a:prstGeom prst="line">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66" name="Picture 265" descr="A screenshot of a computer&#10;&#10;Description automatically generated">
                <a:extLst>
                  <a:ext uri="{FF2B5EF4-FFF2-40B4-BE49-F238E27FC236}">
                    <a16:creationId xmlns:a16="http://schemas.microsoft.com/office/drawing/2014/main" id="{AB7BB1C9-C01B-4E66-9948-5D191480275C}"/>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288215" y="1675308"/>
                <a:ext cx="5707884" cy="2090638"/>
              </a:xfrm>
              <a:prstGeom prst="rect">
                <a:avLst/>
              </a:prstGeom>
            </p:spPr>
          </p:pic>
          <p:sp>
            <p:nvSpPr>
              <p:cNvPr id="267" name="Arrow: Left-Right 266">
                <a:extLst>
                  <a:ext uri="{FF2B5EF4-FFF2-40B4-BE49-F238E27FC236}">
                    <a16:creationId xmlns:a16="http://schemas.microsoft.com/office/drawing/2014/main" id="{49651BFE-7589-0279-6567-DBA341A375CD}"/>
                  </a:ext>
                </a:extLst>
              </p:cNvPr>
              <p:cNvSpPr/>
              <p:nvPr/>
            </p:nvSpPr>
            <p:spPr>
              <a:xfrm rot="5400000">
                <a:off x="3463982" y="4173811"/>
                <a:ext cx="401739" cy="171858"/>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268" name="Rectangle: Rounded Corners 267">
                <a:extLst>
                  <a:ext uri="{FF2B5EF4-FFF2-40B4-BE49-F238E27FC236}">
                    <a16:creationId xmlns:a16="http://schemas.microsoft.com/office/drawing/2014/main" id="{21575B55-9F7F-8EC3-15AF-01650F06EB82}"/>
                  </a:ext>
                </a:extLst>
              </p:cNvPr>
              <p:cNvSpPr/>
              <p:nvPr/>
            </p:nvSpPr>
            <p:spPr>
              <a:xfrm>
                <a:off x="2531086" y="3303249"/>
                <a:ext cx="1556905" cy="750882"/>
              </a:xfrm>
              <a:prstGeom prst="roundRect">
                <a:avLst>
                  <a:gd name="adj" fmla="val 11327"/>
                </a:avLst>
              </a:prstGeom>
              <a:solidFill>
                <a:srgbClr val="2BC5B6"/>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MAX25432</a:t>
                </a:r>
              </a:p>
              <a:p>
                <a:pPr algn="ctr"/>
                <a:r>
                  <a:rPr lang="en-US" sz="1200" b="1" dirty="0">
                    <a:solidFill>
                      <a:schemeClr val="tx1">
                        <a:lumMod val="85000"/>
                        <a:lumOff val="15000"/>
                      </a:schemeClr>
                    </a:solidFill>
                    <a:latin typeface="Barlow" panose="00000500000000000000" pitchFamily="2" charset="0"/>
                  </a:rPr>
                  <a:t>TCPC</a:t>
                </a:r>
                <a:endParaRPr lang="en-US" sz="600" b="1" dirty="0">
                  <a:solidFill>
                    <a:schemeClr val="tx1">
                      <a:lumMod val="85000"/>
                      <a:lumOff val="15000"/>
                    </a:schemeClr>
                  </a:solidFill>
                  <a:latin typeface="Barlow" panose="00000500000000000000" pitchFamily="2" charset="0"/>
                </a:endParaRPr>
              </a:p>
            </p:txBody>
          </p:sp>
          <p:sp>
            <p:nvSpPr>
              <p:cNvPr id="271" name="Rectangle: Rounded Corners 270">
                <a:extLst>
                  <a:ext uri="{FF2B5EF4-FFF2-40B4-BE49-F238E27FC236}">
                    <a16:creationId xmlns:a16="http://schemas.microsoft.com/office/drawing/2014/main" id="{E0288AEC-5A7E-2C54-6127-7245B4DD0DB5}"/>
                  </a:ext>
                </a:extLst>
              </p:cNvPr>
              <p:cNvSpPr/>
              <p:nvPr/>
            </p:nvSpPr>
            <p:spPr>
              <a:xfrm>
                <a:off x="2531085" y="4483130"/>
                <a:ext cx="1556905"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1000" b="1" dirty="0">
                    <a:solidFill>
                      <a:schemeClr val="tx1">
                        <a:lumMod val="85000"/>
                        <a:lumOff val="15000"/>
                      </a:schemeClr>
                    </a:solidFill>
                    <a:latin typeface="Barlow" panose="00000500000000000000" pitchFamily="2" charset="0"/>
                  </a:rPr>
                  <a:t>TCPM</a:t>
                </a:r>
                <a:endParaRPr lang="en-US" sz="600" b="1" dirty="0">
                  <a:solidFill>
                    <a:schemeClr val="tx1">
                      <a:lumMod val="85000"/>
                      <a:lumOff val="15000"/>
                    </a:schemeClr>
                  </a:solidFill>
                  <a:latin typeface="Barlow" panose="00000500000000000000" pitchFamily="2" charset="0"/>
                </a:endParaRPr>
              </a:p>
            </p:txBody>
          </p:sp>
          <p:sp>
            <p:nvSpPr>
              <p:cNvPr id="272" name="TextBox 271">
                <a:extLst>
                  <a:ext uri="{FF2B5EF4-FFF2-40B4-BE49-F238E27FC236}">
                    <a16:creationId xmlns:a16="http://schemas.microsoft.com/office/drawing/2014/main" id="{8A291086-6274-0155-DC2E-73DE290E2C73}"/>
                  </a:ext>
                </a:extLst>
              </p:cNvPr>
              <p:cNvSpPr txBox="1"/>
              <p:nvPr/>
            </p:nvSpPr>
            <p:spPr>
              <a:xfrm rot="16200000">
                <a:off x="3492850" y="4139223"/>
                <a:ext cx="344002" cy="200055"/>
              </a:xfrm>
              <a:prstGeom prst="rect">
                <a:avLst/>
              </a:prstGeom>
              <a:noFill/>
              <a:scene3d>
                <a:camera prst="orthographicFront"/>
                <a:lightRig rig="threePt" dir="t"/>
              </a:scene3d>
              <a:sp3d>
                <a:bevelT w="165100" prst="coolSlant"/>
              </a:sp3d>
            </p:spPr>
            <p:txBody>
              <a:bodyPr wrap="square" rtlCol="0">
                <a:spAutoFit/>
              </a:bodyPr>
              <a:lstStyle/>
              <a:p>
                <a:r>
                  <a:rPr lang="en-US" sz="700" b="1" dirty="0">
                    <a:latin typeface="Barlow" panose="00000500000000000000" pitchFamily="2" charset="0"/>
                  </a:rPr>
                  <a:t>I2C</a:t>
                </a:r>
              </a:p>
            </p:txBody>
          </p:sp>
          <p:sp>
            <p:nvSpPr>
              <p:cNvPr id="273" name="Arrow: Right 272">
                <a:extLst>
                  <a:ext uri="{FF2B5EF4-FFF2-40B4-BE49-F238E27FC236}">
                    <a16:creationId xmlns:a16="http://schemas.microsoft.com/office/drawing/2014/main" id="{7DC29666-5CB1-D349-D869-65B1DF1B553A}"/>
                  </a:ext>
                </a:extLst>
              </p:cNvPr>
              <p:cNvSpPr/>
              <p:nvPr/>
            </p:nvSpPr>
            <p:spPr>
              <a:xfrm rot="5400000">
                <a:off x="3063810" y="4150742"/>
                <a:ext cx="401737" cy="208520"/>
              </a:xfrm>
              <a:prstGeom prst="right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275" name="TextBox 274">
                <a:extLst>
                  <a:ext uri="{FF2B5EF4-FFF2-40B4-BE49-F238E27FC236}">
                    <a16:creationId xmlns:a16="http://schemas.microsoft.com/office/drawing/2014/main" id="{AC705D00-3E14-0568-AAC0-46F7A2159EC3}"/>
                  </a:ext>
                </a:extLst>
              </p:cNvPr>
              <p:cNvSpPr txBox="1"/>
              <p:nvPr/>
            </p:nvSpPr>
            <p:spPr>
              <a:xfrm rot="16200000">
                <a:off x="3037727" y="4118221"/>
                <a:ext cx="45717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ALERT</a:t>
                </a:r>
              </a:p>
            </p:txBody>
          </p:sp>
          <p:sp>
            <p:nvSpPr>
              <p:cNvPr id="276" name="Arrow: Right 275">
                <a:extLst>
                  <a:ext uri="{FF2B5EF4-FFF2-40B4-BE49-F238E27FC236}">
                    <a16:creationId xmlns:a16="http://schemas.microsoft.com/office/drawing/2014/main" id="{0CF36031-C953-FCE5-547C-42FDFC7C7B73}"/>
                  </a:ext>
                </a:extLst>
              </p:cNvPr>
              <p:cNvSpPr/>
              <p:nvPr/>
            </p:nvSpPr>
            <p:spPr>
              <a:xfrm rot="5400000">
                <a:off x="2678076" y="4150743"/>
                <a:ext cx="401737" cy="208520"/>
              </a:xfrm>
              <a:prstGeom prst="right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282" name="TextBox 281">
                <a:extLst>
                  <a:ext uri="{FF2B5EF4-FFF2-40B4-BE49-F238E27FC236}">
                    <a16:creationId xmlns:a16="http://schemas.microsoft.com/office/drawing/2014/main" id="{DA6B2D87-BA90-1CB3-F3C6-1E7237AC281C}"/>
                  </a:ext>
                </a:extLst>
              </p:cNvPr>
              <p:cNvSpPr txBox="1"/>
              <p:nvPr/>
            </p:nvSpPr>
            <p:spPr>
              <a:xfrm rot="16200000">
                <a:off x="2633804" y="4127530"/>
                <a:ext cx="479618"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POWER</a:t>
                </a:r>
              </a:p>
            </p:txBody>
          </p:sp>
          <p:grpSp>
            <p:nvGrpSpPr>
              <p:cNvPr id="283" name="Group 282">
                <a:extLst>
                  <a:ext uri="{FF2B5EF4-FFF2-40B4-BE49-F238E27FC236}">
                    <a16:creationId xmlns:a16="http://schemas.microsoft.com/office/drawing/2014/main" id="{C1011918-0956-E792-10F4-D4F6EC8A50B6}"/>
                  </a:ext>
                </a:extLst>
              </p:cNvPr>
              <p:cNvGrpSpPr/>
              <p:nvPr/>
            </p:nvGrpSpPr>
            <p:grpSpPr>
              <a:xfrm>
                <a:off x="5567748" y="3291064"/>
                <a:ext cx="259035" cy="885426"/>
                <a:chOff x="6498615" y="3069590"/>
                <a:chExt cx="303099" cy="1091099"/>
              </a:xfrm>
            </p:grpSpPr>
            <p:sp>
              <p:nvSpPr>
                <p:cNvPr id="300" name="Rectangle: Rounded Corners 299">
                  <a:extLst>
                    <a:ext uri="{FF2B5EF4-FFF2-40B4-BE49-F238E27FC236}">
                      <a16:creationId xmlns:a16="http://schemas.microsoft.com/office/drawing/2014/main" id="{4223ED3B-F9EE-F1FE-0A8F-1BC08EAB5CD7}"/>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1" name="Oval 300">
                  <a:extLst>
                    <a:ext uri="{FF2B5EF4-FFF2-40B4-BE49-F238E27FC236}">
                      <a16:creationId xmlns:a16="http://schemas.microsoft.com/office/drawing/2014/main" id="{3B975934-5252-DC0A-A3E4-2AE318F14666}"/>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303" name="Oval 302">
                  <a:extLst>
                    <a:ext uri="{FF2B5EF4-FFF2-40B4-BE49-F238E27FC236}">
                      <a16:creationId xmlns:a16="http://schemas.microsoft.com/office/drawing/2014/main" id="{B5D55705-12F1-1832-CF32-0E43528EBD50}"/>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305" name="Oval 304">
                  <a:extLst>
                    <a:ext uri="{FF2B5EF4-FFF2-40B4-BE49-F238E27FC236}">
                      <a16:creationId xmlns:a16="http://schemas.microsoft.com/office/drawing/2014/main" id="{8B722D3F-3A91-6435-B697-814FBF30AE30}"/>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cxnSp>
            <p:nvCxnSpPr>
              <p:cNvPr id="284" name="Connector: Elbow 283">
                <a:extLst>
                  <a:ext uri="{FF2B5EF4-FFF2-40B4-BE49-F238E27FC236}">
                    <a16:creationId xmlns:a16="http://schemas.microsoft.com/office/drawing/2014/main" id="{C5396E7F-A748-FFC8-335E-80478ABB5AEA}"/>
                  </a:ext>
                </a:extLst>
              </p:cNvPr>
              <p:cNvCxnSpPr>
                <a:cxnSpLocks/>
                <a:endCxn id="300" idx="1"/>
              </p:cNvCxnSpPr>
              <p:nvPr/>
            </p:nvCxnSpPr>
            <p:spPr>
              <a:xfrm>
                <a:off x="4078110" y="3474612"/>
                <a:ext cx="1489638" cy="259165"/>
              </a:xfrm>
              <a:prstGeom prst="bentConnector3">
                <a:avLst>
                  <a:gd name="adj1" fmla="val 50000"/>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85" name="Group 284">
                <a:extLst>
                  <a:ext uri="{FF2B5EF4-FFF2-40B4-BE49-F238E27FC236}">
                    <a16:creationId xmlns:a16="http://schemas.microsoft.com/office/drawing/2014/main" id="{6ED90468-F1F2-386D-55F5-7EEBE6E598DF}"/>
                  </a:ext>
                </a:extLst>
              </p:cNvPr>
              <p:cNvGrpSpPr/>
              <p:nvPr/>
            </p:nvGrpSpPr>
            <p:grpSpPr>
              <a:xfrm>
                <a:off x="5272268" y="4374557"/>
                <a:ext cx="174123" cy="65512"/>
                <a:chOff x="8643839" y="3430799"/>
                <a:chExt cx="290244" cy="111833"/>
              </a:xfrm>
            </p:grpSpPr>
            <p:cxnSp>
              <p:nvCxnSpPr>
                <p:cNvPr id="296" name="Straight Connector 295">
                  <a:extLst>
                    <a:ext uri="{FF2B5EF4-FFF2-40B4-BE49-F238E27FC236}">
                      <a16:creationId xmlns:a16="http://schemas.microsoft.com/office/drawing/2014/main" id="{8ACCCD8F-45C2-43DD-B19B-9EA593F1D6E3}"/>
                    </a:ext>
                  </a:extLst>
                </p:cNvPr>
                <p:cNvCxnSpPr>
                  <a:cxnSpLocks/>
                </p:cNvCxnSpPr>
                <p:nvPr/>
              </p:nvCxnSpPr>
              <p:spPr>
                <a:xfrm>
                  <a:off x="8643839" y="3430799"/>
                  <a:ext cx="290244"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97" name="Straight Connector 296">
                  <a:extLst>
                    <a:ext uri="{FF2B5EF4-FFF2-40B4-BE49-F238E27FC236}">
                      <a16:creationId xmlns:a16="http://schemas.microsoft.com/office/drawing/2014/main" id="{35FFBC27-7E75-AB32-833A-5F0916E2C0DB}"/>
                    </a:ext>
                  </a:extLst>
                </p:cNvPr>
                <p:cNvCxnSpPr>
                  <a:cxnSpLocks/>
                </p:cNvCxnSpPr>
                <p:nvPr/>
              </p:nvCxnSpPr>
              <p:spPr>
                <a:xfrm>
                  <a:off x="8668272" y="3487691"/>
                  <a:ext cx="229642"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98" name="Straight Connector 297">
                  <a:extLst>
                    <a:ext uri="{FF2B5EF4-FFF2-40B4-BE49-F238E27FC236}">
                      <a16:creationId xmlns:a16="http://schemas.microsoft.com/office/drawing/2014/main" id="{25040B2D-BE53-B285-F9F7-946EC4F76C12}"/>
                    </a:ext>
                  </a:extLst>
                </p:cNvPr>
                <p:cNvCxnSpPr>
                  <a:cxnSpLocks/>
                </p:cNvCxnSpPr>
                <p:nvPr/>
              </p:nvCxnSpPr>
              <p:spPr>
                <a:xfrm>
                  <a:off x="8738716" y="3542632"/>
                  <a:ext cx="93173"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cxnSp>
            <p:nvCxnSpPr>
              <p:cNvPr id="289" name="Straight Connector 288">
                <a:extLst>
                  <a:ext uri="{FF2B5EF4-FFF2-40B4-BE49-F238E27FC236}">
                    <a16:creationId xmlns:a16="http://schemas.microsoft.com/office/drawing/2014/main" id="{1A171E54-3F1D-F011-FBF7-0DED4773BAF9}"/>
                  </a:ext>
                </a:extLst>
              </p:cNvPr>
              <p:cNvCxnSpPr>
                <a:cxnSpLocks/>
              </p:cNvCxnSpPr>
              <p:nvPr/>
            </p:nvCxnSpPr>
            <p:spPr>
              <a:xfrm flipH="1">
                <a:off x="5355024" y="4065009"/>
                <a:ext cx="19858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90" name="Connector: Elbow 289">
                <a:extLst>
                  <a:ext uri="{FF2B5EF4-FFF2-40B4-BE49-F238E27FC236}">
                    <a16:creationId xmlns:a16="http://schemas.microsoft.com/office/drawing/2014/main" id="{11B2C963-13D1-2AE8-4091-182DAF6D06F9}"/>
                  </a:ext>
                </a:extLst>
              </p:cNvPr>
              <p:cNvCxnSpPr>
                <a:cxnSpLocks/>
              </p:cNvCxnSpPr>
              <p:nvPr/>
            </p:nvCxnSpPr>
            <p:spPr>
              <a:xfrm>
                <a:off x="4073261" y="3637111"/>
                <a:ext cx="1489638" cy="259165"/>
              </a:xfrm>
              <a:prstGeom prst="bentConnector3">
                <a:avLst>
                  <a:gd name="adj1" fmla="val 39992"/>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93" name="TextBox 292">
                <a:extLst>
                  <a:ext uri="{FF2B5EF4-FFF2-40B4-BE49-F238E27FC236}">
                    <a16:creationId xmlns:a16="http://schemas.microsoft.com/office/drawing/2014/main" id="{D5C8FAF6-5723-A40D-250D-0B19B0D57E50}"/>
                  </a:ext>
                </a:extLst>
              </p:cNvPr>
              <p:cNvSpPr txBox="1"/>
              <p:nvPr/>
            </p:nvSpPr>
            <p:spPr>
              <a:xfrm>
                <a:off x="5102389" y="3546972"/>
                <a:ext cx="344002"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CC1</a:t>
                </a:r>
              </a:p>
            </p:txBody>
          </p:sp>
          <p:sp>
            <p:nvSpPr>
              <p:cNvPr id="294" name="TextBox 293">
                <a:extLst>
                  <a:ext uri="{FF2B5EF4-FFF2-40B4-BE49-F238E27FC236}">
                    <a16:creationId xmlns:a16="http://schemas.microsoft.com/office/drawing/2014/main" id="{46EA3114-BBA9-F2E4-EC6B-2092221EC0B0}"/>
                  </a:ext>
                </a:extLst>
              </p:cNvPr>
              <p:cNvSpPr txBox="1"/>
              <p:nvPr/>
            </p:nvSpPr>
            <p:spPr>
              <a:xfrm>
                <a:off x="5107228" y="3719918"/>
                <a:ext cx="403020"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CC2</a:t>
                </a:r>
              </a:p>
            </p:txBody>
          </p:sp>
          <p:sp>
            <p:nvSpPr>
              <p:cNvPr id="295" name="TextBox 294">
                <a:extLst>
                  <a:ext uri="{FF2B5EF4-FFF2-40B4-BE49-F238E27FC236}">
                    <a16:creationId xmlns:a16="http://schemas.microsoft.com/office/drawing/2014/main" id="{36D2E3B5-800C-49CA-C22C-E8F43753EE38}"/>
                  </a:ext>
                </a:extLst>
              </p:cNvPr>
              <p:cNvSpPr txBox="1"/>
              <p:nvPr/>
            </p:nvSpPr>
            <p:spPr>
              <a:xfrm>
                <a:off x="5233339" y="3087709"/>
                <a:ext cx="775843"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VBUS</a:t>
                </a:r>
              </a:p>
            </p:txBody>
          </p:sp>
        </p:grpSp>
        <p:sp>
          <p:nvSpPr>
            <p:cNvPr id="7" name="TextBox 6">
              <a:extLst>
                <a:ext uri="{FF2B5EF4-FFF2-40B4-BE49-F238E27FC236}">
                  <a16:creationId xmlns:a16="http://schemas.microsoft.com/office/drawing/2014/main" id="{72AB1141-2B23-2A2A-6A25-E254B5A4E09B}"/>
                </a:ext>
              </a:extLst>
            </p:cNvPr>
            <p:cNvSpPr txBox="1"/>
            <p:nvPr/>
          </p:nvSpPr>
          <p:spPr>
            <a:xfrm>
              <a:off x="557238" y="5094045"/>
              <a:ext cx="781465" cy="293983"/>
            </a:xfrm>
            <a:prstGeom prst="rect">
              <a:avLst/>
            </a:prstGeom>
          </p:spPr>
          <p:txBody>
            <a:bodyPr vert="horz" wrap="none" lIns="0" tIns="0" rIns="0" bIns="0" rtlCol="0" anchor="t" anchorCtr="0">
              <a:normAutofit/>
            </a:bodyPr>
            <a:lstStyle/>
            <a:p>
              <a:pPr algn="l"/>
              <a:r>
                <a:rPr lang="en-US" sz="1400" b="1" dirty="0">
                  <a:solidFill>
                    <a:schemeClr val="accent2">
                      <a:lumMod val="75000"/>
                    </a:schemeClr>
                  </a:solidFill>
                </a:rPr>
                <a:t>Source Side (Fast Charging capable)</a:t>
              </a:r>
            </a:p>
          </p:txBody>
        </p:sp>
      </p:grpSp>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Fast Charging Block Diagram</a:t>
            </a:r>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8</a:t>
            </a:fld>
            <a:endParaRPr lang="en-US" dirty="0"/>
          </a:p>
        </p:txBody>
      </p:sp>
      <p:grpSp>
        <p:nvGrpSpPr>
          <p:cNvPr id="112" name="Group 111">
            <a:extLst>
              <a:ext uri="{FF2B5EF4-FFF2-40B4-BE49-F238E27FC236}">
                <a16:creationId xmlns:a16="http://schemas.microsoft.com/office/drawing/2014/main" id="{FFBB8A69-2828-5153-4FC9-898DE9767AD8}"/>
              </a:ext>
            </a:extLst>
          </p:cNvPr>
          <p:cNvGrpSpPr/>
          <p:nvPr/>
        </p:nvGrpSpPr>
        <p:grpSpPr>
          <a:xfrm>
            <a:off x="5910228" y="3885820"/>
            <a:ext cx="1646884" cy="212777"/>
            <a:chOff x="4911362" y="644220"/>
            <a:chExt cx="2166817" cy="204546"/>
          </a:xfrm>
        </p:grpSpPr>
        <p:pic>
          <p:nvPicPr>
            <p:cNvPr id="113" name="Picture 112">
              <a:extLst>
                <a:ext uri="{FF2B5EF4-FFF2-40B4-BE49-F238E27FC236}">
                  <a16:creationId xmlns:a16="http://schemas.microsoft.com/office/drawing/2014/main" id="{A61BA714-DEF4-79DC-D520-FB8B2976CB0D}"/>
                </a:ext>
              </a:extLst>
            </p:cNvPr>
            <p:cNvPicPr>
              <a:picLocks noChangeAspect="1"/>
            </p:cNvPicPr>
            <p:nvPr/>
          </p:nvPicPr>
          <p:blipFill rotWithShape="1">
            <a:blip r:embed="rId4">
              <a:clrChange>
                <a:clrFrom>
                  <a:srgbClr val="FFFFFF"/>
                </a:clrFrom>
                <a:clrTo>
                  <a:srgbClr val="FFFFFF">
                    <a:alpha val="0"/>
                  </a:srgbClr>
                </a:clrTo>
              </a:clrChange>
            </a:blip>
            <a:srcRect b="4496"/>
            <a:stretch/>
          </p:blipFill>
          <p:spPr>
            <a:xfrm rot="16200000">
              <a:off x="5363587" y="191995"/>
              <a:ext cx="204545" cy="1108996"/>
            </a:xfrm>
            <a:prstGeom prst="rect">
              <a:avLst/>
            </a:prstGeom>
          </p:spPr>
        </p:pic>
        <p:pic>
          <p:nvPicPr>
            <p:cNvPr id="114" name="Picture 113">
              <a:extLst>
                <a:ext uri="{FF2B5EF4-FFF2-40B4-BE49-F238E27FC236}">
                  <a16:creationId xmlns:a16="http://schemas.microsoft.com/office/drawing/2014/main" id="{02C0AAF7-3EFC-A62A-5A0F-1977FC994A4E}"/>
                </a:ext>
              </a:extLst>
            </p:cNvPr>
            <p:cNvPicPr>
              <a:picLocks noChangeAspect="1"/>
            </p:cNvPicPr>
            <p:nvPr/>
          </p:nvPicPr>
          <p:blipFill rotWithShape="1">
            <a:blip r:embed="rId4">
              <a:clrChange>
                <a:clrFrom>
                  <a:srgbClr val="FFFFFF"/>
                </a:clrFrom>
                <a:clrTo>
                  <a:srgbClr val="FFFFFF">
                    <a:alpha val="0"/>
                  </a:srgbClr>
                </a:clrTo>
              </a:clrChange>
            </a:blip>
            <a:srcRect b="4496"/>
            <a:stretch/>
          </p:blipFill>
          <p:spPr>
            <a:xfrm rot="16200000" flipV="1">
              <a:off x="6421409" y="191996"/>
              <a:ext cx="204545" cy="1108995"/>
            </a:xfrm>
            <a:prstGeom prst="rect">
              <a:avLst/>
            </a:prstGeom>
          </p:spPr>
        </p:pic>
      </p:grpSp>
      <p:sp>
        <p:nvSpPr>
          <p:cNvPr id="4" name="Date Placeholder 3">
            <a:extLst>
              <a:ext uri="{FF2B5EF4-FFF2-40B4-BE49-F238E27FC236}">
                <a16:creationId xmlns:a16="http://schemas.microsoft.com/office/drawing/2014/main" id="{63AD007B-A413-7DD3-BB91-4E787868E59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grpSp>
        <p:nvGrpSpPr>
          <p:cNvPr id="75" name="Group 74">
            <a:extLst>
              <a:ext uri="{FF2B5EF4-FFF2-40B4-BE49-F238E27FC236}">
                <a16:creationId xmlns:a16="http://schemas.microsoft.com/office/drawing/2014/main" id="{51239DE9-9A67-CF8C-87DE-47792C256EB2}"/>
              </a:ext>
            </a:extLst>
          </p:cNvPr>
          <p:cNvGrpSpPr/>
          <p:nvPr/>
        </p:nvGrpSpPr>
        <p:grpSpPr>
          <a:xfrm>
            <a:off x="7669186" y="1482562"/>
            <a:ext cx="4263768" cy="4303137"/>
            <a:chOff x="7672452" y="1393328"/>
            <a:chExt cx="4263768" cy="4303137"/>
          </a:xfrm>
        </p:grpSpPr>
        <p:grpSp>
          <p:nvGrpSpPr>
            <p:cNvPr id="73" name="Group 72">
              <a:extLst>
                <a:ext uri="{FF2B5EF4-FFF2-40B4-BE49-F238E27FC236}">
                  <a16:creationId xmlns:a16="http://schemas.microsoft.com/office/drawing/2014/main" id="{8EEA91F9-EC03-A983-EDDF-DC553B21803D}"/>
                </a:ext>
              </a:extLst>
            </p:cNvPr>
            <p:cNvGrpSpPr/>
            <p:nvPr/>
          </p:nvGrpSpPr>
          <p:grpSpPr>
            <a:xfrm>
              <a:off x="7672452" y="1393328"/>
              <a:ext cx="4263768" cy="4303137"/>
              <a:chOff x="7621105" y="1246054"/>
              <a:chExt cx="4263768" cy="4303137"/>
            </a:xfrm>
          </p:grpSpPr>
          <p:sp>
            <p:nvSpPr>
              <p:cNvPr id="3" name="Rectangle 2">
                <a:extLst>
                  <a:ext uri="{FF2B5EF4-FFF2-40B4-BE49-F238E27FC236}">
                    <a16:creationId xmlns:a16="http://schemas.microsoft.com/office/drawing/2014/main" id="{CE208F3B-539C-30FD-3B4A-855D448681D4}"/>
                  </a:ext>
                </a:extLst>
              </p:cNvPr>
              <p:cNvSpPr/>
              <p:nvPr/>
            </p:nvSpPr>
            <p:spPr>
              <a:xfrm>
                <a:off x="7706280" y="1246054"/>
                <a:ext cx="4178593" cy="4303137"/>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2" name="Rectangle 11">
                <a:extLst>
                  <a:ext uri="{FF2B5EF4-FFF2-40B4-BE49-F238E27FC236}">
                    <a16:creationId xmlns:a16="http://schemas.microsoft.com/office/drawing/2014/main" id="{05984B3D-837D-3B03-A9A7-7BD123CF295B}"/>
                  </a:ext>
                </a:extLst>
              </p:cNvPr>
              <p:cNvSpPr/>
              <p:nvPr/>
            </p:nvSpPr>
            <p:spPr>
              <a:xfrm>
                <a:off x="8328063" y="1428005"/>
                <a:ext cx="2855997" cy="1795912"/>
              </a:xfrm>
              <a:prstGeom prst="rect">
                <a:avLst/>
              </a:prstGeom>
              <a:solidFill>
                <a:schemeClr val="tx2">
                  <a:lumMod val="40000"/>
                  <a:lumOff val="6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13" name="Straight Connector 12">
                <a:extLst>
                  <a:ext uri="{FF2B5EF4-FFF2-40B4-BE49-F238E27FC236}">
                    <a16:creationId xmlns:a16="http://schemas.microsoft.com/office/drawing/2014/main" id="{FA2A6AA2-019C-8043-94E3-3BACBCA276AA}"/>
                  </a:ext>
                </a:extLst>
              </p:cNvPr>
              <p:cNvCxnSpPr>
                <a:cxnSpLocks/>
              </p:cNvCxnSpPr>
              <p:nvPr/>
            </p:nvCxnSpPr>
            <p:spPr>
              <a:xfrm flipH="1">
                <a:off x="7809275" y="3447022"/>
                <a:ext cx="1407351"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34F5ADCF-2B97-9A0B-2E1C-DAC8DAB4255B}"/>
                  </a:ext>
                </a:extLst>
              </p:cNvPr>
              <p:cNvCxnSpPr>
                <a:cxnSpLocks/>
                <a:endCxn id="49" idx="6"/>
              </p:cNvCxnSpPr>
              <p:nvPr/>
            </p:nvCxnSpPr>
            <p:spPr>
              <a:xfrm flipH="1" flipV="1">
                <a:off x="7795018" y="3924095"/>
                <a:ext cx="877817" cy="762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5BB0AA81-53E0-1AFE-42F5-3D8B18CE863C}"/>
                  </a:ext>
                </a:extLst>
              </p:cNvPr>
              <p:cNvCxnSpPr>
                <a:cxnSpLocks/>
                <a:endCxn id="48" idx="6"/>
              </p:cNvCxnSpPr>
              <p:nvPr/>
            </p:nvCxnSpPr>
            <p:spPr>
              <a:xfrm flipH="1" flipV="1">
                <a:off x="7791648" y="3734492"/>
                <a:ext cx="884103" cy="4754"/>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6" name="Rectangle 15">
                <a:extLst>
                  <a:ext uri="{FF2B5EF4-FFF2-40B4-BE49-F238E27FC236}">
                    <a16:creationId xmlns:a16="http://schemas.microsoft.com/office/drawing/2014/main" id="{9D3B99DD-F407-81AD-9718-84C4B7A3A2E9}"/>
                  </a:ext>
                </a:extLst>
              </p:cNvPr>
              <p:cNvSpPr/>
              <p:nvPr/>
            </p:nvSpPr>
            <p:spPr>
              <a:xfrm>
                <a:off x="9198189" y="4617641"/>
                <a:ext cx="200766" cy="211540"/>
              </a:xfrm>
              <a:prstGeom prst="rect">
                <a:avLst/>
              </a:prstGeom>
              <a:solidFill>
                <a:schemeClr val="bg1"/>
              </a:solidFill>
              <a:ln w="28575">
                <a:solidFill>
                  <a:schemeClr val="bg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17" name="Rectangle: Rounded Corners 16">
                <a:extLst>
                  <a:ext uri="{FF2B5EF4-FFF2-40B4-BE49-F238E27FC236}">
                    <a16:creationId xmlns:a16="http://schemas.microsoft.com/office/drawing/2014/main" id="{627CDE2A-207C-956F-A4F0-C3AC498D8568}"/>
                  </a:ext>
                </a:extLst>
              </p:cNvPr>
              <p:cNvSpPr/>
              <p:nvPr/>
            </p:nvSpPr>
            <p:spPr>
              <a:xfrm>
                <a:off x="8671871" y="3584224"/>
                <a:ext cx="1055675" cy="596388"/>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MAX77958</a:t>
                </a:r>
              </a:p>
              <a:p>
                <a:pPr algn="ctr"/>
                <a:r>
                  <a:rPr lang="en-US" sz="800" b="1" dirty="0">
                    <a:solidFill>
                      <a:schemeClr val="tx1">
                        <a:lumMod val="85000"/>
                        <a:lumOff val="15000"/>
                      </a:schemeClr>
                    </a:solidFill>
                    <a:latin typeface="Barlow" panose="00000500000000000000" pitchFamily="2" charset="0"/>
                  </a:rPr>
                  <a:t>PD negotiator</a:t>
                </a:r>
              </a:p>
            </p:txBody>
          </p:sp>
          <p:sp>
            <p:nvSpPr>
              <p:cNvPr id="18" name="Rectangle: Rounded Corners 17">
                <a:extLst>
                  <a:ext uri="{FF2B5EF4-FFF2-40B4-BE49-F238E27FC236}">
                    <a16:creationId xmlns:a16="http://schemas.microsoft.com/office/drawing/2014/main" id="{1DE20128-D95A-9A99-96D6-AB4FA8EFBD12}"/>
                  </a:ext>
                </a:extLst>
              </p:cNvPr>
              <p:cNvSpPr/>
              <p:nvPr/>
            </p:nvSpPr>
            <p:spPr>
              <a:xfrm>
                <a:off x="10178581" y="3584224"/>
                <a:ext cx="1043107" cy="601611"/>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MAX77986</a:t>
                </a:r>
              </a:p>
              <a:p>
                <a:pPr algn="ctr"/>
                <a:r>
                  <a:rPr lang="en-US" sz="800" b="1" dirty="0">
                    <a:solidFill>
                      <a:schemeClr val="tx1">
                        <a:lumMod val="85000"/>
                        <a:lumOff val="15000"/>
                      </a:schemeClr>
                    </a:solidFill>
                    <a:latin typeface="Barlow" panose="00000500000000000000" pitchFamily="2" charset="0"/>
                  </a:rPr>
                  <a:t>Buck Charger</a:t>
                </a:r>
              </a:p>
            </p:txBody>
          </p:sp>
          <p:sp>
            <p:nvSpPr>
              <p:cNvPr id="19" name="TextBox 18">
                <a:extLst>
                  <a:ext uri="{FF2B5EF4-FFF2-40B4-BE49-F238E27FC236}">
                    <a16:creationId xmlns:a16="http://schemas.microsoft.com/office/drawing/2014/main" id="{A0DBAF54-F5D5-ED56-94D1-FE3D35A61551}"/>
                  </a:ext>
                </a:extLst>
              </p:cNvPr>
              <p:cNvSpPr txBox="1"/>
              <p:nvPr/>
            </p:nvSpPr>
            <p:spPr>
              <a:xfrm rot="16200000">
                <a:off x="9519337" y="3741936"/>
                <a:ext cx="308253" cy="20590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M</a:t>
                </a:r>
              </a:p>
            </p:txBody>
          </p:sp>
          <p:sp>
            <p:nvSpPr>
              <p:cNvPr id="20" name="Rectangle: Rounded Corners 19">
                <a:extLst>
                  <a:ext uri="{FF2B5EF4-FFF2-40B4-BE49-F238E27FC236}">
                    <a16:creationId xmlns:a16="http://schemas.microsoft.com/office/drawing/2014/main" id="{1A417659-8A45-51AA-01A9-9ED15CF8F3F5}"/>
                  </a:ext>
                </a:extLst>
              </p:cNvPr>
              <p:cNvSpPr/>
              <p:nvPr/>
            </p:nvSpPr>
            <p:spPr>
              <a:xfrm>
                <a:off x="8666776" y="4517463"/>
                <a:ext cx="1031847"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800" b="1" dirty="0">
                    <a:solidFill>
                      <a:schemeClr val="tx1">
                        <a:lumMod val="85000"/>
                        <a:lumOff val="15000"/>
                      </a:schemeClr>
                    </a:solidFill>
                    <a:latin typeface="Barlow" panose="00000500000000000000" pitchFamily="2" charset="0"/>
                  </a:rPr>
                  <a:t>MCU</a:t>
                </a:r>
              </a:p>
            </p:txBody>
          </p:sp>
          <p:grpSp>
            <p:nvGrpSpPr>
              <p:cNvPr id="21" name="Group 20">
                <a:extLst>
                  <a:ext uri="{FF2B5EF4-FFF2-40B4-BE49-F238E27FC236}">
                    <a16:creationId xmlns:a16="http://schemas.microsoft.com/office/drawing/2014/main" id="{D2890FF1-F21A-6551-DE79-32D21E64EEC3}"/>
                  </a:ext>
                </a:extLst>
              </p:cNvPr>
              <p:cNvGrpSpPr/>
              <p:nvPr/>
            </p:nvGrpSpPr>
            <p:grpSpPr>
              <a:xfrm>
                <a:off x="11532227" y="5186410"/>
                <a:ext cx="174123" cy="65512"/>
                <a:chOff x="8643839" y="3430799"/>
                <a:chExt cx="290244" cy="111833"/>
              </a:xfrm>
            </p:grpSpPr>
            <p:cxnSp>
              <p:nvCxnSpPr>
                <p:cNvPr id="22" name="Straight Connector 21">
                  <a:extLst>
                    <a:ext uri="{FF2B5EF4-FFF2-40B4-BE49-F238E27FC236}">
                      <a16:creationId xmlns:a16="http://schemas.microsoft.com/office/drawing/2014/main" id="{0521E0AE-EF0D-8F32-CD19-5D41F816199A}"/>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AB3D4D27-6420-C895-D069-03980CC745AB}"/>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5C42E6AA-7D44-8884-81CE-6F1AC909D698}"/>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25" name="TextBox 24">
                <a:extLst>
                  <a:ext uri="{FF2B5EF4-FFF2-40B4-BE49-F238E27FC236}">
                    <a16:creationId xmlns:a16="http://schemas.microsoft.com/office/drawing/2014/main" id="{B183C95B-9F6D-CD49-9C65-FB2567DEFF21}"/>
                  </a:ext>
                </a:extLst>
              </p:cNvPr>
              <p:cNvSpPr txBox="1"/>
              <p:nvPr/>
            </p:nvSpPr>
            <p:spPr>
              <a:xfrm>
                <a:off x="9058785" y="4042680"/>
                <a:ext cx="315683" cy="201055"/>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26" name="Connector: Elbow 25">
                <a:extLst>
                  <a:ext uri="{FF2B5EF4-FFF2-40B4-BE49-F238E27FC236}">
                    <a16:creationId xmlns:a16="http://schemas.microsoft.com/office/drawing/2014/main" id="{66C86161-E47D-583E-1A4D-61D3BE155275}"/>
                  </a:ext>
                </a:extLst>
              </p:cNvPr>
              <p:cNvCxnSpPr>
                <a:cxnSpLocks/>
              </p:cNvCxnSpPr>
              <p:nvPr/>
            </p:nvCxnSpPr>
            <p:spPr>
              <a:xfrm rot="16200000" flipH="1">
                <a:off x="9940612" y="2838732"/>
                <a:ext cx="2809" cy="1493794"/>
              </a:xfrm>
              <a:prstGeom prst="bentConnector3">
                <a:avLst>
                  <a:gd name="adj1" fmla="val -4870673"/>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605579A6-41AB-AA00-EDEF-038DDA4D5E52}"/>
                  </a:ext>
                </a:extLst>
              </p:cNvPr>
              <p:cNvCxnSpPr>
                <a:cxnSpLocks/>
              </p:cNvCxnSpPr>
              <p:nvPr/>
            </p:nvCxnSpPr>
            <p:spPr>
              <a:xfrm flipH="1">
                <a:off x="7880004" y="4062016"/>
                <a:ext cx="22391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2E931867-3576-2F6F-C8E3-4B24D4B0A377}"/>
                  </a:ext>
                </a:extLst>
              </p:cNvPr>
              <p:cNvCxnSpPr>
                <a:cxnSpLocks/>
              </p:cNvCxnSpPr>
              <p:nvPr/>
            </p:nvCxnSpPr>
            <p:spPr>
              <a:xfrm>
                <a:off x="8103916" y="4062016"/>
                <a:ext cx="0" cy="18995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29" name="TextBox 28">
                <a:extLst>
                  <a:ext uri="{FF2B5EF4-FFF2-40B4-BE49-F238E27FC236}">
                    <a16:creationId xmlns:a16="http://schemas.microsoft.com/office/drawing/2014/main" id="{155E380E-912C-F8D0-1944-D632547E7A9A}"/>
                  </a:ext>
                </a:extLst>
              </p:cNvPr>
              <p:cNvSpPr txBox="1"/>
              <p:nvPr/>
            </p:nvSpPr>
            <p:spPr>
              <a:xfrm>
                <a:off x="7866696" y="3287102"/>
                <a:ext cx="40588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VBUS</a:t>
                </a:r>
              </a:p>
            </p:txBody>
          </p:sp>
          <p:sp>
            <p:nvSpPr>
              <p:cNvPr id="30" name="TextBox 29">
                <a:extLst>
                  <a:ext uri="{FF2B5EF4-FFF2-40B4-BE49-F238E27FC236}">
                    <a16:creationId xmlns:a16="http://schemas.microsoft.com/office/drawing/2014/main" id="{6575DABA-CACC-4FD1-CEA8-EC81ED836205}"/>
                  </a:ext>
                </a:extLst>
              </p:cNvPr>
              <p:cNvSpPr txBox="1"/>
              <p:nvPr/>
            </p:nvSpPr>
            <p:spPr>
              <a:xfrm>
                <a:off x="7856427" y="3563244"/>
                <a:ext cx="32573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CC1</a:t>
                </a:r>
              </a:p>
            </p:txBody>
          </p:sp>
          <p:sp>
            <p:nvSpPr>
              <p:cNvPr id="31" name="TextBox 30">
                <a:extLst>
                  <a:ext uri="{FF2B5EF4-FFF2-40B4-BE49-F238E27FC236}">
                    <a16:creationId xmlns:a16="http://schemas.microsoft.com/office/drawing/2014/main" id="{55DE0E42-D586-F0BE-C44F-94871B6EAF1C}"/>
                  </a:ext>
                </a:extLst>
              </p:cNvPr>
              <p:cNvSpPr txBox="1"/>
              <p:nvPr/>
            </p:nvSpPr>
            <p:spPr>
              <a:xfrm>
                <a:off x="7846927" y="3745582"/>
                <a:ext cx="343364"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CC2</a:t>
                </a:r>
              </a:p>
            </p:txBody>
          </p:sp>
          <p:cxnSp>
            <p:nvCxnSpPr>
              <p:cNvPr id="32" name="Connector: Elbow 31">
                <a:extLst>
                  <a:ext uri="{FF2B5EF4-FFF2-40B4-BE49-F238E27FC236}">
                    <a16:creationId xmlns:a16="http://schemas.microsoft.com/office/drawing/2014/main" id="{750D53D1-8A2C-D0E8-7F6B-B7F4DE7AEF27}"/>
                  </a:ext>
                </a:extLst>
              </p:cNvPr>
              <p:cNvCxnSpPr>
                <a:cxnSpLocks/>
              </p:cNvCxnSpPr>
              <p:nvPr/>
            </p:nvCxnSpPr>
            <p:spPr>
              <a:xfrm>
                <a:off x="11220564" y="3894453"/>
                <a:ext cx="396787" cy="693340"/>
              </a:xfrm>
              <a:prstGeom prst="bentConnector2">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AFEB5727-57E0-CA66-A196-A51899D1D920}"/>
                  </a:ext>
                </a:extLst>
              </p:cNvPr>
              <p:cNvCxnSpPr>
                <a:cxnSpLocks/>
              </p:cNvCxnSpPr>
              <p:nvPr/>
            </p:nvCxnSpPr>
            <p:spPr>
              <a:xfrm>
                <a:off x="11618865" y="4573618"/>
                <a:ext cx="0" cy="612796"/>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34" name="Arrow: Left-Right 33">
                <a:extLst>
                  <a:ext uri="{FF2B5EF4-FFF2-40B4-BE49-F238E27FC236}">
                    <a16:creationId xmlns:a16="http://schemas.microsoft.com/office/drawing/2014/main" id="{2479E825-4BAD-3E6F-8F8D-691F4AD14107}"/>
                  </a:ext>
                </a:extLst>
              </p:cNvPr>
              <p:cNvSpPr/>
              <p:nvPr/>
            </p:nvSpPr>
            <p:spPr>
              <a:xfrm>
                <a:off x="9749723" y="3795153"/>
                <a:ext cx="406681" cy="154401"/>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35" name="Arrow: Left-Right 34">
                <a:extLst>
                  <a:ext uri="{FF2B5EF4-FFF2-40B4-BE49-F238E27FC236}">
                    <a16:creationId xmlns:a16="http://schemas.microsoft.com/office/drawing/2014/main" id="{4F8B97A9-FD70-25A5-0DAA-267A636E85AE}"/>
                  </a:ext>
                </a:extLst>
              </p:cNvPr>
              <p:cNvSpPr/>
              <p:nvPr/>
            </p:nvSpPr>
            <p:spPr>
              <a:xfrm rot="5400000">
                <a:off x="9001534" y="4281652"/>
                <a:ext cx="331271" cy="144867"/>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36" name="TextBox 35">
                <a:extLst>
                  <a:ext uri="{FF2B5EF4-FFF2-40B4-BE49-F238E27FC236}">
                    <a16:creationId xmlns:a16="http://schemas.microsoft.com/office/drawing/2014/main" id="{9DFFD806-7A06-353A-674F-AE02F36AF07C}"/>
                  </a:ext>
                </a:extLst>
              </p:cNvPr>
              <p:cNvSpPr txBox="1"/>
              <p:nvPr/>
            </p:nvSpPr>
            <p:spPr>
              <a:xfrm>
                <a:off x="9804336" y="3769613"/>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sp>
            <p:nvSpPr>
              <p:cNvPr id="37" name="TextBox 36">
                <a:extLst>
                  <a:ext uri="{FF2B5EF4-FFF2-40B4-BE49-F238E27FC236}">
                    <a16:creationId xmlns:a16="http://schemas.microsoft.com/office/drawing/2014/main" id="{18A5AF28-2D8E-99B2-9FB2-66A8C059FE92}"/>
                  </a:ext>
                </a:extLst>
              </p:cNvPr>
              <p:cNvSpPr txBox="1"/>
              <p:nvPr/>
            </p:nvSpPr>
            <p:spPr>
              <a:xfrm rot="16200000">
                <a:off x="9007986" y="4254058"/>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grpSp>
            <p:nvGrpSpPr>
              <p:cNvPr id="38" name="Group 37">
                <a:extLst>
                  <a:ext uri="{FF2B5EF4-FFF2-40B4-BE49-F238E27FC236}">
                    <a16:creationId xmlns:a16="http://schemas.microsoft.com/office/drawing/2014/main" id="{D715CCEE-2EC2-8AC9-AC8F-25C0A831A888}"/>
                  </a:ext>
                </a:extLst>
              </p:cNvPr>
              <p:cNvGrpSpPr/>
              <p:nvPr/>
            </p:nvGrpSpPr>
            <p:grpSpPr>
              <a:xfrm>
                <a:off x="8015734" y="4251966"/>
                <a:ext cx="174123" cy="65512"/>
                <a:chOff x="8643839" y="3430799"/>
                <a:chExt cx="290244" cy="111833"/>
              </a:xfrm>
            </p:grpSpPr>
            <p:cxnSp>
              <p:nvCxnSpPr>
                <p:cNvPr id="39" name="Straight Connector 38">
                  <a:extLst>
                    <a:ext uri="{FF2B5EF4-FFF2-40B4-BE49-F238E27FC236}">
                      <a16:creationId xmlns:a16="http://schemas.microsoft.com/office/drawing/2014/main" id="{901F64C0-7E44-9FE1-FEB9-D124EE3B134B}"/>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0B655D51-B5BF-601A-9F6E-DB706601526E}"/>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809F569B-DE51-2BE7-DACB-937E394767AD}"/>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pic>
            <p:nvPicPr>
              <p:cNvPr id="42" name="Picture 41">
                <a:extLst>
                  <a:ext uri="{FF2B5EF4-FFF2-40B4-BE49-F238E27FC236}">
                    <a16:creationId xmlns:a16="http://schemas.microsoft.com/office/drawing/2014/main" id="{C69B2227-05CE-7183-5D65-64E394A32480}"/>
                  </a:ext>
                </a:extLst>
              </p:cNvPr>
              <p:cNvPicPr>
                <a:picLocks noChangeAspect="1"/>
              </p:cNvPicPr>
              <p:nvPr/>
            </p:nvPicPr>
            <p:blipFill>
              <a:blip r:embed="rId5"/>
              <a:stretch>
                <a:fillRect/>
              </a:stretch>
            </p:blipFill>
            <p:spPr>
              <a:xfrm>
                <a:off x="11430992" y="4659471"/>
                <a:ext cx="375136" cy="356208"/>
              </a:xfrm>
              <a:prstGeom prst="rect">
                <a:avLst/>
              </a:prstGeom>
            </p:spPr>
          </p:pic>
          <p:sp>
            <p:nvSpPr>
              <p:cNvPr id="43" name="Arrow: Left-Up 42">
                <a:extLst>
                  <a:ext uri="{FF2B5EF4-FFF2-40B4-BE49-F238E27FC236}">
                    <a16:creationId xmlns:a16="http://schemas.microsoft.com/office/drawing/2014/main" id="{372556DA-4F5E-8F9C-5B3B-E62636B38915}"/>
                  </a:ext>
                </a:extLst>
              </p:cNvPr>
              <p:cNvSpPr/>
              <p:nvPr/>
            </p:nvSpPr>
            <p:spPr>
              <a:xfrm flipH="1">
                <a:off x="8328064" y="3219823"/>
                <a:ext cx="328010" cy="1639432"/>
              </a:xfrm>
              <a:prstGeom prst="leftUp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44" name="TextBox 43">
                <a:extLst>
                  <a:ext uri="{FF2B5EF4-FFF2-40B4-BE49-F238E27FC236}">
                    <a16:creationId xmlns:a16="http://schemas.microsoft.com/office/drawing/2014/main" id="{4946C4DA-21EB-2B76-AF20-9A735527A8CD}"/>
                  </a:ext>
                </a:extLst>
              </p:cNvPr>
              <p:cNvSpPr txBox="1"/>
              <p:nvPr/>
            </p:nvSpPr>
            <p:spPr>
              <a:xfrm rot="16200000">
                <a:off x="8238073" y="3013744"/>
                <a:ext cx="354584"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RUN</a:t>
                </a:r>
              </a:p>
            </p:txBody>
          </p:sp>
          <p:grpSp>
            <p:nvGrpSpPr>
              <p:cNvPr id="45" name="Group 44">
                <a:extLst>
                  <a:ext uri="{FF2B5EF4-FFF2-40B4-BE49-F238E27FC236}">
                    <a16:creationId xmlns:a16="http://schemas.microsoft.com/office/drawing/2014/main" id="{C9C5AC4C-7541-A49C-51F4-C09951324CA7}"/>
                  </a:ext>
                </a:extLst>
              </p:cNvPr>
              <p:cNvGrpSpPr/>
              <p:nvPr/>
            </p:nvGrpSpPr>
            <p:grpSpPr>
              <a:xfrm>
                <a:off x="7621105" y="3295185"/>
                <a:ext cx="259035" cy="885426"/>
                <a:chOff x="6498615" y="3069590"/>
                <a:chExt cx="303099" cy="1091099"/>
              </a:xfrm>
            </p:grpSpPr>
            <p:sp>
              <p:nvSpPr>
                <p:cNvPr id="46" name="Rectangle: Rounded Corners 45">
                  <a:extLst>
                    <a:ext uri="{FF2B5EF4-FFF2-40B4-BE49-F238E27FC236}">
                      <a16:creationId xmlns:a16="http://schemas.microsoft.com/office/drawing/2014/main" id="{2D540A52-2A93-F97C-CD84-F28D797B5DFB}"/>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7" name="Oval 46">
                  <a:extLst>
                    <a:ext uri="{FF2B5EF4-FFF2-40B4-BE49-F238E27FC236}">
                      <a16:creationId xmlns:a16="http://schemas.microsoft.com/office/drawing/2014/main" id="{A8E67FFB-75AE-2060-E307-AAB748A3E49D}"/>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48" name="Oval 47">
                  <a:extLst>
                    <a:ext uri="{FF2B5EF4-FFF2-40B4-BE49-F238E27FC236}">
                      <a16:creationId xmlns:a16="http://schemas.microsoft.com/office/drawing/2014/main" id="{7577B47D-DF52-0AA9-3BBC-D3055CB239E9}"/>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49" name="Oval 48">
                  <a:extLst>
                    <a:ext uri="{FF2B5EF4-FFF2-40B4-BE49-F238E27FC236}">
                      <a16:creationId xmlns:a16="http://schemas.microsoft.com/office/drawing/2014/main" id="{2CA71046-B363-A855-F0FE-2CDB5ED761A1}"/>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sp>
            <p:nvSpPr>
              <p:cNvPr id="51" name="TextBox 50">
                <a:extLst>
                  <a:ext uri="{FF2B5EF4-FFF2-40B4-BE49-F238E27FC236}">
                    <a16:creationId xmlns:a16="http://schemas.microsoft.com/office/drawing/2014/main" id="{BD2D5B83-14B4-9E51-11A1-064AED4060B8}"/>
                  </a:ext>
                </a:extLst>
              </p:cNvPr>
              <p:cNvSpPr txBox="1"/>
              <p:nvPr/>
            </p:nvSpPr>
            <p:spPr>
              <a:xfrm>
                <a:off x="10475124" y="2805518"/>
                <a:ext cx="914400" cy="914400"/>
              </a:xfrm>
              <a:prstGeom prst="rect">
                <a:avLst/>
              </a:prstGeom>
            </p:spPr>
            <p:txBody>
              <a:bodyPr vert="horz" wrap="none" lIns="0" tIns="0" rIns="0" bIns="0" rtlCol="0" anchor="t" anchorCtr="0">
                <a:normAutofit/>
              </a:bodyPr>
              <a:lstStyle/>
              <a:p>
                <a:pPr algn="l"/>
                <a:r>
                  <a:rPr lang="en-US" sz="1200" b="1" dirty="0"/>
                  <a:t>LTC7825</a:t>
                </a:r>
              </a:p>
              <a:p>
                <a:pPr algn="l"/>
                <a:r>
                  <a:rPr lang="en-US" sz="1200" b="1" dirty="0"/>
                  <a:t>    </a:t>
                </a:r>
                <a:r>
                  <a:rPr lang="en-US" sz="1000" b="1" dirty="0"/>
                  <a:t>(S.C.C.)</a:t>
                </a:r>
                <a:endParaRPr lang="en-US" sz="1200" b="1" dirty="0"/>
              </a:p>
            </p:txBody>
          </p:sp>
          <p:pic>
            <p:nvPicPr>
              <p:cNvPr id="52" name="Picture 51" descr="A group of circles with arrows&#10;&#10;Description automatically generated">
                <a:extLst>
                  <a:ext uri="{FF2B5EF4-FFF2-40B4-BE49-F238E27FC236}">
                    <a16:creationId xmlns:a16="http://schemas.microsoft.com/office/drawing/2014/main" id="{B92085FC-FBF8-91F4-6AD4-F8589385BF24}"/>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8003337" y="1495657"/>
                <a:ext cx="3095549" cy="1724166"/>
              </a:xfrm>
              <a:prstGeom prst="rect">
                <a:avLst/>
              </a:prstGeom>
            </p:spPr>
          </p:pic>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B18654B-CCFD-6817-FC28-D470D8E68B1C}"/>
                      </a:ext>
                    </a:extLst>
                  </p:cNvPr>
                  <p:cNvSpPr txBox="1"/>
                  <p:nvPr/>
                </p:nvSpPr>
                <p:spPr>
                  <a:xfrm>
                    <a:off x="8666776" y="2310823"/>
                    <a:ext cx="490262" cy="225831"/>
                  </a:xfrm>
                  <a:prstGeom prst="rect">
                    <a:avLst/>
                  </a:prstGeom>
                  <a:noFill/>
                  <a:ln w="28575">
                    <a:noFill/>
                  </a:ln>
                  <a:scene3d>
                    <a:camera prst="orthographicFront"/>
                    <a:lightRig rig="threePt" dir="t"/>
                  </a:scene3d>
                  <a:sp3d>
                    <a:bevelT w="165100" prst="coolSlan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800" b="1" i="1" dirty="0" smtClean="0">
                                  <a:latin typeface="Cambria Math" panose="02040503050406030204" pitchFamily="18" charset="0"/>
                                </a:rPr>
                              </m:ctrlPr>
                            </m:sSubPr>
                            <m:e>
                              <m:r>
                                <m:rPr>
                                  <m:nor/>
                                </m:rPr>
                                <a:rPr lang="en-US" sz="800" b="1" i="0" dirty="0" smtClean="0"/>
                                <m:t>C</m:t>
                              </m:r>
                            </m:e>
                            <m:sub>
                              <m:r>
                                <m:rPr>
                                  <m:nor/>
                                </m:rPr>
                                <a:rPr lang="en-US" sz="800" b="1" i="0" dirty="0" smtClean="0"/>
                                <m:t>HIGH</m:t>
                              </m:r>
                            </m:sub>
                          </m:sSub>
                        </m:oMath>
                      </m:oMathPara>
                    </a14:m>
                    <a:endParaRPr lang="en-US" sz="800" b="1" dirty="0"/>
                  </a:p>
                </p:txBody>
              </p:sp>
            </mc:Choice>
            <mc:Fallback xmlns="">
              <p:sp>
                <p:nvSpPr>
                  <p:cNvPr id="53" name="TextBox 52">
                    <a:extLst>
                      <a:ext uri="{FF2B5EF4-FFF2-40B4-BE49-F238E27FC236}">
                        <a16:creationId xmlns:a16="http://schemas.microsoft.com/office/drawing/2014/main" id="{2B18654B-CCFD-6817-FC28-D470D8E68B1C}"/>
                      </a:ext>
                    </a:extLst>
                  </p:cNvPr>
                  <p:cNvSpPr txBox="1">
                    <a:spLocks noRot="1" noChangeAspect="1" noMove="1" noResize="1" noEditPoints="1" noAdjustHandles="1" noChangeArrowheads="1" noChangeShapeType="1" noTextEdit="1"/>
                  </p:cNvSpPr>
                  <p:nvPr/>
                </p:nvSpPr>
                <p:spPr>
                  <a:xfrm>
                    <a:off x="8666776" y="2310823"/>
                    <a:ext cx="490262" cy="225831"/>
                  </a:xfrm>
                  <a:prstGeom prst="rect">
                    <a:avLst/>
                  </a:prstGeom>
                  <a:blipFill>
                    <a:blip r:embed="rId7"/>
                    <a:stretch>
                      <a:fillRect/>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5F2FD08C-06F1-9A84-87F8-778D3D287B32}"/>
                      </a:ext>
                    </a:extLst>
                  </p:cNvPr>
                  <p:cNvSpPr txBox="1"/>
                  <p:nvPr/>
                </p:nvSpPr>
                <p:spPr>
                  <a:xfrm>
                    <a:off x="10362468" y="2310822"/>
                    <a:ext cx="482248" cy="225511"/>
                  </a:xfrm>
                  <a:prstGeom prst="rect">
                    <a:avLst/>
                  </a:prstGeom>
                  <a:noFill/>
                  <a:ln w="28575">
                    <a:noFill/>
                  </a:ln>
                  <a:scene3d>
                    <a:camera prst="orthographicFront"/>
                    <a:lightRig rig="threePt" dir="t"/>
                  </a:scene3d>
                  <a:sp3d>
                    <a:bevelT w="165100" prst="coolSlan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800" b="1" i="1" dirty="0" smtClean="0">
                                  <a:latin typeface="Cambria Math" panose="02040503050406030204" pitchFamily="18" charset="0"/>
                                </a:rPr>
                              </m:ctrlPr>
                            </m:sSubPr>
                            <m:e>
                              <m:r>
                                <m:rPr>
                                  <m:nor/>
                                </m:rPr>
                                <a:rPr lang="en-US" sz="800" b="1" i="0" dirty="0" smtClean="0"/>
                                <m:t>C</m:t>
                              </m:r>
                            </m:e>
                            <m:sub>
                              <m:r>
                                <m:rPr>
                                  <m:nor/>
                                </m:rPr>
                                <a:rPr lang="en-US" sz="800" b="1" i="0" dirty="0" smtClean="0"/>
                                <m:t>LOW</m:t>
                              </m:r>
                            </m:sub>
                          </m:sSub>
                        </m:oMath>
                      </m:oMathPara>
                    </a14:m>
                    <a:endParaRPr lang="en-US" sz="800" b="1" dirty="0"/>
                  </a:p>
                </p:txBody>
              </p:sp>
            </mc:Choice>
            <mc:Fallback xmlns="">
              <p:sp>
                <p:nvSpPr>
                  <p:cNvPr id="54" name="TextBox 53">
                    <a:extLst>
                      <a:ext uri="{FF2B5EF4-FFF2-40B4-BE49-F238E27FC236}">
                        <a16:creationId xmlns:a16="http://schemas.microsoft.com/office/drawing/2014/main" id="{5F2FD08C-06F1-9A84-87F8-778D3D287B32}"/>
                      </a:ext>
                    </a:extLst>
                  </p:cNvPr>
                  <p:cNvSpPr txBox="1">
                    <a:spLocks noRot="1" noChangeAspect="1" noMove="1" noResize="1" noEditPoints="1" noAdjustHandles="1" noChangeArrowheads="1" noChangeShapeType="1" noTextEdit="1"/>
                  </p:cNvSpPr>
                  <p:nvPr/>
                </p:nvSpPr>
                <p:spPr>
                  <a:xfrm>
                    <a:off x="10362468" y="2310822"/>
                    <a:ext cx="482248" cy="225511"/>
                  </a:xfrm>
                  <a:prstGeom prst="rect">
                    <a:avLst/>
                  </a:prstGeom>
                  <a:blipFill>
                    <a:blip r:embed="rId8"/>
                    <a:stretch>
                      <a:fillRect/>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80E5B81-C892-9A27-4FFD-4C7B11990F98}"/>
                      </a:ext>
                    </a:extLst>
                  </p:cNvPr>
                  <p:cNvSpPr txBox="1"/>
                  <p:nvPr/>
                </p:nvSpPr>
                <p:spPr>
                  <a:xfrm>
                    <a:off x="9508599" y="1711043"/>
                    <a:ext cx="445378" cy="223587"/>
                  </a:xfrm>
                  <a:prstGeom prst="rect">
                    <a:avLst/>
                  </a:prstGeom>
                  <a:noFill/>
                  <a:ln w="28575">
                    <a:noFill/>
                  </a:ln>
                  <a:scene3d>
                    <a:camera prst="orthographicFront"/>
                    <a:lightRig rig="threePt" dir="t"/>
                  </a:scene3d>
                  <a:sp3d>
                    <a:bevelT w="165100" prst="coolSlan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800" b="1" i="1" dirty="0" smtClean="0">
                                  <a:latin typeface="Cambria Math" panose="02040503050406030204" pitchFamily="18" charset="0"/>
                                </a:rPr>
                              </m:ctrlPr>
                            </m:sSubPr>
                            <m:e>
                              <m:r>
                                <m:rPr>
                                  <m:nor/>
                                </m:rPr>
                                <a:rPr lang="en-US" sz="800" b="1" i="0" dirty="0" smtClean="0"/>
                                <m:t>C</m:t>
                              </m:r>
                            </m:e>
                            <m:sub>
                              <m:r>
                                <m:rPr>
                                  <m:nor/>
                                </m:rPr>
                                <a:rPr lang="en-US" sz="800" b="1" i="0" dirty="0" smtClean="0"/>
                                <m:t>FLY</m:t>
                              </m:r>
                            </m:sub>
                          </m:sSub>
                        </m:oMath>
                      </m:oMathPara>
                    </a14:m>
                    <a:endParaRPr lang="en-US" sz="800" b="1" dirty="0"/>
                  </a:p>
                </p:txBody>
              </p:sp>
            </mc:Choice>
            <mc:Fallback xmlns="">
              <p:sp>
                <p:nvSpPr>
                  <p:cNvPr id="55" name="TextBox 54">
                    <a:extLst>
                      <a:ext uri="{FF2B5EF4-FFF2-40B4-BE49-F238E27FC236}">
                        <a16:creationId xmlns:a16="http://schemas.microsoft.com/office/drawing/2014/main" id="{280E5B81-C892-9A27-4FFD-4C7B11990F98}"/>
                      </a:ext>
                    </a:extLst>
                  </p:cNvPr>
                  <p:cNvSpPr txBox="1">
                    <a:spLocks noRot="1" noChangeAspect="1" noMove="1" noResize="1" noEditPoints="1" noAdjustHandles="1" noChangeArrowheads="1" noChangeShapeType="1" noTextEdit="1"/>
                  </p:cNvSpPr>
                  <p:nvPr/>
                </p:nvSpPr>
                <p:spPr>
                  <a:xfrm>
                    <a:off x="9508599" y="1711043"/>
                    <a:ext cx="445378" cy="223587"/>
                  </a:xfrm>
                  <a:prstGeom prst="rect">
                    <a:avLst/>
                  </a:prstGeom>
                  <a:blipFill>
                    <a:blip r:embed="rId9"/>
                    <a:stretch>
                      <a:fillRect/>
                    </a:stretch>
                  </a:blipFill>
                  <a:ln w="28575">
                    <a:noFill/>
                  </a:ln>
                </p:spPr>
                <p:txBody>
                  <a:bodyPr/>
                  <a:lstStyle/>
                  <a:p>
                    <a:r>
                      <a:rPr lang="en-US">
                        <a:noFill/>
                      </a:rPr>
                      <a:t> </a:t>
                    </a:r>
                  </a:p>
                </p:txBody>
              </p:sp>
            </mc:Fallback>
          </mc:AlternateContent>
          <p:cxnSp>
            <p:nvCxnSpPr>
              <p:cNvPr id="56" name="Connector: Elbow 55">
                <a:extLst>
                  <a:ext uri="{FF2B5EF4-FFF2-40B4-BE49-F238E27FC236}">
                    <a16:creationId xmlns:a16="http://schemas.microsoft.com/office/drawing/2014/main" id="{59D9378C-7DA4-3114-40D5-6F1E04DB5EAE}"/>
                  </a:ext>
                </a:extLst>
              </p:cNvPr>
              <p:cNvCxnSpPr>
                <a:cxnSpLocks/>
              </p:cNvCxnSpPr>
              <p:nvPr/>
            </p:nvCxnSpPr>
            <p:spPr>
              <a:xfrm rot="16200000" flipH="1">
                <a:off x="9936723" y="2969952"/>
                <a:ext cx="1478498" cy="1896853"/>
              </a:xfrm>
              <a:prstGeom prst="bentConnector3">
                <a:avLst>
                  <a:gd name="adj1" fmla="val 9854"/>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A3283371-8F11-3590-E348-4B2313D9A94C}"/>
                  </a:ext>
                </a:extLst>
              </p:cNvPr>
              <p:cNvCxnSpPr>
                <a:cxnSpLocks/>
                <a:endCxn id="47" idx="0"/>
              </p:cNvCxnSpPr>
              <p:nvPr/>
            </p:nvCxnSpPr>
            <p:spPr>
              <a:xfrm rot="10800000" flipV="1">
                <a:off x="7751121" y="2136389"/>
                <a:ext cx="703832" cy="1271247"/>
              </a:xfrm>
              <a:prstGeom prst="bentConnector2">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8" name="Group 57">
                <a:extLst>
                  <a:ext uri="{FF2B5EF4-FFF2-40B4-BE49-F238E27FC236}">
                    <a16:creationId xmlns:a16="http://schemas.microsoft.com/office/drawing/2014/main" id="{3C011162-83A9-E00F-33B3-1354C90385B5}"/>
                  </a:ext>
                </a:extLst>
              </p:cNvPr>
              <p:cNvGrpSpPr/>
              <p:nvPr/>
            </p:nvGrpSpPr>
            <p:grpSpPr>
              <a:xfrm>
                <a:off x="11399982" y="2486520"/>
                <a:ext cx="174123" cy="65512"/>
                <a:chOff x="8643839" y="3430799"/>
                <a:chExt cx="290244" cy="111833"/>
              </a:xfrm>
            </p:grpSpPr>
            <p:cxnSp>
              <p:nvCxnSpPr>
                <p:cNvPr id="59" name="Straight Connector 58">
                  <a:extLst>
                    <a:ext uri="{FF2B5EF4-FFF2-40B4-BE49-F238E27FC236}">
                      <a16:creationId xmlns:a16="http://schemas.microsoft.com/office/drawing/2014/main" id="{49FCB980-4B05-2F6D-DC5E-793C73AC271C}"/>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a16="http://schemas.microsoft.com/office/drawing/2014/main" id="{796F7826-6D40-DF59-F7B6-6175ADB5273F}"/>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id="{33A6C49A-0980-B448-149B-0744D38003AD}"/>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cxnSp>
            <p:nvCxnSpPr>
              <p:cNvPr id="62" name="Connector: Elbow 61">
                <a:extLst>
                  <a:ext uri="{FF2B5EF4-FFF2-40B4-BE49-F238E27FC236}">
                    <a16:creationId xmlns:a16="http://schemas.microsoft.com/office/drawing/2014/main" id="{3B2B62FA-0C2E-DF13-B278-29A25298BCCA}"/>
                  </a:ext>
                </a:extLst>
              </p:cNvPr>
              <p:cNvCxnSpPr>
                <a:cxnSpLocks/>
              </p:cNvCxnSpPr>
              <p:nvPr/>
            </p:nvCxnSpPr>
            <p:spPr>
              <a:xfrm>
                <a:off x="11067694" y="2145092"/>
                <a:ext cx="422726" cy="341428"/>
              </a:xfrm>
              <a:prstGeom prst="bentConnector2">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517A6F8A-198A-1C21-DB0C-42612890B1C7}"/>
                  </a:ext>
                </a:extLst>
              </p:cNvPr>
              <p:cNvSpPr txBox="1"/>
              <p:nvPr/>
            </p:nvSpPr>
            <p:spPr>
              <a:xfrm>
                <a:off x="10349558" y="2996023"/>
                <a:ext cx="372012" cy="205020"/>
              </a:xfrm>
              <a:prstGeom prst="rect">
                <a:avLst/>
              </a:prstGeom>
            </p:spPr>
            <p:txBody>
              <a:bodyPr vert="horz" wrap="none" lIns="0" tIns="0" rIns="0" bIns="0" rtlCol="0" anchor="t" anchorCtr="0">
                <a:normAutofit/>
              </a:bodyPr>
              <a:lstStyle/>
              <a:p>
                <a:pPr algn="l"/>
                <a:r>
                  <a:rPr lang="en-US" sz="1200" b="1" dirty="0"/>
                  <a:t>2:1</a:t>
                </a:r>
              </a:p>
            </p:txBody>
          </p:sp>
          <p:cxnSp>
            <p:nvCxnSpPr>
              <p:cNvPr id="66" name="Straight Connector 65">
                <a:extLst>
                  <a:ext uri="{FF2B5EF4-FFF2-40B4-BE49-F238E27FC236}">
                    <a16:creationId xmlns:a16="http://schemas.microsoft.com/office/drawing/2014/main" id="{6B400E45-2B3E-9F0A-931F-3A5A47D8D0B4}"/>
                  </a:ext>
                </a:extLst>
              </p:cNvPr>
              <p:cNvCxnSpPr>
                <a:cxnSpLocks/>
              </p:cNvCxnSpPr>
              <p:nvPr/>
            </p:nvCxnSpPr>
            <p:spPr>
              <a:xfrm>
                <a:off x="11213775" y="4634066"/>
                <a:ext cx="401730" cy="0"/>
              </a:xfrm>
              <a:prstGeom prst="line">
                <a:avLst/>
              </a:prstGeom>
              <a:ln w="12700">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7" name="Straight Connector 66">
                <a:extLst>
                  <a:ext uri="{FF2B5EF4-FFF2-40B4-BE49-F238E27FC236}">
                    <a16:creationId xmlns:a16="http://schemas.microsoft.com/office/drawing/2014/main" id="{EF8ED698-B353-4C98-851B-9C4FDC7D4B75}"/>
                  </a:ext>
                </a:extLst>
              </p:cNvPr>
              <p:cNvCxnSpPr>
                <a:cxnSpLocks/>
              </p:cNvCxnSpPr>
              <p:nvPr/>
            </p:nvCxnSpPr>
            <p:spPr>
              <a:xfrm>
                <a:off x="11217135" y="5067852"/>
                <a:ext cx="401730" cy="0"/>
              </a:xfrm>
              <a:prstGeom prst="line">
                <a:avLst/>
              </a:prstGeom>
              <a:ln w="12700">
                <a:solidFill>
                  <a:schemeClr val="dk1"/>
                </a:solidFill>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68" name="Rectangle: Rounded Corners 67">
                <a:extLst>
                  <a:ext uri="{FF2B5EF4-FFF2-40B4-BE49-F238E27FC236}">
                    <a16:creationId xmlns:a16="http://schemas.microsoft.com/office/drawing/2014/main" id="{E0E4A072-38DC-65E0-0975-406D4DCB17E8}"/>
                  </a:ext>
                </a:extLst>
              </p:cNvPr>
              <p:cNvSpPr/>
              <p:nvPr/>
            </p:nvSpPr>
            <p:spPr>
              <a:xfrm>
                <a:off x="10126641" y="4558395"/>
                <a:ext cx="1073750" cy="617865"/>
              </a:xfrm>
              <a:prstGeom prst="roundRect">
                <a:avLst>
                  <a:gd name="adj" fmla="val 1001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lumMod val="85000"/>
                        <a:lumOff val="15000"/>
                      </a:schemeClr>
                    </a:solidFill>
                    <a:latin typeface="Barlow" panose="00000500000000000000" pitchFamily="2" charset="0"/>
                  </a:rPr>
                  <a:t>MAX17260/2</a:t>
                </a:r>
              </a:p>
              <a:p>
                <a:pPr algn="ctr"/>
                <a:r>
                  <a:rPr lang="en-US" sz="800" b="1" dirty="0">
                    <a:solidFill>
                      <a:schemeClr val="tx1">
                        <a:lumMod val="85000"/>
                        <a:lumOff val="15000"/>
                      </a:schemeClr>
                    </a:solidFill>
                    <a:latin typeface="Barlow" panose="00000500000000000000" pitchFamily="2" charset="0"/>
                  </a:rPr>
                  <a:t>Fuel Gauge</a:t>
                </a:r>
              </a:p>
            </p:txBody>
          </p:sp>
          <p:sp>
            <p:nvSpPr>
              <p:cNvPr id="69" name="Arrow: Left-Right 68">
                <a:extLst>
                  <a:ext uri="{FF2B5EF4-FFF2-40B4-BE49-F238E27FC236}">
                    <a16:creationId xmlns:a16="http://schemas.microsoft.com/office/drawing/2014/main" id="{6D9424AB-5791-2F0F-6298-753250E9CA9D}"/>
                  </a:ext>
                </a:extLst>
              </p:cNvPr>
              <p:cNvSpPr/>
              <p:nvPr/>
            </p:nvSpPr>
            <p:spPr>
              <a:xfrm>
                <a:off x="9714048" y="4784233"/>
                <a:ext cx="407543" cy="140530"/>
              </a:xfrm>
              <a:prstGeom prst="leftRightArrow">
                <a:avLst>
                  <a:gd name="adj1" fmla="val 64384"/>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0" name="TextBox 69">
                <a:extLst>
                  <a:ext uri="{FF2B5EF4-FFF2-40B4-BE49-F238E27FC236}">
                    <a16:creationId xmlns:a16="http://schemas.microsoft.com/office/drawing/2014/main" id="{692F0858-6E52-73D9-B89D-3BB28D7F4D22}"/>
                  </a:ext>
                </a:extLst>
              </p:cNvPr>
              <p:cNvSpPr txBox="1"/>
              <p:nvPr/>
            </p:nvSpPr>
            <p:spPr>
              <a:xfrm>
                <a:off x="9764822" y="4744583"/>
                <a:ext cx="484281"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I2C</a:t>
                </a:r>
              </a:p>
            </p:txBody>
          </p:sp>
        </p:grpSp>
        <p:sp>
          <p:nvSpPr>
            <p:cNvPr id="74" name="TextBox 73">
              <a:extLst>
                <a:ext uri="{FF2B5EF4-FFF2-40B4-BE49-F238E27FC236}">
                  <a16:creationId xmlns:a16="http://schemas.microsoft.com/office/drawing/2014/main" id="{BA68AC3B-DE68-7432-1314-22C3EA16767E}"/>
                </a:ext>
              </a:extLst>
            </p:cNvPr>
            <p:cNvSpPr txBox="1"/>
            <p:nvPr/>
          </p:nvSpPr>
          <p:spPr>
            <a:xfrm>
              <a:off x="7894313" y="5396357"/>
              <a:ext cx="781465" cy="293983"/>
            </a:xfrm>
            <a:prstGeom prst="rect">
              <a:avLst/>
            </a:prstGeom>
          </p:spPr>
          <p:txBody>
            <a:bodyPr vert="horz" wrap="none" lIns="0" tIns="0" rIns="0" bIns="0" rtlCol="0" anchor="t" anchorCtr="0">
              <a:normAutofit/>
            </a:bodyPr>
            <a:lstStyle/>
            <a:p>
              <a:pPr algn="l"/>
              <a:r>
                <a:rPr lang="en-US" sz="1400" b="1" dirty="0">
                  <a:solidFill>
                    <a:schemeClr val="accent2">
                      <a:lumMod val="75000"/>
                    </a:schemeClr>
                  </a:solidFill>
                </a:rPr>
                <a:t>Sink Side (Fast Charging capable)</a:t>
              </a:r>
            </a:p>
          </p:txBody>
        </p:sp>
      </p:grpSp>
    </p:spTree>
    <p:extLst>
      <p:ext uri="{BB962C8B-B14F-4D97-AF65-F5344CB8AC3E}">
        <p14:creationId xmlns:p14="http://schemas.microsoft.com/office/powerpoint/2010/main" val="148670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fade">
                                      <p:cBhvr>
                                        <p:cTn id="12" dur="500"/>
                                        <p:tgtEl>
                                          <p:spTgt spid="1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fade">
                                      <p:cBhvr>
                                        <p:cTn id="1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Diagram&#10;&#10;Description automatically generated">
            <a:extLst>
              <a:ext uri="{FF2B5EF4-FFF2-40B4-BE49-F238E27FC236}">
                <a16:creationId xmlns:a16="http://schemas.microsoft.com/office/drawing/2014/main" id="{4DCC00FB-093D-24C2-845D-00CF9B57D3A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297248" y="1033787"/>
            <a:ext cx="7375208" cy="3168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Type C Adapter Detection</a:t>
            </a:r>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163" y="6581775"/>
            <a:ext cx="5237162" cy="144463"/>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513" y="6581775"/>
            <a:ext cx="247650" cy="144463"/>
          </a:xfrm>
        </p:spPr>
        <p:txBody>
          <a:bodyPr/>
          <a:lstStyle/>
          <a:p>
            <a:fld id="{A9CE67A1-BA7F-A74E-B5D7-615746DEEC2B}" type="slidenum">
              <a:rPr lang="en-US" smtClean="0"/>
              <a:pPr/>
              <a:t>9</a:t>
            </a:fld>
            <a:endParaRPr lang="en-US" dirty="0"/>
          </a:p>
        </p:txBody>
      </p:sp>
      <p:graphicFrame>
        <p:nvGraphicFramePr>
          <p:cNvPr id="3" name="Table 2">
            <a:extLst>
              <a:ext uri="{FF2B5EF4-FFF2-40B4-BE49-F238E27FC236}">
                <a16:creationId xmlns:a16="http://schemas.microsoft.com/office/drawing/2014/main" id="{BDDD50C9-ED38-2AE1-6F45-9C5730860AC1}"/>
              </a:ext>
            </a:extLst>
          </p:cNvPr>
          <p:cNvGraphicFramePr>
            <a:graphicFrameLocks noGrp="1"/>
          </p:cNvGraphicFramePr>
          <p:nvPr>
            <p:extLst>
              <p:ext uri="{D42A27DB-BD31-4B8C-83A1-F6EECF244321}">
                <p14:modId xmlns:p14="http://schemas.microsoft.com/office/powerpoint/2010/main" val="797204334"/>
              </p:ext>
            </p:extLst>
          </p:nvPr>
        </p:nvGraphicFramePr>
        <p:xfrm>
          <a:off x="382166" y="4352327"/>
          <a:ext cx="5602686" cy="1828800"/>
        </p:xfrm>
        <a:graphic>
          <a:graphicData uri="http://schemas.openxmlformats.org/drawingml/2006/table">
            <a:tbl>
              <a:tblPr firstRow="1" bandRow="1">
                <a:effectLst>
                  <a:outerShdw blurRad="63500" sx="102000" sy="102000" algn="ctr" rotWithShape="0">
                    <a:prstClr val="black">
                      <a:alpha val="40000"/>
                    </a:prstClr>
                  </a:outerShdw>
                </a:effectLst>
                <a:tableStyleId>{B301B821-A1FF-4177-AEE7-76D212191A09}</a:tableStyleId>
              </a:tblPr>
              <a:tblGrid>
                <a:gridCol w="1680709">
                  <a:extLst>
                    <a:ext uri="{9D8B030D-6E8A-4147-A177-3AD203B41FA5}">
                      <a16:colId xmlns:a16="http://schemas.microsoft.com/office/drawing/2014/main" val="20000"/>
                    </a:ext>
                  </a:extLst>
                </a:gridCol>
                <a:gridCol w="1120634">
                  <a:extLst>
                    <a:ext uri="{9D8B030D-6E8A-4147-A177-3AD203B41FA5}">
                      <a16:colId xmlns:a16="http://schemas.microsoft.com/office/drawing/2014/main" val="20001"/>
                    </a:ext>
                  </a:extLst>
                </a:gridCol>
                <a:gridCol w="1528590">
                  <a:extLst>
                    <a:ext uri="{9D8B030D-6E8A-4147-A177-3AD203B41FA5}">
                      <a16:colId xmlns:a16="http://schemas.microsoft.com/office/drawing/2014/main" val="20002"/>
                    </a:ext>
                  </a:extLst>
                </a:gridCol>
                <a:gridCol w="1272753">
                  <a:extLst>
                    <a:ext uri="{9D8B030D-6E8A-4147-A177-3AD203B41FA5}">
                      <a16:colId xmlns:a16="http://schemas.microsoft.com/office/drawing/2014/main" val="20003"/>
                    </a:ext>
                  </a:extLst>
                </a:gridCol>
              </a:tblGrid>
              <a:tr h="481054">
                <a:tc>
                  <a:txBody>
                    <a:bodyPr/>
                    <a:lstStyle/>
                    <a:p>
                      <a:pPr algn="ctr"/>
                      <a:r>
                        <a:rPr lang="en-US" sz="1600" dirty="0"/>
                        <a:t>Source Current Capability</a:t>
                      </a:r>
                    </a:p>
                  </a:txBody>
                  <a:tcPr/>
                </a:tc>
                <a:tc>
                  <a:txBody>
                    <a:bodyPr/>
                    <a:lstStyle/>
                    <a:p>
                      <a:pPr algn="ctr"/>
                      <a:r>
                        <a:rPr lang="en-US" sz="1600"/>
                        <a:t>Current Source</a:t>
                      </a:r>
                    </a:p>
                  </a:txBody>
                  <a:tcPr/>
                </a:tc>
                <a:tc>
                  <a:txBody>
                    <a:bodyPr/>
                    <a:lstStyle/>
                    <a:p>
                      <a:pPr algn="ctr"/>
                      <a:r>
                        <a:rPr lang="en-US" sz="1600"/>
                        <a:t>Rp to </a:t>
                      </a:r>
                      <a:br>
                        <a:rPr lang="en-US" sz="1600"/>
                      </a:br>
                      <a:r>
                        <a:rPr lang="en-US" sz="1600"/>
                        <a:t>4.75V</a:t>
                      </a:r>
                      <a:r>
                        <a:rPr lang="en-US" sz="1600" baseline="0"/>
                        <a:t> to 5.5V</a:t>
                      </a:r>
                      <a:endParaRPr lang="en-US" sz="1600"/>
                    </a:p>
                  </a:txBody>
                  <a:tcPr/>
                </a:tc>
                <a:tc>
                  <a:txBody>
                    <a:bodyPr/>
                    <a:lstStyle/>
                    <a:p>
                      <a:pPr algn="ctr"/>
                      <a:r>
                        <a:rPr lang="en-US" sz="1600"/>
                        <a:t>Rp to </a:t>
                      </a:r>
                    </a:p>
                    <a:p>
                      <a:pPr algn="ctr"/>
                      <a:r>
                        <a:rPr lang="en-US" sz="1600"/>
                        <a:t>3.3V</a:t>
                      </a:r>
                    </a:p>
                  </a:txBody>
                  <a:tcPr/>
                </a:tc>
                <a:extLst>
                  <a:ext uri="{0D108BD9-81ED-4DB2-BD59-A6C34878D82A}">
                    <a16:rowId xmlns:a16="http://schemas.microsoft.com/office/drawing/2014/main" val="10000"/>
                  </a:ext>
                </a:extLst>
              </a:tr>
              <a:tr h="481054">
                <a:tc>
                  <a:txBody>
                    <a:bodyPr/>
                    <a:lstStyle/>
                    <a:p>
                      <a:pPr algn="ctr"/>
                      <a:r>
                        <a:rPr lang="en-US" sz="1600" dirty="0"/>
                        <a:t>Default 500mA/900mA</a:t>
                      </a:r>
                    </a:p>
                  </a:txBody>
                  <a:tcPr/>
                </a:tc>
                <a:tc>
                  <a:txBody>
                    <a:bodyPr/>
                    <a:lstStyle/>
                    <a:p>
                      <a:pPr algn="ctr"/>
                      <a:r>
                        <a:rPr lang="en-US" sz="1400"/>
                        <a:t>80uA</a:t>
                      </a:r>
                    </a:p>
                  </a:txBody>
                  <a:tcPr/>
                </a:tc>
                <a:tc>
                  <a:txBody>
                    <a:bodyPr/>
                    <a:lstStyle/>
                    <a:p>
                      <a:pPr algn="ctr"/>
                      <a:r>
                        <a:rPr lang="en-US" sz="1400"/>
                        <a:t>56K</a:t>
                      </a:r>
                      <a:r>
                        <a:rPr lang="el-GR" sz="1400"/>
                        <a:t>Ω</a:t>
                      </a:r>
                      <a:endParaRPr lang="en-US" sz="1400"/>
                    </a:p>
                  </a:txBody>
                  <a:tcPr/>
                </a:tc>
                <a:tc>
                  <a:txBody>
                    <a:bodyPr/>
                    <a:lstStyle/>
                    <a:p>
                      <a:pPr algn="ctr"/>
                      <a:r>
                        <a:rPr lang="en-US" sz="1400" dirty="0"/>
                        <a:t>36K</a:t>
                      </a:r>
                      <a:r>
                        <a:rPr lang="el-GR" sz="1400" dirty="0"/>
                        <a:t>Ω</a:t>
                      </a:r>
                      <a:endParaRPr lang="en-US" sz="1400" dirty="0"/>
                    </a:p>
                  </a:txBody>
                  <a:tcPr/>
                </a:tc>
                <a:extLst>
                  <a:ext uri="{0D108BD9-81ED-4DB2-BD59-A6C34878D82A}">
                    <a16:rowId xmlns:a16="http://schemas.microsoft.com/office/drawing/2014/main" val="10001"/>
                  </a:ext>
                </a:extLst>
              </a:tr>
              <a:tr h="273326">
                <a:tc>
                  <a:txBody>
                    <a:bodyPr/>
                    <a:lstStyle/>
                    <a:p>
                      <a:pPr algn="ctr"/>
                      <a:r>
                        <a:rPr lang="en-US" sz="1600"/>
                        <a:t>1.5A</a:t>
                      </a:r>
                    </a:p>
                  </a:txBody>
                  <a:tcPr/>
                </a:tc>
                <a:tc>
                  <a:txBody>
                    <a:bodyPr/>
                    <a:lstStyle/>
                    <a:p>
                      <a:pPr algn="ctr"/>
                      <a:r>
                        <a:rPr lang="en-US" sz="1400"/>
                        <a:t>180uA</a:t>
                      </a:r>
                    </a:p>
                  </a:txBody>
                  <a:tcPr/>
                </a:tc>
                <a:tc>
                  <a:txBody>
                    <a:bodyPr/>
                    <a:lstStyle/>
                    <a:p>
                      <a:pPr algn="ctr"/>
                      <a:r>
                        <a:rPr lang="en-US" sz="1400"/>
                        <a:t>22K</a:t>
                      </a:r>
                      <a:r>
                        <a:rPr lang="el-GR" sz="1400"/>
                        <a:t>Ω</a:t>
                      </a:r>
                      <a:endParaRPr lang="en-US" sz="1400"/>
                    </a:p>
                  </a:txBody>
                  <a:tcPr/>
                </a:tc>
                <a:tc>
                  <a:txBody>
                    <a:bodyPr/>
                    <a:lstStyle/>
                    <a:p>
                      <a:pPr algn="ctr"/>
                      <a:r>
                        <a:rPr lang="en-US" sz="1400"/>
                        <a:t>12K</a:t>
                      </a:r>
                      <a:r>
                        <a:rPr lang="el-GR" sz="1400"/>
                        <a:t>Ω</a:t>
                      </a:r>
                      <a:endParaRPr lang="en-US" sz="1400"/>
                    </a:p>
                  </a:txBody>
                  <a:tcPr/>
                </a:tc>
                <a:extLst>
                  <a:ext uri="{0D108BD9-81ED-4DB2-BD59-A6C34878D82A}">
                    <a16:rowId xmlns:a16="http://schemas.microsoft.com/office/drawing/2014/main" val="10002"/>
                  </a:ext>
                </a:extLst>
              </a:tr>
              <a:tr h="273326">
                <a:tc>
                  <a:txBody>
                    <a:bodyPr/>
                    <a:lstStyle/>
                    <a:p>
                      <a:pPr algn="ctr"/>
                      <a:r>
                        <a:rPr lang="en-US" sz="1600"/>
                        <a:t>3.0A</a:t>
                      </a:r>
                    </a:p>
                  </a:txBody>
                  <a:tcPr/>
                </a:tc>
                <a:tc>
                  <a:txBody>
                    <a:bodyPr/>
                    <a:lstStyle/>
                    <a:p>
                      <a:pPr algn="ctr"/>
                      <a:r>
                        <a:rPr lang="en-US" sz="1400"/>
                        <a:t>330uA</a:t>
                      </a:r>
                    </a:p>
                  </a:txBody>
                  <a:tcPr/>
                </a:tc>
                <a:tc>
                  <a:txBody>
                    <a:bodyPr/>
                    <a:lstStyle/>
                    <a:p>
                      <a:pPr algn="ctr"/>
                      <a:r>
                        <a:rPr lang="en-US" sz="1400"/>
                        <a:t>10K</a:t>
                      </a:r>
                      <a:r>
                        <a:rPr lang="el-GR" sz="1400"/>
                        <a:t>Ω</a:t>
                      </a:r>
                      <a:endParaRPr lang="en-US" sz="1400"/>
                    </a:p>
                  </a:txBody>
                  <a:tcPr/>
                </a:tc>
                <a:tc>
                  <a:txBody>
                    <a:bodyPr/>
                    <a:lstStyle/>
                    <a:p>
                      <a:pPr algn="ctr"/>
                      <a:r>
                        <a:rPr lang="en-US" sz="1400" dirty="0"/>
                        <a:t>4.7K</a:t>
                      </a:r>
                      <a:r>
                        <a:rPr lang="el-GR" sz="1400" dirty="0"/>
                        <a:t>Ω</a:t>
                      </a:r>
                      <a:endParaRPr lang="en-US" sz="1400" dirty="0"/>
                    </a:p>
                  </a:txBody>
                  <a:tcPr/>
                </a:tc>
                <a:extLst>
                  <a:ext uri="{0D108BD9-81ED-4DB2-BD59-A6C34878D82A}">
                    <a16:rowId xmlns:a16="http://schemas.microsoft.com/office/drawing/2014/main" val="10003"/>
                  </a:ext>
                </a:extLst>
              </a:tr>
            </a:tbl>
          </a:graphicData>
        </a:graphic>
      </p:graphicFrame>
      <p:graphicFrame>
        <p:nvGraphicFramePr>
          <p:cNvPr id="4" name="Table 3">
            <a:extLst>
              <a:ext uri="{FF2B5EF4-FFF2-40B4-BE49-F238E27FC236}">
                <a16:creationId xmlns:a16="http://schemas.microsoft.com/office/drawing/2014/main" id="{190A2139-A0F5-8A11-4109-01F70D3593B5}"/>
              </a:ext>
            </a:extLst>
          </p:cNvPr>
          <p:cNvGraphicFramePr>
            <a:graphicFrameLocks noGrp="1"/>
          </p:cNvGraphicFramePr>
          <p:nvPr>
            <p:extLst>
              <p:ext uri="{D42A27DB-BD31-4B8C-83A1-F6EECF244321}">
                <p14:modId xmlns:p14="http://schemas.microsoft.com/office/powerpoint/2010/main" val="3743878077"/>
              </p:ext>
            </p:extLst>
          </p:nvPr>
        </p:nvGraphicFramePr>
        <p:xfrm>
          <a:off x="6490771" y="4347597"/>
          <a:ext cx="5200448" cy="1828800"/>
        </p:xfrm>
        <a:graphic>
          <a:graphicData uri="http://schemas.openxmlformats.org/drawingml/2006/table">
            <a:tbl>
              <a:tblPr firstRow="1" bandRow="1">
                <a:effectLst>
                  <a:outerShdw blurRad="63500" sx="102000" sy="102000" algn="ctr" rotWithShape="0">
                    <a:prstClr val="black">
                      <a:alpha val="40000"/>
                    </a:prstClr>
                  </a:outerShdw>
                </a:effectLst>
                <a:tableStyleId>{B301B821-A1FF-4177-AEE7-76D212191A09}</a:tableStyleId>
              </a:tblPr>
              <a:tblGrid>
                <a:gridCol w="2080060">
                  <a:extLst>
                    <a:ext uri="{9D8B030D-6E8A-4147-A177-3AD203B41FA5}">
                      <a16:colId xmlns:a16="http://schemas.microsoft.com/office/drawing/2014/main" val="20000"/>
                    </a:ext>
                  </a:extLst>
                </a:gridCol>
                <a:gridCol w="1386905">
                  <a:extLst>
                    <a:ext uri="{9D8B030D-6E8A-4147-A177-3AD203B41FA5}">
                      <a16:colId xmlns:a16="http://schemas.microsoft.com/office/drawing/2014/main" val="20001"/>
                    </a:ext>
                  </a:extLst>
                </a:gridCol>
                <a:gridCol w="1733483">
                  <a:extLst>
                    <a:ext uri="{9D8B030D-6E8A-4147-A177-3AD203B41FA5}">
                      <a16:colId xmlns:a16="http://schemas.microsoft.com/office/drawing/2014/main" val="20002"/>
                    </a:ext>
                  </a:extLst>
                </a:gridCol>
              </a:tblGrid>
              <a:tr h="481054">
                <a:tc>
                  <a:txBody>
                    <a:bodyPr/>
                    <a:lstStyle/>
                    <a:p>
                      <a:pPr algn="ctr"/>
                      <a:r>
                        <a:rPr lang="en-US" sz="1600"/>
                        <a:t>Source Current Advertisement</a:t>
                      </a:r>
                    </a:p>
                  </a:txBody>
                  <a:tcPr/>
                </a:tc>
                <a:tc>
                  <a:txBody>
                    <a:bodyPr/>
                    <a:lstStyle/>
                    <a:p>
                      <a:pPr algn="ctr"/>
                      <a:r>
                        <a:rPr lang="en-US" sz="1600"/>
                        <a:t>Min voltage</a:t>
                      </a:r>
                      <a:endParaRPr lang="en-US"/>
                    </a:p>
                  </a:txBody>
                  <a:tcPr/>
                </a:tc>
                <a:tc>
                  <a:txBody>
                    <a:bodyPr/>
                    <a:lstStyle/>
                    <a:p>
                      <a:pPr lvl="0" algn="ctr">
                        <a:buNone/>
                      </a:pPr>
                      <a:r>
                        <a:rPr lang="en-US" sz="1600"/>
                        <a:t>Max voltage</a:t>
                      </a:r>
                      <a:endParaRPr lang="en-US"/>
                    </a:p>
                  </a:txBody>
                  <a:tcPr/>
                </a:tc>
                <a:extLst>
                  <a:ext uri="{0D108BD9-81ED-4DB2-BD59-A6C34878D82A}">
                    <a16:rowId xmlns:a16="http://schemas.microsoft.com/office/drawing/2014/main" val="10000"/>
                  </a:ext>
                </a:extLst>
              </a:tr>
              <a:tr h="481054">
                <a:tc>
                  <a:txBody>
                    <a:bodyPr/>
                    <a:lstStyle/>
                    <a:p>
                      <a:pPr algn="ctr"/>
                      <a:r>
                        <a:rPr lang="en-US" sz="1600"/>
                        <a:t>Default 500mA/900mA</a:t>
                      </a:r>
                    </a:p>
                  </a:txBody>
                  <a:tcPr/>
                </a:tc>
                <a:tc>
                  <a:txBody>
                    <a:bodyPr/>
                    <a:lstStyle/>
                    <a:p>
                      <a:pPr algn="ctr"/>
                      <a:r>
                        <a:rPr lang="en-US" sz="1400"/>
                        <a:t>0.25V</a:t>
                      </a:r>
                    </a:p>
                  </a:txBody>
                  <a:tcPr/>
                </a:tc>
                <a:tc>
                  <a:txBody>
                    <a:bodyPr/>
                    <a:lstStyle/>
                    <a:p>
                      <a:pPr lvl="0" algn="ctr">
                        <a:buNone/>
                      </a:pPr>
                      <a:r>
                        <a:rPr lang="en-US" sz="1400"/>
                        <a:t>0.61V</a:t>
                      </a:r>
                      <a:endParaRPr lang="en-US"/>
                    </a:p>
                  </a:txBody>
                  <a:tcPr/>
                </a:tc>
                <a:extLst>
                  <a:ext uri="{0D108BD9-81ED-4DB2-BD59-A6C34878D82A}">
                    <a16:rowId xmlns:a16="http://schemas.microsoft.com/office/drawing/2014/main" val="10001"/>
                  </a:ext>
                </a:extLst>
              </a:tr>
              <a:tr h="273326">
                <a:tc>
                  <a:txBody>
                    <a:bodyPr/>
                    <a:lstStyle/>
                    <a:p>
                      <a:pPr algn="ctr"/>
                      <a:r>
                        <a:rPr lang="en-US" sz="1600"/>
                        <a:t>1.5A</a:t>
                      </a:r>
                    </a:p>
                  </a:txBody>
                  <a:tcPr/>
                </a:tc>
                <a:tc>
                  <a:txBody>
                    <a:bodyPr/>
                    <a:lstStyle/>
                    <a:p>
                      <a:pPr lvl="0" algn="ctr">
                        <a:buNone/>
                      </a:pPr>
                      <a:r>
                        <a:rPr lang="en-US" sz="1400"/>
                        <a:t>0.7</a:t>
                      </a:r>
                    </a:p>
                  </a:txBody>
                  <a:tcPr/>
                </a:tc>
                <a:tc>
                  <a:txBody>
                    <a:bodyPr/>
                    <a:lstStyle/>
                    <a:p>
                      <a:pPr lvl="0" algn="ctr">
                        <a:buNone/>
                      </a:pPr>
                      <a:r>
                        <a:rPr lang="en-US" sz="1400"/>
                        <a:t>1.16V</a:t>
                      </a:r>
                      <a:endParaRPr lang="en-US"/>
                    </a:p>
                  </a:txBody>
                  <a:tcPr/>
                </a:tc>
                <a:extLst>
                  <a:ext uri="{0D108BD9-81ED-4DB2-BD59-A6C34878D82A}">
                    <a16:rowId xmlns:a16="http://schemas.microsoft.com/office/drawing/2014/main" val="10002"/>
                  </a:ext>
                </a:extLst>
              </a:tr>
              <a:tr h="273326">
                <a:tc>
                  <a:txBody>
                    <a:bodyPr/>
                    <a:lstStyle/>
                    <a:p>
                      <a:pPr algn="ctr"/>
                      <a:r>
                        <a:rPr lang="en-US" sz="1600" dirty="0"/>
                        <a:t>3.0A</a:t>
                      </a:r>
                    </a:p>
                  </a:txBody>
                  <a:tcPr/>
                </a:tc>
                <a:tc>
                  <a:txBody>
                    <a:bodyPr/>
                    <a:lstStyle/>
                    <a:p>
                      <a:pPr lvl="0" algn="ctr">
                        <a:buNone/>
                      </a:pPr>
                      <a:r>
                        <a:rPr lang="en-US" sz="1400"/>
                        <a:t>1.31</a:t>
                      </a:r>
                    </a:p>
                  </a:txBody>
                  <a:tcPr/>
                </a:tc>
                <a:tc>
                  <a:txBody>
                    <a:bodyPr/>
                    <a:lstStyle/>
                    <a:p>
                      <a:pPr lvl="0" algn="ctr">
                        <a:buNone/>
                      </a:pPr>
                      <a:r>
                        <a:rPr lang="en-US" sz="1400" dirty="0"/>
                        <a:t>2.04V</a:t>
                      </a:r>
                      <a:endParaRPr lang="en-US" dirty="0"/>
                    </a:p>
                  </a:txBody>
                  <a:tcPr/>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1DC7C14C-2589-FB85-4817-FF3714E730BE}"/>
              </a:ext>
            </a:extLst>
          </p:cNvPr>
          <p:cNvSpPr txBox="1"/>
          <p:nvPr/>
        </p:nvSpPr>
        <p:spPr>
          <a:xfrm>
            <a:off x="1418422" y="3998730"/>
            <a:ext cx="4413287"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457200">
              <a:spcBef>
                <a:spcPts val="1000"/>
              </a:spcBef>
              <a:buClr>
                <a:srgbClr val="1E4056"/>
              </a:buClr>
              <a:buSzPct val="75000"/>
            </a:pPr>
            <a:r>
              <a:rPr lang="en-US" sz="2000" b="1" dirty="0">
                <a:solidFill>
                  <a:srgbClr val="000000"/>
                </a:solidFill>
              </a:rPr>
              <a:t>Source current advertisement with Rp</a:t>
            </a:r>
            <a:endParaRPr lang="en-US" b="1" dirty="0"/>
          </a:p>
        </p:txBody>
      </p:sp>
      <p:pic>
        <p:nvPicPr>
          <p:cNvPr id="10" name="Picture 9">
            <a:extLst>
              <a:ext uri="{FF2B5EF4-FFF2-40B4-BE49-F238E27FC236}">
                <a16:creationId xmlns:a16="http://schemas.microsoft.com/office/drawing/2014/main" id="{79466D9E-DFDC-BE23-1D4A-169515EA71CF}"/>
              </a:ext>
            </a:extLst>
          </p:cNvPr>
          <p:cNvPicPr>
            <a:picLocks noChangeAspect="1"/>
          </p:cNvPicPr>
          <p:nvPr/>
        </p:nvPicPr>
        <p:blipFill>
          <a:blip r:embed="rId4"/>
          <a:stretch>
            <a:fillRect/>
          </a:stretch>
        </p:blipFill>
        <p:spPr>
          <a:xfrm>
            <a:off x="771815" y="1836113"/>
            <a:ext cx="1747729" cy="1564348"/>
          </a:xfrm>
          <a:prstGeom prst="rect">
            <a:avLst/>
          </a:prstGeom>
        </p:spPr>
      </p:pic>
      <p:pic>
        <p:nvPicPr>
          <p:cNvPr id="11" name="Picture 2">
            <a:extLst>
              <a:ext uri="{FF2B5EF4-FFF2-40B4-BE49-F238E27FC236}">
                <a16:creationId xmlns:a16="http://schemas.microsoft.com/office/drawing/2014/main" id="{9E9DB795-0F53-BAA5-9251-1CE21401374B}"/>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p:blipFill>
        <p:spPr bwMode="auto">
          <a:xfrm>
            <a:off x="9248876" y="1764803"/>
            <a:ext cx="2498523" cy="165486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D6FB615-DF20-1F01-AA5C-9759695B3D69}"/>
              </a:ext>
            </a:extLst>
          </p:cNvPr>
          <p:cNvSpPr txBox="1"/>
          <p:nvPr/>
        </p:nvSpPr>
        <p:spPr>
          <a:xfrm>
            <a:off x="6467820" y="3998729"/>
            <a:ext cx="555169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457200">
              <a:spcBef>
                <a:spcPts val="1000"/>
              </a:spcBef>
              <a:buClr>
                <a:srgbClr val="1E4056"/>
              </a:buClr>
              <a:buSzPct val="75000"/>
            </a:pPr>
            <a:r>
              <a:rPr lang="en-US" sz="2000" b="1" dirty="0">
                <a:solidFill>
                  <a:srgbClr val="000000"/>
                </a:solidFill>
              </a:rPr>
              <a:t>Sink side monitoring for current advertisement</a:t>
            </a:r>
            <a:endParaRPr lang="en-US" b="1" dirty="0"/>
          </a:p>
        </p:txBody>
      </p:sp>
      <p:sp>
        <p:nvSpPr>
          <p:cNvPr id="7" name="Date Placeholder 3">
            <a:extLst>
              <a:ext uri="{FF2B5EF4-FFF2-40B4-BE49-F238E27FC236}">
                <a16:creationId xmlns:a16="http://schemas.microsoft.com/office/drawing/2014/main" id="{D2A4B478-72C1-0B4D-42CB-7136AD3FAAA6}"/>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Tree>
    <p:extLst>
      <p:ext uri="{BB962C8B-B14F-4D97-AF65-F5344CB8AC3E}">
        <p14:creationId xmlns:p14="http://schemas.microsoft.com/office/powerpoint/2010/main" val="495321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B7CD29-95D7-37A6-CE21-27BABBDFC687}"/>
              </a:ext>
            </a:extLst>
          </p:cNvPr>
          <p:cNvSpPr>
            <a:spLocks noGrp="1"/>
          </p:cNvSpPr>
          <p:nvPr>
            <p:ph idx="1"/>
          </p:nvPr>
        </p:nvSpPr>
        <p:spPr>
          <a:xfrm>
            <a:off x="355601" y="1705429"/>
            <a:ext cx="5557837" cy="4667408"/>
          </a:xfrm>
        </p:spPr>
        <p:txBody>
          <a:bodyPr/>
          <a:lstStyle/>
          <a:p>
            <a:r>
              <a:rPr lang="en-US"/>
              <a:t>USB PD Charging</a:t>
            </a:r>
            <a:endParaRPr lang="en-US" dirty="0"/>
          </a:p>
        </p:txBody>
      </p:sp>
      <p:sp>
        <p:nvSpPr>
          <p:cNvPr id="3" name="Footer Placeholder 3">
            <a:extLst>
              <a:ext uri="{FF2B5EF4-FFF2-40B4-BE49-F238E27FC236}">
                <a16:creationId xmlns:a16="http://schemas.microsoft.com/office/drawing/2014/main" id="{EF55A976-A325-2118-4EC4-5B85763DC88E}"/>
              </a:ext>
            </a:extLst>
          </p:cNvPr>
          <p:cNvSpPr>
            <a:spLocks noGrp="1"/>
          </p:cNvSpPr>
          <p:nvPr>
            <p:ph type="ftr" sz="quarter" idx="11"/>
          </p:nvPr>
        </p:nvSpPr>
        <p:spPr>
          <a:xfrm>
            <a:off x="342900" y="6616018"/>
            <a:ext cx="7545737" cy="251230"/>
          </a:xfrm>
        </p:spPr>
        <p:txBody>
          <a:bodyPr/>
          <a:lstStyle/>
          <a:p>
            <a:r>
              <a:rPr lang="en-US" dirty="0">
                <a:solidFill>
                  <a:schemeClr val="bg1"/>
                </a:solidFill>
              </a:rPr>
              <a:t>Analog Devices Confidential Information—Not for External Distribution. ©2024 Analog Devices, Inc. All Rights Reserved.</a:t>
            </a:r>
          </a:p>
        </p:txBody>
      </p:sp>
      <p:sp>
        <p:nvSpPr>
          <p:cNvPr id="7" name="Date Placeholder 5">
            <a:extLst>
              <a:ext uri="{FF2B5EF4-FFF2-40B4-BE49-F238E27FC236}">
                <a16:creationId xmlns:a16="http://schemas.microsoft.com/office/drawing/2014/main" id="{1C935E4A-6962-A96F-23F2-9732C0C8205D}"/>
              </a:ext>
            </a:extLst>
          </p:cNvPr>
          <p:cNvSpPr>
            <a:spLocks noGrp="1"/>
          </p:cNvSpPr>
          <p:nvPr>
            <p:ph type="dt" sz="half" idx="10"/>
          </p:nvPr>
        </p:nvSpPr>
        <p:spPr>
          <a:xfrm>
            <a:off x="7888637" y="6599019"/>
            <a:ext cx="2741264" cy="251229"/>
          </a:xfrm>
        </p:spPr>
        <p:txBody>
          <a:bodyPr/>
          <a:lstStyle/>
          <a:p>
            <a:r>
              <a:rPr lang="en-US"/>
              <a:t>FTC | Orlando, FL | November 4-8, 2024</a:t>
            </a:r>
            <a:endParaRPr lang="en-US" dirty="0"/>
          </a:p>
        </p:txBody>
      </p:sp>
    </p:spTree>
    <p:custDataLst>
      <p:tags r:id="rId1"/>
    </p:custDataLst>
    <p:extLst>
      <p:ext uri="{BB962C8B-B14F-4D97-AF65-F5344CB8AC3E}">
        <p14:creationId xmlns:p14="http://schemas.microsoft.com/office/powerpoint/2010/main" val="2828022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a:t>What is USB Power Delivery?</a:t>
            </a:r>
            <a:endParaRPr lang="en-US" dirty="0"/>
          </a:p>
        </p:txBody>
      </p:sp>
      <p:sp>
        <p:nvSpPr>
          <p:cNvPr id="52" name="Footer Placeholder 4">
            <a:extLst>
              <a:ext uri="{FF2B5EF4-FFF2-40B4-BE49-F238E27FC236}">
                <a16:creationId xmlns:a16="http://schemas.microsoft.com/office/drawing/2014/main" id="{D5CBD443-1BD9-B744-C82C-F92158CD9D0F}"/>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53" name="Slide Number Placeholder 5">
            <a:extLst>
              <a:ext uri="{FF2B5EF4-FFF2-40B4-BE49-F238E27FC236}">
                <a16:creationId xmlns:a16="http://schemas.microsoft.com/office/drawing/2014/main" id="{4A2D104F-FA80-E57C-E71D-038A3B585977}"/>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11</a:t>
            </a:fld>
            <a:endParaRPr lang="en-US" dirty="0"/>
          </a:p>
        </p:txBody>
      </p:sp>
      <p:cxnSp>
        <p:nvCxnSpPr>
          <p:cNvPr id="3" name="Straight Arrow Connector 2">
            <a:extLst>
              <a:ext uri="{FF2B5EF4-FFF2-40B4-BE49-F238E27FC236}">
                <a16:creationId xmlns:a16="http://schemas.microsoft.com/office/drawing/2014/main" id="{12EBEF58-90E0-BA07-A685-6D6816B75A42}"/>
              </a:ext>
            </a:extLst>
          </p:cNvPr>
          <p:cNvCxnSpPr/>
          <p:nvPr/>
        </p:nvCxnSpPr>
        <p:spPr>
          <a:xfrm flipV="1">
            <a:off x="1241778" y="1093496"/>
            <a:ext cx="0" cy="4843172"/>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E631B2BD-6F4B-2B4F-30DC-9104DA4CA88D}"/>
              </a:ext>
            </a:extLst>
          </p:cNvPr>
          <p:cNvCxnSpPr>
            <a:cxnSpLocks/>
          </p:cNvCxnSpPr>
          <p:nvPr/>
        </p:nvCxnSpPr>
        <p:spPr>
          <a:xfrm>
            <a:off x="1241778" y="5941146"/>
            <a:ext cx="5012266" cy="0"/>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8899E6FF-C51A-6F24-F6F5-5F2CD75F9FAD}"/>
              </a:ext>
            </a:extLst>
          </p:cNvPr>
          <p:cNvCxnSpPr/>
          <p:nvPr/>
        </p:nvCxnSpPr>
        <p:spPr>
          <a:xfrm>
            <a:off x="1246258" y="5365660"/>
            <a:ext cx="4660547" cy="0"/>
          </a:xfrm>
          <a:prstGeom prst="line">
            <a:avLst/>
          </a:prstGeom>
          <a:ln w="381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AE92831-A29D-6EC8-7279-5C1187259535}"/>
              </a:ext>
            </a:extLst>
          </p:cNvPr>
          <p:cNvCxnSpPr/>
          <p:nvPr/>
        </p:nvCxnSpPr>
        <p:spPr>
          <a:xfrm>
            <a:off x="1246258" y="1554011"/>
            <a:ext cx="4660547" cy="0"/>
          </a:xfrm>
          <a:prstGeom prst="line">
            <a:avLst/>
          </a:prstGeom>
          <a:ln w="19050">
            <a:solidFill>
              <a:schemeClr val="tx2">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515432-293E-FC58-DC2F-63ED939957A0}"/>
              </a:ext>
            </a:extLst>
          </p:cNvPr>
          <p:cNvSpPr txBox="1"/>
          <p:nvPr/>
        </p:nvSpPr>
        <p:spPr>
          <a:xfrm>
            <a:off x="806502" y="5256452"/>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5V</a:t>
            </a:r>
          </a:p>
        </p:txBody>
      </p:sp>
      <p:cxnSp>
        <p:nvCxnSpPr>
          <p:cNvPr id="11" name="Straight Connector 10">
            <a:extLst>
              <a:ext uri="{FF2B5EF4-FFF2-40B4-BE49-F238E27FC236}">
                <a16:creationId xmlns:a16="http://schemas.microsoft.com/office/drawing/2014/main" id="{4613EB31-5615-61DA-FC30-33E7CB1B27CE}"/>
              </a:ext>
            </a:extLst>
          </p:cNvPr>
          <p:cNvCxnSpPr>
            <a:cxnSpLocks/>
          </p:cNvCxnSpPr>
          <p:nvPr/>
        </p:nvCxnSpPr>
        <p:spPr>
          <a:xfrm>
            <a:off x="5401734" y="1542992"/>
            <a:ext cx="0" cy="4393676"/>
          </a:xfrm>
          <a:prstGeom prst="line">
            <a:avLst/>
          </a:prstGeom>
          <a:ln w="19050">
            <a:solidFill>
              <a:srgbClr val="00B05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2AB16AB-6743-899C-56AE-9749D229ECEC}"/>
              </a:ext>
            </a:extLst>
          </p:cNvPr>
          <p:cNvSpPr txBox="1"/>
          <p:nvPr/>
        </p:nvSpPr>
        <p:spPr>
          <a:xfrm>
            <a:off x="5198915" y="6041347"/>
            <a:ext cx="583197" cy="394723"/>
          </a:xfrm>
          <a:prstGeom prst="rect">
            <a:avLst/>
          </a:prstGeom>
        </p:spPr>
        <p:txBody>
          <a:bodyPr vert="horz" wrap="none" lIns="0" tIns="0" rIns="0" bIns="0" rtlCol="0" anchor="t" anchorCtr="0">
            <a:normAutofit/>
          </a:bodyPr>
          <a:lstStyle/>
          <a:p>
            <a:pPr algn="l"/>
            <a:r>
              <a:rPr lang="en-US" b="1" dirty="0">
                <a:solidFill>
                  <a:srgbClr val="00B050"/>
                </a:solidFill>
              </a:rPr>
              <a:t>5A (E-Marked Cables)</a:t>
            </a:r>
          </a:p>
        </p:txBody>
      </p:sp>
      <p:sp>
        <p:nvSpPr>
          <p:cNvPr id="15" name="TextBox 14">
            <a:extLst>
              <a:ext uri="{FF2B5EF4-FFF2-40B4-BE49-F238E27FC236}">
                <a16:creationId xmlns:a16="http://schemas.microsoft.com/office/drawing/2014/main" id="{3CD1AD5D-0591-BAF4-9BFC-E31E16E18441}"/>
              </a:ext>
            </a:extLst>
          </p:cNvPr>
          <p:cNvSpPr txBox="1"/>
          <p:nvPr/>
        </p:nvSpPr>
        <p:spPr>
          <a:xfrm rot="16200000">
            <a:off x="66201" y="3305061"/>
            <a:ext cx="914400" cy="247878"/>
          </a:xfrm>
          <a:prstGeom prst="rect">
            <a:avLst/>
          </a:prstGeom>
        </p:spPr>
        <p:txBody>
          <a:bodyPr vert="horz" wrap="none" lIns="0" tIns="0" rIns="0" bIns="0" rtlCol="0" anchor="t" anchorCtr="0">
            <a:normAutofit lnSpcReduction="10000"/>
          </a:bodyPr>
          <a:lstStyle/>
          <a:p>
            <a:pPr algn="l"/>
            <a:r>
              <a:rPr lang="en-US" b="1" dirty="0">
                <a:solidFill>
                  <a:schemeClr val="tx2">
                    <a:lumMod val="50000"/>
                  </a:schemeClr>
                </a:solidFill>
              </a:rPr>
              <a:t>VBUS </a:t>
            </a:r>
          </a:p>
        </p:txBody>
      </p:sp>
      <p:sp>
        <p:nvSpPr>
          <p:cNvPr id="16" name="TextBox 15">
            <a:extLst>
              <a:ext uri="{FF2B5EF4-FFF2-40B4-BE49-F238E27FC236}">
                <a16:creationId xmlns:a16="http://schemas.microsoft.com/office/drawing/2014/main" id="{E69A7401-02CF-0229-4F32-FC544CFCD28C}"/>
              </a:ext>
            </a:extLst>
          </p:cNvPr>
          <p:cNvSpPr txBox="1"/>
          <p:nvPr/>
        </p:nvSpPr>
        <p:spPr>
          <a:xfrm>
            <a:off x="2625767" y="6252080"/>
            <a:ext cx="1797622" cy="262774"/>
          </a:xfrm>
          <a:prstGeom prst="rect">
            <a:avLst/>
          </a:prstGeom>
        </p:spPr>
        <p:txBody>
          <a:bodyPr vert="horz" wrap="none" lIns="0" tIns="0" rIns="0" bIns="0" rtlCol="0" anchor="t" anchorCtr="0">
            <a:normAutofit lnSpcReduction="10000"/>
          </a:bodyPr>
          <a:lstStyle/>
          <a:p>
            <a:pPr algn="l"/>
            <a:r>
              <a:rPr lang="en-US" b="1" dirty="0">
                <a:solidFill>
                  <a:srgbClr val="00B050"/>
                </a:solidFill>
              </a:rPr>
              <a:t>CURRENT LEVEL</a:t>
            </a:r>
          </a:p>
        </p:txBody>
      </p:sp>
      <p:grpSp>
        <p:nvGrpSpPr>
          <p:cNvPr id="19" name="Group 18">
            <a:extLst>
              <a:ext uri="{FF2B5EF4-FFF2-40B4-BE49-F238E27FC236}">
                <a16:creationId xmlns:a16="http://schemas.microsoft.com/office/drawing/2014/main" id="{59DCD1DD-738A-70B5-7146-208B3F299C92}"/>
              </a:ext>
            </a:extLst>
          </p:cNvPr>
          <p:cNvGrpSpPr/>
          <p:nvPr/>
        </p:nvGrpSpPr>
        <p:grpSpPr>
          <a:xfrm>
            <a:off x="6744687" y="1297503"/>
            <a:ext cx="4220054" cy="1943596"/>
            <a:chOff x="7056665" y="1032660"/>
            <a:chExt cx="4724400" cy="2233780"/>
          </a:xfrm>
        </p:grpSpPr>
        <p:sp>
          <p:nvSpPr>
            <p:cNvPr id="20" name="Rectangle 19">
              <a:extLst>
                <a:ext uri="{FF2B5EF4-FFF2-40B4-BE49-F238E27FC236}">
                  <a16:creationId xmlns:a16="http://schemas.microsoft.com/office/drawing/2014/main" id="{4E4775B7-8C8C-560A-7A04-0ADDFC4292FE}"/>
                </a:ext>
              </a:extLst>
            </p:cNvPr>
            <p:cNvSpPr/>
            <p:nvPr/>
          </p:nvSpPr>
          <p:spPr>
            <a:xfrm>
              <a:off x="10084345" y="1066800"/>
              <a:ext cx="1696720" cy="2199640"/>
            </a:xfrm>
            <a:prstGeom prst="rect">
              <a:avLst/>
            </a:prstGeom>
            <a:solidFill>
              <a:schemeClr val="accent1">
                <a:lumMod val="10000"/>
                <a:lumOff val="90000"/>
              </a:schemeClr>
            </a:solidFill>
            <a:ln w="1905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spcBef>
                  <a:spcPts val="600"/>
                </a:spcBef>
                <a:spcAft>
                  <a:spcPts val="800"/>
                </a:spcAft>
                <a:buClr>
                  <a:schemeClr val="accent1"/>
                </a:buClr>
                <a:buSzPct val="70000"/>
              </a:pPr>
              <a:endParaRPr lang="en-US" b="1" dirty="0">
                <a:solidFill>
                  <a:srgbClr val="000000"/>
                </a:solidFill>
                <a:latin typeface="Barlow" pitchFamily="2" charset="77"/>
                <a:cs typeface="Arial" panose="020B0604020202020204" pitchFamily="34" charset="0"/>
              </a:endParaRPr>
            </a:p>
          </p:txBody>
        </p:sp>
        <p:sp>
          <p:nvSpPr>
            <p:cNvPr id="21" name="Rectangle 20">
              <a:extLst>
                <a:ext uri="{FF2B5EF4-FFF2-40B4-BE49-F238E27FC236}">
                  <a16:creationId xmlns:a16="http://schemas.microsoft.com/office/drawing/2014/main" id="{44810EDF-493B-70E4-D520-E2A3D0350EFC}"/>
                </a:ext>
              </a:extLst>
            </p:cNvPr>
            <p:cNvSpPr/>
            <p:nvPr/>
          </p:nvSpPr>
          <p:spPr>
            <a:xfrm>
              <a:off x="7056665" y="1066800"/>
              <a:ext cx="1696720" cy="2199640"/>
            </a:xfrm>
            <a:prstGeom prst="rect">
              <a:avLst/>
            </a:prstGeom>
            <a:solidFill>
              <a:schemeClr val="bg1"/>
            </a:solidFill>
            <a:ln w="1905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spcBef>
                  <a:spcPts val="600"/>
                </a:spcBef>
                <a:spcAft>
                  <a:spcPts val="800"/>
                </a:spcAft>
                <a:buClr>
                  <a:schemeClr val="accent1"/>
                </a:buClr>
                <a:buSzPct val="70000"/>
              </a:pPr>
              <a:endParaRPr lang="en-US" b="1" dirty="0">
                <a:solidFill>
                  <a:srgbClr val="000000"/>
                </a:solidFill>
                <a:latin typeface="Barlow" pitchFamily="2" charset="77"/>
                <a:cs typeface="Arial" panose="020B0604020202020204" pitchFamily="34" charset="0"/>
              </a:endParaRPr>
            </a:p>
          </p:txBody>
        </p:sp>
        <p:cxnSp>
          <p:nvCxnSpPr>
            <p:cNvPr id="22" name="Straight Arrow Connector 21">
              <a:extLst>
                <a:ext uri="{FF2B5EF4-FFF2-40B4-BE49-F238E27FC236}">
                  <a16:creationId xmlns:a16="http://schemas.microsoft.com/office/drawing/2014/main" id="{5593185C-D84C-3EBF-4A96-4206119BA0A7}"/>
                </a:ext>
              </a:extLst>
            </p:cNvPr>
            <p:cNvCxnSpPr>
              <a:cxnSpLocks/>
            </p:cNvCxnSpPr>
            <p:nvPr/>
          </p:nvCxnSpPr>
          <p:spPr>
            <a:xfrm>
              <a:off x="8753385" y="1351280"/>
              <a:ext cx="1330960" cy="0"/>
            </a:xfrm>
            <a:prstGeom prst="straightConnector1">
              <a:avLst/>
            </a:prstGeom>
            <a:ln w="19050">
              <a:solidFill>
                <a:schemeClr val="tx2">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A7AFD6C0-332F-4A29-C02D-18FD9CDE83AC}"/>
                </a:ext>
              </a:extLst>
            </p:cNvPr>
            <p:cNvSpPr txBox="1"/>
            <p:nvPr/>
          </p:nvSpPr>
          <p:spPr>
            <a:xfrm>
              <a:off x="9070889" y="1032660"/>
              <a:ext cx="685394" cy="294805"/>
            </a:xfrm>
            <a:prstGeom prst="rect">
              <a:avLst/>
            </a:prstGeom>
          </p:spPr>
          <p:txBody>
            <a:bodyPr vert="horz" wrap="none" lIns="0" tIns="0" rIns="0" bIns="0" rtlCol="0" anchor="t" anchorCtr="0">
              <a:normAutofit/>
            </a:bodyPr>
            <a:lstStyle/>
            <a:p>
              <a:pPr algn="l"/>
              <a:r>
                <a:rPr lang="en-US" sz="1600" b="1" dirty="0">
                  <a:solidFill>
                    <a:schemeClr val="tx2">
                      <a:lumMod val="50000"/>
                    </a:schemeClr>
                  </a:solidFill>
                </a:rPr>
                <a:t>VBUS</a:t>
              </a:r>
            </a:p>
          </p:txBody>
        </p:sp>
        <p:cxnSp>
          <p:nvCxnSpPr>
            <p:cNvPr id="24" name="Straight Arrow Connector 23">
              <a:extLst>
                <a:ext uri="{FF2B5EF4-FFF2-40B4-BE49-F238E27FC236}">
                  <a16:creationId xmlns:a16="http://schemas.microsoft.com/office/drawing/2014/main" id="{366784F9-8703-1B0E-BDA2-63C5AA3EDBD1}"/>
                </a:ext>
              </a:extLst>
            </p:cNvPr>
            <p:cNvCxnSpPr>
              <a:cxnSpLocks/>
            </p:cNvCxnSpPr>
            <p:nvPr/>
          </p:nvCxnSpPr>
          <p:spPr>
            <a:xfrm>
              <a:off x="8753385" y="2166620"/>
              <a:ext cx="1330960" cy="0"/>
            </a:xfrm>
            <a:prstGeom prst="straightConnector1">
              <a:avLst/>
            </a:prstGeom>
            <a:ln w="19050">
              <a:solidFill>
                <a:srgbClr val="8A2683"/>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E1C6E40-7B67-9B46-E282-299BAB80843D}"/>
                </a:ext>
              </a:extLst>
            </p:cNvPr>
            <p:cNvCxnSpPr>
              <a:cxnSpLocks/>
            </p:cNvCxnSpPr>
            <p:nvPr/>
          </p:nvCxnSpPr>
          <p:spPr>
            <a:xfrm>
              <a:off x="8753385" y="2491740"/>
              <a:ext cx="1330960" cy="0"/>
            </a:xfrm>
            <a:prstGeom prst="straightConnector1">
              <a:avLst/>
            </a:prstGeom>
            <a:ln w="19050">
              <a:solidFill>
                <a:srgbClr val="8A2683"/>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471E3CF-7EB3-1D01-6A6C-9CA5107B8984}"/>
                </a:ext>
              </a:extLst>
            </p:cNvPr>
            <p:cNvSpPr txBox="1"/>
            <p:nvPr/>
          </p:nvSpPr>
          <p:spPr>
            <a:xfrm>
              <a:off x="8996890" y="1808479"/>
              <a:ext cx="914400" cy="914399"/>
            </a:xfrm>
            <a:prstGeom prst="rect">
              <a:avLst/>
            </a:prstGeom>
          </p:spPr>
          <p:txBody>
            <a:bodyPr vert="horz" wrap="none" lIns="0" tIns="0" rIns="0" bIns="0" rtlCol="0" anchor="t" anchorCtr="0">
              <a:normAutofit/>
            </a:bodyPr>
            <a:lstStyle/>
            <a:p>
              <a:pPr algn="l"/>
              <a:r>
                <a:rPr lang="en-US" sz="1600" b="1" dirty="0">
                  <a:solidFill>
                    <a:srgbClr val="8A2683"/>
                  </a:solidFill>
                </a:rPr>
                <a:t>CC pins</a:t>
              </a:r>
            </a:p>
          </p:txBody>
        </p:sp>
      </p:grpSp>
      <p:cxnSp>
        <p:nvCxnSpPr>
          <p:cNvPr id="28" name="Straight Connector 27">
            <a:extLst>
              <a:ext uri="{FF2B5EF4-FFF2-40B4-BE49-F238E27FC236}">
                <a16:creationId xmlns:a16="http://schemas.microsoft.com/office/drawing/2014/main" id="{3E99DC0C-EED9-9DA9-4B54-ACDA24CBA91B}"/>
              </a:ext>
            </a:extLst>
          </p:cNvPr>
          <p:cNvCxnSpPr>
            <a:cxnSpLocks/>
          </p:cNvCxnSpPr>
          <p:nvPr/>
        </p:nvCxnSpPr>
        <p:spPr>
          <a:xfrm>
            <a:off x="1237296" y="5365660"/>
            <a:ext cx="4660547" cy="0"/>
          </a:xfrm>
          <a:prstGeom prst="line">
            <a:avLst/>
          </a:prstGeom>
          <a:ln w="19050">
            <a:solidFill>
              <a:schemeClr val="tx2">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8602AD8-3940-B06F-437D-EA8E3B592487}"/>
              </a:ext>
            </a:extLst>
          </p:cNvPr>
          <p:cNvCxnSpPr/>
          <p:nvPr/>
        </p:nvCxnSpPr>
        <p:spPr>
          <a:xfrm>
            <a:off x="1237298" y="4506011"/>
            <a:ext cx="4660547" cy="0"/>
          </a:xfrm>
          <a:prstGeom prst="line">
            <a:avLst/>
          </a:prstGeom>
          <a:ln w="19050">
            <a:solidFill>
              <a:schemeClr val="tx2">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8F45617-4EC7-DA98-3C77-371A9112BCEB}"/>
              </a:ext>
            </a:extLst>
          </p:cNvPr>
          <p:cNvCxnSpPr/>
          <p:nvPr/>
        </p:nvCxnSpPr>
        <p:spPr>
          <a:xfrm>
            <a:off x="1237297" y="2779009"/>
            <a:ext cx="4660547" cy="0"/>
          </a:xfrm>
          <a:prstGeom prst="line">
            <a:avLst/>
          </a:prstGeom>
          <a:ln w="19050">
            <a:solidFill>
              <a:schemeClr val="tx2">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F88F4EC-E5C7-9552-C6A1-CCEF2A2AE7F9}"/>
              </a:ext>
            </a:extLst>
          </p:cNvPr>
          <p:cNvSpPr txBox="1"/>
          <p:nvPr/>
        </p:nvSpPr>
        <p:spPr>
          <a:xfrm>
            <a:off x="806502" y="4333613"/>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9V</a:t>
            </a:r>
          </a:p>
        </p:txBody>
      </p:sp>
      <p:sp>
        <p:nvSpPr>
          <p:cNvPr id="33" name="TextBox 32">
            <a:extLst>
              <a:ext uri="{FF2B5EF4-FFF2-40B4-BE49-F238E27FC236}">
                <a16:creationId xmlns:a16="http://schemas.microsoft.com/office/drawing/2014/main" id="{691AD958-4D18-DE8F-8D6E-18AD5BD11956}"/>
              </a:ext>
            </a:extLst>
          </p:cNvPr>
          <p:cNvSpPr txBox="1"/>
          <p:nvPr/>
        </p:nvSpPr>
        <p:spPr>
          <a:xfrm>
            <a:off x="728188" y="2635288"/>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15V</a:t>
            </a:r>
          </a:p>
        </p:txBody>
      </p:sp>
      <p:cxnSp>
        <p:nvCxnSpPr>
          <p:cNvPr id="34" name="Straight Connector 33">
            <a:extLst>
              <a:ext uri="{FF2B5EF4-FFF2-40B4-BE49-F238E27FC236}">
                <a16:creationId xmlns:a16="http://schemas.microsoft.com/office/drawing/2014/main" id="{B49F68D4-38E0-44E3-0ED1-2506E577D323}"/>
              </a:ext>
            </a:extLst>
          </p:cNvPr>
          <p:cNvCxnSpPr>
            <a:cxnSpLocks/>
          </p:cNvCxnSpPr>
          <p:nvPr/>
        </p:nvCxnSpPr>
        <p:spPr>
          <a:xfrm>
            <a:off x="4552648" y="1588053"/>
            <a:ext cx="0" cy="4393676"/>
          </a:xfrm>
          <a:prstGeom prst="line">
            <a:avLst/>
          </a:prstGeom>
          <a:ln w="19050">
            <a:solidFill>
              <a:srgbClr val="00B050"/>
            </a:solidFill>
            <a:prstDash val="dash"/>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740AE6B-1C02-7D3F-5062-44E48F5163EA}"/>
              </a:ext>
            </a:extLst>
          </p:cNvPr>
          <p:cNvSpPr txBox="1"/>
          <p:nvPr/>
        </p:nvSpPr>
        <p:spPr>
          <a:xfrm>
            <a:off x="4423389" y="6041347"/>
            <a:ext cx="583197" cy="394723"/>
          </a:xfrm>
          <a:prstGeom prst="rect">
            <a:avLst/>
          </a:prstGeom>
        </p:spPr>
        <p:txBody>
          <a:bodyPr vert="horz" wrap="none" lIns="0" tIns="0" rIns="0" bIns="0" rtlCol="0" anchor="t" anchorCtr="0">
            <a:normAutofit/>
          </a:bodyPr>
          <a:lstStyle/>
          <a:p>
            <a:pPr algn="l"/>
            <a:r>
              <a:rPr lang="en-US" b="1" dirty="0">
                <a:solidFill>
                  <a:srgbClr val="00B050"/>
                </a:solidFill>
              </a:rPr>
              <a:t>3A</a:t>
            </a:r>
          </a:p>
        </p:txBody>
      </p:sp>
      <p:cxnSp>
        <p:nvCxnSpPr>
          <p:cNvPr id="37" name="Straight Connector 36">
            <a:extLst>
              <a:ext uri="{FF2B5EF4-FFF2-40B4-BE49-F238E27FC236}">
                <a16:creationId xmlns:a16="http://schemas.microsoft.com/office/drawing/2014/main" id="{567A30E1-EFF9-018F-E3D0-E6AA7C739534}"/>
              </a:ext>
            </a:extLst>
          </p:cNvPr>
          <p:cNvCxnSpPr/>
          <p:nvPr/>
        </p:nvCxnSpPr>
        <p:spPr>
          <a:xfrm>
            <a:off x="1246258" y="4506011"/>
            <a:ext cx="4660547" cy="0"/>
          </a:xfrm>
          <a:prstGeom prst="line">
            <a:avLst/>
          </a:prstGeom>
          <a:ln w="381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FED710DD-E12B-745F-2728-5F5BFCEF74CD}"/>
              </a:ext>
            </a:extLst>
          </p:cNvPr>
          <p:cNvCxnSpPr/>
          <p:nvPr/>
        </p:nvCxnSpPr>
        <p:spPr>
          <a:xfrm>
            <a:off x="1237295" y="2779009"/>
            <a:ext cx="4660547" cy="0"/>
          </a:xfrm>
          <a:prstGeom prst="line">
            <a:avLst/>
          </a:prstGeom>
          <a:ln w="381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697442C-6ECC-0C50-38A4-B4B0C000D969}"/>
              </a:ext>
            </a:extLst>
          </p:cNvPr>
          <p:cNvCxnSpPr/>
          <p:nvPr/>
        </p:nvCxnSpPr>
        <p:spPr>
          <a:xfrm>
            <a:off x="1237294" y="1545588"/>
            <a:ext cx="4660547" cy="0"/>
          </a:xfrm>
          <a:prstGeom prst="line">
            <a:avLst/>
          </a:prstGeom>
          <a:ln w="3810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D6A6634D-6BFA-0261-8B35-F4331052D974}"/>
              </a:ext>
            </a:extLst>
          </p:cNvPr>
          <p:cNvCxnSpPr>
            <a:cxnSpLocks/>
          </p:cNvCxnSpPr>
          <p:nvPr/>
        </p:nvCxnSpPr>
        <p:spPr>
          <a:xfrm flipH="1">
            <a:off x="4550409" y="1542992"/>
            <a:ext cx="2239" cy="4393676"/>
          </a:xfrm>
          <a:prstGeom prst="line">
            <a:avLst/>
          </a:prstGeom>
          <a:ln w="38100">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DBB68554-4353-6A57-DC17-C060AC1A5492}"/>
              </a:ext>
            </a:extLst>
          </p:cNvPr>
          <p:cNvCxnSpPr>
            <a:cxnSpLocks/>
          </p:cNvCxnSpPr>
          <p:nvPr/>
        </p:nvCxnSpPr>
        <p:spPr>
          <a:xfrm flipH="1">
            <a:off x="5399495" y="1540980"/>
            <a:ext cx="2239" cy="4393676"/>
          </a:xfrm>
          <a:prstGeom prst="line">
            <a:avLst/>
          </a:prstGeom>
          <a:ln w="38100">
            <a:solidFill>
              <a:srgbClr val="00B050"/>
            </a:solidFill>
          </a:ln>
          <a:effectLst/>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94D047C1-467E-8E09-DB51-340983EBDC10}"/>
              </a:ext>
            </a:extLst>
          </p:cNvPr>
          <p:cNvGrpSpPr/>
          <p:nvPr/>
        </p:nvGrpSpPr>
        <p:grpSpPr>
          <a:xfrm>
            <a:off x="8260276" y="3831378"/>
            <a:ext cx="3026987" cy="2517443"/>
            <a:chOff x="7887743" y="1180529"/>
            <a:chExt cx="4062264" cy="3539984"/>
          </a:xfrm>
        </p:grpSpPr>
        <p:pic>
          <p:nvPicPr>
            <p:cNvPr id="50" name="Picture 49" descr="A picture containing indoor&#10;&#10;Description automatically generated">
              <a:extLst>
                <a:ext uri="{FF2B5EF4-FFF2-40B4-BE49-F238E27FC236}">
                  <a16:creationId xmlns:a16="http://schemas.microsoft.com/office/drawing/2014/main" id="{518F73B8-BC2E-5FD5-F628-C53FCB03F280}"/>
                </a:ext>
              </a:extLst>
            </p:cNvPr>
            <p:cNvPicPr>
              <a:picLocks noChangeAspect="1"/>
            </p:cNvPicPr>
            <p:nvPr/>
          </p:nvPicPr>
          <p:blipFill>
            <a:blip r:embed="rId3"/>
            <a:stretch>
              <a:fillRect/>
            </a:stretch>
          </p:blipFill>
          <p:spPr>
            <a:xfrm>
              <a:off x="7887743" y="1180529"/>
              <a:ext cx="4062264" cy="3003049"/>
            </a:xfrm>
            <a:prstGeom prst="rect">
              <a:avLst/>
            </a:prstGeom>
          </p:spPr>
        </p:pic>
        <p:sp>
          <p:nvSpPr>
            <p:cNvPr id="51" name="TextBox 50">
              <a:extLst>
                <a:ext uri="{FF2B5EF4-FFF2-40B4-BE49-F238E27FC236}">
                  <a16:creationId xmlns:a16="http://schemas.microsoft.com/office/drawing/2014/main" id="{DC0C864B-8EAE-6012-C48B-B611D1FB74BD}"/>
                </a:ext>
              </a:extLst>
            </p:cNvPr>
            <p:cNvSpPr txBox="1"/>
            <p:nvPr/>
          </p:nvSpPr>
          <p:spPr>
            <a:xfrm>
              <a:off x="8923020" y="4310169"/>
              <a:ext cx="2475636" cy="410344"/>
            </a:xfrm>
            <a:prstGeom prst="rect">
              <a:avLst/>
            </a:prstGeom>
            <a:noFill/>
          </p:spPr>
          <p:txBody>
            <a:bodyPr wrap="square" lIns="0" tIns="0" rIns="0" bIns="0" rtlCol="0">
              <a:noAutofit/>
            </a:bodyPr>
            <a:lstStyle/>
            <a:p>
              <a:pPr algn="ctr" defTabSz="457200">
                <a:buClr>
                  <a:srgbClr val="1E4056"/>
                </a:buClr>
                <a:buSzPct val="75000"/>
              </a:pPr>
              <a:r>
                <a:rPr lang="en-US" sz="1400">
                  <a:solidFill>
                    <a:srgbClr val="000000"/>
                  </a:solidFill>
                </a:rPr>
                <a:t>Inside of an e-marked cable</a:t>
              </a:r>
            </a:p>
          </p:txBody>
        </p:sp>
      </p:grpSp>
      <p:sp>
        <p:nvSpPr>
          <p:cNvPr id="54" name="TextBox 53">
            <a:extLst>
              <a:ext uri="{FF2B5EF4-FFF2-40B4-BE49-F238E27FC236}">
                <a16:creationId xmlns:a16="http://schemas.microsoft.com/office/drawing/2014/main" id="{99A72C1D-3589-2156-5B3F-A66E29604C52}"/>
              </a:ext>
            </a:extLst>
          </p:cNvPr>
          <p:cNvSpPr txBox="1"/>
          <p:nvPr/>
        </p:nvSpPr>
        <p:spPr>
          <a:xfrm>
            <a:off x="7153155" y="3280618"/>
            <a:ext cx="914400" cy="914400"/>
          </a:xfrm>
          <a:prstGeom prst="rect">
            <a:avLst/>
          </a:prstGeom>
        </p:spPr>
        <p:txBody>
          <a:bodyPr vert="horz" wrap="none" lIns="0" tIns="0" rIns="0" bIns="0" rtlCol="0" anchor="t" anchorCtr="0">
            <a:normAutofit/>
          </a:bodyPr>
          <a:lstStyle/>
          <a:p>
            <a:pPr algn="l"/>
            <a:r>
              <a:rPr lang="en-US" b="1" dirty="0">
                <a:solidFill>
                  <a:schemeClr val="tx2"/>
                </a:solidFill>
              </a:rPr>
              <a:t>Source</a:t>
            </a:r>
          </a:p>
        </p:txBody>
      </p:sp>
      <p:sp>
        <p:nvSpPr>
          <p:cNvPr id="55" name="TextBox 54">
            <a:extLst>
              <a:ext uri="{FF2B5EF4-FFF2-40B4-BE49-F238E27FC236}">
                <a16:creationId xmlns:a16="http://schemas.microsoft.com/office/drawing/2014/main" id="{617EC317-D2DD-D118-6B6A-7E6786C2E7F9}"/>
              </a:ext>
            </a:extLst>
          </p:cNvPr>
          <p:cNvSpPr txBox="1"/>
          <p:nvPr/>
        </p:nvSpPr>
        <p:spPr>
          <a:xfrm>
            <a:off x="10001785" y="3320942"/>
            <a:ext cx="914400" cy="914400"/>
          </a:xfrm>
          <a:prstGeom prst="rect">
            <a:avLst/>
          </a:prstGeom>
        </p:spPr>
        <p:txBody>
          <a:bodyPr vert="horz" wrap="none" lIns="0" tIns="0" rIns="0" bIns="0" rtlCol="0" anchor="t" anchorCtr="0">
            <a:normAutofit/>
          </a:bodyPr>
          <a:lstStyle/>
          <a:p>
            <a:pPr algn="l"/>
            <a:r>
              <a:rPr lang="en-US" b="1" dirty="0">
                <a:solidFill>
                  <a:schemeClr val="tx2"/>
                </a:solidFill>
              </a:rPr>
              <a:t>Sink</a:t>
            </a:r>
          </a:p>
        </p:txBody>
      </p:sp>
      <p:pic>
        <p:nvPicPr>
          <p:cNvPr id="56" name="Picture 55">
            <a:extLst>
              <a:ext uri="{FF2B5EF4-FFF2-40B4-BE49-F238E27FC236}">
                <a16:creationId xmlns:a16="http://schemas.microsoft.com/office/drawing/2014/main" id="{0B0BF318-5CA3-F326-A7BD-6B87DF6AAE41}"/>
              </a:ext>
            </a:extLst>
          </p:cNvPr>
          <p:cNvPicPr>
            <a:picLocks noChangeAspect="1"/>
          </p:cNvPicPr>
          <p:nvPr/>
        </p:nvPicPr>
        <p:blipFill>
          <a:blip r:embed="rId4"/>
          <a:stretch>
            <a:fillRect/>
          </a:stretch>
        </p:blipFill>
        <p:spPr>
          <a:xfrm>
            <a:off x="6778225" y="1732725"/>
            <a:ext cx="1384326" cy="1239075"/>
          </a:xfrm>
          <a:prstGeom prst="rect">
            <a:avLst/>
          </a:prstGeom>
        </p:spPr>
      </p:pic>
      <p:pic>
        <p:nvPicPr>
          <p:cNvPr id="57" name="Picture 56" descr="A close up of electronics&#10;&#10;Description automatically generated">
            <a:extLst>
              <a:ext uri="{FF2B5EF4-FFF2-40B4-BE49-F238E27FC236}">
                <a16:creationId xmlns:a16="http://schemas.microsoft.com/office/drawing/2014/main" id="{233C2FD1-4D15-5891-FBF2-8C867C4C0E36}"/>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9624472" y="1854931"/>
            <a:ext cx="1237612" cy="858446"/>
          </a:xfrm>
          <a:prstGeom prst="rect">
            <a:avLst/>
          </a:prstGeom>
        </p:spPr>
      </p:pic>
      <p:pic>
        <p:nvPicPr>
          <p:cNvPr id="59" name="Picture 3">
            <a:extLst>
              <a:ext uri="{FF2B5EF4-FFF2-40B4-BE49-F238E27FC236}">
                <a16:creationId xmlns:a16="http://schemas.microsoft.com/office/drawing/2014/main" id="{830857A4-F301-AC21-DEC0-D4C88792A78F}"/>
              </a:ext>
            </a:extLst>
          </p:cNvPr>
          <p:cNvPicPr>
            <a:picLocks noChangeAspect="1" noChangeArrowheads="1"/>
          </p:cNvPicPr>
          <p:nvPr/>
        </p:nvPicPr>
        <p:blipFill rotWithShape="1">
          <a:blip r:embed="rId6">
            <a:alphaModFix amt="94000"/>
            <a:extLst>
              <a:ext uri="{28A0092B-C50C-407E-A947-70E740481C1C}">
                <a14:useLocalDpi xmlns:a14="http://schemas.microsoft.com/office/drawing/2010/main"/>
              </a:ext>
            </a:extLst>
          </a:blip>
          <a:srcRect l="9410" r="10745"/>
          <a:stretch/>
        </p:blipFill>
        <p:spPr bwMode="auto">
          <a:xfrm>
            <a:off x="9624472" y="1847194"/>
            <a:ext cx="1210126" cy="85586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a:extLst>
              <a:ext uri="{FF2B5EF4-FFF2-40B4-BE49-F238E27FC236}">
                <a16:creationId xmlns:a16="http://schemas.microsoft.com/office/drawing/2014/main" id="{6B1B1EA0-E852-A011-8561-66891A55331A}"/>
              </a:ext>
            </a:extLst>
          </p:cNvPr>
          <p:cNvPicPr>
            <a:picLocks noChangeAspect="1"/>
          </p:cNvPicPr>
          <p:nvPr/>
        </p:nvPicPr>
        <p:blipFill>
          <a:blip r:embed="rId7"/>
          <a:stretch>
            <a:fillRect/>
          </a:stretch>
        </p:blipFill>
        <p:spPr>
          <a:xfrm>
            <a:off x="9650032" y="1860177"/>
            <a:ext cx="1203167" cy="828596"/>
          </a:xfrm>
          <a:prstGeom prst="rect">
            <a:avLst/>
          </a:prstGeom>
        </p:spPr>
      </p:pic>
      <p:pic>
        <p:nvPicPr>
          <p:cNvPr id="61" name="Picture 60">
            <a:extLst>
              <a:ext uri="{FF2B5EF4-FFF2-40B4-BE49-F238E27FC236}">
                <a16:creationId xmlns:a16="http://schemas.microsoft.com/office/drawing/2014/main" id="{73E1F874-B048-3570-9ED4-BC5CFA40E616}"/>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9627090" y="1854931"/>
            <a:ext cx="1247410" cy="824619"/>
          </a:xfrm>
          <a:prstGeom prst="rect">
            <a:avLst/>
          </a:prstGeom>
        </p:spPr>
      </p:pic>
      <p:sp>
        <p:nvSpPr>
          <p:cNvPr id="62" name="TextBox 61">
            <a:extLst>
              <a:ext uri="{FF2B5EF4-FFF2-40B4-BE49-F238E27FC236}">
                <a16:creationId xmlns:a16="http://schemas.microsoft.com/office/drawing/2014/main" id="{95A6D7F1-A4F7-98DC-D892-3381DD6694F2}"/>
              </a:ext>
            </a:extLst>
          </p:cNvPr>
          <p:cNvSpPr txBox="1"/>
          <p:nvPr/>
        </p:nvSpPr>
        <p:spPr>
          <a:xfrm>
            <a:off x="4270184" y="1243078"/>
            <a:ext cx="612226" cy="284967"/>
          </a:xfrm>
          <a:prstGeom prst="rect">
            <a:avLst/>
          </a:prstGeom>
        </p:spPr>
        <p:txBody>
          <a:bodyPr vert="horz" wrap="none" lIns="0" tIns="0" rIns="0" bIns="0" rtlCol="0" anchor="t" anchorCtr="0">
            <a:normAutofit/>
          </a:bodyPr>
          <a:lstStyle/>
          <a:p>
            <a:pPr algn="l"/>
            <a:r>
              <a:rPr lang="en-US" b="1" dirty="0">
                <a:solidFill>
                  <a:schemeClr val="tx2"/>
                </a:solidFill>
              </a:rPr>
              <a:t>60W</a:t>
            </a:r>
          </a:p>
        </p:txBody>
      </p:sp>
      <p:sp>
        <p:nvSpPr>
          <p:cNvPr id="63" name="TextBox 62">
            <a:extLst>
              <a:ext uri="{FF2B5EF4-FFF2-40B4-BE49-F238E27FC236}">
                <a16:creationId xmlns:a16="http://schemas.microsoft.com/office/drawing/2014/main" id="{462C9BD6-D600-50A4-DE90-B09CDDADDA69}"/>
              </a:ext>
            </a:extLst>
          </p:cNvPr>
          <p:cNvSpPr txBox="1"/>
          <p:nvPr/>
        </p:nvSpPr>
        <p:spPr>
          <a:xfrm>
            <a:off x="5093382" y="1233968"/>
            <a:ext cx="612226" cy="284967"/>
          </a:xfrm>
          <a:prstGeom prst="rect">
            <a:avLst/>
          </a:prstGeom>
        </p:spPr>
        <p:txBody>
          <a:bodyPr vert="horz" wrap="none" lIns="0" tIns="0" rIns="0" bIns="0" rtlCol="0" anchor="t" anchorCtr="0">
            <a:normAutofit/>
          </a:bodyPr>
          <a:lstStyle/>
          <a:p>
            <a:pPr algn="l"/>
            <a:r>
              <a:rPr lang="en-US" b="1" dirty="0">
                <a:solidFill>
                  <a:schemeClr val="tx2"/>
                </a:solidFill>
              </a:rPr>
              <a:t>100W</a:t>
            </a:r>
          </a:p>
        </p:txBody>
      </p:sp>
      <p:sp>
        <p:nvSpPr>
          <p:cNvPr id="8" name="Date Placeholder 3">
            <a:extLst>
              <a:ext uri="{FF2B5EF4-FFF2-40B4-BE49-F238E27FC236}">
                <a16:creationId xmlns:a16="http://schemas.microsoft.com/office/drawing/2014/main" id="{09A9A22E-8F01-D6D7-D381-1EEC07B00DB0}"/>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9" name="TextBox 8">
            <a:extLst>
              <a:ext uri="{FF2B5EF4-FFF2-40B4-BE49-F238E27FC236}">
                <a16:creationId xmlns:a16="http://schemas.microsoft.com/office/drawing/2014/main" id="{F04988D1-ED86-6AC6-E48B-2E950F1169E5}"/>
              </a:ext>
            </a:extLst>
          </p:cNvPr>
          <p:cNvSpPr txBox="1"/>
          <p:nvPr/>
        </p:nvSpPr>
        <p:spPr>
          <a:xfrm>
            <a:off x="728185" y="1430705"/>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20V</a:t>
            </a:r>
          </a:p>
        </p:txBody>
      </p:sp>
    </p:spTree>
    <p:extLst>
      <p:ext uri="{BB962C8B-B14F-4D97-AF65-F5344CB8AC3E}">
        <p14:creationId xmlns:p14="http://schemas.microsoft.com/office/powerpoint/2010/main" val="858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0" presetClass="exit" presetSubtype="0" fill="hold" nodeType="withEffect">
                                  <p:stCondLst>
                                    <p:cond delay="0"/>
                                  </p:stCondLst>
                                  <p:childTnLst>
                                    <p:animEffect transition="out" filter="fade">
                                      <p:cBhvr>
                                        <p:cTn id="8" dur="500"/>
                                        <p:tgtEl>
                                          <p:spTgt spid="57"/>
                                        </p:tgtEl>
                                      </p:cBhvr>
                                    </p:animEffect>
                                    <p:set>
                                      <p:cBhvr>
                                        <p:cTn id="9" dur="1" fill="hold">
                                          <p:stCondLst>
                                            <p:cond delay="499"/>
                                          </p:stCondLst>
                                        </p:cTn>
                                        <p:tgtEl>
                                          <p:spTgt spid="57"/>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500"/>
                                        <p:tgtEl>
                                          <p:spTgt spid="61"/>
                                        </p:tgtEl>
                                      </p:cBhvr>
                                    </p:animEffect>
                                  </p:childTnLst>
                                </p:cTn>
                              </p:par>
                              <p:par>
                                <p:cTn id="13" presetID="10" presetClass="exit" presetSubtype="0" fill="hold" nodeType="with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37"/>
                                        </p:tgtEl>
                                      </p:cBhvr>
                                    </p:animEffect>
                                    <p:set>
                                      <p:cBhvr>
                                        <p:cTn id="20" dur="1" fill="hold">
                                          <p:stCondLst>
                                            <p:cond delay="499"/>
                                          </p:stCondLst>
                                        </p:cTn>
                                        <p:tgtEl>
                                          <p:spTgt spid="37"/>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500"/>
                                        <p:tgtEl>
                                          <p:spTgt spid="59"/>
                                        </p:tgtEl>
                                      </p:cBhvr>
                                    </p:animEffect>
                                  </p:childTnLst>
                                </p:cTn>
                              </p:par>
                              <p:par>
                                <p:cTn id="24" presetID="10" presetClass="exit" presetSubtype="0" fill="hold" nodeType="withEffect">
                                  <p:stCondLst>
                                    <p:cond delay="0"/>
                                  </p:stCondLst>
                                  <p:childTnLst>
                                    <p:animEffect transition="out" filter="fade">
                                      <p:cBhvr>
                                        <p:cTn id="25" dur="500"/>
                                        <p:tgtEl>
                                          <p:spTgt spid="61"/>
                                        </p:tgtEl>
                                      </p:cBhvr>
                                    </p:animEffect>
                                    <p:set>
                                      <p:cBhvr>
                                        <p:cTn id="26" dur="1" fill="hold">
                                          <p:stCondLst>
                                            <p:cond delay="499"/>
                                          </p:stCondLst>
                                        </p:cTn>
                                        <p:tgtEl>
                                          <p:spTgt spid="61"/>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41"/>
                                        </p:tgtEl>
                                      </p:cBhvr>
                                    </p:animEffect>
                                    <p:set>
                                      <p:cBhvr>
                                        <p:cTn id="34" dur="1" fill="hold">
                                          <p:stCondLst>
                                            <p:cond delay="499"/>
                                          </p:stCondLst>
                                        </p:cTn>
                                        <p:tgtEl>
                                          <p:spTgt spid="41"/>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59"/>
                                        </p:tgtEl>
                                      </p:cBhvr>
                                    </p:animEffect>
                                    <p:set>
                                      <p:cBhvr>
                                        <p:cTn id="37" dur="1" fill="hold">
                                          <p:stCondLst>
                                            <p:cond delay="499"/>
                                          </p:stCondLst>
                                        </p:cTn>
                                        <p:tgtEl>
                                          <p:spTgt spid="59"/>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fade">
                                      <p:cBhvr>
                                        <p:cTn id="40" dur="500"/>
                                        <p:tgtEl>
                                          <p:spTgt spid="60"/>
                                        </p:tgtEl>
                                      </p:cBhvr>
                                    </p:animEffect>
                                  </p:childTnLst>
                                </p:cTn>
                              </p:par>
                              <p:par>
                                <p:cTn id="41" presetID="10"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500"/>
                                        <p:tgtEl>
                                          <p:spTgt spid="4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fade">
                                      <p:cBhvr>
                                        <p:cTn id="51" dur="50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500"/>
                                        <p:tgtEl>
                                          <p:spTgt spid="48"/>
                                        </p:tgtEl>
                                      </p:cBhvr>
                                    </p:animEffect>
                                  </p:childTnLst>
                                </p:cTn>
                              </p:par>
                              <p:par>
                                <p:cTn id="57" presetID="10" presetClass="exit" presetSubtype="0" fill="hold" nodeType="withEffect">
                                  <p:stCondLst>
                                    <p:cond delay="0"/>
                                  </p:stCondLst>
                                  <p:childTnLst>
                                    <p:animEffect transition="out" filter="fade">
                                      <p:cBhvr>
                                        <p:cTn id="58" dur="500"/>
                                        <p:tgtEl>
                                          <p:spTgt spid="44"/>
                                        </p:tgtEl>
                                      </p:cBhvr>
                                    </p:animEffect>
                                    <p:set>
                                      <p:cBhvr>
                                        <p:cTn id="59" dur="1" fill="hold">
                                          <p:stCondLst>
                                            <p:cond delay="499"/>
                                          </p:stCondLst>
                                        </p:cTn>
                                        <p:tgtEl>
                                          <p:spTgt spid="44"/>
                                        </p:tgtEl>
                                        <p:attrNameLst>
                                          <p:attrName>style.visibility</p:attrName>
                                        </p:attrNameLst>
                                      </p:cBhvr>
                                      <p:to>
                                        <p:strVal val="hidden"/>
                                      </p:to>
                                    </p:set>
                                  </p:childTnLst>
                                </p:cTn>
                              </p:par>
                              <p:par>
                                <p:cTn id="60" presetID="10" presetClass="entr" presetSubtype="0"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10" presetClass="entr" presetSubtype="0"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fade">
                                      <p:cBhvr>
                                        <p:cTn id="6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a:t>Typical USB PD Negotiation Sequence</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12</a:t>
            </a:fld>
            <a:endParaRPr lang="en-US" dirty="0"/>
          </a:p>
        </p:txBody>
      </p:sp>
      <p:grpSp>
        <p:nvGrpSpPr>
          <p:cNvPr id="34" name="Group 33">
            <a:extLst>
              <a:ext uri="{FF2B5EF4-FFF2-40B4-BE49-F238E27FC236}">
                <a16:creationId xmlns:a16="http://schemas.microsoft.com/office/drawing/2014/main" id="{73288E9F-72DB-579C-EAD9-A5B7513C2519}"/>
              </a:ext>
            </a:extLst>
          </p:cNvPr>
          <p:cNvGrpSpPr/>
          <p:nvPr/>
        </p:nvGrpSpPr>
        <p:grpSpPr>
          <a:xfrm>
            <a:off x="5050339" y="2312469"/>
            <a:ext cx="2723360" cy="236691"/>
            <a:chOff x="4911362" y="644220"/>
            <a:chExt cx="2166817" cy="204546"/>
          </a:xfrm>
        </p:grpSpPr>
        <p:pic>
          <p:nvPicPr>
            <p:cNvPr id="92" name="Picture 91">
              <a:extLst>
                <a:ext uri="{FF2B5EF4-FFF2-40B4-BE49-F238E27FC236}">
                  <a16:creationId xmlns:a16="http://schemas.microsoft.com/office/drawing/2014/main" id="{FD17CC3C-46BE-787A-43EA-A7D6C12EDA0A}"/>
                </a:ext>
              </a:extLst>
            </p:cNvPr>
            <p:cNvPicPr>
              <a:picLocks noChangeAspect="1"/>
            </p:cNvPicPr>
            <p:nvPr/>
          </p:nvPicPr>
          <p:blipFill rotWithShape="1">
            <a:blip r:embed="rId3">
              <a:clrChange>
                <a:clrFrom>
                  <a:srgbClr val="FFFFFF"/>
                </a:clrFrom>
                <a:clrTo>
                  <a:srgbClr val="FFFFFF">
                    <a:alpha val="0"/>
                  </a:srgbClr>
                </a:clrTo>
              </a:clrChange>
            </a:blip>
            <a:srcRect b="4496"/>
            <a:stretch/>
          </p:blipFill>
          <p:spPr>
            <a:xfrm rot="16200000">
              <a:off x="5363587" y="191995"/>
              <a:ext cx="204545" cy="1108996"/>
            </a:xfrm>
            <a:prstGeom prst="rect">
              <a:avLst/>
            </a:prstGeom>
          </p:spPr>
        </p:pic>
        <p:pic>
          <p:nvPicPr>
            <p:cNvPr id="93" name="Picture 92">
              <a:extLst>
                <a:ext uri="{FF2B5EF4-FFF2-40B4-BE49-F238E27FC236}">
                  <a16:creationId xmlns:a16="http://schemas.microsoft.com/office/drawing/2014/main" id="{A6A1DD78-E7E4-7D11-BC2E-EBD360145E7A}"/>
                </a:ext>
              </a:extLst>
            </p:cNvPr>
            <p:cNvPicPr>
              <a:picLocks noChangeAspect="1"/>
            </p:cNvPicPr>
            <p:nvPr/>
          </p:nvPicPr>
          <p:blipFill rotWithShape="1">
            <a:blip r:embed="rId3">
              <a:clrChange>
                <a:clrFrom>
                  <a:srgbClr val="FFFFFF"/>
                </a:clrFrom>
                <a:clrTo>
                  <a:srgbClr val="FFFFFF">
                    <a:alpha val="0"/>
                  </a:srgbClr>
                </a:clrTo>
              </a:clrChange>
            </a:blip>
            <a:srcRect b="4496"/>
            <a:stretch/>
          </p:blipFill>
          <p:spPr>
            <a:xfrm rot="16200000" flipV="1">
              <a:off x="6421409" y="191996"/>
              <a:ext cx="204545" cy="1108995"/>
            </a:xfrm>
            <a:prstGeom prst="rect">
              <a:avLst/>
            </a:prstGeom>
          </p:spPr>
        </p:pic>
      </p:grpSp>
      <p:grpSp>
        <p:nvGrpSpPr>
          <p:cNvPr id="292" name="Group 291">
            <a:extLst>
              <a:ext uri="{FF2B5EF4-FFF2-40B4-BE49-F238E27FC236}">
                <a16:creationId xmlns:a16="http://schemas.microsoft.com/office/drawing/2014/main" id="{86372A87-C753-4BCC-DE13-2FEBF68CB0C7}"/>
              </a:ext>
            </a:extLst>
          </p:cNvPr>
          <p:cNvGrpSpPr/>
          <p:nvPr/>
        </p:nvGrpSpPr>
        <p:grpSpPr>
          <a:xfrm>
            <a:off x="245764" y="1088492"/>
            <a:ext cx="4589587" cy="2376650"/>
            <a:chOff x="-10796" y="602759"/>
            <a:chExt cx="4589587" cy="2376650"/>
          </a:xfrm>
        </p:grpSpPr>
        <p:pic>
          <p:nvPicPr>
            <p:cNvPr id="286" name="Picture 285" descr="A computer screen shot of a circuit&#10;&#10;Description automatically generated">
              <a:extLst>
                <a:ext uri="{FF2B5EF4-FFF2-40B4-BE49-F238E27FC236}">
                  <a16:creationId xmlns:a16="http://schemas.microsoft.com/office/drawing/2014/main" id="{561D63EB-4A57-ACE3-F378-C7F6B2C2A26D}"/>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52863" y="602759"/>
              <a:ext cx="4148490" cy="2376650"/>
            </a:xfrm>
            <a:prstGeom prst="rect">
              <a:avLst/>
            </a:prstGeom>
          </p:spPr>
        </p:pic>
        <p:sp>
          <p:nvSpPr>
            <p:cNvPr id="269" name="Rectangle: Rounded Corners 268">
              <a:extLst>
                <a:ext uri="{FF2B5EF4-FFF2-40B4-BE49-F238E27FC236}">
                  <a16:creationId xmlns:a16="http://schemas.microsoft.com/office/drawing/2014/main" id="{CBB18FF1-C3FC-0D93-665C-5BD974C9EA2E}"/>
                </a:ext>
              </a:extLst>
            </p:cNvPr>
            <p:cNvSpPr/>
            <p:nvPr/>
          </p:nvSpPr>
          <p:spPr>
            <a:xfrm>
              <a:off x="3209925" y="1857362"/>
              <a:ext cx="930689" cy="534937"/>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solidFill>
                  <a:latin typeface="Barlow" panose="00000500000000000000" pitchFamily="2" charset="0"/>
                </a:rPr>
                <a:t>MAX77958</a:t>
              </a:r>
            </a:p>
            <a:p>
              <a:pPr algn="ctr"/>
              <a:r>
                <a:rPr lang="en-US" sz="500" b="1" dirty="0">
                  <a:solidFill>
                    <a:schemeClr val="tx1"/>
                  </a:solidFill>
                  <a:latin typeface="Barlow" panose="00000500000000000000" pitchFamily="2" charset="0"/>
                </a:rPr>
                <a:t>PD negotiator</a:t>
              </a:r>
            </a:p>
          </p:txBody>
        </p:sp>
        <p:sp>
          <p:nvSpPr>
            <p:cNvPr id="270" name="Rectangle: Rounded Corners 269">
              <a:extLst>
                <a:ext uri="{FF2B5EF4-FFF2-40B4-BE49-F238E27FC236}">
                  <a16:creationId xmlns:a16="http://schemas.microsoft.com/office/drawing/2014/main" id="{E30D1132-228B-4B4D-846C-F56DD03F04B2}"/>
                </a:ext>
              </a:extLst>
            </p:cNvPr>
            <p:cNvSpPr/>
            <p:nvPr/>
          </p:nvSpPr>
          <p:spPr>
            <a:xfrm>
              <a:off x="-10796" y="981749"/>
              <a:ext cx="750746" cy="727929"/>
            </a:xfrm>
            <a:prstGeom prst="roundRect">
              <a:avLst>
                <a:gd name="adj" fmla="val 13965"/>
              </a:avLst>
            </a:prstGeom>
            <a:solidFill>
              <a:srgbClr val="6DE9EC"/>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800" b="1" dirty="0">
                  <a:solidFill>
                    <a:schemeClr val="tx1"/>
                  </a:solidFill>
                  <a:latin typeface="Barlow" panose="00000500000000000000" pitchFamily="2" charset="0"/>
                </a:rPr>
                <a:t>Flyback Controller</a:t>
              </a:r>
              <a:endParaRPr lang="en-US" sz="300" b="1" dirty="0">
                <a:solidFill>
                  <a:schemeClr val="tx1"/>
                </a:solidFill>
                <a:latin typeface="Barlow" panose="00000500000000000000" pitchFamily="2" charset="0"/>
              </a:endParaRPr>
            </a:p>
          </p:txBody>
        </p:sp>
        <p:cxnSp>
          <p:nvCxnSpPr>
            <p:cNvPr id="288" name="Straight Connector 287">
              <a:extLst>
                <a:ext uri="{FF2B5EF4-FFF2-40B4-BE49-F238E27FC236}">
                  <a16:creationId xmlns:a16="http://schemas.microsoft.com/office/drawing/2014/main" id="{B01283ED-645C-7529-2124-92E4F1A26F40}"/>
                </a:ext>
              </a:extLst>
            </p:cNvPr>
            <p:cNvCxnSpPr>
              <a:cxnSpLocks/>
            </p:cNvCxnSpPr>
            <p:nvPr/>
          </p:nvCxnSpPr>
          <p:spPr>
            <a:xfrm>
              <a:off x="4140970" y="2011898"/>
              <a:ext cx="262339" cy="526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91" name="Straight Connector 290">
              <a:extLst>
                <a:ext uri="{FF2B5EF4-FFF2-40B4-BE49-F238E27FC236}">
                  <a16:creationId xmlns:a16="http://schemas.microsoft.com/office/drawing/2014/main" id="{1A8B95F7-96F9-6667-ABC5-26C0A31793B6}"/>
                </a:ext>
              </a:extLst>
            </p:cNvPr>
            <p:cNvCxnSpPr>
              <a:cxnSpLocks/>
            </p:cNvCxnSpPr>
            <p:nvPr/>
          </p:nvCxnSpPr>
          <p:spPr>
            <a:xfrm>
              <a:off x="4112395" y="2183815"/>
              <a:ext cx="262339" cy="526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77" name="Group 276">
              <a:extLst>
                <a:ext uri="{FF2B5EF4-FFF2-40B4-BE49-F238E27FC236}">
                  <a16:creationId xmlns:a16="http://schemas.microsoft.com/office/drawing/2014/main" id="{033E096B-CC1A-75E8-C48D-1E47D7630978}"/>
                </a:ext>
              </a:extLst>
            </p:cNvPr>
            <p:cNvGrpSpPr/>
            <p:nvPr/>
          </p:nvGrpSpPr>
          <p:grpSpPr>
            <a:xfrm>
              <a:off x="4352114" y="1623639"/>
              <a:ext cx="226677" cy="793148"/>
              <a:chOff x="6153786" y="1548598"/>
              <a:chExt cx="226677" cy="793148"/>
            </a:xfrm>
          </p:grpSpPr>
          <p:sp>
            <p:nvSpPr>
              <p:cNvPr id="278" name="Rectangle: Rounded Corners 277">
                <a:extLst>
                  <a:ext uri="{FF2B5EF4-FFF2-40B4-BE49-F238E27FC236}">
                    <a16:creationId xmlns:a16="http://schemas.microsoft.com/office/drawing/2014/main" id="{D61D502B-D39B-9D63-7184-76513817C47E}"/>
                  </a:ext>
                </a:extLst>
              </p:cNvPr>
              <p:cNvSpPr/>
              <p:nvPr/>
            </p:nvSpPr>
            <p:spPr>
              <a:xfrm>
                <a:off x="6153786" y="1548598"/>
                <a:ext cx="226677" cy="793148"/>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79" name="Oval 278">
                <a:extLst>
                  <a:ext uri="{FF2B5EF4-FFF2-40B4-BE49-F238E27FC236}">
                    <a16:creationId xmlns:a16="http://schemas.microsoft.com/office/drawing/2014/main" id="{50F7AC91-3EA7-EDF3-6F68-200A3E6F6812}"/>
                  </a:ext>
                </a:extLst>
              </p:cNvPr>
              <p:cNvSpPr/>
              <p:nvPr/>
            </p:nvSpPr>
            <p:spPr>
              <a:xfrm>
                <a:off x="6228064" y="1649331"/>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Barlow" panose="00000500000000000000" pitchFamily="2" charset="0"/>
                </a:endParaRPr>
              </a:p>
            </p:txBody>
          </p:sp>
          <p:sp>
            <p:nvSpPr>
              <p:cNvPr id="280" name="Oval 279">
                <a:extLst>
                  <a:ext uri="{FF2B5EF4-FFF2-40B4-BE49-F238E27FC236}">
                    <a16:creationId xmlns:a16="http://schemas.microsoft.com/office/drawing/2014/main" id="{EF67B900-DE98-763D-3C63-3A0920A29109}"/>
                  </a:ext>
                </a:extLst>
              </p:cNvPr>
              <p:cNvSpPr/>
              <p:nvPr/>
            </p:nvSpPr>
            <p:spPr>
              <a:xfrm>
                <a:off x="6224031" y="1902153"/>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sp>
            <p:nvSpPr>
              <p:cNvPr id="281" name="Oval 280">
                <a:extLst>
                  <a:ext uri="{FF2B5EF4-FFF2-40B4-BE49-F238E27FC236}">
                    <a16:creationId xmlns:a16="http://schemas.microsoft.com/office/drawing/2014/main" id="{571D4D77-AC1E-46AD-1CB8-431D27500FEC}"/>
                  </a:ext>
                </a:extLst>
              </p:cNvPr>
              <p:cNvSpPr/>
              <p:nvPr/>
            </p:nvSpPr>
            <p:spPr>
              <a:xfrm>
                <a:off x="6226980" y="2071995"/>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Barlow" panose="00000500000000000000" pitchFamily="2" charset="0"/>
                </a:endParaRPr>
              </a:p>
            </p:txBody>
          </p:sp>
        </p:grpSp>
      </p:grpSp>
      <p:grpSp>
        <p:nvGrpSpPr>
          <p:cNvPr id="7" name="Group 6">
            <a:extLst>
              <a:ext uri="{FF2B5EF4-FFF2-40B4-BE49-F238E27FC236}">
                <a16:creationId xmlns:a16="http://schemas.microsoft.com/office/drawing/2014/main" id="{EF322EAF-9EFF-AFEA-F3E9-6CF0CA1D52C3}"/>
              </a:ext>
            </a:extLst>
          </p:cNvPr>
          <p:cNvGrpSpPr/>
          <p:nvPr/>
        </p:nvGrpSpPr>
        <p:grpSpPr>
          <a:xfrm>
            <a:off x="7965457" y="1630736"/>
            <a:ext cx="3731149" cy="1583477"/>
            <a:chOff x="8453092" y="1560936"/>
            <a:chExt cx="3731149" cy="1583477"/>
          </a:xfrm>
        </p:grpSpPr>
        <p:sp>
          <p:nvSpPr>
            <p:cNvPr id="107" name="Rectangle 106">
              <a:extLst>
                <a:ext uri="{FF2B5EF4-FFF2-40B4-BE49-F238E27FC236}">
                  <a16:creationId xmlns:a16="http://schemas.microsoft.com/office/drawing/2014/main" id="{113FD210-987E-0C49-9E46-CDF37CDDBFAE}"/>
                </a:ext>
              </a:extLst>
            </p:cNvPr>
            <p:cNvSpPr/>
            <p:nvPr/>
          </p:nvSpPr>
          <p:spPr>
            <a:xfrm>
              <a:off x="8527627" y="1560936"/>
              <a:ext cx="3656614" cy="1583477"/>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400" dirty="0" err="1">
                <a:solidFill>
                  <a:srgbClr val="000000"/>
                </a:solidFill>
                <a:latin typeface="Barlow" pitchFamily="2" charset="77"/>
                <a:cs typeface="Arial" panose="020B0604020202020204" pitchFamily="34" charset="0"/>
              </a:endParaRPr>
            </a:p>
          </p:txBody>
        </p:sp>
        <p:cxnSp>
          <p:nvCxnSpPr>
            <p:cNvPr id="109" name="Straight Connector 108">
              <a:extLst>
                <a:ext uri="{FF2B5EF4-FFF2-40B4-BE49-F238E27FC236}">
                  <a16:creationId xmlns:a16="http://schemas.microsoft.com/office/drawing/2014/main" id="{1E0ACDC8-C196-BE1B-2F66-2C195CA5DB5C}"/>
                </a:ext>
              </a:extLst>
            </p:cNvPr>
            <p:cNvCxnSpPr>
              <a:cxnSpLocks/>
              <a:endCxn id="126" idx="6"/>
            </p:cNvCxnSpPr>
            <p:nvPr/>
          </p:nvCxnSpPr>
          <p:spPr>
            <a:xfrm flipH="1" flipV="1">
              <a:off x="8605280" y="2524004"/>
              <a:ext cx="768162" cy="6826"/>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10" name="Straight Connector 109">
              <a:extLst>
                <a:ext uri="{FF2B5EF4-FFF2-40B4-BE49-F238E27FC236}">
                  <a16:creationId xmlns:a16="http://schemas.microsoft.com/office/drawing/2014/main" id="{2F06E145-8E15-DD0E-D0F1-21AFB60ED1EE}"/>
                </a:ext>
              </a:extLst>
            </p:cNvPr>
            <p:cNvCxnSpPr>
              <a:cxnSpLocks/>
              <a:endCxn id="125" idx="6"/>
            </p:cNvCxnSpPr>
            <p:nvPr/>
          </p:nvCxnSpPr>
          <p:spPr>
            <a:xfrm flipH="1" flipV="1">
              <a:off x="8602331" y="2354162"/>
              <a:ext cx="773664" cy="4258"/>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15" name="Rectangle: Rounded Corners 114">
              <a:extLst>
                <a:ext uri="{FF2B5EF4-FFF2-40B4-BE49-F238E27FC236}">
                  <a16:creationId xmlns:a16="http://schemas.microsoft.com/office/drawing/2014/main" id="{DEFD4B3B-E9B8-E0E4-57DB-C694A3E3A978}"/>
                </a:ext>
              </a:extLst>
            </p:cNvPr>
            <p:cNvSpPr/>
            <p:nvPr/>
          </p:nvSpPr>
          <p:spPr>
            <a:xfrm>
              <a:off x="9372599" y="2029363"/>
              <a:ext cx="923803" cy="534233"/>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solidFill>
                  <a:latin typeface="Barlow" panose="00000500000000000000" pitchFamily="2" charset="0"/>
                </a:rPr>
                <a:t>MAX77958</a:t>
              </a:r>
            </a:p>
            <a:p>
              <a:pPr algn="ctr"/>
              <a:r>
                <a:rPr lang="en-US" sz="500" b="1" dirty="0">
                  <a:solidFill>
                    <a:schemeClr val="tx1"/>
                  </a:solidFill>
                  <a:latin typeface="Barlow" panose="00000500000000000000" pitchFamily="2" charset="0"/>
                </a:rPr>
                <a:t>PD negotiator</a:t>
              </a:r>
            </a:p>
          </p:txBody>
        </p:sp>
        <p:sp>
          <p:nvSpPr>
            <p:cNvPr id="116" name="Rectangle: Rounded Corners 115">
              <a:extLst>
                <a:ext uri="{FF2B5EF4-FFF2-40B4-BE49-F238E27FC236}">
                  <a16:creationId xmlns:a16="http://schemas.microsoft.com/office/drawing/2014/main" id="{5C90D28F-D133-9BB1-CEFB-8C5EC7B22E8D}"/>
                </a:ext>
              </a:extLst>
            </p:cNvPr>
            <p:cNvSpPr/>
            <p:nvPr/>
          </p:nvSpPr>
          <p:spPr>
            <a:xfrm>
              <a:off x="10691094" y="2029363"/>
              <a:ext cx="912804" cy="538912"/>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lumMod val="85000"/>
                      <a:lumOff val="15000"/>
                    </a:schemeClr>
                  </a:solidFill>
                  <a:latin typeface="Barlow" panose="00000500000000000000" pitchFamily="2" charset="0"/>
                </a:rPr>
                <a:t>MAX77986</a:t>
              </a:r>
            </a:p>
            <a:p>
              <a:pPr algn="ctr"/>
              <a:r>
                <a:rPr lang="en-US" sz="500" b="1" dirty="0">
                  <a:solidFill>
                    <a:schemeClr val="tx1">
                      <a:lumMod val="85000"/>
                      <a:lumOff val="15000"/>
                    </a:schemeClr>
                  </a:solidFill>
                  <a:latin typeface="Barlow" panose="00000500000000000000" pitchFamily="2" charset="0"/>
                </a:rPr>
                <a:t>Buck Charger</a:t>
              </a:r>
            </a:p>
          </p:txBody>
        </p:sp>
        <p:sp>
          <p:nvSpPr>
            <p:cNvPr id="117" name="TextBox 116">
              <a:extLst>
                <a:ext uri="{FF2B5EF4-FFF2-40B4-BE49-F238E27FC236}">
                  <a16:creationId xmlns:a16="http://schemas.microsoft.com/office/drawing/2014/main" id="{4E8F2727-ABF3-0578-9076-E1ED384FFC2B}"/>
                </a:ext>
              </a:extLst>
            </p:cNvPr>
            <p:cNvSpPr txBox="1"/>
            <p:nvPr/>
          </p:nvSpPr>
          <p:spPr>
            <a:xfrm rot="16200000">
              <a:off x="10111011" y="2172769"/>
              <a:ext cx="276127" cy="18018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500" dirty="0">
                  <a:ln w="0"/>
                  <a:effectLst>
                    <a:outerShdw blurRad="38100" dist="19050" dir="2700000" algn="tl" rotWithShape="0">
                      <a:schemeClr val="dk1">
                        <a:alpha val="40000"/>
                      </a:schemeClr>
                    </a:outerShdw>
                  </a:effectLst>
                  <a:latin typeface="Barlow" panose="00000500000000000000" pitchFamily="2" charset="0"/>
                </a:rPr>
                <a:t>I2C M</a:t>
              </a:r>
            </a:p>
          </p:txBody>
        </p:sp>
        <p:grpSp>
          <p:nvGrpSpPr>
            <p:cNvPr id="119" name="Group 118">
              <a:extLst>
                <a:ext uri="{FF2B5EF4-FFF2-40B4-BE49-F238E27FC236}">
                  <a16:creationId xmlns:a16="http://schemas.microsoft.com/office/drawing/2014/main" id="{6BDAA6E6-55E9-C144-9777-5E30D3735367}"/>
                </a:ext>
              </a:extLst>
            </p:cNvPr>
            <p:cNvGrpSpPr/>
            <p:nvPr/>
          </p:nvGrpSpPr>
          <p:grpSpPr>
            <a:xfrm>
              <a:off x="11886077" y="2940413"/>
              <a:ext cx="152372" cy="58684"/>
              <a:chOff x="8643839" y="3430799"/>
              <a:chExt cx="290244" cy="111833"/>
            </a:xfrm>
          </p:grpSpPr>
          <p:cxnSp>
            <p:nvCxnSpPr>
              <p:cNvPr id="145" name="Straight Connector 144">
                <a:extLst>
                  <a:ext uri="{FF2B5EF4-FFF2-40B4-BE49-F238E27FC236}">
                    <a16:creationId xmlns:a16="http://schemas.microsoft.com/office/drawing/2014/main" id="{9BD9E457-ABCB-F3D0-435C-5330EB7B42DD}"/>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46" name="Straight Connector 145">
                <a:extLst>
                  <a:ext uri="{FF2B5EF4-FFF2-40B4-BE49-F238E27FC236}">
                    <a16:creationId xmlns:a16="http://schemas.microsoft.com/office/drawing/2014/main" id="{E3CAB575-D63B-B980-7BB0-DF6C6B555C5E}"/>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47" name="Straight Connector 146">
                <a:extLst>
                  <a:ext uri="{FF2B5EF4-FFF2-40B4-BE49-F238E27FC236}">
                    <a16:creationId xmlns:a16="http://schemas.microsoft.com/office/drawing/2014/main" id="{1AA70010-8D66-6B5F-2A9A-2EC33051BAED}"/>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120" name="TextBox 119">
              <a:extLst>
                <a:ext uri="{FF2B5EF4-FFF2-40B4-BE49-F238E27FC236}">
                  <a16:creationId xmlns:a16="http://schemas.microsoft.com/office/drawing/2014/main" id="{A91859E0-6647-8871-32C5-B7B2A469AB1A}"/>
                </a:ext>
              </a:extLst>
            </p:cNvPr>
            <p:cNvSpPr txBox="1"/>
            <p:nvPr/>
          </p:nvSpPr>
          <p:spPr>
            <a:xfrm>
              <a:off x="9711181" y="2440039"/>
              <a:ext cx="276249" cy="18010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5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121" name="Connector: Elbow 120">
              <a:extLst>
                <a:ext uri="{FF2B5EF4-FFF2-40B4-BE49-F238E27FC236}">
                  <a16:creationId xmlns:a16="http://schemas.microsoft.com/office/drawing/2014/main" id="{3921D4E0-CEA8-20A3-FB00-7E18B1AB0DF3}"/>
                </a:ext>
              </a:extLst>
            </p:cNvPr>
            <p:cNvCxnSpPr>
              <a:cxnSpLocks/>
            </p:cNvCxnSpPr>
            <p:nvPr/>
          </p:nvCxnSpPr>
          <p:spPr>
            <a:xfrm rot="16200000" flipH="1">
              <a:off x="10482823" y="1377025"/>
              <a:ext cx="2516" cy="1307193"/>
            </a:xfrm>
            <a:prstGeom prst="bentConnector3">
              <a:avLst>
                <a:gd name="adj1" fmla="val -4870673"/>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23" name="Straight Connector 122">
              <a:extLst>
                <a:ext uri="{FF2B5EF4-FFF2-40B4-BE49-F238E27FC236}">
                  <a16:creationId xmlns:a16="http://schemas.microsoft.com/office/drawing/2014/main" id="{860DB92B-27A4-2052-2F0C-41F7AADA8B4E}"/>
                </a:ext>
              </a:extLst>
            </p:cNvPr>
            <p:cNvCxnSpPr>
              <a:cxnSpLocks/>
            </p:cNvCxnSpPr>
            <p:nvPr/>
          </p:nvCxnSpPr>
          <p:spPr>
            <a:xfrm>
              <a:off x="9634601" y="2579306"/>
              <a:ext cx="0" cy="24409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nvGrpSpPr>
            <p:cNvPr id="274" name="Group 273">
              <a:extLst>
                <a:ext uri="{FF2B5EF4-FFF2-40B4-BE49-F238E27FC236}">
                  <a16:creationId xmlns:a16="http://schemas.microsoft.com/office/drawing/2014/main" id="{484A3FF7-ECD0-CF96-0B8C-FB34246FEB63}"/>
                </a:ext>
              </a:extLst>
            </p:cNvPr>
            <p:cNvGrpSpPr/>
            <p:nvPr/>
          </p:nvGrpSpPr>
          <p:grpSpPr>
            <a:xfrm>
              <a:off x="8453092" y="1960639"/>
              <a:ext cx="226677" cy="793148"/>
              <a:chOff x="6153786" y="1548598"/>
              <a:chExt cx="226677" cy="793148"/>
            </a:xfrm>
          </p:grpSpPr>
          <p:sp>
            <p:nvSpPr>
              <p:cNvPr id="111" name="Rectangle: Rounded Corners 110">
                <a:extLst>
                  <a:ext uri="{FF2B5EF4-FFF2-40B4-BE49-F238E27FC236}">
                    <a16:creationId xmlns:a16="http://schemas.microsoft.com/office/drawing/2014/main" id="{C665E3F2-E66C-2031-1C08-BDBB6D20BDDC}"/>
                  </a:ext>
                </a:extLst>
              </p:cNvPr>
              <p:cNvSpPr/>
              <p:nvPr/>
            </p:nvSpPr>
            <p:spPr>
              <a:xfrm>
                <a:off x="6153786" y="1548598"/>
                <a:ext cx="226677" cy="793148"/>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24" name="Oval 123">
                <a:extLst>
                  <a:ext uri="{FF2B5EF4-FFF2-40B4-BE49-F238E27FC236}">
                    <a16:creationId xmlns:a16="http://schemas.microsoft.com/office/drawing/2014/main" id="{A4FD7405-3D32-C089-90BD-07071C6404ED}"/>
                  </a:ext>
                </a:extLst>
              </p:cNvPr>
              <p:cNvSpPr/>
              <p:nvPr/>
            </p:nvSpPr>
            <p:spPr>
              <a:xfrm>
                <a:off x="6228064" y="1649331"/>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Barlow" panose="00000500000000000000" pitchFamily="2" charset="0"/>
                </a:endParaRPr>
              </a:p>
            </p:txBody>
          </p:sp>
          <p:sp>
            <p:nvSpPr>
              <p:cNvPr id="125" name="Oval 124">
                <a:extLst>
                  <a:ext uri="{FF2B5EF4-FFF2-40B4-BE49-F238E27FC236}">
                    <a16:creationId xmlns:a16="http://schemas.microsoft.com/office/drawing/2014/main" id="{AD3FFFCD-0175-8996-53A9-80F8C0668A65}"/>
                  </a:ext>
                </a:extLst>
              </p:cNvPr>
              <p:cNvSpPr/>
              <p:nvPr/>
            </p:nvSpPr>
            <p:spPr>
              <a:xfrm>
                <a:off x="6224031" y="1902153"/>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sp>
            <p:nvSpPr>
              <p:cNvPr id="126" name="Oval 125">
                <a:extLst>
                  <a:ext uri="{FF2B5EF4-FFF2-40B4-BE49-F238E27FC236}">
                    <a16:creationId xmlns:a16="http://schemas.microsoft.com/office/drawing/2014/main" id="{00F93418-8C18-C21D-FBAD-40FE2A650B42}"/>
                  </a:ext>
                </a:extLst>
              </p:cNvPr>
              <p:cNvSpPr/>
              <p:nvPr/>
            </p:nvSpPr>
            <p:spPr>
              <a:xfrm>
                <a:off x="6226980" y="2071995"/>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grpSp>
        <p:sp>
          <p:nvSpPr>
            <p:cNvPr id="127" name="TextBox 126">
              <a:extLst>
                <a:ext uri="{FF2B5EF4-FFF2-40B4-BE49-F238E27FC236}">
                  <a16:creationId xmlns:a16="http://schemas.microsoft.com/office/drawing/2014/main" id="{4B0DDE79-A27A-4817-76DA-AE931C900004}"/>
                </a:ext>
              </a:extLst>
            </p:cNvPr>
            <p:cNvSpPr txBox="1"/>
            <p:nvPr/>
          </p:nvSpPr>
          <p:spPr>
            <a:xfrm>
              <a:off x="8668004" y="1763207"/>
              <a:ext cx="375424" cy="194542"/>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VBUS</a:t>
              </a:r>
            </a:p>
          </p:txBody>
        </p:sp>
        <p:sp>
          <p:nvSpPr>
            <p:cNvPr id="128" name="TextBox 127">
              <a:extLst>
                <a:ext uri="{FF2B5EF4-FFF2-40B4-BE49-F238E27FC236}">
                  <a16:creationId xmlns:a16="http://schemas.microsoft.com/office/drawing/2014/main" id="{86560CA7-5135-87DB-F57A-1BBB7FB27078}"/>
                </a:ext>
              </a:extLst>
            </p:cNvPr>
            <p:cNvSpPr txBox="1"/>
            <p:nvPr/>
          </p:nvSpPr>
          <p:spPr>
            <a:xfrm>
              <a:off x="8665446" y="2213863"/>
              <a:ext cx="304892" cy="194542"/>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CC1</a:t>
              </a:r>
            </a:p>
          </p:txBody>
        </p:sp>
        <p:sp>
          <p:nvSpPr>
            <p:cNvPr id="129" name="TextBox 128">
              <a:extLst>
                <a:ext uri="{FF2B5EF4-FFF2-40B4-BE49-F238E27FC236}">
                  <a16:creationId xmlns:a16="http://schemas.microsoft.com/office/drawing/2014/main" id="{32B8DABE-D4DF-0784-C051-45A03DA5214E}"/>
                </a:ext>
              </a:extLst>
            </p:cNvPr>
            <p:cNvSpPr txBox="1"/>
            <p:nvPr/>
          </p:nvSpPr>
          <p:spPr>
            <a:xfrm>
              <a:off x="8656985" y="2384133"/>
              <a:ext cx="320922" cy="194542"/>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CC2</a:t>
              </a:r>
            </a:p>
          </p:txBody>
        </p:sp>
        <p:cxnSp>
          <p:nvCxnSpPr>
            <p:cNvPr id="131" name="Connector: Elbow 130">
              <a:extLst>
                <a:ext uri="{FF2B5EF4-FFF2-40B4-BE49-F238E27FC236}">
                  <a16:creationId xmlns:a16="http://schemas.microsoft.com/office/drawing/2014/main" id="{FA172563-AF68-004A-B22F-235DEC7F21B2}"/>
                </a:ext>
              </a:extLst>
            </p:cNvPr>
            <p:cNvCxnSpPr>
              <a:cxnSpLocks/>
            </p:cNvCxnSpPr>
            <p:nvPr/>
          </p:nvCxnSpPr>
          <p:spPr>
            <a:xfrm>
              <a:off x="11603974" y="2307259"/>
              <a:ext cx="347221" cy="621081"/>
            </a:xfrm>
            <a:prstGeom prst="bentConnector2">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33" name="Arrow: Left-Right 132">
              <a:extLst>
                <a:ext uri="{FF2B5EF4-FFF2-40B4-BE49-F238E27FC236}">
                  <a16:creationId xmlns:a16="http://schemas.microsoft.com/office/drawing/2014/main" id="{4009CCE1-5D6A-A48A-1B34-83228C96F7BD}"/>
                </a:ext>
              </a:extLst>
            </p:cNvPr>
            <p:cNvSpPr/>
            <p:nvPr/>
          </p:nvSpPr>
          <p:spPr>
            <a:xfrm>
              <a:off x="10315808" y="2218309"/>
              <a:ext cx="355879" cy="138308"/>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400" dirty="0" err="1">
                <a:solidFill>
                  <a:srgbClr val="000000"/>
                </a:solidFill>
                <a:latin typeface="Barlow" pitchFamily="2" charset="77"/>
                <a:cs typeface="Arial" panose="020B0604020202020204" pitchFamily="34" charset="0"/>
              </a:endParaRPr>
            </a:p>
          </p:txBody>
        </p:sp>
        <p:sp>
          <p:nvSpPr>
            <p:cNvPr id="136" name="TextBox 135">
              <a:extLst>
                <a:ext uri="{FF2B5EF4-FFF2-40B4-BE49-F238E27FC236}">
                  <a16:creationId xmlns:a16="http://schemas.microsoft.com/office/drawing/2014/main" id="{6BA81FC3-4B8E-E79D-C733-D0DFC0965790}"/>
                </a:ext>
              </a:extLst>
            </p:cNvPr>
            <p:cNvSpPr txBox="1"/>
            <p:nvPr/>
          </p:nvSpPr>
          <p:spPr>
            <a:xfrm>
              <a:off x="10346111" y="2194214"/>
              <a:ext cx="295274" cy="194542"/>
            </a:xfrm>
            <a:prstGeom prst="rect">
              <a:avLst/>
            </a:prstGeom>
            <a:noFill/>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I2C</a:t>
              </a:r>
            </a:p>
          </p:txBody>
        </p:sp>
        <p:grpSp>
          <p:nvGrpSpPr>
            <p:cNvPr id="139" name="Group 138">
              <a:extLst>
                <a:ext uri="{FF2B5EF4-FFF2-40B4-BE49-F238E27FC236}">
                  <a16:creationId xmlns:a16="http://schemas.microsoft.com/office/drawing/2014/main" id="{8E820631-5AAB-EED3-B886-CBC01EAE6A33}"/>
                </a:ext>
              </a:extLst>
            </p:cNvPr>
            <p:cNvGrpSpPr/>
            <p:nvPr/>
          </p:nvGrpSpPr>
          <p:grpSpPr>
            <a:xfrm>
              <a:off x="9557590" y="2818883"/>
              <a:ext cx="152372" cy="58684"/>
              <a:chOff x="8643839" y="3430799"/>
              <a:chExt cx="290244" cy="111833"/>
            </a:xfrm>
          </p:grpSpPr>
          <p:cxnSp>
            <p:nvCxnSpPr>
              <p:cNvPr id="142" name="Straight Connector 141">
                <a:extLst>
                  <a:ext uri="{FF2B5EF4-FFF2-40B4-BE49-F238E27FC236}">
                    <a16:creationId xmlns:a16="http://schemas.microsoft.com/office/drawing/2014/main" id="{0EEFFB57-32C1-6C87-A973-0388DC152D88}"/>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43" name="Straight Connector 142">
                <a:extLst>
                  <a:ext uri="{FF2B5EF4-FFF2-40B4-BE49-F238E27FC236}">
                    <a16:creationId xmlns:a16="http://schemas.microsoft.com/office/drawing/2014/main" id="{67F493C8-C2F0-AE3B-5A1A-E5DBE840A756}"/>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44" name="Straight Connector 143">
                <a:extLst>
                  <a:ext uri="{FF2B5EF4-FFF2-40B4-BE49-F238E27FC236}">
                    <a16:creationId xmlns:a16="http://schemas.microsoft.com/office/drawing/2014/main" id="{9A4A4A3A-C3D1-6FD2-6182-AB2D35A924E2}"/>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140" name="TextBox 139">
              <a:extLst>
                <a:ext uri="{FF2B5EF4-FFF2-40B4-BE49-F238E27FC236}">
                  <a16:creationId xmlns:a16="http://schemas.microsoft.com/office/drawing/2014/main" id="{3B912162-529F-10AC-A341-C9A688B868F0}"/>
                </a:ext>
              </a:extLst>
            </p:cNvPr>
            <p:cNvSpPr txBox="1"/>
            <p:nvPr/>
          </p:nvSpPr>
          <p:spPr>
            <a:xfrm>
              <a:off x="11468069" y="1636523"/>
              <a:ext cx="683847" cy="664700"/>
            </a:xfrm>
            <a:prstGeom prst="rect">
              <a:avLst/>
            </a:prstGeom>
          </p:spPr>
          <p:txBody>
            <a:bodyPr vert="horz" wrap="none" lIns="0" tIns="0" rIns="0" bIns="0" rtlCol="0" anchor="t" anchorCtr="0">
              <a:normAutofit/>
            </a:bodyPr>
            <a:lstStyle/>
            <a:p>
              <a:pPr algn="l"/>
              <a:r>
                <a:rPr lang="en-US" sz="1200" b="1" dirty="0">
                  <a:solidFill>
                    <a:schemeClr val="accent2">
                      <a:lumMod val="75000"/>
                    </a:schemeClr>
                  </a:solidFill>
                </a:rPr>
                <a:t>Sink side</a:t>
              </a:r>
            </a:p>
          </p:txBody>
        </p:sp>
        <p:pic>
          <p:nvPicPr>
            <p:cNvPr id="141" name="Picture 140">
              <a:extLst>
                <a:ext uri="{FF2B5EF4-FFF2-40B4-BE49-F238E27FC236}">
                  <a16:creationId xmlns:a16="http://schemas.microsoft.com/office/drawing/2014/main" id="{421EB1C1-E07D-8AA3-88A4-F627991E101A}"/>
                </a:ext>
              </a:extLst>
            </p:cNvPr>
            <p:cNvPicPr>
              <a:picLocks noChangeAspect="1"/>
            </p:cNvPicPr>
            <p:nvPr/>
          </p:nvPicPr>
          <p:blipFill>
            <a:blip r:embed="rId5"/>
            <a:stretch>
              <a:fillRect/>
            </a:stretch>
          </p:blipFill>
          <p:spPr>
            <a:xfrm>
              <a:off x="11787058" y="2502438"/>
              <a:ext cx="328275" cy="319084"/>
            </a:xfrm>
            <a:prstGeom prst="rect">
              <a:avLst/>
            </a:prstGeom>
          </p:spPr>
        </p:pic>
        <p:cxnSp>
          <p:nvCxnSpPr>
            <p:cNvPr id="299" name="Connector: Elbow 298">
              <a:extLst>
                <a:ext uri="{FF2B5EF4-FFF2-40B4-BE49-F238E27FC236}">
                  <a16:creationId xmlns:a16="http://schemas.microsoft.com/office/drawing/2014/main" id="{58D1BD5E-3E41-73A3-AF4A-450D43EFF52E}"/>
                </a:ext>
              </a:extLst>
            </p:cNvPr>
            <p:cNvCxnSpPr>
              <a:cxnSpLocks/>
            </p:cNvCxnSpPr>
            <p:nvPr/>
          </p:nvCxnSpPr>
          <p:spPr>
            <a:xfrm rot="5400000" flipH="1" flipV="1">
              <a:off x="9166652" y="1294057"/>
              <a:ext cx="46028" cy="1268087"/>
            </a:xfrm>
            <a:prstGeom prst="bentConnector2">
              <a:avLst/>
            </a:prstGeom>
            <a:ln w="12700"/>
          </p:spPr>
          <p:style>
            <a:lnRef idx="2">
              <a:schemeClr val="dk1"/>
            </a:lnRef>
            <a:fillRef idx="0">
              <a:schemeClr val="dk1"/>
            </a:fillRef>
            <a:effectRef idx="1">
              <a:schemeClr val="dk1"/>
            </a:effectRef>
            <a:fontRef idx="minor">
              <a:schemeClr val="tx1"/>
            </a:fontRef>
          </p:style>
        </p:cxnSp>
      </p:grpSp>
      <p:sp>
        <p:nvSpPr>
          <p:cNvPr id="57" name="Rectangle: Rounded Corners 56">
            <a:extLst>
              <a:ext uri="{FF2B5EF4-FFF2-40B4-BE49-F238E27FC236}">
                <a16:creationId xmlns:a16="http://schemas.microsoft.com/office/drawing/2014/main" id="{2EB197A6-2A38-AB2F-E727-45D36DE21EAF}"/>
              </a:ext>
            </a:extLst>
          </p:cNvPr>
          <p:cNvSpPr/>
          <p:nvPr/>
        </p:nvSpPr>
        <p:spPr>
          <a:xfrm>
            <a:off x="6993071" y="4661135"/>
            <a:ext cx="1600545" cy="1202166"/>
          </a:xfrm>
          <a:prstGeom prst="roundRect">
            <a:avLst/>
          </a:prstGeom>
          <a:solidFill>
            <a:schemeClr val="bg1">
              <a:lumMod val="95000"/>
            </a:schemeClr>
          </a:solidFill>
          <a:ln>
            <a:solidFill>
              <a:schemeClr val="tx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t"/>
          <a:lstStyle/>
          <a:p>
            <a:r>
              <a:rPr lang="en-US" sz="900" b="1" dirty="0">
                <a:solidFill>
                  <a:schemeClr val="tx1"/>
                </a:solidFill>
                <a:latin typeface="Barlow" panose="00000500000000000000" pitchFamily="2" charset="0"/>
              </a:rPr>
              <a:t>SRC_CAP: </a:t>
            </a:r>
            <a:r>
              <a:rPr lang="en-US" sz="900" dirty="0">
                <a:solidFill>
                  <a:schemeClr val="tx1"/>
                </a:solidFill>
                <a:latin typeface="Barlow" panose="00000500000000000000" pitchFamily="2" charset="0"/>
              </a:rPr>
              <a:t>Source capabilities message</a:t>
            </a:r>
          </a:p>
          <a:p>
            <a:pPr marL="228604" indent="-228604">
              <a:lnSpc>
                <a:spcPct val="150000"/>
              </a:lnSpc>
              <a:buAutoNum type="arabicParenR"/>
            </a:pPr>
            <a:r>
              <a:rPr lang="en-US" sz="900" dirty="0">
                <a:solidFill>
                  <a:schemeClr val="tx1"/>
                </a:solidFill>
                <a:latin typeface="Barlow" panose="00000500000000000000" pitchFamily="2" charset="0"/>
              </a:rPr>
              <a:t>5V/3A FIXED PDO</a:t>
            </a:r>
          </a:p>
          <a:p>
            <a:pPr marL="228604" indent="-228604">
              <a:lnSpc>
                <a:spcPct val="150000"/>
              </a:lnSpc>
              <a:buAutoNum type="arabicParenR"/>
            </a:pPr>
            <a:r>
              <a:rPr lang="en-US" sz="900" dirty="0">
                <a:solidFill>
                  <a:schemeClr val="tx1"/>
                </a:solidFill>
                <a:latin typeface="Barlow" panose="00000500000000000000" pitchFamily="2" charset="0"/>
              </a:rPr>
              <a:t>9V/3A FIXED PDO</a:t>
            </a:r>
          </a:p>
          <a:p>
            <a:pPr marL="228604" indent="-228604">
              <a:lnSpc>
                <a:spcPct val="150000"/>
              </a:lnSpc>
              <a:buAutoNum type="arabicParenR"/>
            </a:pPr>
            <a:r>
              <a:rPr lang="en-US" sz="900" dirty="0">
                <a:solidFill>
                  <a:schemeClr val="tx1"/>
                </a:solidFill>
                <a:latin typeface="Barlow" panose="00000500000000000000" pitchFamily="2" charset="0"/>
              </a:rPr>
              <a:t>12V/3A FIXED PDO</a:t>
            </a:r>
          </a:p>
          <a:p>
            <a:pPr marL="228604" indent="-228604">
              <a:lnSpc>
                <a:spcPct val="150000"/>
              </a:lnSpc>
              <a:buAutoNum type="arabicParenR"/>
            </a:pPr>
            <a:r>
              <a:rPr lang="en-US" sz="900" dirty="0">
                <a:solidFill>
                  <a:schemeClr val="tx1"/>
                </a:solidFill>
                <a:latin typeface="Barlow" panose="00000500000000000000" pitchFamily="2" charset="0"/>
              </a:rPr>
              <a:t>20V/3A FIXED PDO</a:t>
            </a:r>
          </a:p>
        </p:txBody>
      </p:sp>
      <p:sp>
        <p:nvSpPr>
          <p:cNvPr id="8" name="Rectangle 7">
            <a:extLst>
              <a:ext uri="{FF2B5EF4-FFF2-40B4-BE49-F238E27FC236}">
                <a16:creationId xmlns:a16="http://schemas.microsoft.com/office/drawing/2014/main" id="{92FF8510-D2D7-39A3-23C6-BC964365BAB4}"/>
              </a:ext>
            </a:extLst>
          </p:cNvPr>
          <p:cNvSpPr/>
          <p:nvPr/>
        </p:nvSpPr>
        <p:spPr>
          <a:xfrm>
            <a:off x="4831615" y="4910969"/>
            <a:ext cx="1988655" cy="1817637"/>
          </a:xfrm>
          <a:prstGeom prst="rect">
            <a:avLst/>
          </a:prstGeom>
          <a:solidFill>
            <a:schemeClr val="accent3">
              <a:lumMod val="20000"/>
              <a:lumOff val="80000"/>
            </a:schemeClr>
          </a:solidFill>
          <a:ln>
            <a:solidFill>
              <a:schemeClr val="bg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9" name="Rectangle 8">
            <a:extLst>
              <a:ext uri="{FF2B5EF4-FFF2-40B4-BE49-F238E27FC236}">
                <a16:creationId xmlns:a16="http://schemas.microsoft.com/office/drawing/2014/main" id="{0228691B-1CCD-BA7A-E440-BA7A3618A2AE}"/>
              </a:ext>
            </a:extLst>
          </p:cNvPr>
          <p:cNvSpPr/>
          <p:nvPr/>
        </p:nvSpPr>
        <p:spPr>
          <a:xfrm>
            <a:off x="4832612" y="3478110"/>
            <a:ext cx="1977587" cy="1318715"/>
          </a:xfrm>
          <a:prstGeom prst="rect">
            <a:avLst/>
          </a:prstGeom>
          <a:solidFill>
            <a:schemeClr val="accent1">
              <a:lumMod val="20000"/>
              <a:lumOff val="80000"/>
            </a:schemeClr>
          </a:solidFill>
          <a:ln>
            <a:solidFill>
              <a:schemeClr val="bg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1" name="Rectangle 10">
            <a:extLst>
              <a:ext uri="{FF2B5EF4-FFF2-40B4-BE49-F238E27FC236}">
                <a16:creationId xmlns:a16="http://schemas.microsoft.com/office/drawing/2014/main" id="{69F8ED9E-FEA1-3DF3-946A-3CEE6647094C}"/>
              </a:ext>
            </a:extLst>
          </p:cNvPr>
          <p:cNvSpPr/>
          <p:nvPr/>
        </p:nvSpPr>
        <p:spPr>
          <a:xfrm>
            <a:off x="5047882" y="5163393"/>
            <a:ext cx="711232" cy="227407"/>
          </a:xfrm>
          <a:prstGeom prst="rect">
            <a:avLst/>
          </a:prstGeom>
          <a:solidFill>
            <a:srgbClr val="B58EC0"/>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none" lIns="0" tIns="0" rIns="0" bIns="0" rtlCol="0" anchor="ctr" anchorCtr="1"/>
          <a:lstStyle/>
          <a:p>
            <a:pPr algn="ctr">
              <a:lnSpc>
                <a:spcPct val="90000"/>
              </a:lnSpc>
            </a:pPr>
            <a:r>
              <a:rPr lang="en-US" sz="900" b="1" dirty="0">
                <a:solidFill>
                  <a:schemeClr val="tx1"/>
                </a:solidFill>
                <a:latin typeface="Barlow" panose="00000500000000000000" pitchFamily="2" charset="0"/>
              </a:rPr>
              <a:t>SRC_CAP</a:t>
            </a:r>
          </a:p>
        </p:txBody>
      </p:sp>
      <p:grpSp>
        <p:nvGrpSpPr>
          <p:cNvPr id="12" name="Group 11">
            <a:extLst>
              <a:ext uri="{FF2B5EF4-FFF2-40B4-BE49-F238E27FC236}">
                <a16:creationId xmlns:a16="http://schemas.microsoft.com/office/drawing/2014/main" id="{80245BE1-536E-66A5-53DB-6C58374F845C}"/>
              </a:ext>
            </a:extLst>
          </p:cNvPr>
          <p:cNvGrpSpPr/>
          <p:nvPr/>
        </p:nvGrpSpPr>
        <p:grpSpPr>
          <a:xfrm>
            <a:off x="4876012" y="4423098"/>
            <a:ext cx="825131" cy="330329"/>
            <a:chOff x="4763819" y="2224738"/>
            <a:chExt cx="966197" cy="357862"/>
          </a:xfrm>
        </p:grpSpPr>
        <p:sp>
          <p:nvSpPr>
            <p:cNvPr id="102" name="Rectangle 101">
              <a:extLst>
                <a:ext uri="{FF2B5EF4-FFF2-40B4-BE49-F238E27FC236}">
                  <a16:creationId xmlns:a16="http://schemas.microsoft.com/office/drawing/2014/main" id="{632BE6F2-607D-6880-F3DA-50E38440C99F}"/>
                </a:ext>
              </a:extLst>
            </p:cNvPr>
            <p:cNvSpPr/>
            <p:nvPr/>
          </p:nvSpPr>
          <p:spPr>
            <a:xfrm>
              <a:off x="4801725" y="2224738"/>
              <a:ext cx="776566" cy="182880"/>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a:lnSpc>
                  <a:spcPct val="90000"/>
                </a:lnSpc>
              </a:pPr>
              <a:r>
                <a:rPr lang="en-US" sz="900" dirty="0">
                  <a:latin typeface="Barlow" panose="00000500000000000000" pitchFamily="2" charset="0"/>
                </a:rPr>
                <a:t>VBUS=5V</a:t>
              </a:r>
            </a:p>
          </p:txBody>
        </p:sp>
        <p:sp>
          <p:nvSpPr>
            <p:cNvPr id="103" name="Rectangle 102">
              <a:extLst>
                <a:ext uri="{FF2B5EF4-FFF2-40B4-BE49-F238E27FC236}">
                  <a16:creationId xmlns:a16="http://schemas.microsoft.com/office/drawing/2014/main" id="{5EC77BAE-C8D8-E74D-412A-527F5A6D2B1B}"/>
                </a:ext>
              </a:extLst>
            </p:cNvPr>
            <p:cNvSpPr/>
            <p:nvPr/>
          </p:nvSpPr>
          <p:spPr>
            <a:xfrm>
              <a:off x="4763819" y="2399721"/>
              <a:ext cx="966197" cy="182879"/>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a:lnSpc>
                  <a:spcPct val="90000"/>
                </a:lnSpc>
              </a:pPr>
              <a:r>
                <a:rPr lang="en-US" sz="900" dirty="0">
                  <a:latin typeface="Barlow" panose="00000500000000000000" pitchFamily="2" charset="0"/>
                </a:rPr>
                <a:t>VCONN=On</a:t>
              </a:r>
            </a:p>
          </p:txBody>
        </p:sp>
        <p:cxnSp>
          <p:nvCxnSpPr>
            <p:cNvPr id="104" name="Straight Connector 103">
              <a:extLst>
                <a:ext uri="{FF2B5EF4-FFF2-40B4-BE49-F238E27FC236}">
                  <a16:creationId xmlns:a16="http://schemas.microsoft.com/office/drawing/2014/main" id="{B3558848-48A0-A452-A095-5E1F7D1BC440}"/>
                </a:ext>
              </a:extLst>
            </p:cNvPr>
            <p:cNvCxnSpPr>
              <a:cxnSpLocks/>
            </p:cNvCxnSpPr>
            <p:nvPr/>
          </p:nvCxnSpPr>
          <p:spPr>
            <a:xfrm>
              <a:off x="4798851" y="2321663"/>
              <a:ext cx="13291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9FF2C904-420E-81A2-2A31-1AC9661C31DD}"/>
                </a:ext>
              </a:extLst>
            </p:cNvPr>
            <p:cNvCxnSpPr>
              <a:cxnSpLocks/>
            </p:cNvCxnSpPr>
            <p:nvPr/>
          </p:nvCxnSpPr>
          <p:spPr>
            <a:xfrm>
              <a:off x="4795555" y="2493572"/>
              <a:ext cx="13291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A0CDC3DA-E41B-FFE8-A182-F15E1A02EA48}"/>
              </a:ext>
            </a:extLst>
          </p:cNvPr>
          <p:cNvGrpSpPr/>
          <p:nvPr/>
        </p:nvGrpSpPr>
        <p:grpSpPr>
          <a:xfrm>
            <a:off x="5918830" y="4609520"/>
            <a:ext cx="822492" cy="158089"/>
            <a:chOff x="6269098" y="2415278"/>
            <a:chExt cx="963107" cy="171266"/>
          </a:xfrm>
        </p:grpSpPr>
        <p:sp>
          <p:nvSpPr>
            <p:cNvPr id="100" name="Rectangle 99">
              <a:extLst>
                <a:ext uri="{FF2B5EF4-FFF2-40B4-BE49-F238E27FC236}">
                  <a16:creationId xmlns:a16="http://schemas.microsoft.com/office/drawing/2014/main" id="{5241442B-7323-CA98-1C2F-DAE64BC98488}"/>
                </a:ext>
              </a:extLst>
            </p:cNvPr>
            <p:cNvSpPr/>
            <p:nvPr/>
          </p:nvSpPr>
          <p:spPr>
            <a:xfrm>
              <a:off x="6269098" y="2415278"/>
              <a:ext cx="800523" cy="171266"/>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a:lnSpc>
                  <a:spcPct val="90000"/>
                </a:lnSpc>
              </a:pPr>
              <a:r>
                <a:rPr lang="en-US" sz="900" b="1" dirty="0">
                  <a:latin typeface="Barlow" panose="00000500000000000000" pitchFamily="2" charset="0"/>
                </a:rPr>
                <a:t>Slow Charging</a:t>
              </a:r>
            </a:p>
          </p:txBody>
        </p:sp>
        <p:cxnSp>
          <p:nvCxnSpPr>
            <p:cNvPr id="101" name="Straight Connector 100">
              <a:extLst>
                <a:ext uri="{FF2B5EF4-FFF2-40B4-BE49-F238E27FC236}">
                  <a16:creationId xmlns:a16="http://schemas.microsoft.com/office/drawing/2014/main" id="{A04E0492-F965-46B4-582C-325846CC1028}"/>
                </a:ext>
              </a:extLst>
            </p:cNvPr>
            <p:cNvCxnSpPr>
              <a:cxnSpLocks/>
            </p:cNvCxnSpPr>
            <p:nvPr/>
          </p:nvCxnSpPr>
          <p:spPr>
            <a:xfrm flipH="1">
              <a:off x="7115975" y="2519566"/>
              <a:ext cx="11623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20" name="Connector: Elbow 19">
            <a:extLst>
              <a:ext uri="{FF2B5EF4-FFF2-40B4-BE49-F238E27FC236}">
                <a16:creationId xmlns:a16="http://schemas.microsoft.com/office/drawing/2014/main" id="{636153E1-87D6-E9C4-802F-FB771747B27A}"/>
              </a:ext>
            </a:extLst>
          </p:cNvPr>
          <p:cNvCxnSpPr>
            <a:cxnSpLocks/>
            <a:stCxn id="11" idx="0"/>
            <a:endCxn id="58" idx="1"/>
          </p:cNvCxnSpPr>
          <p:nvPr/>
        </p:nvCxnSpPr>
        <p:spPr>
          <a:xfrm rot="16200000" flipH="1">
            <a:off x="6273748" y="4293142"/>
            <a:ext cx="196735" cy="1937236"/>
          </a:xfrm>
          <a:prstGeom prst="bentConnector4">
            <a:avLst>
              <a:gd name="adj1" fmla="val -105752"/>
              <a:gd name="adj2" fmla="val 67664"/>
            </a:avLst>
          </a:prstGeom>
          <a:ln w="12700">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B93D7776-8A6C-2789-36D7-220A626E54FF}"/>
                  </a:ext>
                </a:extLst>
              </p:cNvPr>
              <p:cNvSpPr/>
              <p:nvPr/>
            </p:nvSpPr>
            <p:spPr>
              <a:xfrm>
                <a:off x="4868676" y="4003902"/>
                <a:ext cx="780896" cy="304855"/>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nSpc>
                    <a:spcPct val="90000"/>
                  </a:lnSpc>
                </a:pPr>
                <a:r>
                  <a:rPr lang="en-US" sz="900" dirty="0">
                    <a:latin typeface="Barlow" panose="00000500000000000000" pitchFamily="2" charset="0"/>
                  </a:rPr>
                  <a:t>CC1= </a:t>
                </a:r>
                <a14:m>
                  <m:oMath xmlns:m="http://schemas.openxmlformats.org/officeDocument/2006/math">
                    <m:sSub>
                      <m:sSubPr>
                        <m:ctrlPr>
                          <a:rPr lang="en-US" sz="900" i="1" dirty="0">
                            <a:latin typeface="Cambria Math" panose="02040503050406030204" pitchFamily="18" charset="0"/>
                          </a:rPr>
                        </m:ctrlPr>
                      </m:sSubPr>
                      <m:e>
                        <m:r>
                          <m:rPr>
                            <m:nor/>
                          </m:rPr>
                          <a:rPr lang="en-US" sz="900" dirty="0">
                            <a:latin typeface="Barlow" panose="00000500000000000000" pitchFamily="2" charset="0"/>
                          </a:rPr>
                          <m:t>V</m:t>
                        </m:r>
                      </m:e>
                      <m:sub>
                        <m:r>
                          <m:rPr>
                            <m:nor/>
                          </m:rPr>
                          <a:rPr lang="en-US" sz="900" dirty="0">
                            <a:latin typeface="Barlow" panose="00000500000000000000" pitchFamily="2" charset="0"/>
                          </a:rPr>
                          <m:t>Ra</m:t>
                        </m:r>
                      </m:sub>
                    </m:sSub>
                  </m:oMath>
                </a14:m>
                <a:endParaRPr lang="en-US" sz="900" dirty="0">
                  <a:latin typeface="Barlow" panose="00000500000000000000" pitchFamily="2" charset="0"/>
                </a:endParaRPr>
              </a:p>
              <a:p>
                <a:pPr>
                  <a:lnSpc>
                    <a:spcPct val="90000"/>
                  </a:lnSpc>
                </a:pPr>
                <a:r>
                  <a:rPr lang="en-US" sz="900" dirty="0">
                    <a:latin typeface="Barlow" panose="00000500000000000000" pitchFamily="2" charset="0"/>
                  </a:rPr>
                  <a:t>CC2= </a:t>
                </a:r>
                <a14:m>
                  <m:oMath xmlns:m="http://schemas.openxmlformats.org/officeDocument/2006/math">
                    <m:sSub>
                      <m:sSubPr>
                        <m:ctrlPr>
                          <a:rPr lang="en-US" sz="900" i="1" dirty="0">
                            <a:latin typeface="Cambria Math" panose="02040503050406030204" pitchFamily="18" charset="0"/>
                          </a:rPr>
                        </m:ctrlPr>
                      </m:sSubPr>
                      <m:e>
                        <m:r>
                          <m:rPr>
                            <m:nor/>
                          </m:rPr>
                          <a:rPr lang="en-US" sz="900" dirty="0">
                            <a:latin typeface="Barlow" panose="00000500000000000000" pitchFamily="2" charset="0"/>
                          </a:rPr>
                          <m:t>V</m:t>
                        </m:r>
                      </m:e>
                      <m:sub>
                        <m:r>
                          <m:rPr>
                            <m:nor/>
                          </m:rPr>
                          <a:rPr lang="en-US" sz="900" dirty="0">
                            <a:latin typeface="Barlow" panose="00000500000000000000" pitchFamily="2" charset="0"/>
                          </a:rPr>
                          <m:t>Rd</m:t>
                        </m:r>
                      </m:sub>
                    </m:sSub>
                  </m:oMath>
                </a14:m>
                <a:r>
                  <a:rPr lang="en-US" sz="900" dirty="0">
                    <a:latin typeface="Barlow" panose="00000500000000000000" pitchFamily="2" charset="0"/>
                  </a:rPr>
                  <a:t> </a:t>
                </a:r>
              </a:p>
            </p:txBody>
          </p:sp>
        </mc:Choice>
        <mc:Fallback xmlns="">
          <p:sp>
            <p:nvSpPr>
              <p:cNvPr id="31" name="Rectangle 30">
                <a:extLst>
                  <a:ext uri="{FF2B5EF4-FFF2-40B4-BE49-F238E27FC236}">
                    <a16:creationId xmlns:a16="http://schemas.microsoft.com/office/drawing/2014/main" id="{B93D7776-8A6C-2789-36D7-220A626E54FF}"/>
                  </a:ext>
                </a:extLst>
              </p:cNvPr>
              <p:cNvSpPr>
                <a:spLocks noRot="1" noChangeAspect="1" noMove="1" noResize="1" noEditPoints="1" noAdjustHandles="1" noChangeArrowheads="1" noChangeShapeType="1" noTextEdit="1"/>
              </p:cNvSpPr>
              <p:nvPr/>
            </p:nvSpPr>
            <p:spPr>
              <a:xfrm>
                <a:off x="4868676" y="4003902"/>
                <a:ext cx="780896" cy="304855"/>
              </a:xfrm>
              <a:prstGeom prst="rect">
                <a:avLst/>
              </a:prstGeom>
              <a:blipFill>
                <a:blip r:embed="rId6"/>
                <a:stretch>
                  <a:fillRect/>
                </a:stretch>
              </a:blipFill>
              <a:ln>
                <a:noFill/>
              </a:ln>
            </p:spPr>
            <p:txBody>
              <a:bodyPr/>
              <a:lstStyle/>
              <a:p>
                <a:r>
                  <a:rPr lang="en-US">
                    <a:noFill/>
                  </a:rPr>
                  <a:t> </a:t>
                </a:r>
              </a:p>
            </p:txBody>
          </p:sp>
        </mc:Fallback>
      </mc:AlternateContent>
      <p:sp>
        <p:nvSpPr>
          <p:cNvPr id="35" name="Rectangle 34">
            <a:extLst>
              <a:ext uri="{FF2B5EF4-FFF2-40B4-BE49-F238E27FC236}">
                <a16:creationId xmlns:a16="http://schemas.microsoft.com/office/drawing/2014/main" id="{A1C1B831-4B80-9AC9-C9AA-4FED6213AA4C}"/>
              </a:ext>
            </a:extLst>
          </p:cNvPr>
          <p:cNvSpPr/>
          <p:nvPr/>
        </p:nvSpPr>
        <p:spPr>
          <a:xfrm>
            <a:off x="5639232" y="3756949"/>
            <a:ext cx="460500" cy="317950"/>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a:lnSpc>
                <a:spcPct val="90000"/>
              </a:lnSpc>
            </a:pPr>
            <a:r>
              <a:rPr lang="en-US" sz="900" dirty="0">
                <a:latin typeface="Barlow" panose="00000500000000000000" pitchFamily="2" charset="0"/>
              </a:rPr>
              <a:t>Plug-In </a:t>
            </a:r>
          </a:p>
        </p:txBody>
      </p:sp>
      <p:grpSp>
        <p:nvGrpSpPr>
          <p:cNvPr id="106" name="Group 105">
            <a:extLst>
              <a:ext uri="{FF2B5EF4-FFF2-40B4-BE49-F238E27FC236}">
                <a16:creationId xmlns:a16="http://schemas.microsoft.com/office/drawing/2014/main" id="{19CD30A7-C35C-9A15-046E-B1E11637BB16}"/>
              </a:ext>
            </a:extLst>
          </p:cNvPr>
          <p:cNvGrpSpPr/>
          <p:nvPr/>
        </p:nvGrpSpPr>
        <p:grpSpPr>
          <a:xfrm>
            <a:off x="6636537" y="3607871"/>
            <a:ext cx="239191" cy="2959268"/>
            <a:chOff x="6636537" y="3607871"/>
            <a:chExt cx="239191" cy="2959268"/>
          </a:xfrm>
        </p:grpSpPr>
        <p:cxnSp>
          <p:nvCxnSpPr>
            <p:cNvPr id="15" name="Straight Connector 14">
              <a:extLst>
                <a:ext uri="{FF2B5EF4-FFF2-40B4-BE49-F238E27FC236}">
                  <a16:creationId xmlns:a16="http://schemas.microsoft.com/office/drawing/2014/main" id="{21F517FA-F01C-31B0-E9A4-AFF1EAC06AC2}"/>
                </a:ext>
              </a:extLst>
            </p:cNvPr>
            <p:cNvCxnSpPr>
              <a:cxnSpLocks/>
            </p:cNvCxnSpPr>
            <p:nvPr/>
          </p:nvCxnSpPr>
          <p:spPr>
            <a:xfrm>
              <a:off x="6746828" y="3607871"/>
              <a:ext cx="0" cy="295926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2DD1C33-01E8-1378-E54A-ED71E2566EFF}"/>
                </a:ext>
              </a:extLst>
            </p:cNvPr>
            <p:cNvCxnSpPr>
              <a:cxnSpLocks/>
            </p:cNvCxnSpPr>
            <p:nvPr/>
          </p:nvCxnSpPr>
          <p:spPr>
            <a:xfrm>
              <a:off x="6746318" y="3609926"/>
              <a:ext cx="12941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C7BD10D-5408-FF28-D616-6C46C870E781}"/>
                </a:ext>
              </a:extLst>
            </p:cNvPr>
            <p:cNvCxnSpPr>
              <a:cxnSpLocks/>
            </p:cNvCxnSpPr>
            <p:nvPr/>
          </p:nvCxnSpPr>
          <p:spPr>
            <a:xfrm>
              <a:off x="6636537" y="4008168"/>
              <a:ext cx="104781"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4" name="Group 3">
            <a:extLst>
              <a:ext uri="{FF2B5EF4-FFF2-40B4-BE49-F238E27FC236}">
                <a16:creationId xmlns:a16="http://schemas.microsoft.com/office/drawing/2014/main" id="{4A632F26-8A64-22E9-58BB-8D301D8D02F1}"/>
              </a:ext>
            </a:extLst>
          </p:cNvPr>
          <p:cNvGrpSpPr/>
          <p:nvPr/>
        </p:nvGrpSpPr>
        <p:grpSpPr>
          <a:xfrm>
            <a:off x="7062930" y="3151216"/>
            <a:ext cx="791663" cy="705962"/>
            <a:chOff x="7062930" y="3151216"/>
            <a:chExt cx="791663" cy="705962"/>
          </a:xfrm>
        </p:grpSpPr>
        <p:sp>
          <p:nvSpPr>
            <p:cNvPr id="37" name="Rectangle 36">
              <a:extLst>
                <a:ext uri="{FF2B5EF4-FFF2-40B4-BE49-F238E27FC236}">
                  <a16:creationId xmlns:a16="http://schemas.microsoft.com/office/drawing/2014/main" id="{82A2A198-02B0-4700-7EB5-A9B072DC6503}"/>
                </a:ext>
              </a:extLst>
            </p:cNvPr>
            <p:cNvSpPr/>
            <p:nvPr/>
          </p:nvSpPr>
          <p:spPr>
            <a:xfrm>
              <a:off x="7067846" y="3151216"/>
              <a:ext cx="725000" cy="675339"/>
            </a:xfrm>
            <a:prstGeom prst="rect">
              <a:avLst/>
            </a:prstGeom>
            <a:solidFill>
              <a:schemeClr val="accent2">
                <a:lumMod val="40000"/>
                <a:lumOff val="60000"/>
              </a:schemeClr>
            </a:solidFill>
            <a:ln w="12700">
              <a:solidFill>
                <a:schemeClr val="tx1"/>
              </a:solidFill>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wrap="none" lIns="0" tIns="0" rIns="0" bIns="0" rtlCol="0" anchor="ctr" anchorCtr="1"/>
            <a:lstStyle/>
            <a:p>
              <a:pPr algn="ctr"/>
              <a:endParaRPr lang="en-US" sz="900" b="1" dirty="0">
                <a:solidFill>
                  <a:schemeClr val="tx1"/>
                </a:solidFill>
              </a:endParaRPr>
            </a:p>
          </p:txBody>
        </p:sp>
        <p:grpSp>
          <p:nvGrpSpPr>
            <p:cNvPr id="38" name="Group 37">
              <a:extLst>
                <a:ext uri="{FF2B5EF4-FFF2-40B4-BE49-F238E27FC236}">
                  <a16:creationId xmlns:a16="http://schemas.microsoft.com/office/drawing/2014/main" id="{D091AD3E-AF6A-DFFF-1D67-C3977AD40DA3}"/>
                </a:ext>
              </a:extLst>
            </p:cNvPr>
            <p:cNvGrpSpPr/>
            <p:nvPr/>
          </p:nvGrpSpPr>
          <p:grpSpPr>
            <a:xfrm>
              <a:off x="7067846" y="3175830"/>
              <a:ext cx="369305" cy="354140"/>
              <a:chOff x="1555804" y="1773441"/>
              <a:chExt cx="432442" cy="383658"/>
            </a:xfrm>
          </p:grpSpPr>
          <p:sp>
            <p:nvSpPr>
              <p:cNvPr id="86" name="Rectangle 55">
                <a:extLst>
                  <a:ext uri="{FF2B5EF4-FFF2-40B4-BE49-F238E27FC236}">
                    <a16:creationId xmlns:a16="http://schemas.microsoft.com/office/drawing/2014/main" id="{4CA9E912-1C0F-DC26-ED22-0F07697F1D9D}"/>
                  </a:ext>
                </a:extLst>
              </p:cNvPr>
              <p:cNvSpPr>
                <a:spLocks noChangeArrowheads="1"/>
              </p:cNvSpPr>
              <p:nvPr/>
            </p:nvSpPr>
            <p:spPr bwMode="auto">
              <a:xfrm>
                <a:off x="1631961" y="1773441"/>
                <a:ext cx="268022" cy="244411"/>
              </a:xfrm>
              <a:prstGeom prst="rect">
                <a:avLst/>
              </a:prstGeom>
              <a:noFill/>
              <a:ln w="9525">
                <a:noFill/>
                <a:miter lim="800000"/>
                <a:headEnd/>
                <a:tailEnd/>
              </a:ln>
            </p:spPr>
            <p:txBody>
              <a:bodyPr lIns="0" tIns="0" rIns="0" bIns="0" anchor="ctr" anchorCtr="1"/>
              <a:lstStyle/>
              <a:p>
                <a:pPr algn="ctr" eaLnBrk="0" hangingPunct="0"/>
                <a:r>
                  <a:rPr lang="en-US" altLang="zh-CN" sz="900" dirty="0">
                    <a:latin typeface="Barlow" panose="00000500000000000000" pitchFamily="2" charset="0"/>
                    <a:ea typeface="SimSun" pitchFamily="2" charset="-122"/>
                  </a:rPr>
                  <a:t>Rd</a:t>
                </a:r>
              </a:p>
            </p:txBody>
          </p:sp>
          <p:sp>
            <p:nvSpPr>
              <p:cNvPr id="87" name="Freeform 7">
                <a:extLst>
                  <a:ext uri="{FF2B5EF4-FFF2-40B4-BE49-F238E27FC236}">
                    <a16:creationId xmlns:a16="http://schemas.microsoft.com/office/drawing/2014/main" id="{D286F24D-8838-B554-A19C-0CC9DB6A137F}"/>
                  </a:ext>
                </a:extLst>
              </p:cNvPr>
              <p:cNvSpPr>
                <a:spLocks/>
              </p:cNvSpPr>
              <p:nvPr/>
            </p:nvSpPr>
            <p:spPr bwMode="auto">
              <a:xfrm rot="5400000">
                <a:off x="1695290" y="1939721"/>
                <a:ext cx="95225" cy="185994"/>
              </a:xfrm>
              <a:custGeom>
                <a:avLst/>
                <a:gdLst>
                  <a:gd name="T0" fmla="*/ 2147483647 w 77"/>
                  <a:gd name="T1" fmla="*/ 2147483647 h 194"/>
                  <a:gd name="T2" fmla="*/ 0 w 77"/>
                  <a:gd name="T3" fmla="*/ 2147483647 h 194"/>
                  <a:gd name="T4" fmla="*/ 2147483647 w 77"/>
                  <a:gd name="T5" fmla="*/ 2147483647 h 194"/>
                  <a:gd name="T6" fmla="*/ 0 w 77"/>
                  <a:gd name="T7" fmla="*/ 2147483647 h 194"/>
                  <a:gd name="T8" fmla="*/ 2147483647 w 77"/>
                  <a:gd name="T9" fmla="*/ 2147483647 h 194"/>
                  <a:gd name="T10" fmla="*/ 0 w 77"/>
                  <a:gd name="T11" fmla="*/ 2147483647 h 194"/>
                  <a:gd name="T12" fmla="*/ 2147483647 w 77"/>
                  <a:gd name="T13" fmla="*/ 2147483647 h 194"/>
                  <a:gd name="T14" fmla="*/ 2147483647 w 77"/>
                  <a:gd name="T15" fmla="*/ 0 h 194"/>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94"/>
                  <a:gd name="T26" fmla="*/ 77 w 77"/>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94">
                    <a:moveTo>
                      <a:pt x="38" y="194"/>
                    </a:moveTo>
                    <a:lnTo>
                      <a:pt x="0" y="178"/>
                    </a:lnTo>
                    <a:lnTo>
                      <a:pt x="77" y="145"/>
                    </a:lnTo>
                    <a:lnTo>
                      <a:pt x="0" y="114"/>
                    </a:lnTo>
                    <a:lnTo>
                      <a:pt x="77" y="81"/>
                    </a:lnTo>
                    <a:lnTo>
                      <a:pt x="0" y="49"/>
                    </a:lnTo>
                    <a:lnTo>
                      <a:pt x="77" y="16"/>
                    </a:lnTo>
                    <a:lnTo>
                      <a:pt x="38" y="0"/>
                    </a:lnTo>
                  </a:path>
                </a:pathLst>
              </a:custGeom>
              <a:noFill/>
              <a:ln w="12700">
                <a:solidFill>
                  <a:schemeClr val="tx1"/>
                </a:solidFill>
                <a:prstDash val="solid"/>
                <a:round/>
                <a:headEnd/>
                <a:tailEnd/>
              </a:ln>
            </p:spPr>
            <p:txBody>
              <a:bodyPr/>
              <a:lstStyle/>
              <a:p>
                <a:endParaRPr lang="en-US" sz="900"/>
              </a:p>
            </p:txBody>
          </p:sp>
          <p:sp>
            <p:nvSpPr>
              <p:cNvPr id="88" name="Isosceles Triangle 103">
                <a:extLst>
                  <a:ext uri="{FF2B5EF4-FFF2-40B4-BE49-F238E27FC236}">
                    <a16:creationId xmlns:a16="http://schemas.microsoft.com/office/drawing/2014/main" id="{01ADBE27-7306-A4EC-8523-70CEDC2E626F}"/>
                  </a:ext>
                </a:extLst>
              </p:cNvPr>
              <p:cNvSpPr>
                <a:spLocks noChangeArrowheads="1"/>
              </p:cNvSpPr>
              <p:nvPr/>
            </p:nvSpPr>
            <p:spPr bwMode="auto">
              <a:xfrm flipV="1">
                <a:off x="1851757" y="2093616"/>
                <a:ext cx="136489" cy="63483"/>
              </a:xfrm>
              <a:prstGeom prst="triangle">
                <a:avLst>
                  <a:gd name="adj" fmla="val 50000"/>
                </a:avLst>
              </a:prstGeom>
              <a:noFill/>
              <a:ln w="12700" algn="ctr">
                <a:solidFill>
                  <a:schemeClr val="tx1"/>
                </a:solidFill>
                <a:round/>
                <a:headEnd/>
                <a:tailEnd/>
              </a:ln>
            </p:spPr>
            <p:txBody>
              <a:bodyPr/>
              <a:lstStyle/>
              <a:p>
                <a:pPr algn="ctr">
                  <a:buClr>
                    <a:schemeClr val="tx1"/>
                  </a:buClr>
                </a:pPr>
                <a:endParaRPr lang="en-US" sz="900"/>
              </a:p>
            </p:txBody>
          </p:sp>
          <p:cxnSp>
            <p:nvCxnSpPr>
              <p:cNvPr id="89" name="Straight Connector 495">
                <a:extLst>
                  <a:ext uri="{FF2B5EF4-FFF2-40B4-BE49-F238E27FC236}">
                    <a16:creationId xmlns:a16="http://schemas.microsoft.com/office/drawing/2014/main" id="{D52D2AFB-F640-2D67-518D-E9588539B636}"/>
                  </a:ext>
                </a:extLst>
              </p:cNvPr>
              <p:cNvCxnSpPr>
                <a:cxnSpLocks noChangeShapeType="1"/>
                <a:endCxn id="88" idx="3"/>
              </p:cNvCxnSpPr>
              <p:nvPr/>
            </p:nvCxnSpPr>
            <p:spPr bwMode="auto">
              <a:xfrm>
                <a:off x="1920002" y="2032987"/>
                <a:ext cx="0" cy="60629"/>
              </a:xfrm>
              <a:prstGeom prst="line">
                <a:avLst/>
              </a:prstGeom>
              <a:noFill/>
              <a:ln w="12700" algn="ctr">
                <a:solidFill>
                  <a:schemeClr val="tx1"/>
                </a:solidFill>
                <a:round/>
                <a:headEnd/>
                <a:tailEnd/>
              </a:ln>
            </p:spPr>
          </p:cxnSp>
          <p:cxnSp>
            <p:nvCxnSpPr>
              <p:cNvPr id="90" name="Straight Connector 495">
                <a:extLst>
                  <a:ext uri="{FF2B5EF4-FFF2-40B4-BE49-F238E27FC236}">
                    <a16:creationId xmlns:a16="http://schemas.microsoft.com/office/drawing/2014/main" id="{D2B78106-CB70-768A-E350-AB0349CCDB93}"/>
                  </a:ext>
                </a:extLst>
              </p:cNvPr>
              <p:cNvCxnSpPr>
                <a:cxnSpLocks noChangeShapeType="1"/>
              </p:cNvCxnSpPr>
              <p:nvPr/>
            </p:nvCxnSpPr>
            <p:spPr bwMode="auto">
              <a:xfrm>
                <a:off x="1831276" y="2036937"/>
                <a:ext cx="96305" cy="0"/>
              </a:xfrm>
              <a:prstGeom prst="line">
                <a:avLst/>
              </a:prstGeom>
              <a:noFill/>
              <a:ln w="12700" algn="ctr">
                <a:solidFill>
                  <a:schemeClr val="tx1"/>
                </a:solidFill>
                <a:round/>
                <a:headEnd/>
                <a:tailEnd/>
              </a:ln>
            </p:spPr>
          </p:cxnSp>
          <p:cxnSp>
            <p:nvCxnSpPr>
              <p:cNvPr id="91" name="Straight Connector 495">
                <a:extLst>
                  <a:ext uri="{FF2B5EF4-FFF2-40B4-BE49-F238E27FC236}">
                    <a16:creationId xmlns:a16="http://schemas.microsoft.com/office/drawing/2014/main" id="{98E23974-2BF7-0425-11AA-0B2CA89A6351}"/>
                  </a:ext>
                </a:extLst>
              </p:cNvPr>
              <p:cNvCxnSpPr>
                <a:cxnSpLocks noChangeShapeType="1"/>
              </p:cNvCxnSpPr>
              <p:nvPr/>
            </p:nvCxnSpPr>
            <p:spPr bwMode="auto">
              <a:xfrm>
                <a:off x="1555804" y="2025360"/>
                <a:ext cx="93707" cy="0"/>
              </a:xfrm>
              <a:prstGeom prst="line">
                <a:avLst/>
              </a:prstGeom>
              <a:noFill/>
              <a:ln w="12700" algn="ctr">
                <a:solidFill>
                  <a:schemeClr val="tx1"/>
                </a:solidFill>
                <a:round/>
                <a:headEnd/>
                <a:tailEnd/>
              </a:ln>
            </p:spPr>
          </p:cxnSp>
        </p:grpSp>
        <p:grpSp>
          <p:nvGrpSpPr>
            <p:cNvPr id="39" name="Group 38">
              <a:extLst>
                <a:ext uri="{FF2B5EF4-FFF2-40B4-BE49-F238E27FC236}">
                  <a16:creationId xmlns:a16="http://schemas.microsoft.com/office/drawing/2014/main" id="{5BA9D088-CC1E-F624-4F4C-2DD419127C1B}"/>
                </a:ext>
              </a:extLst>
            </p:cNvPr>
            <p:cNvGrpSpPr/>
            <p:nvPr/>
          </p:nvGrpSpPr>
          <p:grpSpPr>
            <a:xfrm>
              <a:off x="7062930" y="3580737"/>
              <a:ext cx="369305" cy="276441"/>
              <a:chOff x="1555804" y="1985105"/>
              <a:chExt cx="432442" cy="299483"/>
            </a:xfrm>
          </p:grpSpPr>
          <p:sp>
            <p:nvSpPr>
              <p:cNvPr id="80" name="Rectangle 55">
                <a:extLst>
                  <a:ext uri="{FF2B5EF4-FFF2-40B4-BE49-F238E27FC236}">
                    <a16:creationId xmlns:a16="http://schemas.microsoft.com/office/drawing/2014/main" id="{DA31C0A8-3995-C1CB-E18F-B4A81634310E}"/>
                  </a:ext>
                </a:extLst>
              </p:cNvPr>
              <p:cNvSpPr>
                <a:spLocks noChangeArrowheads="1"/>
              </p:cNvSpPr>
              <p:nvPr/>
            </p:nvSpPr>
            <p:spPr bwMode="auto">
              <a:xfrm>
                <a:off x="1627474" y="2040177"/>
                <a:ext cx="268022" cy="244411"/>
              </a:xfrm>
              <a:prstGeom prst="rect">
                <a:avLst/>
              </a:prstGeom>
              <a:noFill/>
              <a:ln w="9525">
                <a:noFill/>
                <a:miter lim="800000"/>
                <a:headEnd/>
                <a:tailEnd/>
              </a:ln>
            </p:spPr>
            <p:txBody>
              <a:bodyPr lIns="0" tIns="0" rIns="0" bIns="0" anchor="ctr" anchorCtr="1"/>
              <a:lstStyle/>
              <a:p>
                <a:pPr algn="ctr" eaLnBrk="0" hangingPunct="0"/>
                <a:r>
                  <a:rPr lang="en-US" altLang="zh-CN" sz="900" dirty="0">
                    <a:latin typeface="Barlow" panose="00000500000000000000" pitchFamily="2" charset="0"/>
                    <a:ea typeface="SimSun" pitchFamily="2" charset="-122"/>
                  </a:rPr>
                  <a:t>Rd</a:t>
                </a:r>
              </a:p>
            </p:txBody>
          </p:sp>
          <p:sp>
            <p:nvSpPr>
              <p:cNvPr id="81" name="Freeform 7">
                <a:extLst>
                  <a:ext uri="{FF2B5EF4-FFF2-40B4-BE49-F238E27FC236}">
                    <a16:creationId xmlns:a16="http://schemas.microsoft.com/office/drawing/2014/main" id="{662A0740-A51E-6CF6-AE9C-E55853DDBC2C}"/>
                  </a:ext>
                </a:extLst>
              </p:cNvPr>
              <p:cNvSpPr>
                <a:spLocks/>
              </p:cNvSpPr>
              <p:nvPr/>
            </p:nvSpPr>
            <p:spPr bwMode="auto">
              <a:xfrm rot="5400000">
                <a:off x="1695290" y="1939721"/>
                <a:ext cx="95225" cy="185994"/>
              </a:xfrm>
              <a:custGeom>
                <a:avLst/>
                <a:gdLst>
                  <a:gd name="T0" fmla="*/ 2147483647 w 77"/>
                  <a:gd name="T1" fmla="*/ 2147483647 h 194"/>
                  <a:gd name="T2" fmla="*/ 0 w 77"/>
                  <a:gd name="T3" fmla="*/ 2147483647 h 194"/>
                  <a:gd name="T4" fmla="*/ 2147483647 w 77"/>
                  <a:gd name="T5" fmla="*/ 2147483647 h 194"/>
                  <a:gd name="T6" fmla="*/ 0 w 77"/>
                  <a:gd name="T7" fmla="*/ 2147483647 h 194"/>
                  <a:gd name="T8" fmla="*/ 2147483647 w 77"/>
                  <a:gd name="T9" fmla="*/ 2147483647 h 194"/>
                  <a:gd name="T10" fmla="*/ 0 w 77"/>
                  <a:gd name="T11" fmla="*/ 2147483647 h 194"/>
                  <a:gd name="T12" fmla="*/ 2147483647 w 77"/>
                  <a:gd name="T13" fmla="*/ 2147483647 h 194"/>
                  <a:gd name="T14" fmla="*/ 2147483647 w 77"/>
                  <a:gd name="T15" fmla="*/ 0 h 194"/>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94"/>
                  <a:gd name="T26" fmla="*/ 77 w 77"/>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94">
                    <a:moveTo>
                      <a:pt x="38" y="194"/>
                    </a:moveTo>
                    <a:lnTo>
                      <a:pt x="0" y="178"/>
                    </a:lnTo>
                    <a:lnTo>
                      <a:pt x="77" y="145"/>
                    </a:lnTo>
                    <a:lnTo>
                      <a:pt x="0" y="114"/>
                    </a:lnTo>
                    <a:lnTo>
                      <a:pt x="77" y="81"/>
                    </a:lnTo>
                    <a:lnTo>
                      <a:pt x="0" y="49"/>
                    </a:lnTo>
                    <a:lnTo>
                      <a:pt x="77" y="16"/>
                    </a:lnTo>
                    <a:lnTo>
                      <a:pt x="38" y="0"/>
                    </a:lnTo>
                  </a:path>
                </a:pathLst>
              </a:custGeom>
              <a:noFill/>
              <a:ln w="12700">
                <a:solidFill>
                  <a:schemeClr val="tx1"/>
                </a:solidFill>
                <a:prstDash val="solid"/>
                <a:round/>
                <a:headEnd/>
                <a:tailEnd/>
              </a:ln>
            </p:spPr>
            <p:txBody>
              <a:bodyPr/>
              <a:lstStyle/>
              <a:p>
                <a:endParaRPr lang="en-US" sz="900"/>
              </a:p>
            </p:txBody>
          </p:sp>
          <p:sp>
            <p:nvSpPr>
              <p:cNvPr id="82" name="Isosceles Triangle 103">
                <a:extLst>
                  <a:ext uri="{FF2B5EF4-FFF2-40B4-BE49-F238E27FC236}">
                    <a16:creationId xmlns:a16="http://schemas.microsoft.com/office/drawing/2014/main" id="{C8766F24-4CAC-35D5-D54C-20373CEF7E24}"/>
                  </a:ext>
                </a:extLst>
              </p:cNvPr>
              <p:cNvSpPr>
                <a:spLocks noChangeArrowheads="1"/>
              </p:cNvSpPr>
              <p:nvPr/>
            </p:nvSpPr>
            <p:spPr bwMode="auto">
              <a:xfrm flipV="1">
                <a:off x="1851757" y="2093616"/>
                <a:ext cx="136489" cy="63483"/>
              </a:xfrm>
              <a:prstGeom prst="triangle">
                <a:avLst>
                  <a:gd name="adj" fmla="val 50000"/>
                </a:avLst>
              </a:prstGeom>
              <a:noFill/>
              <a:ln w="12700" algn="ctr">
                <a:solidFill>
                  <a:schemeClr val="tx1"/>
                </a:solidFill>
                <a:round/>
                <a:headEnd/>
                <a:tailEnd/>
              </a:ln>
            </p:spPr>
            <p:txBody>
              <a:bodyPr/>
              <a:lstStyle/>
              <a:p>
                <a:pPr algn="ctr">
                  <a:buClr>
                    <a:schemeClr val="tx1"/>
                  </a:buClr>
                </a:pPr>
                <a:endParaRPr lang="en-US" sz="900"/>
              </a:p>
            </p:txBody>
          </p:sp>
          <p:cxnSp>
            <p:nvCxnSpPr>
              <p:cNvPr id="83" name="Straight Connector 495">
                <a:extLst>
                  <a:ext uri="{FF2B5EF4-FFF2-40B4-BE49-F238E27FC236}">
                    <a16:creationId xmlns:a16="http://schemas.microsoft.com/office/drawing/2014/main" id="{D3926542-139A-8DA2-0A34-B2921EC62E15}"/>
                  </a:ext>
                </a:extLst>
              </p:cNvPr>
              <p:cNvCxnSpPr>
                <a:cxnSpLocks noChangeShapeType="1"/>
                <a:endCxn id="82" idx="3"/>
              </p:cNvCxnSpPr>
              <p:nvPr/>
            </p:nvCxnSpPr>
            <p:spPr bwMode="auto">
              <a:xfrm>
                <a:off x="1920002" y="2032987"/>
                <a:ext cx="0" cy="60629"/>
              </a:xfrm>
              <a:prstGeom prst="line">
                <a:avLst/>
              </a:prstGeom>
              <a:noFill/>
              <a:ln w="12700" algn="ctr">
                <a:solidFill>
                  <a:schemeClr val="tx1"/>
                </a:solidFill>
                <a:round/>
                <a:headEnd/>
                <a:tailEnd/>
              </a:ln>
            </p:spPr>
          </p:cxnSp>
          <p:cxnSp>
            <p:nvCxnSpPr>
              <p:cNvPr id="84" name="Straight Connector 495">
                <a:extLst>
                  <a:ext uri="{FF2B5EF4-FFF2-40B4-BE49-F238E27FC236}">
                    <a16:creationId xmlns:a16="http://schemas.microsoft.com/office/drawing/2014/main" id="{B9AD5692-8720-F0E3-1367-D0D24E27F86F}"/>
                  </a:ext>
                </a:extLst>
              </p:cNvPr>
              <p:cNvCxnSpPr>
                <a:cxnSpLocks noChangeShapeType="1"/>
              </p:cNvCxnSpPr>
              <p:nvPr/>
            </p:nvCxnSpPr>
            <p:spPr bwMode="auto">
              <a:xfrm>
                <a:off x="1831276" y="2036937"/>
                <a:ext cx="96305" cy="0"/>
              </a:xfrm>
              <a:prstGeom prst="line">
                <a:avLst/>
              </a:prstGeom>
              <a:noFill/>
              <a:ln w="12700" algn="ctr">
                <a:solidFill>
                  <a:schemeClr val="tx1"/>
                </a:solidFill>
                <a:round/>
                <a:headEnd/>
                <a:tailEnd/>
              </a:ln>
            </p:spPr>
          </p:cxnSp>
          <p:cxnSp>
            <p:nvCxnSpPr>
              <p:cNvPr id="85" name="Straight Connector 495">
                <a:extLst>
                  <a:ext uri="{FF2B5EF4-FFF2-40B4-BE49-F238E27FC236}">
                    <a16:creationId xmlns:a16="http://schemas.microsoft.com/office/drawing/2014/main" id="{D2A0031B-BF4D-F759-A404-CB4C84D76999}"/>
                  </a:ext>
                </a:extLst>
              </p:cNvPr>
              <p:cNvCxnSpPr>
                <a:cxnSpLocks noChangeShapeType="1"/>
              </p:cNvCxnSpPr>
              <p:nvPr/>
            </p:nvCxnSpPr>
            <p:spPr bwMode="auto">
              <a:xfrm>
                <a:off x="1555804" y="2025360"/>
                <a:ext cx="93707" cy="0"/>
              </a:xfrm>
              <a:prstGeom prst="line">
                <a:avLst/>
              </a:prstGeom>
              <a:noFill/>
              <a:ln w="12700" algn="ctr">
                <a:solidFill>
                  <a:schemeClr val="tx1"/>
                </a:solidFill>
                <a:round/>
                <a:headEnd/>
                <a:tailEnd/>
              </a:ln>
            </p:spPr>
          </p:cxnSp>
        </p:grpSp>
        <p:sp>
          <p:nvSpPr>
            <p:cNvPr id="40" name="TextBox 39">
              <a:extLst>
                <a:ext uri="{FF2B5EF4-FFF2-40B4-BE49-F238E27FC236}">
                  <a16:creationId xmlns:a16="http://schemas.microsoft.com/office/drawing/2014/main" id="{2458110B-61C3-3607-382A-A33FF8A0ADC7}"/>
                </a:ext>
              </a:extLst>
            </p:cNvPr>
            <p:cNvSpPr txBox="1"/>
            <p:nvPr/>
          </p:nvSpPr>
          <p:spPr>
            <a:xfrm>
              <a:off x="7443309" y="3216830"/>
              <a:ext cx="411284" cy="174893"/>
            </a:xfrm>
            <a:prstGeom prst="rect">
              <a:avLst/>
            </a:prstGeom>
            <a:noFill/>
          </p:spPr>
          <p:txBody>
            <a:bodyPr wrap="none" lIns="0" tIns="0" rIns="0" bIns="0" rtlCol="0">
              <a:noAutofit/>
            </a:bodyPr>
            <a:lstStyle/>
            <a:p>
              <a:pPr defTabSz="552124">
                <a:spcBef>
                  <a:spcPts val="1208"/>
                </a:spcBef>
                <a:buClr>
                  <a:srgbClr val="1E4056"/>
                </a:buClr>
                <a:buSzPct val="75000"/>
              </a:pPr>
              <a:r>
                <a:rPr lang="en-US" sz="900" b="1" dirty="0">
                  <a:latin typeface="Barlow" panose="00000500000000000000" pitchFamily="2" charset="0"/>
                </a:rPr>
                <a:t>SINK</a:t>
              </a:r>
            </a:p>
          </p:txBody>
        </p:sp>
      </p:grpSp>
      <p:grpSp>
        <p:nvGrpSpPr>
          <p:cNvPr id="76" name="Group 75">
            <a:extLst>
              <a:ext uri="{FF2B5EF4-FFF2-40B4-BE49-F238E27FC236}">
                <a16:creationId xmlns:a16="http://schemas.microsoft.com/office/drawing/2014/main" id="{D08AD7FE-E6C6-5339-5618-133422AC8A83}"/>
              </a:ext>
            </a:extLst>
          </p:cNvPr>
          <p:cNvGrpSpPr/>
          <p:nvPr/>
        </p:nvGrpSpPr>
        <p:grpSpPr>
          <a:xfrm>
            <a:off x="4902070" y="3674492"/>
            <a:ext cx="795847" cy="304856"/>
            <a:chOff x="4794181" y="1272350"/>
            <a:chExt cx="931906" cy="330265"/>
          </a:xfrm>
        </p:grpSpPr>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59963BDE-4B69-651C-87C2-9FC03BCF56E8}"/>
                    </a:ext>
                  </a:extLst>
                </p:cNvPr>
                <p:cNvSpPr/>
                <p:nvPr/>
              </p:nvSpPr>
              <p:spPr>
                <a:xfrm>
                  <a:off x="4811687" y="1272350"/>
                  <a:ext cx="914400" cy="330265"/>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nSpc>
                      <a:spcPct val="90000"/>
                    </a:lnSpc>
                  </a:pPr>
                  <a:r>
                    <a:rPr lang="en-US" sz="900" dirty="0">
                      <a:latin typeface="Barlow" panose="00000500000000000000" pitchFamily="2" charset="0"/>
                    </a:rPr>
                    <a:t>CC1=</a:t>
                  </a:r>
                  <a14:m>
                    <m:oMath xmlns:m="http://schemas.openxmlformats.org/officeDocument/2006/math">
                      <m:sSub>
                        <m:sSubPr>
                          <m:ctrlPr>
                            <a:rPr lang="en-US" sz="900" i="1" dirty="0">
                              <a:latin typeface="Cambria Math" panose="02040503050406030204" pitchFamily="18" charset="0"/>
                            </a:rPr>
                          </m:ctrlPr>
                        </m:sSubPr>
                        <m:e>
                          <m:r>
                            <m:rPr>
                              <m:nor/>
                            </m:rPr>
                            <a:rPr lang="en-US" sz="900" dirty="0">
                              <a:latin typeface="Barlow" panose="00000500000000000000" pitchFamily="2" charset="0"/>
                            </a:rPr>
                            <m:t>V</m:t>
                          </m:r>
                        </m:e>
                        <m:sub>
                          <m:r>
                            <m:rPr>
                              <m:nor/>
                            </m:rPr>
                            <a:rPr lang="en-US" sz="900" dirty="0">
                              <a:latin typeface="Barlow" panose="00000500000000000000" pitchFamily="2" charset="0"/>
                            </a:rPr>
                            <m:t>Ra</m:t>
                          </m:r>
                        </m:sub>
                      </m:sSub>
                    </m:oMath>
                  </a14:m>
                  <a:endParaRPr lang="en-US" sz="900" dirty="0">
                    <a:latin typeface="Barlow" panose="00000500000000000000" pitchFamily="2" charset="0"/>
                  </a:endParaRPr>
                </a:p>
                <a:p>
                  <a:pPr>
                    <a:lnSpc>
                      <a:spcPct val="90000"/>
                    </a:lnSpc>
                  </a:pPr>
                  <a:r>
                    <a:rPr lang="en-US" sz="900" dirty="0">
                      <a:latin typeface="Barlow" panose="00000500000000000000" pitchFamily="2" charset="0"/>
                    </a:rPr>
                    <a:t>CC2= </a:t>
                  </a:r>
                  <a14:m>
                    <m:oMath xmlns:m="http://schemas.openxmlformats.org/officeDocument/2006/math">
                      <m:sSub>
                        <m:sSubPr>
                          <m:ctrlPr>
                            <a:rPr lang="en-US" sz="900" i="1" dirty="0">
                              <a:latin typeface="Cambria Math" panose="02040503050406030204" pitchFamily="18" charset="0"/>
                            </a:rPr>
                          </m:ctrlPr>
                        </m:sSubPr>
                        <m:e>
                          <m:r>
                            <m:rPr>
                              <m:nor/>
                            </m:rPr>
                            <a:rPr lang="en-US" sz="900" dirty="0">
                              <a:latin typeface="Barlow" panose="00000500000000000000" pitchFamily="2" charset="0"/>
                            </a:rPr>
                            <m:t>V</m:t>
                          </m:r>
                        </m:e>
                        <m:sub>
                          <m:r>
                            <m:rPr>
                              <m:nor/>
                            </m:rPr>
                            <a:rPr lang="en-US" sz="900" dirty="0">
                              <a:latin typeface="Barlow" panose="00000500000000000000" pitchFamily="2" charset="0"/>
                            </a:rPr>
                            <m:t>Open</m:t>
                          </m:r>
                        </m:sub>
                      </m:sSub>
                    </m:oMath>
                  </a14:m>
                  <a:r>
                    <a:rPr lang="en-US" sz="900" dirty="0">
                      <a:latin typeface="Barlow" panose="00000500000000000000" pitchFamily="2" charset="0"/>
                    </a:rPr>
                    <a:t> </a:t>
                  </a:r>
                </a:p>
              </p:txBody>
            </p:sp>
          </mc:Choice>
          <mc:Fallback xmlns="">
            <p:sp>
              <p:nvSpPr>
                <p:cNvPr id="78" name="Rectangle 77">
                  <a:extLst>
                    <a:ext uri="{FF2B5EF4-FFF2-40B4-BE49-F238E27FC236}">
                      <a16:creationId xmlns:a16="http://schemas.microsoft.com/office/drawing/2014/main" id="{59963BDE-4B69-651C-87C2-9FC03BCF56E8}"/>
                    </a:ext>
                  </a:extLst>
                </p:cNvPr>
                <p:cNvSpPr>
                  <a:spLocks noRot="1" noChangeAspect="1" noMove="1" noResize="1" noEditPoints="1" noAdjustHandles="1" noChangeArrowheads="1" noChangeShapeType="1" noTextEdit="1"/>
                </p:cNvSpPr>
                <p:nvPr/>
              </p:nvSpPr>
              <p:spPr>
                <a:xfrm>
                  <a:off x="4811687" y="1272350"/>
                  <a:ext cx="914400" cy="330265"/>
                </a:xfrm>
                <a:prstGeom prst="rect">
                  <a:avLst/>
                </a:prstGeom>
                <a:blipFill>
                  <a:blip r:embed="rId7"/>
                  <a:stretch>
                    <a:fillRect/>
                  </a:stretch>
                </a:blipFill>
                <a:ln>
                  <a:noFill/>
                </a:ln>
              </p:spPr>
              <p:txBody>
                <a:bodyPr/>
                <a:lstStyle/>
                <a:p>
                  <a:r>
                    <a:rPr lang="en-US">
                      <a:noFill/>
                    </a:rPr>
                    <a:t> </a:t>
                  </a:r>
                </a:p>
              </p:txBody>
            </p:sp>
          </mc:Fallback>
        </mc:AlternateContent>
        <p:cxnSp>
          <p:nvCxnSpPr>
            <p:cNvPr id="79" name="Straight Connector 78">
              <a:extLst>
                <a:ext uri="{FF2B5EF4-FFF2-40B4-BE49-F238E27FC236}">
                  <a16:creationId xmlns:a16="http://schemas.microsoft.com/office/drawing/2014/main" id="{BB0CCEAF-3740-12A2-F8F1-99EE3B23EDBF}"/>
                </a:ext>
              </a:extLst>
            </p:cNvPr>
            <p:cNvCxnSpPr>
              <a:cxnSpLocks/>
            </p:cNvCxnSpPr>
            <p:nvPr/>
          </p:nvCxnSpPr>
          <p:spPr>
            <a:xfrm>
              <a:off x="4794181" y="1552581"/>
              <a:ext cx="13291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44" name="Rectangle 43">
            <a:extLst>
              <a:ext uri="{FF2B5EF4-FFF2-40B4-BE49-F238E27FC236}">
                <a16:creationId xmlns:a16="http://schemas.microsoft.com/office/drawing/2014/main" id="{6E5E3F57-4CFE-E411-661E-8E80C73AB823}"/>
              </a:ext>
            </a:extLst>
          </p:cNvPr>
          <p:cNvSpPr/>
          <p:nvPr/>
        </p:nvSpPr>
        <p:spPr>
          <a:xfrm>
            <a:off x="6180765" y="3802466"/>
            <a:ext cx="409625" cy="154799"/>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nSpc>
                <a:spcPct val="90000"/>
              </a:lnSpc>
            </a:pPr>
            <a:r>
              <a:rPr lang="en-US" sz="900" dirty="0">
                <a:solidFill>
                  <a:schemeClr val="accent2"/>
                </a:solidFill>
                <a:latin typeface="Barlow" panose="00000500000000000000" pitchFamily="2" charset="0"/>
              </a:rPr>
              <a:t>(CC2 Active)</a:t>
            </a:r>
          </a:p>
        </p:txBody>
      </p:sp>
      <p:cxnSp>
        <p:nvCxnSpPr>
          <p:cNvPr id="45" name="Connector: Elbow 44">
            <a:extLst>
              <a:ext uri="{FF2B5EF4-FFF2-40B4-BE49-F238E27FC236}">
                <a16:creationId xmlns:a16="http://schemas.microsoft.com/office/drawing/2014/main" id="{DD0DF42C-BF10-0CFF-5487-1056C08ECE1E}"/>
              </a:ext>
            </a:extLst>
          </p:cNvPr>
          <p:cNvCxnSpPr>
            <a:cxnSpLocks/>
          </p:cNvCxnSpPr>
          <p:nvPr/>
        </p:nvCxnSpPr>
        <p:spPr>
          <a:xfrm rot="10800000" flipV="1">
            <a:off x="5017046" y="4007587"/>
            <a:ext cx="1624832" cy="310559"/>
          </a:xfrm>
          <a:prstGeom prst="bentConnector3">
            <a:avLst>
              <a:gd name="adj1" fmla="val 65035"/>
            </a:avLst>
          </a:prstGeom>
          <a:ln>
            <a:tailEnd type="triangle"/>
          </a:ln>
        </p:spPr>
        <p:style>
          <a:lnRef idx="3">
            <a:schemeClr val="accent2"/>
          </a:lnRef>
          <a:fillRef idx="0">
            <a:schemeClr val="accent2"/>
          </a:fillRef>
          <a:effectRef idx="2">
            <a:schemeClr val="accent2"/>
          </a:effectRef>
          <a:fontRef idx="minor">
            <a:schemeClr val="tx1"/>
          </a:fontRef>
        </p:style>
      </p:cxnSp>
      <p:sp>
        <p:nvSpPr>
          <p:cNvPr id="46" name="TextBox 45">
            <a:extLst>
              <a:ext uri="{FF2B5EF4-FFF2-40B4-BE49-F238E27FC236}">
                <a16:creationId xmlns:a16="http://schemas.microsoft.com/office/drawing/2014/main" id="{6A298D46-BAF1-A99D-8D73-95EEB1E5DBD1}"/>
              </a:ext>
            </a:extLst>
          </p:cNvPr>
          <p:cNvSpPr txBox="1"/>
          <p:nvPr/>
        </p:nvSpPr>
        <p:spPr>
          <a:xfrm>
            <a:off x="5066779" y="3475545"/>
            <a:ext cx="1685077" cy="230832"/>
          </a:xfrm>
          <a:prstGeom prst="rect">
            <a:avLst/>
          </a:prstGeom>
          <a:noFill/>
        </p:spPr>
        <p:txBody>
          <a:bodyPr wrap="none" rtlCol="0">
            <a:spAutoFit/>
          </a:bodyPr>
          <a:lstStyle/>
          <a:p>
            <a:r>
              <a:rPr lang="en-US" sz="900" b="1" dirty="0">
                <a:solidFill>
                  <a:schemeClr val="accent1">
                    <a:lumMod val="75000"/>
                  </a:schemeClr>
                </a:solidFill>
                <a:latin typeface="Barlow" panose="00000500000000000000" pitchFamily="2" charset="0"/>
              </a:rPr>
              <a:t>TYPE C ADAPTER DETECTION</a:t>
            </a:r>
          </a:p>
        </p:txBody>
      </p:sp>
      <p:grpSp>
        <p:nvGrpSpPr>
          <p:cNvPr id="47" name="Group 46">
            <a:extLst>
              <a:ext uri="{FF2B5EF4-FFF2-40B4-BE49-F238E27FC236}">
                <a16:creationId xmlns:a16="http://schemas.microsoft.com/office/drawing/2014/main" id="{EDA1332E-CB3B-119F-8200-D94F1A891286}"/>
              </a:ext>
            </a:extLst>
          </p:cNvPr>
          <p:cNvGrpSpPr/>
          <p:nvPr/>
        </p:nvGrpSpPr>
        <p:grpSpPr>
          <a:xfrm>
            <a:off x="5531856" y="4003902"/>
            <a:ext cx="487593" cy="543161"/>
            <a:chOff x="7091559" y="3563983"/>
            <a:chExt cx="689456" cy="710566"/>
          </a:xfrm>
        </p:grpSpPr>
        <p:grpSp>
          <p:nvGrpSpPr>
            <p:cNvPr id="70" name="Group 69">
              <a:extLst>
                <a:ext uri="{FF2B5EF4-FFF2-40B4-BE49-F238E27FC236}">
                  <a16:creationId xmlns:a16="http://schemas.microsoft.com/office/drawing/2014/main" id="{91FBBBFA-611C-339B-55D6-A02D4D926B49}"/>
                </a:ext>
              </a:extLst>
            </p:cNvPr>
            <p:cNvGrpSpPr/>
            <p:nvPr/>
          </p:nvGrpSpPr>
          <p:grpSpPr>
            <a:xfrm>
              <a:off x="7272124" y="3837857"/>
              <a:ext cx="383683" cy="436692"/>
              <a:chOff x="1634441" y="1982280"/>
              <a:chExt cx="403195" cy="219252"/>
            </a:xfrm>
          </p:grpSpPr>
          <p:cxnSp>
            <p:nvCxnSpPr>
              <p:cNvPr id="73" name="Straight Connector 72">
                <a:extLst>
                  <a:ext uri="{FF2B5EF4-FFF2-40B4-BE49-F238E27FC236}">
                    <a16:creationId xmlns:a16="http://schemas.microsoft.com/office/drawing/2014/main" id="{BE15C61D-0864-8E94-2D79-C829D5F57994}"/>
                  </a:ext>
                </a:extLst>
              </p:cNvPr>
              <p:cNvCxnSpPr>
                <a:cxnSpLocks/>
              </p:cNvCxnSpPr>
              <p:nvPr/>
            </p:nvCxnSpPr>
            <p:spPr>
              <a:xfrm flipV="1">
                <a:off x="1792228" y="1982280"/>
                <a:ext cx="122437" cy="219252"/>
              </a:xfrm>
              <a:prstGeom prst="line">
                <a:avLst/>
              </a:prstGeom>
              <a:ln w="38100">
                <a:solidFill>
                  <a:schemeClr val="accent6"/>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E7D593E-52C7-7493-C487-1F8F68E47528}"/>
                  </a:ext>
                </a:extLst>
              </p:cNvPr>
              <p:cNvCxnSpPr>
                <a:cxnSpLocks/>
              </p:cNvCxnSpPr>
              <p:nvPr/>
            </p:nvCxnSpPr>
            <p:spPr>
              <a:xfrm>
                <a:off x="1887058" y="1986106"/>
                <a:ext cx="150578" cy="0"/>
              </a:xfrm>
              <a:prstGeom prst="line">
                <a:avLst/>
              </a:prstGeom>
              <a:ln w="38100">
                <a:solidFill>
                  <a:schemeClr val="accent6"/>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227E4382-751C-F9AC-49BC-BB75EB706213}"/>
                  </a:ext>
                </a:extLst>
              </p:cNvPr>
              <p:cNvCxnSpPr>
                <a:cxnSpLocks/>
              </p:cNvCxnSpPr>
              <p:nvPr/>
            </p:nvCxnSpPr>
            <p:spPr>
              <a:xfrm>
                <a:off x="1634441" y="2193895"/>
                <a:ext cx="154207" cy="0"/>
              </a:xfrm>
              <a:prstGeom prst="line">
                <a:avLst/>
              </a:prstGeom>
              <a:ln w="38100">
                <a:solidFill>
                  <a:schemeClr val="accent6"/>
                </a:solidFill>
              </a:ln>
              <a:effectLst/>
            </p:spPr>
            <p:style>
              <a:lnRef idx="2">
                <a:schemeClr val="accent1"/>
              </a:lnRef>
              <a:fillRef idx="0">
                <a:schemeClr val="accent1"/>
              </a:fillRef>
              <a:effectRef idx="1">
                <a:schemeClr val="accent1"/>
              </a:effectRef>
              <a:fontRef idx="minor">
                <a:schemeClr val="tx1"/>
              </a:fontRef>
            </p:style>
          </p:cxnSp>
        </p:grpSp>
        <p:sp>
          <p:nvSpPr>
            <p:cNvPr id="71" name="TextBox 70">
              <a:extLst>
                <a:ext uri="{FF2B5EF4-FFF2-40B4-BE49-F238E27FC236}">
                  <a16:creationId xmlns:a16="http://schemas.microsoft.com/office/drawing/2014/main" id="{2875DC44-D9D9-033F-10F0-69EF0CFFBC9E}"/>
                </a:ext>
              </a:extLst>
            </p:cNvPr>
            <p:cNvSpPr txBox="1"/>
            <p:nvPr/>
          </p:nvSpPr>
          <p:spPr>
            <a:xfrm>
              <a:off x="7091559" y="3989327"/>
              <a:ext cx="375596" cy="278356"/>
            </a:xfrm>
            <a:prstGeom prst="rect">
              <a:avLst/>
            </a:prstGeom>
            <a:noFill/>
          </p:spPr>
          <p:txBody>
            <a:bodyPr wrap="none" rtlCol="0">
              <a:spAutoFit/>
            </a:bodyPr>
            <a:lstStyle/>
            <a:p>
              <a:r>
                <a:rPr lang="en-US" sz="900" dirty="0">
                  <a:solidFill>
                    <a:schemeClr val="accent6">
                      <a:lumMod val="75000"/>
                    </a:schemeClr>
                  </a:solidFill>
                  <a:latin typeface="Barlow" panose="00000500000000000000" pitchFamily="2" charset="0"/>
                </a:rPr>
                <a:t>0V</a:t>
              </a:r>
            </a:p>
          </p:txBody>
        </p:sp>
        <p:sp>
          <p:nvSpPr>
            <p:cNvPr id="72" name="TextBox 71">
              <a:extLst>
                <a:ext uri="{FF2B5EF4-FFF2-40B4-BE49-F238E27FC236}">
                  <a16:creationId xmlns:a16="http://schemas.microsoft.com/office/drawing/2014/main" id="{F8600586-B9CF-58E9-3316-71C40E4CD7A2}"/>
                </a:ext>
              </a:extLst>
            </p:cNvPr>
            <p:cNvSpPr txBox="1"/>
            <p:nvPr/>
          </p:nvSpPr>
          <p:spPr>
            <a:xfrm>
              <a:off x="7412999" y="3563983"/>
              <a:ext cx="368016" cy="278356"/>
            </a:xfrm>
            <a:prstGeom prst="rect">
              <a:avLst/>
            </a:prstGeom>
            <a:noFill/>
          </p:spPr>
          <p:txBody>
            <a:bodyPr wrap="none" rtlCol="0">
              <a:spAutoFit/>
            </a:bodyPr>
            <a:lstStyle/>
            <a:p>
              <a:r>
                <a:rPr lang="en-US" sz="900" dirty="0">
                  <a:solidFill>
                    <a:schemeClr val="accent6">
                      <a:lumMod val="75000"/>
                    </a:schemeClr>
                  </a:solidFill>
                  <a:latin typeface="Barlow" panose="00000500000000000000" pitchFamily="2" charset="0"/>
                </a:rPr>
                <a:t>5V</a:t>
              </a:r>
            </a:p>
          </p:txBody>
        </p:sp>
      </p:grpSp>
      <p:sp>
        <p:nvSpPr>
          <p:cNvPr id="48" name="Rectangle 47">
            <a:extLst>
              <a:ext uri="{FF2B5EF4-FFF2-40B4-BE49-F238E27FC236}">
                <a16:creationId xmlns:a16="http://schemas.microsoft.com/office/drawing/2014/main" id="{8B7309DB-0B1A-9D31-CE9F-98760A22F684}"/>
              </a:ext>
            </a:extLst>
          </p:cNvPr>
          <p:cNvSpPr/>
          <p:nvPr/>
        </p:nvSpPr>
        <p:spPr>
          <a:xfrm>
            <a:off x="5040518" y="5711936"/>
            <a:ext cx="740512" cy="212858"/>
          </a:xfrm>
          <a:prstGeom prst="rect">
            <a:avLst/>
          </a:prstGeom>
          <a:solidFill>
            <a:srgbClr val="B58EC0"/>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none" lIns="0" tIns="0" rIns="0" bIns="0" rtlCol="0" anchor="ctr" anchorCtr="1"/>
          <a:lstStyle/>
          <a:p>
            <a:pPr algn="ctr">
              <a:lnSpc>
                <a:spcPct val="90000"/>
              </a:lnSpc>
            </a:pPr>
            <a:r>
              <a:rPr lang="en-US" sz="900" b="1" dirty="0">
                <a:solidFill>
                  <a:schemeClr val="tx1"/>
                </a:solidFill>
                <a:latin typeface="Barlow" panose="00000500000000000000" pitchFamily="2" charset="0"/>
              </a:rPr>
              <a:t>ACCEPT</a:t>
            </a:r>
          </a:p>
        </p:txBody>
      </p:sp>
      <p:sp>
        <p:nvSpPr>
          <p:cNvPr id="49" name="Rectangle 48">
            <a:extLst>
              <a:ext uri="{FF2B5EF4-FFF2-40B4-BE49-F238E27FC236}">
                <a16:creationId xmlns:a16="http://schemas.microsoft.com/office/drawing/2014/main" id="{6FB81D6D-7A20-0D21-FD37-1E3B45DA4F8A}"/>
              </a:ext>
            </a:extLst>
          </p:cNvPr>
          <p:cNvSpPr/>
          <p:nvPr/>
        </p:nvSpPr>
        <p:spPr>
          <a:xfrm>
            <a:off x="5942051" y="5418153"/>
            <a:ext cx="656323" cy="237610"/>
          </a:xfrm>
          <a:prstGeom prst="rect">
            <a:avLst/>
          </a:prstGeom>
          <a:solidFill>
            <a:srgbClr val="B58EC0"/>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none" lIns="0" tIns="0" rIns="0" bIns="0" rtlCol="0" anchor="ctr" anchorCtr="1"/>
          <a:lstStyle/>
          <a:p>
            <a:pPr algn="ctr">
              <a:lnSpc>
                <a:spcPct val="90000"/>
              </a:lnSpc>
            </a:pPr>
            <a:r>
              <a:rPr lang="en-US" sz="900" b="1" dirty="0">
                <a:solidFill>
                  <a:schemeClr val="tx1"/>
                </a:solidFill>
                <a:latin typeface="Barlow" panose="00000500000000000000" pitchFamily="2" charset="0"/>
              </a:rPr>
              <a:t>REQUEST</a:t>
            </a:r>
          </a:p>
        </p:txBody>
      </p:sp>
      <p:grpSp>
        <p:nvGrpSpPr>
          <p:cNvPr id="50" name="Group 49">
            <a:extLst>
              <a:ext uri="{FF2B5EF4-FFF2-40B4-BE49-F238E27FC236}">
                <a16:creationId xmlns:a16="http://schemas.microsoft.com/office/drawing/2014/main" id="{0FDF51A3-30A8-F8EC-3DC8-F127744FBAB3}"/>
              </a:ext>
            </a:extLst>
          </p:cNvPr>
          <p:cNvGrpSpPr/>
          <p:nvPr/>
        </p:nvGrpSpPr>
        <p:grpSpPr>
          <a:xfrm>
            <a:off x="5509099" y="5762572"/>
            <a:ext cx="518375" cy="554362"/>
            <a:chOff x="7061991" y="3554012"/>
            <a:chExt cx="732981" cy="725219"/>
          </a:xfrm>
        </p:grpSpPr>
        <p:grpSp>
          <p:nvGrpSpPr>
            <p:cNvPr id="64" name="Group 63">
              <a:extLst>
                <a:ext uri="{FF2B5EF4-FFF2-40B4-BE49-F238E27FC236}">
                  <a16:creationId xmlns:a16="http://schemas.microsoft.com/office/drawing/2014/main" id="{D34DA4E6-ABC5-15F1-67E7-A3ACB2825266}"/>
                </a:ext>
              </a:extLst>
            </p:cNvPr>
            <p:cNvGrpSpPr/>
            <p:nvPr/>
          </p:nvGrpSpPr>
          <p:grpSpPr>
            <a:xfrm>
              <a:off x="7272124" y="3837857"/>
              <a:ext cx="383683" cy="436692"/>
              <a:chOff x="1634441" y="1982280"/>
              <a:chExt cx="403195" cy="219252"/>
            </a:xfrm>
          </p:grpSpPr>
          <p:cxnSp>
            <p:nvCxnSpPr>
              <p:cNvPr id="67" name="Straight Connector 66">
                <a:extLst>
                  <a:ext uri="{FF2B5EF4-FFF2-40B4-BE49-F238E27FC236}">
                    <a16:creationId xmlns:a16="http://schemas.microsoft.com/office/drawing/2014/main" id="{7CA8C66C-6D9F-6C77-8107-1A7DF72B7128}"/>
                  </a:ext>
                </a:extLst>
              </p:cNvPr>
              <p:cNvCxnSpPr>
                <a:cxnSpLocks/>
              </p:cNvCxnSpPr>
              <p:nvPr/>
            </p:nvCxnSpPr>
            <p:spPr>
              <a:xfrm flipV="1">
                <a:off x="1780636" y="1982280"/>
                <a:ext cx="122438" cy="219252"/>
              </a:xfrm>
              <a:prstGeom prst="line">
                <a:avLst/>
              </a:prstGeom>
              <a:ln w="38100">
                <a:solidFill>
                  <a:schemeClr val="accent6"/>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C0C6A173-BD3A-276D-F9E1-3156A4B183E2}"/>
                  </a:ext>
                </a:extLst>
              </p:cNvPr>
              <p:cNvCxnSpPr>
                <a:cxnSpLocks/>
              </p:cNvCxnSpPr>
              <p:nvPr/>
            </p:nvCxnSpPr>
            <p:spPr>
              <a:xfrm>
                <a:off x="1887058" y="1986106"/>
                <a:ext cx="150578" cy="0"/>
              </a:xfrm>
              <a:prstGeom prst="line">
                <a:avLst/>
              </a:prstGeom>
              <a:ln w="38100">
                <a:solidFill>
                  <a:schemeClr val="accent6"/>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5F89E048-DF4E-1069-9FC3-E637ED9A8308}"/>
                  </a:ext>
                </a:extLst>
              </p:cNvPr>
              <p:cNvCxnSpPr>
                <a:cxnSpLocks/>
              </p:cNvCxnSpPr>
              <p:nvPr/>
            </p:nvCxnSpPr>
            <p:spPr>
              <a:xfrm>
                <a:off x="1634441" y="2193895"/>
                <a:ext cx="154207" cy="0"/>
              </a:xfrm>
              <a:prstGeom prst="line">
                <a:avLst/>
              </a:prstGeom>
              <a:ln w="38100">
                <a:solidFill>
                  <a:schemeClr val="accent6"/>
                </a:solidFill>
              </a:ln>
              <a:effectLst/>
            </p:spPr>
            <p:style>
              <a:lnRef idx="2">
                <a:schemeClr val="accent1"/>
              </a:lnRef>
              <a:fillRef idx="0">
                <a:schemeClr val="accent1"/>
              </a:fillRef>
              <a:effectRef idx="1">
                <a:schemeClr val="accent1"/>
              </a:effectRef>
              <a:fontRef idx="minor">
                <a:schemeClr val="tx1"/>
              </a:fontRef>
            </p:style>
          </p:cxnSp>
        </p:grpSp>
        <p:sp>
          <p:nvSpPr>
            <p:cNvPr id="65" name="TextBox 64">
              <a:extLst>
                <a:ext uri="{FF2B5EF4-FFF2-40B4-BE49-F238E27FC236}">
                  <a16:creationId xmlns:a16="http://schemas.microsoft.com/office/drawing/2014/main" id="{086D2BD4-DB00-DA95-DFC4-D5957AA78C04}"/>
                </a:ext>
              </a:extLst>
            </p:cNvPr>
            <p:cNvSpPr txBox="1"/>
            <p:nvPr/>
          </p:nvSpPr>
          <p:spPr>
            <a:xfrm>
              <a:off x="7061991" y="4000875"/>
              <a:ext cx="368015" cy="278356"/>
            </a:xfrm>
            <a:prstGeom prst="rect">
              <a:avLst/>
            </a:prstGeom>
            <a:noFill/>
          </p:spPr>
          <p:txBody>
            <a:bodyPr wrap="none" rtlCol="0">
              <a:spAutoFit/>
            </a:bodyPr>
            <a:lstStyle/>
            <a:p>
              <a:r>
                <a:rPr lang="en-US" sz="900" dirty="0">
                  <a:solidFill>
                    <a:schemeClr val="accent6">
                      <a:lumMod val="75000"/>
                    </a:schemeClr>
                  </a:solidFill>
                  <a:latin typeface="Barlow" panose="00000500000000000000" pitchFamily="2" charset="0"/>
                </a:rPr>
                <a:t>5V</a:t>
              </a:r>
            </a:p>
          </p:txBody>
        </p:sp>
        <p:sp>
          <p:nvSpPr>
            <p:cNvPr id="66" name="TextBox 65">
              <a:extLst>
                <a:ext uri="{FF2B5EF4-FFF2-40B4-BE49-F238E27FC236}">
                  <a16:creationId xmlns:a16="http://schemas.microsoft.com/office/drawing/2014/main" id="{E475ED89-AD60-DF23-51B3-E2D84349D727}"/>
                </a:ext>
              </a:extLst>
            </p:cNvPr>
            <p:cNvSpPr txBox="1"/>
            <p:nvPr/>
          </p:nvSpPr>
          <p:spPr>
            <a:xfrm>
              <a:off x="7425063" y="3554012"/>
              <a:ext cx="369909" cy="278356"/>
            </a:xfrm>
            <a:prstGeom prst="rect">
              <a:avLst/>
            </a:prstGeom>
            <a:noFill/>
          </p:spPr>
          <p:txBody>
            <a:bodyPr wrap="none" rtlCol="0">
              <a:spAutoFit/>
            </a:bodyPr>
            <a:lstStyle/>
            <a:p>
              <a:r>
                <a:rPr lang="en-US" sz="900" dirty="0">
                  <a:solidFill>
                    <a:schemeClr val="accent6">
                      <a:lumMod val="75000"/>
                    </a:schemeClr>
                  </a:solidFill>
                  <a:latin typeface="Barlow" panose="00000500000000000000" pitchFamily="2" charset="0"/>
                </a:rPr>
                <a:t>9V</a:t>
              </a:r>
            </a:p>
          </p:txBody>
        </p:sp>
      </p:grpSp>
      <p:sp>
        <p:nvSpPr>
          <p:cNvPr id="51" name="Rectangle 50">
            <a:extLst>
              <a:ext uri="{FF2B5EF4-FFF2-40B4-BE49-F238E27FC236}">
                <a16:creationId xmlns:a16="http://schemas.microsoft.com/office/drawing/2014/main" id="{28A02EAD-19BE-19DA-9745-DD3628942FF4}"/>
              </a:ext>
            </a:extLst>
          </p:cNvPr>
          <p:cNvSpPr/>
          <p:nvPr/>
        </p:nvSpPr>
        <p:spPr>
          <a:xfrm>
            <a:off x="5050339" y="6389104"/>
            <a:ext cx="656323" cy="237610"/>
          </a:xfrm>
          <a:prstGeom prst="rect">
            <a:avLst/>
          </a:prstGeom>
          <a:solidFill>
            <a:srgbClr val="B58EC0"/>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none" lIns="0" tIns="0" rIns="0" bIns="0" rtlCol="0" anchor="ctr" anchorCtr="1"/>
          <a:lstStyle/>
          <a:p>
            <a:pPr algn="ctr">
              <a:lnSpc>
                <a:spcPct val="90000"/>
              </a:lnSpc>
            </a:pPr>
            <a:r>
              <a:rPr lang="en-US" sz="900" b="1" dirty="0">
                <a:solidFill>
                  <a:schemeClr val="tx1"/>
                </a:solidFill>
                <a:latin typeface="Barlow" panose="00000500000000000000" pitchFamily="2" charset="0"/>
              </a:rPr>
              <a:t>PS_RDY</a:t>
            </a:r>
          </a:p>
        </p:txBody>
      </p:sp>
      <p:grpSp>
        <p:nvGrpSpPr>
          <p:cNvPr id="77" name="Group 76">
            <a:extLst>
              <a:ext uri="{FF2B5EF4-FFF2-40B4-BE49-F238E27FC236}">
                <a16:creationId xmlns:a16="http://schemas.microsoft.com/office/drawing/2014/main" id="{EE653D43-0BF4-EC6E-E192-F80F1275E8DF}"/>
              </a:ext>
            </a:extLst>
          </p:cNvPr>
          <p:cNvGrpSpPr/>
          <p:nvPr/>
        </p:nvGrpSpPr>
        <p:grpSpPr>
          <a:xfrm>
            <a:off x="4890817" y="3604964"/>
            <a:ext cx="157067" cy="2916767"/>
            <a:chOff x="4890817" y="3604964"/>
            <a:chExt cx="157067" cy="2916767"/>
          </a:xfrm>
        </p:grpSpPr>
        <p:cxnSp>
          <p:nvCxnSpPr>
            <p:cNvPr id="13" name="Straight Connector 12">
              <a:extLst>
                <a:ext uri="{FF2B5EF4-FFF2-40B4-BE49-F238E27FC236}">
                  <a16:creationId xmlns:a16="http://schemas.microsoft.com/office/drawing/2014/main" id="{4A0E4709-17B5-1277-037D-3DDEB5759832}"/>
                </a:ext>
              </a:extLst>
            </p:cNvPr>
            <p:cNvCxnSpPr>
              <a:cxnSpLocks/>
            </p:cNvCxnSpPr>
            <p:nvPr/>
          </p:nvCxnSpPr>
          <p:spPr>
            <a:xfrm flipH="1">
              <a:off x="4892379" y="3604964"/>
              <a:ext cx="8456" cy="291676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2021971-671E-11A9-F3DC-659242D15639}"/>
                </a:ext>
              </a:extLst>
            </p:cNvPr>
            <p:cNvCxnSpPr>
              <a:cxnSpLocks/>
              <a:endCxn id="11" idx="1"/>
            </p:cNvCxnSpPr>
            <p:nvPr/>
          </p:nvCxnSpPr>
          <p:spPr>
            <a:xfrm>
              <a:off x="4894700" y="5275167"/>
              <a:ext cx="153182" cy="1929"/>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30C1DCC-A6DE-40E5-D817-2FD3E0A0D415}"/>
                </a:ext>
              </a:extLst>
            </p:cNvPr>
            <p:cNvCxnSpPr>
              <a:cxnSpLocks/>
            </p:cNvCxnSpPr>
            <p:nvPr/>
          </p:nvCxnSpPr>
          <p:spPr>
            <a:xfrm flipV="1">
              <a:off x="4891725" y="5795891"/>
              <a:ext cx="145381" cy="2242"/>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527E1E5-F4AF-5790-40C4-56A4CF0F9365}"/>
                </a:ext>
              </a:extLst>
            </p:cNvPr>
            <p:cNvCxnSpPr>
              <a:cxnSpLocks/>
            </p:cNvCxnSpPr>
            <p:nvPr/>
          </p:nvCxnSpPr>
          <p:spPr>
            <a:xfrm>
              <a:off x="4892814" y="6514450"/>
              <a:ext cx="155070" cy="0"/>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84C7AEE-1AAA-A625-200D-3579F6A6F369}"/>
                </a:ext>
              </a:extLst>
            </p:cNvPr>
            <p:cNvCxnSpPr>
              <a:cxnSpLocks/>
            </p:cNvCxnSpPr>
            <p:nvPr/>
          </p:nvCxnSpPr>
          <p:spPr>
            <a:xfrm>
              <a:off x="4901197" y="4336585"/>
              <a:ext cx="113505"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158B9E74-FB03-89E8-05F6-9F1365E9FAAA}"/>
                </a:ext>
              </a:extLst>
            </p:cNvPr>
            <p:cNvCxnSpPr>
              <a:cxnSpLocks/>
            </p:cNvCxnSpPr>
            <p:nvPr/>
          </p:nvCxnSpPr>
          <p:spPr>
            <a:xfrm>
              <a:off x="4890817" y="6155092"/>
              <a:ext cx="113505"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53" name="Rectangle 52">
            <a:extLst>
              <a:ext uri="{FF2B5EF4-FFF2-40B4-BE49-F238E27FC236}">
                <a16:creationId xmlns:a16="http://schemas.microsoft.com/office/drawing/2014/main" id="{B33F472C-EF4C-B6C0-D8CD-D13853A2C4E2}"/>
              </a:ext>
            </a:extLst>
          </p:cNvPr>
          <p:cNvSpPr/>
          <p:nvPr/>
        </p:nvSpPr>
        <p:spPr>
          <a:xfrm>
            <a:off x="4928491" y="6069865"/>
            <a:ext cx="663186" cy="168810"/>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a:lnSpc>
                <a:spcPct val="90000"/>
              </a:lnSpc>
            </a:pPr>
            <a:r>
              <a:rPr lang="en-US" sz="900" dirty="0">
                <a:latin typeface="Barlow" panose="00000500000000000000" pitchFamily="2" charset="0"/>
              </a:rPr>
              <a:t>VBUS=9V</a:t>
            </a:r>
          </a:p>
        </p:txBody>
      </p:sp>
      <p:grpSp>
        <p:nvGrpSpPr>
          <p:cNvPr id="54" name="Group 53">
            <a:extLst>
              <a:ext uri="{FF2B5EF4-FFF2-40B4-BE49-F238E27FC236}">
                <a16:creationId xmlns:a16="http://schemas.microsoft.com/office/drawing/2014/main" id="{79948374-10FF-A94C-AD89-BEC3F6CBE861}"/>
              </a:ext>
            </a:extLst>
          </p:cNvPr>
          <p:cNvGrpSpPr/>
          <p:nvPr/>
        </p:nvGrpSpPr>
        <p:grpSpPr>
          <a:xfrm>
            <a:off x="5948087" y="6466505"/>
            <a:ext cx="803769" cy="158089"/>
            <a:chOff x="6269098" y="2415278"/>
            <a:chExt cx="941185" cy="171266"/>
          </a:xfrm>
        </p:grpSpPr>
        <p:sp>
          <p:nvSpPr>
            <p:cNvPr id="62" name="Rectangle 61">
              <a:extLst>
                <a:ext uri="{FF2B5EF4-FFF2-40B4-BE49-F238E27FC236}">
                  <a16:creationId xmlns:a16="http://schemas.microsoft.com/office/drawing/2014/main" id="{49C36154-67B5-A6F3-8FC2-CDB7709E3A2A}"/>
                </a:ext>
              </a:extLst>
            </p:cNvPr>
            <p:cNvSpPr/>
            <p:nvPr/>
          </p:nvSpPr>
          <p:spPr>
            <a:xfrm>
              <a:off x="6269098" y="2415278"/>
              <a:ext cx="800523" cy="171266"/>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a:lnSpc>
                  <a:spcPct val="90000"/>
                </a:lnSpc>
              </a:pPr>
              <a:r>
                <a:rPr lang="en-US" sz="900" b="1" dirty="0">
                  <a:latin typeface="Barlow" panose="00000500000000000000" pitchFamily="2" charset="0"/>
                </a:rPr>
                <a:t>PD Charging</a:t>
              </a:r>
            </a:p>
          </p:txBody>
        </p:sp>
        <p:cxnSp>
          <p:nvCxnSpPr>
            <p:cNvPr id="63" name="Straight Connector 62">
              <a:extLst>
                <a:ext uri="{FF2B5EF4-FFF2-40B4-BE49-F238E27FC236}">
                  <a16:creationId xmlns:a16="http://schemas.microsoft.com/office/drawing/2014/main" id="{EBECFD1A-5D65-4915-B1DA-A99EE16DC0C9}"/>
                </a:ext>
              </a:extLst>
            </p:cNvPr>
            <p:cNvCxnSpPr>
              <a:cxnSpLocks/>
            </p:cNvCxnSpPr>
            <p:nvPr/>
          </p:nvCxnSpPr>
          <p:spPr>
            <a:xfrm>
              <a:off x="7077373" y="2519566"/>
              <a:ext cx="13291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55" name="TextBox 54">
            <a:extLst>
              <a:ext uri="{FF2B5EF4-FFF2-40B4-BE49-F238E27FC236}">
                <a16:creationId xmlns:a16="http://schemas.microsoft.com/office/drawing/2014/main" id="{4E1485F2-8052-9AAB-AD77-D72553A055E7}"/>
              </a:ext>
            </a:extLst>
          </p:cNvPr>
          <p:cNvSpPr txBox="1"/>
          <p:nvPr/>
        </p:nvSpPr>
        <p:spPr>
          <a:xfrm>
            <a:off x="5501301" y="4931356"/>
            <a:ext cx="1079123" cy="212777"/>
          </a:xfrm>
          <a:prstGeom prst="rect">
            <a:avLst/>
          </a:prstGeom>
          <a:noFill/>
        </p:spPr>
        <p:txBody>
          <a:bodyPr wrap="none" rtlCol="0">
            <a:spAutoFit/>
          </a:bodyPr>
          <a:lstStyle/>
          <a:p>
            <a:r>
              <a:rPr lang="en-US" sz="900" b="1" dirty="0">
                <a:solidFill>
                  <a:schemeClr val="accent6">
                    <a:lumMod val="50000"/>
                  </a:schemeClr>
                </a:solidFill>
                <a:latin typeface="Barlow" panose="00000500000000000000" pitchFamily="2" charset="0"/>
              </a:rPr>
              <a:t>USB PD NEGOTIATION</a:t>
            </a:r>
          </a:p>
        </p:txBody>
      </p:sp>
      <p:sp>
        <p:nvSpPr>
          <p:cNvPr id="56" name="Rectangle: Rounded Corners 55">
            <a:extLst>
              <a:ext uri="{FF2B5EF4-FFF2-40B4-BE49-F238E27FC236}">
                <a16:creationId xmlns:a16="http://schemas.microsoft.com/office/drawing/2014/main" id="{4C080AD9-3A72-6BDA-375F-24086BC6F2D8}"/>
              </a:ext>
            </a:extLst>
          </p:cNvPr>
          <p:cNvSpPr/>
          <p:nvPr/>
        </p:nvSpPr>
        <p:spPr>
          <a:xfrm>
            <a:off x="6993071" y="5925225"/>
            <a:ext cx="1600545" cy="842374"/>
          </a:xfrm>
          <a:prstGeom prst="roundRect">
            <a:avLst>
              <a:gd name="adj" fmla="val 18245"/>
            </a:avLst>
          </a:prstGeom>
          <a:solidFill>
            <a:schemeClr val="bg1">
              <a:lumMod val="95000"/>
            </a:schemeClr>
          </a:solidFill>
          <a:ln>
            <a:solidFill>
              <a:schemeClr val="tx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t"/>
          <a:lstStyle/>
          <a:p>
            <a:r>
              <a:rPr lang="en-US" sz="900" dirty="0">
                <a:solidFill>
                  <a:schemeClr val="tx1"/>
                </a:solidFill>
                <a:latin typeface="Barlow" panose="00000500000000000000" pitchFamily="2" charset="0"/>
              </a:rPr>
              <a:t>SINK PDOs stored in MAX77958</a:t>
            </a:r>
          </a:p>
          <a:p>
            <a:pPr marL="228604" indent="-228604">
              <a:lnSpc>
                <a:spcPct val="150000"/>
              </a:lnSpc>
              <a:buAutoNum type="arabicParenR"/>
            </a:pPr>
            <a:r>
              <a:rPr lang="en-US" sz="900" dirty="0">
                <a:solidFill>
                  <a:schemeClr val="tx1"/>
                </a:solidFill>
                <a:latin typeface="Barlow" panose="00000500000000000000" pitchFamily="2" charset="0"/>
              </a:rPr>
              <a:t>5V/3A FIXED PDO</a:t>
            </a:r>
          </a:p>
          <a:p>
            <a:pPr marL="228604" indent="-228604">
              <a:lnSpc>
                <a:spcPct val="150000"/>
              </a:lnSpc>
              <a:buAutoNum type="arabicParenR"/>
            </a:pPr>
            <a:r>
              <a:rPr lang="en-US" sz="900" dirty="0">
                <a:solidFill>
                  <a:schemeClr val="tx1"/>
                </a:solidFill>
                <a:latin typeface="Barlow" panose="00000500000000000000" pitchFamily="2" charset="0"/>
              </a:rPr>
              <a:t>9V/3A FIXED PDO</a:t>
            </a:r>
          </a:p>
          <a:p>
            <a:endParaRPr lang="en-US" sz="900" dirty="0">
              <a:solidFill>
                <a:schemeClr val="tx1"/>
              </a:solidFill>
              <a:latin typeface="Barlow" panose="00000500000000000000" pitchFamily="2" charset="0"/>
            </a:endParaRPr>
          </a:p>
          <a:p>
            <a:endParaRPr lang="en-US" sz="900" dirty="0">
              <a:solidFill>
                <a:schemeClr val="tx1"/>
              </a:solidFill>
              <a:latin typeface="Barlow" panose="00000500000000000000" pitchFamily="2" charset="0"/>
            </a:endParaRPr>
          </a:p>
        </p:txBody>
      </p:sp>
      <p:sp>
        <p:nvSpPr>
          <p:cNvPr id="58" name="Rectangle 57">
            <a:extLst>
              <a:ext uri="{FF2B5EF4-FFF2-40B4-BE49-F238E27FC236}">
                <a16:creationId xmlns:a16="http://schemas.microsoft.com/office/drawing/2014/main" id="{F6258D61-E6B9-8839-6F63-AE8FAFD1E6E8}"/>
              </a:ext>
            </a:extLst>
          </p:cNvPr>
          <p:cNvSpPr/>
          <p:nvPr/>
        </p:nvSpPr>
        <p:spPr>
          <a:xfrm>
            <a:off x="7340734" y="5260233"/>
            <a:ext cx="1099351" cy="199789"/>
          </a:xfrm>
          <a:prstGeom prst="rect">
            <a:avLst/>
          </a:pr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9" name="Rectangle 58">
            <a:extLst>
              <a:ext uri="{FF2B5EF4-FFF2-40B4-BE49-F238E27FC236}">
                <a16:creationId xmlns:a16="http://schemas.microsoft.com/office/drawing/2014/main" id="{C43E2F89-8904-3561-D6D5-95DD9E1A81DE}"/>
              </a:ext>
            </a:extLst>
          </p:cNvPr>
          <p:cNvSpPr/>
          <p:nvPr/>
        </p:nvSpPr>
        <p:spPr>
          <a:xfrm>
            <a:off x="7267172" y="6522906"/>
            <a:ext cx="1099351" cy="199789"/>
          </a:xfrm>
          <a:prstGeom prst="rect">
            <a:avLst/>
          </a:pr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60" name="Connector: Elbow 59">
            <a:extLst>
              <a:ext uri="{FF2B5EF4-FFF2-40B4-BE49-F238E27FC236}">
                <a16:creationId xmlns:a16="http://schemas.microsoft.com/office/drawing/2014/main" id="{C92BADA9-EF57-6113-AC67-1A7B804BC987}"/>
              </a:ext>
            </a:extLst>
          </p:cNvPr>
          <p:cNvCxnSpPr>
            <a:cxnSpLocks/>
            <a:stCxn id="59" idx="1"/>
            <a:endCxn id="49" idx="3"/>
          </p:cNvCxnSpPr>
          <p:nvPr/>
        </p:nvCxnSpPr>
        <p:spPr>
          <a:xfrm rot="10800000">
            <a:off x="6598374" y="5536959"/>
            <a:ext cx="668798" cy="1085843"/>
          </a:xfrm>
          <a:prstGeom prst="bentConnector3">
            <a:avLst>
              <a:gd name="adj1" fmla="val 50000"/>
            </a:avLst>
          </a:prstGeom>
          <a:ln w="12700">
            <a:prstDash val="dash"/>
            <a:headEnd type="none"/>
            <a:tailEnd type="triangle"/>
          </a:ln>
        </p:spPr>
        <p:style>
          <a:lnRef idx="3">
            <a:schemeClr val="dk1"/>
          </a:lnRef>
          <a:fillRef idx="0">
            <a:schemeClr val="dk1"/>
          </a:fillRef>
          <a:effectRef idx="2">
            <a:schemeClr val="dk1"/>
          </a:effectRef>
          <a:fontRef idx="minor">
            <a:schemeClr val="tx1"/>
          </a:fontRef>
        </p:style>
      </p:cxnSp>
      <p:cxnSp>
        <p:nvCxnSpPr>
          <p:cNvPr id="61" name="Connector: Elbow 60">
            <a:extLst>
              <a:ext uri="{FF2B5EF4-FFF2-40B4-BE49-F238E27FC236}">
                <a16:creationId xmlns:a16="http://schemas.microsoft.com/office/drawing/2014/main" id="{2131ABB3-C242-6F20-9432-5D07C9B371D5}"/>
              </a:ext>
            </a:extLst>
          </p:cNvPr>
          <p:cNvCxnSpPr>
            <a:cxnSpLocks/>
            <a:stCxn id="58" idx="3"/>
            <a:endCxn id="59" idx="3"/>
          </p:cNvCxnSpPr>
          <p:nvPr/>
        </p:nvCxnSpPr>
        <p:spPr>
          <a:xfrm flipH="1">
            <a:off x="8366523" y="5360128"/>
            <a:ext cx="73562" cy="1262673"/>
          </a:xfrm>
          <a:prstGeom prst="bentConnector3">
            <a:avLst>
              <a:gd name="adj1" fmla="val -296792"/>
            </a:avLst>
          </a:prstGeom>
          <a:ln w="12700">
            <a:prstDash val="dash"/>
            <a:tailEnd type="triangle"/>
          </a:ln>
        </p:spPr>
        <p:style>
          <a:lnRef idx="3">
            <a:schemeClr val="dk1"/>
          </a:lnRef>
          <a:fillRef idx="0">
            <a:schemeClr val="dk1"/>
          </a:fillRef>
          <a:effectRef idx="2">
            <a:schemeClr val="dk1"/>
          </a:effectRef>
          <a:fontRef idx="minor">
            <a:schemeClr val="tx1"/>
          </a:fontRef>
        </p:style>
      </p:cxnSp>
      <p:cxnSp>
        <p:nvCxnSpPr>
          <p:cNvPr id="302" name="Straight Connector 301">
            <a:extLst>
              <a:ext uri="{FF2B5EF4-FFF2-40B4-BE49-F238E27FC236}">
                <a16:creationId xmlns:a16="http://schemas.microsoft.com/office/drawing/2014/main" id="{9530D1CC-FEA4-3F2B-9F88-350791E5F989}"/>
              </a:ext>
            </a:extLst>
          </p:cNvPr>
          <p:cNvCxnSpPr>
            <a:cxnSpLocks/>
          </p:cNvCxnSpPr>
          <p:nvPr/>
        </p:nvCxnSpPr>
        <p:spPr>
          <a:xfrm>
            <a:off x="6856678" y="3614489"/>
            <a:ext cx="211168" cy="0"/>
          </a:xfrm>
          <a:prstGeom prst="line">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0393A629-F88F-B884-3377-29476898B5A6}"/>
              </a:ext>
            </a:extLst>
          </p:cNvPr>
          <p:cNvGrpSpPr/>
          <p:nvPr/>
        </p:nvGrpSpPr>
        <p:grpSpPr>
          <a:xfrm>
            <a:off x="3591932" y="3004596"/>
            <a:ext cx="1313997" cy="705258"/>
            <a:chOff x="3591932" y="3004596"/>
            <a:chExt cx="1313997" cy="705258"/>
          </a:xfrm>
        </p:grpSpPr>
        <p:sp>
          <p:nvSpPr>
            <p:cNvPr id="10" name="Rectangle 9">
              <a:extLst>
                <a:ext uri="{FF2B5EF4-FFF2-40B4-BE49-F238E27FC236}">
                  <a16:creationId xmlns:a16="http://schemas.microsoft.com/office/drawing/2014/main" id="{59914F1A-CC40-4538-668E-7F973201AB41}"/>
                </a:ext>
              </a:extLst>
            </p:cNvPr>
            <p:cNvSpPr/>
            <p:nvPr/>
          </p:nvSpPr>
          <p:spPr>
            <a:xfrm>
              <a:off x="3591932" y="3004596"/>
              <a:ext cx="808283" cy="705258"/>
            </a:xfrm>
            <a:prstGeom prst="rect">
              <a:avLst/>
            </a:prstGeom>
            <a:solidFill>
              <a:schemeClr val="accent4">
                <a:lumMod val="40000"/>
                <a:lumOff val="60000"/>
              </a:schemeClr>
            </a:solidFill>
            <a:ln w="22225">
              <a:solidFill>
                <a:schemeClr val="tx1"/>
              </a:solidFill>
            </a:ln>
            <a:scene3d>
              <a:camera prst="orthographicFront"/>
              <a:lightRig rig="threePt" dir="t"/>
            </a:scene3d>
            <a:sp3d>
              <a:bevelT w="165100" prst="coolSlant"/>
            </a:sp3d>
          </p:spPr>
          <p:style>
            <a:lnRef idx="2">
              <a:schemeClr val="accent2">
                <a:shade val="50000"/>
              </a:schemeClr>
            </a:lnRef>
            <a:fillRef idx="1">
              <a:schemeClr val="accent2"/>
            </a:fillRef>
            <a:effectRef idx="0">
              <a:schemeClr val="accent2"/>
            </a:effectRef>
            <a:fontRef idx="minor">
              <a:schemeClr val="lt1"/>
            </a:fontRef>
          </p:style>
          <p:txBody>
            <a:bodyPr wrap="none" lIns="0" tIns="0" rIns="0" bIns="0" rtlCol="0" anchor="ctr" anchorCtr="1"/>
            <a:lstStyle/>
            <a:p>
              <a:pPr algn="ctr"/>
              <a:endParaRPr lang="en-US" sz="900" b="1" dirty="0">
                <a:solidFill>
                  <a:schemeClr val="tx1"/>
                </a:solidFill>
              </a:endParaRPr>
            </a:p>
          </p:txBody>
        </p:sp>
        <p:sp>
          <p:nvSpPr>
            <p:cNvPr id="21" name="TextBox 20">
              <a:extLst>
                <a:ext uri="{FF2B5EF4-FFF2-40B4-BE49-F238E27FC236}">
                  <a16:creationId xmlns:a16="http://schemas.microsoft.com/office/drawing/2014/main" id="{C2729CEF-EBA0-110F-75D6-F3202E19C0FC}"/>
                </a:ext>
              </a:extLst>
            </p:cNvPr>
            <p:cNvSpPr txBox="1"/>
            <p:nvPr/>
          </p:nvSpPr>
          <p:spPr>
            <a:xfrm>
              <a:off x="3907584" y="3036664"/>
              <a:ext cx="583231" cy="160402"/>
            </a:xfrm>
            <a:prstGeom prst="rect">
              <a:avLst/>
            </a:prstGeom>
            <a:noFill/>
          </p:spPr>
          <p:txBody>
            <a:bodyPr wrap="none" lIns="0" tIns="0" rIns="0" bIns="0" rtlCol="0">
              <a:noAutofit/>
            </a:bodyPr>
            <a:lstStyle/>
            <a:p>
              <a:pPr defTabSz="552124">
                <a:spcBef>
                  <a:spcPts val="1208"/>
                </a:spcBef>
                <a:buClr>
                  <a:srgbClr val="1E4056"/>
                </a:buClr>
                <a:buSzPct val="75000"/>
              </a:pPr>
              <a:r>
                <a:rPr lang="en-US" sz="900" b="1" dirty="0">
                  <a:latin typeface="Barlow" panose="00000500000000000000" pitchFamily="2" charset="0"/>
                </a:rPr>
                <a:t>SOURCE</a:t>
              </a:r>
            </a:p>
          </p:txBody>
        </p:sp>
        <p:sp>
          <p:nvSpPr>
            <p:cNvPr id="22" name="Rectangle 55">
              <a:extLst>
                <a:ext uri="{FF2B5EF4-FFF2-40B4-BE49-F238E27FC236}">
                  <a16:creationId xmlns:a16="http://schemas.microsoft.com/office/drawing/2014/main" id="{7687EB67-3C8B-2913-6B5F-196441DB480E}"/>
                </a:ext>
              </a:extLst>
            </p:cNvPr>
            <p:cNvSpPr>
              <a:spLocks noChangeArrowheads="1"/>
            </p:cNvSpPr>
            <p:nvPr/>
          </p:nvSpPr>
          <p:spPr bwMode="auto">
            <a:xfrm>
              <a:off x="3789616" y="3377084"/>
              <a:ext cx="235936" cy="220321"/>
            </a:xfrm>
            <a:prstGeom prst="rect">
              <a:avLst/>
            </a:prstGeom>
            <a:noFill/>
            <a:ln w="9525">
              <a:noFill/>
              <a:miter lim="800000"/>
              <a:headEnd/>
              <a:tailEnd/>
            </a:ln>
          </p:spPr>
          <p:txBody>
            <a:bodyPr lIns="0" tIns="0" rIns="0" bIns="0" anchor="ctr" anchorCtr="1"/>
            <a:lstStyle/>
            <a:p>
              <a:pPr algn="ctr" eaLnBrk="0" hangingPunct="0"/>
              <a:r>
                <a:rPr lang="en-US" altLang="zh-CN" sz="900" dirty="0">
                  <a:solidFill>
                    <a:srgbClr val="000000"/>
                  </a:solidFill>
                  <a:latin typeface="Barlow" panose="00000500000000000000" pitchFamily="2" charset="0"/>
                  <a:ea typeface="SimSun" pitchFamily="2" charset="-122"/>
                </a:rPr>
                <a:t>Rp</a:t>
              </a:r>
            </a:p>
          </p:txBody>
        </p:sp>
        <p:sp>
          <p:nvSpPr>
            <p:cNvPr id="23" name="Freeform 7">
              <a:extLst>
                <a:ext uri="{FF2B5EF4-FFF2-40B4-BE49-F238E27FC236}">
                  <a16:creationId xmlns:a16="http://schemas.microsoft.com/office/drawing/2014/main" id="{71FDA657-C2D6-BA7A-9BED-F0AF3C66DFF4}"/>
                </a:ext>
              </a:extLst>
            </p:cNvPr>
            <p:cNvSpPr>
              <a:spLocks/>
            </p:cNvSpPr>
            <p:nvPr/>
          </p:nvSpPr>
          <p:spPr bwMode="auto">
            <a:xfrm rot="5400000">
              <a:off x="4031607" y="3303341"/>
              <a:ext cx="87898" cy="158963"/>
            </a:xfrm>
            <a:custGeom>
              <a:avLst/>
              <a:gdLst>
                <a:gd name="T0" fmla="*/ 2147483647 w 77"/>
                <a:gd name="T1" fmla="*/ 2147483647 h 194"/>
                <a:gd name="T2" fmla="*/ 0 w 77"/>
                <a:gd name="T3" fmla="*/ 2147483647 h 194"/>
                <a:gd name="T4" fmla="*/ 2147483647 w 77"/>
                <a:gd name="T5" fmla="*/ 2147483647 h 194"/>
                <a:gd name="T6" fmla="*/ 0 w 77"/>
                <a:gd name="T7" fmla="*/ 2147483647 h 194"/>
                <a:gd name="T8" fmla="*/ 2147483647 w 77"/>
                <a:gd name="T9" fmla="*/ 2147483647 h 194"/>
                <a:gd name="T10" fmla="*/ 0 w 77"/>
                <a:gd name="T11" fmla="*/ 2147483647 h 194"/>
                <a:gd name="T12" fmla="*/ 2147483647 w 77"/>
                <a:gd name="T13" fmla="*/ 2147483647 h 194"/>
                <a:gd name="T14" fmla="*/ 2147483647 w 77"/>
                <a:gd name="T15" fmla="*/ 0 h 194"/>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94"/>
                <a:gd name="T26" fmla="*/ 77 w 77"/>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94">
                  <a:moveTo>
                    <a:pt x="38" y="194"/>
                  </a:moveTo>
                  <a:lnTo>
                    <a:pt x="0" y="178"/>
                  </a:lnTo>
                  <a:lnTo>
                    <a:pt x="77" y="145"/>
                  </a:lnTo>
                  <a:lnTo>
                    <a:pt x="0" y="114"/>
                  </a:lnTo>
                  <a:lnTo>
                    <a:pt x="77" y="81"/>
                  </a:lnTo>
                  <a:lnTo>
                    <a:pt x="0" y="49"/>
                  </a:lnTo>
                  <a:lnTo>
                    <a:pt x="77" y="16"/>
                  </a:lnTo>
                  <a:lnTo>
                    <a:pt x="38" y="0"/>
                  </a:lnTo>
                </a:path>
              </a:pathLst>
            </a:custGeom>
            <a:noFill/>
            <a:ln w="12700">
              <a:solidFill>
                <a:srgbClr val="000000"/>
              </a:solidFill>
              <a:prstDash val="solid"/>
              <a:round/>
              <a:headEnd/>
              <a:tailEnd/>
            </a:ln>
          </p:spPr>
          <p:txBody>
            <a:bodyPr/>
            <a:lstStyle/>
            <a:p>
              <a:endParaRPr lang="en-US" sz="900"/>
            </a:p>
          </p:txBody>
        </p:sp>
        <p:sp>
          <p:nvSpPr>
            <p:cNvPr id="24" name="Freeform 7">
              <a:extLst>
                <a:ext uri="{FF2B5EF4-FFF2-40B4-BE49-F238E27FC236}">
                  <a16:creationId xmlns:a16="http://schemas.microsoft.com/office/drawing/2014/main" id="{7B338A44-D303-97FB-FEAF-1E679052B51F}"/>
                </a:ext>
              </a:extLst>
            </p:cNvPr>
            <p:cNvSpPr>
              <a:spLocks/>
            </p:cNvSpPr>
            <p:nvPr/>
          </p:nvSpPr>
          <p:spPr bwMode="auto">
            <a:xfrm rot="5400000">
              <a:off x="4050885" y="3516020"/>
              <a:ext cx="87898" cy="158838"/>
            </a:xfrm>
            <a:custGeom>
              <a:avLst/>
              <a:gdLst>
                <a:gd name="T0" fmla="*/ 2147483647 w 77"/>
                <a:gd name="T1" fmla="*/ 2147483647 h 194"/>
                <a:gd name="T2" fmla="*/ 0 w 77"/>
                <a:gd name="T3" fmla="*/ 2147483647 h 194"/>
                <a:gd name="T4" fmla="*/ 2147483647 w 77"/>
                <a:gd name="T5" fmla="*/ 2147483647 h 194"/>
                <a:gd name="T6" fmla="*/ 0 w 77"/>
                <a:gd name="T7" fmla="*/ 2147483647 h 194"/>
                <a:gd name="T8" fmla="*/ 2147483647 w 77"/>
                <a:gd name="T9" fmla="*/ 2147483647 h 194"/>
                <a:gd name="T10" fmla="*/ 0 w 77"/>
                <a:gd name="T11" fmla="*/ 2147483647 h 194"/>
                <a:gd name="T12" fmla="*/ 2147483647 w 77"/>
                <a:gd name="T13" fmla="*/ 2147483647 h 194"/>
                <a:gd name="T14" fmla="*/ 2147483647 w 77"/>
                <a:gd name="T15" fmla="*/ 0 h 194"/>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94"/>
                <a:gd name="T26" fmla="*/ 77 w 77"/>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94">
                  <a:moveTo>
                    <a:pt x="38" y="194"/>
                  </a:moveTo>
                  <a:lnTo>
                    <a:pt x="0" y="178"/>
                  </a:lnTo>
                  <a:lnTo>
                    <a:pt x="77" y="145"/>
                  </a:lnTo>
                  <a:lnTo>
                    <a:pt x="0" y="114"/>
                  </a:lnTo>
                  <a:lnTo>
                    <a:pt x="77" y="81"/>
                  </a:lnTo>
                  <a:lnTo>
                    <a:pt x="0" y="49"/>
                  </a:lnTo>
                  <a:lnTo>
                    <a:pt x="77" y="16"/>
                  </a:lnTo>
                  <a:lnTo>
                    <a:pt x="38" y="0"/>
                  </a:lnTo>
                </a:path>
              </a:pathLst>
            </a:custGeom>
            <a:noFill/>
            <a:ln w="12700">
              <a:solidFill>
                <a:srgbClr val="000000"/>
              </a:solidFill>
              <a:prstDash val="solid"/>
              <a:round/>
              <a:headEnd/>
              <a:tailEnd/>
            </a:ln>
          </p:spPr>
          <p:txBody>
            <a:bodyPr/>
            <a:lstStyle/>
            <a:p>
              <a:endParaRPr lang="en-US" sz="900"/>
            </a:p>
          </p:txBody>
        </p:sp>
        <p:cxnSp>
          <p:nvCxnSpPr>
            <p:cNvPr id="25" name="Straight Connector 495">
              <a:extLst>
                <a:ext uri="{FF2B5EF4-FFF2-40B4-BE49-F238E27FC236}">
                  <a16:creationId xmlns:a16="http://schemas.microsoft.com/office/drawing/2014/main" id="{2E6B0704-CA27-880A-5A9D-29A885A6274F}"/>
                </a:ext>
              </a:extLst>
            </p:cNvPr>
            <p:cNvCxnSpPr>
              <a:cxnSpLocks noChangeShapeType="1"/>
            </p:cNvCxnSpPr>
            <p:nvPr/>
          </p:nvCxnSpPr>
          <p:spPr bwMode="auto">
            <a:xfrm flipV="1">
              <a:off x="4174254" y="3603321"/>
              <a:ext cx="731675" cy="1643"/>
            </a:xfrm>
            <a:prstGeom prst="line">
              <a:avLst/>
            </a:prstGeom>
            <a:noFill/>
            <a:ln w="15875" algn="ctr">
              <a:solidFill>
                <a:srgbClr val="000000"/>
              </a:solidFill>
              <a:round/>
              <a:headEnd/>
              <a:tailEnd/>
            </a:ln>
          </p:spPr>
        </p:cxnSp>
        <p:cxnSp>
          <p:nvCxnSpPr>
            <p:cNvPr id="26" name="Straight Connector 495">
              <a:extLst>
                <a:ext uri="{FF2B5EF4-FFF2-40B4-BE49-F238E27FC236}">
                  <a16:creationId xmlns:a16="http://schemas.microsoft.com/office/drawing/2014/main" id="{5FDE44ED-09D5-CECC-7201-ACBA7723C95F}"/>
                </a:ext>
              </a:extLst>
            </p:cNvPr>
            <p:cNvCxnSpPr>
              <a:cxnSpLocks noChangeShapeType="1"/>
            </p:cNvCxnSpPr>
            <p:nvPr/>
          </p:nvCxnSpPr>
          <p:spPr bwMode="auto">
            <a:xfrm>
              <a:off x="4155038" y="3386317"/>
              <a:ext cx="137338" cy="0"/>
            </a:xfrm>
            <a:prstGeom prst="line">
              <a:avLst/>
            </a:prstGeom>
            <a:noFill/>
            <a:ln w="12700" algn="ctr">
              <a:solidFill>
                <a:srgbClr val="000000"/>
              </a:solidFill>
              <a:round/>
              <a:headEnd/>
              <a:tailEnd/>
            </a:ln>
          </p:spPr>
        </p:cxnSp>
        <p:cxnSp>
          <p:nvCxnSpPr>
            <p:cNvPr id="27" name="Shape 123">
              <a:extLst>
                <a:ext uri="{FF2B5EF4-FFF2-40B4-BE49-F238E27FC236}">
                  <a16:creationId xmlns:a16="http://schemas.microsoft.com/office/drawing/2014/main" id="{8881B9B9-0821-5EBC-171F-30A54976EBED}"/>
                </a:ext>
              </a:extLst>
            </p:cNvPr>
            <p:cNvCxnSpPr>
              <a:cxnSpLocks noChangeShapeType="1"/>
            </p:cNvCxnSpPr>
            <p:nvPr/>
          </p:nvCxnSpPr>
          <p:spPr bwMode="auto">
            <a:xfrm>
              <a:off x="3743709" y="3306749"/>
              <a:ext cx="271705" cy="292096"/>
            </a:xfrm>
            <a:prstGeom prst="bentConnector3">
              <a:avLst>
                <a:gd name="adj1" fmla="val -296"/>
              </a:avLst>
            </a:prstGeom>
            <a:noFill/>
            <a:ln w="12700" algn="ctr">
              <a:solidFill>
                <a:srgbClr val="000000"/>
              </a:solidFill>
              <a:round/>
              <a:headEnd/>
              <a:tailEnd/>
            </a:ln>
          </p:spPr>
        </p:cxnSp>
        <p:cxnSp>
          <p:nvCxnSpPr>
            <p:cNvPr id="28" name="Straight Connector 495">
              <a:extLst>
                <a:ext uri="{FF2B5EF4-FFF2-40B4-BE49-F238E27FC236}">
                  <a16:creationId xmlns:a16="http://schemas.microsoft.com/office/drawing/2014/main" id="{1B59A225-61E3-89E0-DBD5-B25CE0444672}"/>
                </a:ext>
              </a:extLst>
            </p:cNvPr>
            <p:cNvCxnSpPr>
              <a:cxnSpLocks noChangeShapeType="1"/>
            </p:cNvCxnSpPr>
            <p:nvPr/>
          </p:nvCxnSpPr>
          <p:spPr bwMode="auto">
            <a:xfrm>
              <a:off x="3740402" y="3382823"/>
              <a:ext cx="256180" cy="0"/>
            </a:xfrm>
            <a:prstGeom prst="line">
              <a:avLst/>
            </a:prstGeom>
            <a:noFill/>
            <a:ln w="12700" algn="ctr">
              <a:solidFill>
                <a:srgbClr val="000000"/>
              </a:solidFill>
              <a:round/>
              <a:headEnd/>
              <a:tailEnd/>
            </a:ln>
          </p:spPr>
        </p:cxnSp>
        <p:sp>
          <p:nvSpPr>
            <p:cNvPr id="29" name="Isosceles Triangle 28">
              <a:extLst>
                <a:ext uri="{FF2B5EF4-FFF2-40B4-BE49-F238E27FC236}">
                  <a16:creationId xmlns:a16="http://schemas.microsoft.com/office/drawing/2014/main" id="{328234A5-B57F-3754-8CAB-8432ED91FF45}"/>
                </a:ext>
              </a:extLst>
            </p:cNvPr>
            <p:cNvSpPr/>
            <p:nvPr/>
          </p:nvSpPr>
          <p:spPr>
            <a:xfrm>
              <a:off x="3704664" y="3252304"/>
              <a:ext cx="78090" cy="58335"/>
            </a:xfrm>
            <a:prstGeom prst="triangl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30" name="Rectangle 55">
              <a:extLst>
                <a:ext uri="{FF2B5EF4-FFF2-40B4-BE49-F238E27FC236}">
                  <a16:creationId xmlns:a16="http://schemas.microsoft.com/office/drawing/2014/main" id="{7286D111-980D-A7A8-EC1E-6DCEE5AC530F}"/>
                </a:ext>
              </a:extLst>
            </p:cNvPr>
            <p:cNvSpPr>
              <a:spLocks noChangeArrowheads="1"/>
            </p:cNvSpPr>
            <p:nvPr/>
          </p:nvSpPr>
          <p:spPr bwMode="auto">
            <a:xfrm>
              <a:off x="3782713" y="3144413"/>
              <a:ext cx="235936" cy="220321"/>
            </a:xfrm>
            <a:prstGeom prst="rect">
              <a:avLst/>
            </a:prstGeom>
            <a:noFill/>
            <a:ln w="9525">
              <a:noFill/>
              <a:miter lim="800000"/>
              <a:headEnd/>
              <a:tailEnd/>
            </a:ln>
          </p:spPr>
          <p:txBody>
            <a:bodyPr lIns="0" tIns="0" rIns="0" bIns="0" anchor="ctr" anchorCtr="1"/>
            <a:lstStyle/>
            <a:p>
              <a:pPr algn="ctr" eaLnBrk="0" hangingPunct="0"/>
              <a:r>
                <a:rPr lang="en-US" altLang="zh-CN" sz="900" dirty="0">
                  <a:solidFill>
                    <a:srgbClr val="000000"/>
                  </a:solidFill>
                  <a:latin typeface="Barlow" panose="00000500000000000000" pitchFamily="2" charset="0"/>
                  <a:ea typeface="SimSun" pitchFamily="2" charset="-122"/>
                </a:rPr>
                <a:t>Rp</a:t>
              </a:r>
            </a:p>
          </p:txBody>
        </p:sp>
        <p:grpSp>
          <p:nvGrpSpPr>
            <p:cNvPr id="33" name="Group 32">
              <a:extLst>
                <a:ext uri="{FF2B5EF4-FFF2-40B4-BE49-F238E27FC236}">
                  <a16:creationId xmlns:a16="http://schemas.microsoft.com/office/drawing/2014/main" id="{62EA3C08-00BC-FBF5-537C-B0EB037C2438}"/>
                </a:ext>
              </a:extLst>
            </p:cNvPr>
            <p:cNvGrpSpPr/>
            <p:nvPr/>
          </p:nvGrpSpPr>
          <p:grpSpPr>
            <a:xfrm>
              <a:off x="4441160" y="3182416"/>
              <a:ext cx="448779" cy="336611"/>
              <a:chOff x="5884218" y="2307722"/>
              <a:chExt cx="634572" cy="440356"/>
            </a:xfrm>
          </p:grpSpPr>
          <p:sp>
            <p:nvSpPr>
              <p:cNvPr id="94" name="Rectangle 55">
                <a:extLst>
                  <a:ext uri="{FF2B5EF4-FFF2-40B4-BE49-F238E27FC236}">
                    <a16:creationId xmlns:a16="http://schemas.microsoft.com/office/drawing/2014/main" id="{DC549324-B5FA-FBCD-1833-E3DABFB835C1}"/>
                  </a:ext>
                </a:extLst>
              </p:cNvPr>
              <p:cNvSpPr>
                <a:spLocks noChangeArrowheads="1"/>
              </p:cNvSpPr>
              <p:nvPr/>
            </p:nvSpPr>
            <p:spPr bwMode="auto">
              <a:xfrm>
                <a:off x="6037010" y="2307722"/>
                <a:ext cx="323650" cy="295138"/>
              </a:xfrm>
              <a:prstGeom prst="rect">
                <a:avLst/>
              </a:prstGeom>
              <a:noFill/>
              <a:ln w="9525">
                <a:noFill/>
                <a:miter lim="800000"/>
                <a:headEnd/>
                <a:tailEnd/>
              </a:ln>
            </p:spPr>
            <p:txBody>
              <a:bodyPr lIns="0" tIns="0" rIns="0" bIns="0" anchor="ctr" anchorCtr="1"/>
              <a:lstStyle/>
              <a:p>
                <a:pPr algn="ctr" eaLnBrk="0" hangingPunct="0"/>
                <a:r>
                  <a:rPr lang="en-US" altLang="zh-CN" sz="900" dirty="0">
                    <a:ea typeface="SimSun" pitchFamily="2" charset="-122"/>
                  </a:rPr>
                  <a:t>Ra</a:t>
                </a:r>
              </a:p>
            </p:txBody>
          </p:sp>
          <p:sp>
            <p:nvSpPr>
              <p:cNvPr id="95" name="Freeform 7">
                <a:extLst>
                  <a:ext uri="{FF2B5EF4-FFF2-40B4-BE49-F238E27FC236}">
                    <a16:creationId xmlns:a16="http://schemas.microsoft.com/office/drawing/2014/main" id="{B890C4D1-A2F8-6D8B-A111-AE3DCF9CC0BC}"/>
                  </a:ext>
                </a:extLst>
              </p:cNvPr>
              <p:cNvSpPr>
                <a:spLocks/>
              </p:cNvSpPr>
              <p:nvPr/>
            </p:nvSpPr>
            <p:spPr bwMode="auto">
              <a:xfrm rot="5400000">
                <a:off x="6133616" y="2466276"/>
                <a:ext cx="114989" cy="224596"/>
              </a:xfrm>
              <a:custGeom>
                <a:avLst/>
                <a:gdLst>
                  <a:gd name="T0" fmla="*/ 2147483647 w 77"/>
                  <a:gd name="T1" fmla="*/ 2147483647 h 194"/>
                  <a:gd name="T2" fmla="*/ 0 w 77"/>
                  <a:gd name="T3" fmla="*/ 2147483647 h 194"/>
                  <a:gd name="T4" fmla="*/ 2147483647 w 77"/>
                  <a:gd name="T5" fmla="*/ 2147483647 h 194"/>
                  <a:gd name="T6" fmla="*/ 0 w 77"/>
                  <a:gd name="T7" fmla="*/ 2147483647 h 194"/>
                  <a:gd name="T8" fmla="*/ 2147483647 w 77"/>
                  <a:gd name="T9" fmla="*/ 2147483647 h 194"/>
                  <a:gd name="T10" fmla="*/ 0 w 77"/>
                  <a:gd name="T11" fmla="*/ 2147483647 h 194"/>
                  <a:gd name="T12" fmla="*/ 2147483647 w 77"/>
                  <a:gd name="T13" fmla="*/ 2147483647 h 194"/>
                  <a:gd name="T14" fmla="*/ 2147483647 w 77"/>
                  <a:gd name="T15" fmla="*/ 0 h 194"/>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94"/>
                  <a:gd name="T26" fmla="*/ 77 w 77"/>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94">
                    <a:moveTo>
                      <a:pt x="38" y="194"/>
                    </a:moveTo>
                    <a:lnTo>
                      <a:pt x="0" y="178"/>
                    </a:lnTo>
                    <a:lnTo>
                      <a:pt x="77" y="145"/>
                    </a:lnTo>
                    <a:lnTo>
                      <a:pt x="0" y="114"/>
                    </a:lnTo>
                    <a:lnTo>
                      <a:pt x="77" y="81"/>
                    </a:lnTo>
                    <a:lnTo>
                      <a:pt x="0" y="49"/>
                    </a:lnTo>
                    <a:lnTo>
                      <a:pt x="77" y="16"/>
                    </a:lnTo>
                    <a:lnTo>
                      <a:pt x="38" y="0"/>
                    </a:lnTo>
                  </a:path>
                </a:pathLst>
              </a:custGeom>
              <a:noFill/>
              <a:ln w="12700">
                <a:solidFill>
                  <a:schemeClr val="tx1"/>
                </a:solidFill>
                <a:prstDash val="solid"/>
                <a:round/>
                <a:headEnd/>
                <a:tailEnd/>
              </a:ln>
            </p:spPr>
            <p:txBody>
              <a:bodyPr/>
              <a:lstStyle/>
              <a:p>
                <a:endParaRPr lang="en-US" sz="900" dirty="0"/>
              </a:p>
            </p:txBody>
          </p:sp>
          <p:sp>
            <p:nvSpPr>
              <p:cNvPr id="96" name="Isosceles Triangle 103">
                <a:extLst>
                  <a:ext uri="{FF2B5EF4-FFF2-40B4-BE49-F238E27FC236}">
                    <a16:creationId xmlns:a16="http://schemas.microsoft.com/office/drawing/2014/main" id="{8CD8B9C4-3A3A-010A-04B1-892AE8FC74C9}"/>
                  </a:ext>
                </a:extLst>
              </p:cNvPr>
              <p:cNvSpPr>
                <a:spLocks noChangeArrowheads="1"/>
              </p:cNvSpPr>
              <p:nvPr/>
            </p:nvSpPr>
            <p:spPr bwMode="auto">
              <a:xfrm flipV="1">
                <a:off x="6353972" y="2671419"/>
                <a:ext cx="164818" cy="76659"/>
              </a:xfrm>
              <a:prstGeom prst="triangle">
                <a:avLst>
                  <a:gd name="adj" fmla="val 50000"/>
                </a:avLst>
              </a:prstGeom>
              <a:noFill/>
              <a:ln w="12700" algn="ctr">
                <a:solidFill>
                  <a:schemeClr val="tx1"/>
                </a:solidFill>
                <a:round/>
                <a:headEnd/>
                <a:tailEnd/>
              </a:ln>
            </p:spPr>
            <p:txBody>
              <a:bodyPr/>
              <a:lstStyle/>
              <a:p>
                <a:pPr algn="ctr">
                  <a:buClr>
                    <a:schemeClr val="tx1"/>
                  </a:buClr>
                </a:pPr>
                <a:endParaRPr lang="en-US" sz="900"/>
              </a:p>
            </p:txBody>
          </p:sp>
          <p:cxnSp>
            <p:nvCxnSpPr>
              <p:cNvPr id="97" name="Straight Connector 495">
                <a:extLst>
                  <a:ext uri="{FF2B5EF4-FFF2-40B4-BE49-F238E27FC236}">
                    <a16:creationId xmlns:a16="http://schemas.microsoft.com/office/drawing/2014/main" id="{9445D2DB-1517-6BAE-89F3-21278145BBE8}"/>
                  </a:ext>
                </a:extLst>
              </p:cNvPr>
              <p:cNvCxnSpPr>
                <a:cxnSpLocks noChangeShapeType="1"/>
                <a:endCxn id="96" idx="3"/>
              </p:cNvCxnSpPr>
              <p:nvPr/>
            </p:nvCxnSpPr>
            <p:spPr bwMode="auto">
              <a:xfrm>
                <a:off x="6436382" y="2598207"/>
                <a:ext cx="0" cy="73213"/>
              </a:xfrm>
              <a:prstGeom prst="line">
                <a:avLst/>
              </a:prstGeom>
              <a:noFill/>
              <a:ln w="12700" algn="ctr">
                <a:solidFill>
                  <a:schemeClr val="tx1"/>
                </a:solidFill>
                <a:round/>
                <a:headEnd/>
                <a:tailEnd/>
              </a:ln>
            </p:spPr>
          </p:cxnSp>
          <p:cxnSp>
            <p:nvCxnSpPr>
              <p:cNvPr id="98" name="Straight Connector 495">
                <a:extLst>
                  <a:ext uri="{FF2B5EF4-FFF2-40B4-BE49-F238E27FC236}">
                    <a16:creationId xmlns:a16="http://schemas.microsoft.com/office/drawing/2014/main" id="{977DEE9E-B7EA-346B-2EC0-308684B3541B}"/>
                  </a:ext>
                </a:extLst>
              </p:cNvPr>
              <p:cNvCxnSpPr>
                <a:cxnSpLocks noChangeShapeType="1"/>
              </p:cNvCxnSpPr>
              <p:nvPr/>
            </p:nvCxnSpPr>
            <p:spPr bwMode="auto">
              <a:xfrm>
                <a:off x="6299599" y="2594022"/>
                <a:ext cx="141269" cy="0"/>
              </a:xfrm>
              <a:prstGeom prst="line">
                <a:avLst/>
              </a:prstGeom>
              <a:noFill/>
              <a:ln w="12700" algn="ctr">
                <a:solidFill>
                  <a:schemeClr val="tx1"/>
                </a:solidFill>
                <a:round/>
                <a:headEnd/>
                <a:tailEnd/>
              </a:ln>
            </p:spPr>
          </p:cxnSp>
          <p:cxnSp>
            <p:nvCxnSpPr>
              <p:cNvPr id="99" name="Straight Connector 495">
                <a:extLst>
                  <a:ext uri="{FF2B5EF4-FFF2-40B4-BE49-F238E27FC236}">
                    <a16:creationId xmlns:a16="http://schemas.microsoft.com/office/drawing/2014/main" id="{930A4612-7783-7899-0CA5-169814EF70F9}"/>
                  </a:ext>
                </a:extLst>
              </p:cNvPr>
              <p:cNvCxnSpPr>
                <a:cxnSpLocks noChangeShapeType="1"/>
              </p:cNvCxnSpPr>
              <p:nvPr/>
            </p:nvCxnSpPr>
            <p:spPr bwMode="auto">
              <a:xfrm>
                <a:off x="5884218" y="2576452"/>
                <a:ext cx="200823" cy="0"/>
              </a:xfrm>
              <a:prstGeom prst="line">
                <a:avLst/>
              </a:prstGeom>
              <a:noFill/>
              <a:ln w="12700" algn="ctr">
                <a:solidFill>
                  <a:schemeClr val="tx1"/>
                </a:solidFill>
                <a:round/>
                <a:headEnd/>
                <a:tailEnd/>
              </a:ln>
            </p:spPr>
          </p:cxnSp>
        </p:grpSp>
        <p:sp>
          <p:nvSpPr>
            <p:cNvPr id="42" name="Rectangle 41">
              <a:extLst>
                <a:ext uri="{FF2B5EF4-FFF2-40B4-BE49-F238E27FC236}">
                  <a16:creationId xmlns:a16="http://schemas.microsoft.com/office/drawing/2014/main" id="{E598B754-3AD5-3A79-16B1-C3B14B9D19AE}"/>
                </a:ext>
              </a:extLst>
            </p:cNvPr>
            <p:cNvSpPr/>
            <p:nvPr/>
          </p:nvSpPr>
          <p:spPr>
            <a:xfrm>
              <a:off x="4049969" y="3236207"/>
              <a:ext cx="409625" cy="154799"/>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nSpc>
                  <a:spcPct val="90000"/>
                </a:lnSpc>
              </a:pPr>
              <a:r>
                <a:rPr lang="en-US" sz="900" dirty="0">
                  <a:latin typeface="Barlow" panose="00000500000000000000" pitchFamily="2" charset="0"/>
                </a:rPr>
                <a:t>CC1</a:t>
              </a:r>
            </a:p>
          </p:txBody>
        </p:sp>
        <p:sp>
          <p:nvSpPr>
            <p:cNvPr id="43" name="Rectangle 42">
              <a:extLst>
                <a:ext uri="{FF2B5EF4-FFF2-40B4-BE49-F238E27FC236}">
                  <a16:creationId xmlns:a16="http://schemas.microsoft.com/office/drawing/2014/main" id="{7A7C4FBF-9F85-65AF-0217-7ABCFC4D7FB3}"/>
                </a:ext>
              </a:extLst>
            </p:cNvPr>
            <p:cNvSpPr/>
            <p:nvPr/>
          </p:nvSpPr>
          <p:spPr>
            <a:xfrm>
              <a:off x="4051033" y="3448522"/>
              <a:ext cx="409625" cy="154799"/>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nSpc>
                  <a:spcPct val="90000"/>
                </a:lnSpc>
              </a:pPr>
              <a:r>
                <a:rPr lang="en-US" sz="900" dirty="0">
                  <a:latin typeface="Barlow" panose="00000500000000000000" pitchFamily="2" charset="0"/>
                </a:rPr>
                <a:t>CC2</a:t>
              </a:r>
            </a:p>
          </p:txBody>
        </p:sp>
        <p:cxnSp>
          <p:nvCxnSpPr>
            <p:cNvPr id="304" name="Straight Connector 303">
              <a:extLst>
                <a:ext uri="{FF2B5EF4-FFF2-40B4-BE49-F238E27FC236}">
                  <a16:creationId xmlns:a16="http://schemas.microsoft.com/office/drawing/2014/main" id="{D9DA5E3E-8E37-6C52-AE0F-2D43A5C1D483}"/>
                </a:ext>
              </a:extLst>
            </p:cNvPr>
            <p:cNvCxnSpPr>
              <a:cxnSpLocks/>
            </p:cNvCxnSpPr>
            <p:nvPr/>
          </p:nvCxnSpPr>
          <p:spPr>
            <a:xfrm>
              <a:off x="4233356" y="3382015"/>
              <a:ext cx="306601" cy="4302"/>
            </a:xfrm>
            <a:prstGeom prst="line">
              <a:avLst/>
            </a:prstGeom>
            <a:ln w="13970">
              <a:solidFill>
                <a:schemeClr val="tx1"/>
              </a:solidFill>
            </a:ln>
            <a:effectLst/>
          </p:spPr>
          <p:style>
            <a:lnRef idx="2">
              <a:schemeClr val="accent1"/>
            </a:lnRef>
            <a:fillRef idx="0">
              <a:schemeClr val="accent1"/>
            </a:fillRef>
            <a:effectRef idx="1">
              <a:schemeClr val="accent1"/>
            </a:effectRef>
            <a:fontRef idx="minor">
              <a:schemeClr val="tx1"/>
            </a:fontRef>
          </p:style>
        </p:cxnSp>
      </p:grpSp>
      <p:pic>
        <p:nvPicPr>
          <p:cNvPr id="41" name="Picture 40">
            <a:extLst>
              <a:ext uri="{FF2B5EF4-FFF2-40B4-BE49-F238E27FC236}">
                <a16:creationId xmlns:a16="http://schemas.microsoft.com/office/drawing/2014/main" id="{FA5C39EE-3892-3DCB-862B-845F6746480C}"/>
              </a:ext>
            </a:extLst>
          </p:cNvPr>
          <p:cNvPicPr>
            <a:picLocks noChangeAspect="1"/>
          </p:cNvPicPr>
          <p:nvPr/>
        </p:nvPicPr>
        <p:blipFill>
          <a:blip r:embed="rId8"/>
          <a:stretch>
            <a:fillRect/>
          </a:stretch>
        </p:blipFill>
        <p:spPr>
          <a:xfrm>
            <a:off x="1672430" y="3631572"/>
            <a:ext cx="1444829" cy="1293229"/>
          </a:xfrm>
          <a:prstGeom prst="rect">
            <a:avLst/>
          </a:prstGeom>
        </p:spPr>
      </p:pic>
      <p:sp>
        <p:nvSpPr>
          <p:cNvPr id="112" name="Date Placeholder 3">
            <a:extLst>
              <a:ext uri="{FF2B5EF4-FFF2-40B4-BE49-F238E27FC236}">
                <a16:creationId xmlns:a16="http://schemas.microsoft.com/office/drawing/2014/main" id="{07455A96-9F93-DABF-F130-58B1421E0DA4}"/>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113" name="Thought Bubble: Cloud 112">
            <a:extLst>
              <a:ext uri="{FF2B5EF4-FFF2-40B4-BE49-F238E27FC236}">
                <a16:creationId xmlns:a16="http://schemas.microsoft.com/office/drawing/2014/main" id="{E6E394FD-2BD7-9432-9BF8-3E69814306E6}"/>
              </a:ext>
            </a:extLst>
          </p:cNvPr>
          <p:cNvSpPr/>
          <p:nvPr/>
        </p:nvSpPr>
        <p:spPr>
          <a:xfrm>
            <a:off x="8863443" y="5174596"/>
            <a:ext cx="2116991" cy="1175951"/>
          </a:xfrm>
          <a:prstGeom prst="cloudCallout">
            <a:avLst>
              <a:gd name="adj1" fmla="val -62843"/>
              <a:gd name="adj2" fmla="val 58797"/>
            </a:avLst>
          </a:prstGeom>
          <a:solidFill>
            <a:schemeClr val="bg1"/>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r>
              <a:rPr lang="en-US" b="1" dirty="0">
                <a:solidFill>
                  <a:srgbClr val="000000"/>
                </a:solidFill>
                <a:latin typeface="Barlow" pitchFamily="2" charset="77"/>
                <a:cs typeface="Arial" panose="020B0604020202020204" pitchFamily="34" charset="0"/>
              </a:rPr>
              <a:t>How do we Set Sink PDOs?</a:t>
            </a:r>
          </a:p>
        </p:txBody>
      </p:sp>
      <p:cxnSp>
        <p:nvCxnSpPr>
          <p:cNvPr id="118" name="Straight Connector 117">
            <a:extLst>
              <a:ext uri="{FF2B5EF4-FFF2-40B4-BE49-F238E27FC236}">
                <a16:creationId xmlns:a16="http://schemas.microsoft.com/office/drawing/2014/main" id="{3771C0FD-C420-02A7-D478-48DB5A515530}"/>
              </a:ext>
            </a:extLst>
          </p:cNvPr>
          <p:cNvCxnSpPr/>
          <p:nvPr/>
        </p:nvCxnSpPr>
        <p:spPr>
          <a:xfrm>
            <a:off x="2019300" y="2712703"/>
            <a:ext cx="330200"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4" name="Picture 113" descr="A grey cell phone with a black background&#10;&#10;Description automatically generated">
            <a:extLst>
              <a:ext uri="{FF2B5EF4-FFF2-40B4-BE49-F238E27FC236}">
                <a16:creationId xmlns:a16="http://schemas.microsoft.com/office/drawing/2014/main" id="{BD045F5F-0E1F-9102-AFB9-D2D45E441BB6}"/>
              </a:ext>
            </a:extLst>
          </p:cNvPr>
          <p:cNvPicPr>
            <a:picLocks noChangeAspect="1"/>
          </p:cNvPicPr>
          <p:nvPr/>
        </p:nvPicPr>
        <p:blipFill rotWithShape="1">
          <a:blip r:embed="rId9">
            <a:extLst>
              <a:ext uri="{28A0092B-C50C-407E-A947-70E740481C1C}">
                <a14:useLocalDpi xmlns:a14="http://schemas.microsoft.com/office/drawing/2010/main" val="0"/>
              </a:ext>
            </a:extLst>
          </a:blip>
          <a:srcRect l="255" t="-2687" r="-255" b="6560"/>
          <a:stretch/>
        </p:blipFill>
        <p:spPr>
          <a:xfrm>
            <a:off x="9021572" y="3250885"/>
            <a:ext cx="1800731" cy="1808355"/>
          </a:xfrm>
          <a:prstGeom prst="rect">
            <a:avLst/>
          </a:prstGeom>
        </p:spPr>
      </p:pic>
    </p:spTree>
    <p:extLst>
      <p:ext uri="{BB962C8B-B14F-4D97-AF65-F5344CB8AC3E}">
        <p14:creationId xmlns:p14="http://schemas.microsoft.com/office/powerpoint/2010/main" val="1821433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fade">
                                      <p:cBhvr>
                                        <p:cTn id="7" dur="500"/>
                                        <p:tgtEl>
                                          <p:spTgt spid="292"/>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fade">
                                      <p:cBhvr>
                                        <p:cTn id="13" dur="500"/>
                                        <p:tgtEl>
                                          <p:spTgt spid="77"/>
                                        </p:tgtEl>
                                      </p:cBhvr>
                                    </p:animEffect>
                                  </p:childTnLst>
                                </p:cTn>
                              </p:par>
                              <p:par>
                                <p:cTn id="14" presetID="10" presetClass="entr" presetSubtype="0" fill="hold" nodeType="withEffect">
                                  <p:stCondLst>
                                    <p:cond delay="0"/>
                                  </p:stCondLst>
                                  <p:childTnLst>
                                    <p:set>
                                      <p:cBhvr>
                                        <p:cTn id="15" dur="1" fill="hold">
                                          <p:stCondLst>
                                            <p:cond delay="0"/>
                                          </p:stCondLst>
                                        </p:cTn>
                                        <p:tgtEl>
                                          <p:spTgt spid="118"/>
                                        </p:tgtEl>
                                        <p:attrNameLst>
                                          <p:attrName>style.visibility</p:attrName>
                                        </p:attrNameLst>
                                      </p:cBhvr>
                                      <p:to>
                                        <p:strVal val="visible"/>
                                      </p:to>
                                    </p:set>
                                    <p:animEffect transition="in" filter="fade">
                                      <p:cBhvr>
                                        <p:cTn id="16" dur="500"/>
                                        <p:tgtEl>
                                          <p:spTgt spid="118"/>
                                        </p:tgtEl>
                                      </p:cBhvr>
                                    </p:animEffect>
                                  </p:childTnLst>
                                </p:cTn>
                              </p:par>
                              <p:par>
                                <p:cTn id="17" presetID="10" presetClass="entr" presetSubtype="0" fill="hold" nodeType="withEffect">
                                  <p:stCondLst>
                                    <p:cond delay="0"/>
                                  </p:stCondLst>
                                  <p:childTnLst>
                                    <p:set>
                                      <p:cBhvr>
                                        <p:cTn id="18" dur="1" fill="hold">
                                          <p:stCondLst>
                                            <p:cond delay="0"/>
                                          </p:stCondLst>
                                        </p:cTn>
                                        <p:tgtEl>
                                          <p:spTgt spid="76"/>
                                        </p:tgtEl>
                                        <p:attrNameLst>
                                          <p:attrName>style.visibility</p:attrName>
                                        </p:attrNameLst>
                                      </p:cBhvr>
                                      <p:to>
                                        <p:strVal val="visible"/>
                                      </p:to>
                                    </p:set>
                                    <p:animEffect transition="in" filter="fade">
                                      <p:cBhvr>
                                        <p:cTn id="19" dur="500"/>
                                        <p:tgtEl>
                                          <p:spTgt spid="76"/>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nodeType="withEffect">
                                  <p:stCondLst>
                                    <p:cond delay="0"/>
                                  </p:stCondLst>
                                  <p:childTnLst>
                                    <p:set>
                                      <p:cBhvr>
                                        <p:cTn id="35" dur="1" fill="hold">
                                          <p:stCondLst>
                                            <p:cond delay="0"/>
                                          </p:stCondLst>
                                        </p:cTn>
                                        <p:tgtEl>
                                          <p:spTgt spid="106"/>
                                        </p:tgtEl>
                                        <p:attrNameLst>
                                          <p:attrName>style.visibility</p:attrName>
                                        </p:attrNameLst>
                                      </p:cBhvr>
                                      <p:to>
                                        <p:strVal val="visible"/>
                                      </p:to>
                                    </p:set>
                                    <p:animEffect transition="in" filter="fade">
                                      <p:cBhvr>
                                        <p:cTn id="36" dur="500"/>
                                        <p:tgtEl>
                                          <p:spTgt spid="106"/>
                                        </p:tgtEl>
                                      </p:cBhvr>
                                    </p:animEffect>
                                  </p:childTnLst>
                                </p:cTn>
                              </p:par>
                              <p:par>
                                <p:cTn id="37" presetID="10" presetClass="entr" presetSubtype="0" fill="hold" nodeType="withEffect">
                                  <p:stCondLst>
                                    <p:cond delay="0"/>
                                  </p:stCondLst>
                                  <p:childTnLst>
                                    <p:set>
                                      <p:cBhvr>
                                        <p:cTn id="38" dur="1" fill="hold">
                                          <p:stCondLst>
                                            <p:cond delay="0"/>
                                          </p:stCondLst>
                                        </p:cTn>
                                        <p:tgtEl>
                                          <p:spTgt spid="114"/>
                                        </p:tgtEl>
                                        <p:attrNameLst>
                                          <p:attrName>style.visibility</p:attrName>
                                        </p:attrNameLst>
                                      </p:cBhvr>
                                      <p:to>
                                        <p:strVal val="visible"/>
                                      </p:to>
                                    </p:set>
                                    <p:animEffect transition="in" filter="fade">
                                      <p:cBhvr>
                                        <p:cTn id="39" dur="500"/>
                                        <p:tgtEl>
                                          <p:spTgt spid="1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par>
                                <p:cTn id="43" presetID="10" presetClass="entr" presetSubtype="0" fill="hold" nodeType="withEffect">
                                  <p:stCondLst>
                                    <p:cond delay="0"/>
                                  </p:stCondLst>
                                  <p:childTnLst>
                                    <p:set>
                                      <p:cBhvr>
                                        <p:cTn id="44" dur="1" fill="hold">
                                          <p:stCondLst>
                                            <p:cond delay="0"/>
                                          </p:stCondLst>
                                        </p:cTn>
                                        <p:tgtEl>
                                          <p:spTgt spid="302"/>
                                        </p:tgtEl>
                                        <p:attrNameLst>
                                          <p:attrName>style.visibility</p:attrName>
                                        </p:attrNameLst>
                                      </p:cBhvr>
                                      <p:to>
                                        <p:strVal val="visible"/>
                                      </p:to>
                                    </p:set>
                                    <p:animEffect transition="in" filter="fade">
                                      <p:cBhvr>
                                        <p:cTn id="45" dur="500"/>
                                        <p:tgtEl>
                                          <p:spTgt spid="30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500"/>
                                        <p:tgtEl>
                                          <p:spTgt spid="4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500"/>
                                        <p:tgtEl>
                                          <p:spTgt spid="44"/>
                                        </p:tgtEl>
                                      </p:cBhvr>
                                    </p:animEffect>
                                  </p:childTnLst>
                                </p:cTn>
                              </p:par>
                              <p:par>
                                <p:cTn id="54" presetID="10"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par>
                                <p:cTn id="57" presetID="10" presetClass="entr" presetSubtype="0" fill="hold" nodeType="with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500"/>
                                        <p:tgtEl>
                                          <p:spTgt spid="45"/>
                                        </p:tgtEl>
                                      </p:cBhvr>
                                    </p:animEffect>
                                  </p:childTnLst>
                                </p:cTn>
                              </p:par>
                              <p:par>
                                <p:cTn id="60" presetID="10" presetClass="entr" presetSubtype="0" fill="hold"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500"/>
                                        <p:tgtEl>
                                          <p:spTgt spid="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500"/>
                                        <p:tgtEl>
                                          <p:spTgt spid="4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500"/>
                                        <p:tgtEl>
                                          <p:spTgt spid="11"/>
                                        </p:tgtEl>
                                      </p:cBhvr>
                                    </p:animEffect>
                                  </p:childTnLst>
                                </p:cTn>
                              </p:par>
                              <p:par>
                                <p:cTn id="81" presetID="10" presetClass="entr" presetSubtype="0"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7"/>
                                        </p:tgtEl>
                                        <p:attrNameLst>
                                          <p:attrName>style.visibility</p:attrName>
                                        </p:attrNameLst>
                                      </p:cBhvr>
                                      <p:to>
                                        <p:strVal val="visible"/>
                                      </p:to>
                                    </p:set>
                                    <p:animEffect transition="in" filter="fade">
                                      <p:cBhvr>
                                        <p:cTn id="86" dur="500"/>
                                        <p:tgtEl>
                                          <p:spTgt spid="5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6"/>
                                        </p:tgtEl>
                                        <p:attrNameLst>
                                          <p:attrName>style.visibility</p:attrName>
                                        </p:attrNameLst>
                                      </p:cBhvr>
                                      <p:to>
                                        <p:strVal val="visible"/>
                                      </p:to>
                                    </p:set>
                                    <p:animEffect transition="in" filter="fade">
                                      <p:cBhvr>
                                        <p:cTn id="91" dur="500"/>
                                        <p:tgtEl>
                                          <p:spTgt spid="56"/>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8"/>
                                        </p:tgtEl>
                                        <p:attrNameLst>
                                          <p:attrName>style.visibility</p:attrName>
                                        </p:attrNameLst>
                                      </p:cBhvr>
                                      <p:to>
                                        <p:strVal val="visible"/>
                                      </p:to>
                                    </p:set>
                                    <p:animEffect transition="in" filter="fade">
                                      <p:cBhvr>
                                        <p:cTn id="96" dur="500"/>
                                        <p:tgtEl>
                                          <p:spTgt spid="5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9"/>
                                        </p:tgtEl>
                                        <p:attrNameLst>
                                          <p:attrName>style.visibility</p:attrName>
                                        </p:attrNameLst>
                                      </p:cBhvr>
                                      <p:to>
                                        <p:strVal val="visible"/>
                                      </p:to>
                                    </p:set>
                                    <p:animEffect transition="in" filter="fade">
                                      <p:cBhvr>
                                        <p:cTn id="99" dur="500"/>
                                        <p:tgtEl>
                                          <p:spTgt spid="59"/>
                                        </p:tgtEl>
                                      </p:cBhvr>
                                    </p:animEffect>
                                  </p:childTnLst>
                                </p:cTn>
                              </p:par>
                              <p:par>
                                <p:cTn id="100" presetID="10" presetClass="entr" presetSubtype="0" fill="hold" nodeType="with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fade">
                                      <p:cBhvr>
                                        <p:cTn id="102" dur="500"/>
                                        <p:tgtEl>
                                          <p:spTgt spid="6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60"/>
                                        </p:tgtEl>
                                        <p:attrNameLst>
                                          <p:attrName>style.visibility</p:attrName>
                                        </p:attrNameLst>
                                      </p:cBhvr>
                                      <p:to>
                                        <p:strVal val="visible"/>
                                      </p:to>
                                    </p:set>
                                    <p:animEffect transition="in" filter="fade">
                                      <p:cBhvr>
                                        <p:cTn id="107" dur="500"/>
                                        <p:tgtEl>
                                          <p:spTgt spid="60"/>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500"/>
                                        <p:tgtEl>
                                          <p:spTgt spid="4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500"/>
                                        <p:tgtEl>
                                          <p:spTgt spid="4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500"/>
                                        <p:tgtEl>
                                          <p:spTgt spid="5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fade">
                                      <p:cBhvr>
                                        <p:cTn id="123" dur="500"/>
                                        <p:tgtEl>
                                          <p:spTgt spid="53"/>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500"/>
                                        <p:tgtEl>
                                          <p:spTgt spid="51"/>
                                        </p:tgtEl>
                                      </p:cBhvr>
                                    </p:animEffect>
                                  </p:childTnLst>
                                </p:cTn>
                              </p:par>
                              <p:par>
                                <p:cTn id="127" presetID="10" presetClass="entr" presetSubtype="0" fill="hold"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500"/>
                                        <p:tgtEl>
                                          <p:spTgt spid="54"/>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55"/>
                                        </p:tgtEl>
                                        <p:attrNameLst>
                                          <p:attrName>style.visibility</p:attrName>
                                        </p:attrNameLst>
                                      </p:cBhvr>
                                      <p:to>
                                        <p:strVal val="visible"/>
                                      </p:to>
                                    </p:set>
                                    <p:animEffect transition="in" filter="fade">
                                      <p:cBhvr>
                                        <p:cTn id="134" dur="500"/>
                                        <p:tgtEl>
                                          <p:spTgt spid="5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8"/>
                                        </p:tgtEl>
                                        <p:attrNameLst>
                                          <p:attrName>style.visibility</p:attrName>
                                        </p:attrNameLst>
                                      </p:cBhvr>
                                      <p:to>
                                        <p:strVal val="visible"/>
                                      </p:to>
                                    </p:set>
                                    <p:animEffect transition="in" filter="fade">
                                      <p:cBhvr>
                                        <p:cTn id="137" dur="500"/>
                                        <p:tgtEl>
                                          <p:spTgt spid="8"/>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113"/>
                                        </p:tgtEl>
                                        <p:attrNameLst>
                                          <p:attrName>style.visibility</p:attrName>
                                        </p:attrNameLst>
                                      </p:cBhvr>
                                      <p:to>
                                        <p:strVal val="visible"/>
                                      </p:to>
                                    </p:set>
                                    <p:animEffect transition="in" filter="fade">
                                      <p:cBhvr>
                                        <p:cTn id="142"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8" grpId="0" animBg="1"/>
      <p:bldP spid="9" grpId="0" animBg="1"/>
      <p:bldP spid="11" grpId="0" animBg="1"/>
      <p:bldP spid="31" grpId="0"/>
      <p:bldP spid="35" grpId="0"/>
      <p:bldP spid="44" grpId="0"/>
      <p:bldP spid="46" grpId="0"/>
      <p:bldP spid="48" grpId="0" animBg="1"/>
      <p:bldP spid="49" grpId="0" animBg="1"/>
      <p:bldP spid="51" grpId="0" animBg="1"/>
      <p:bldP spid="53" grpId="0"/>
      <p:bldP spid="55" grpId="0"/>
      <p:bldP spid="56" grpId="0" animBg="1"/>
      <p:bldP spid="58" grpId="0" animBg="1"/>
      <p:bldP spid="59" grpId="0" animBg="1"/>
      <p:bldP spid="1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MAX77958 – Setting Initial Plug in Voltage (Sink PDOs)   </a:t>
            </a:r>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13</a:t>
            </a:fld>
            <a:endParaRPr lang="en-US" dirty="0"/>
          </a:p>
        </p:txBody>
      </p:sp>
      <p:grpSp>
        <p:nvGrpSpPr>
          <p:cNvPr id="12" name="Group 11">
            <a:extLst>
              <a:ext uri="{FF2B5EF4-FFF2-40B4-BE49-F238E27FC236}">
                <a16:creationId xmlns:a16="http://schemas.microsoft.com/office/drawing/2014/main" id="{E68CC6F2-0711-00C3-FA2C-BB4836765671}"/>
              </a:ext>
            </a:extLst>
          </p:cNvPr>
          <p:cNvGrpSpPr/>
          <p:nvPr/>
        </p:nvGrpSpPr>
        <p:grpSpPr>
          <a:xfrm>
            <a:off x="219920" y="2195071"/>
            <a:ext cx="4071924" cy="3253619"/>
            <a:chOff x="219920" y="2195071"/>
            <a:chExt cx="4071924" cy="3253619"/>
          </a:xfrm>
        </p:grpSpPr>
        <p:sp>
          <p:nvSpPr>
            <p:cNvPr id="3" name="Rectangle: Rounded Corners 2">
              <a:extLst>
                <a:ext uri="{FF2B5EF4-FFF2-40B4-BE49-F238E27FC236}">
                  <a16:creationId xmlns:a16="http://schemas.microsoft.com/office/drawing/2014/main" id="{43204908-BF0E-870F-0EA9-E1E4824B32B0}"/>
                </a:ext>
              </a:extLst>
            </p:cNvPr>
            <p:cNvSpPr/>
            <p:nvPr/>
          </p:nvSpPr>
          <p:spPr>
            <a:xfrm>
              <a:off x="219920" y="2195071"/>
              <a:ext cx="4071924" cy="3253619"/>
            </a:xfrm>
            <a:prstGeom prst="roundRect">
              <a:avLst>
                <a:gd name="adj" fmla="val 12153"/>
              </a:avLst>
            </a:prstGeom>
            <a:noFill/>
            <a:ln w="34925"/>
          </p:spPr>
          <p:style>
            <a:lnRef idx="2">
              <a:schemeClr val="accent2"/>
            </a:lnRef>
            <a:fillRef idx="1">
              <a:schemeClr val="lt1"/>
            </a:fillRef>
            <a:effectRef idx="0">
              <a:schemeClr val="accent2"/>
            </a:effectRef>
            <a:fontRef idx="minor">
              <a:schemeClr val="dk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10" name="Group 9">
              <a:extLst>
                <a:ext uri="{FF2B5EF4-FFF2-40B4-BE49-F238E27FC236}">
                  <a16:creationId xmlns:a16="http://schemas.microsoft.com/office/drawing/2014/main" id="{59E8837E-AE6A-41DA-626F-7FB569F07340}"/>
                </a:ext>
              </a:extLst>
            </p:cNvPr>
            <p:cNvGrpSpPr/>
            <p:nvPr/>
          </p:nvGrpSpPr>
          <p:grpSpPr>
            <a:xfrm>
              <a:off x="417601" y="2426314"/>
              <a:ext cx="3751170" cy="2501422"/>
              <a:chOff x="1087633" y="1926459"/>
              <a:chExt cx="3751170" cy="2592055"/>
            </a:xfrm>
          </p:grpSpPr>
          <p:sp>
            <p:nvSpPr>
              <p:cNvPr id="139" name="Rectangle 138">
                <a:extLst>
                  <a:ext uri="{FF2B5EF4-FFF2-40B4-BE49-F238E27FC236}">
                    <a16:creationId xmlns:a16="http://schemas.microsoft.com/office/drawing/2014/main" id="{06846515-0066-4B8B-4180-DB86749AE8CA}"/>
                  </a:ext>
                </a:extLst>
              </p:cNvPr>
              <p:cNvSpPr/>
              <p:nvPr/>
            </p:nvSpPr>
            <p:spPr>
              <a:xfrm>
                <a:off x="1087633" y="1926459"/>
                <a:ext cx="3751170" cy="2592055"/>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9" name="Rectangle: Rounded Corners 8">
                <a:extLst>
                  <a:ext uri="{FF2B5EF4-FFF2-40B4-BE49-F238E27FC236}">
                    <a16:creationId xmlns:a16="http://schemas.microsoft.com/office/drawing/2014/main" id="{B2F04408-3D5C-63E1-5659-91493341536C}"/>
                  </a:ext>
                </a:extLst>
              </p:cNvPr>
              <p:cNvSpPr/>
              <p:nvPr/>
            </p:nvSpPr>
            <p:spPr>
              <a:xfrm>
                <a:off x="1263635" y="2315325"/>
                <a:ext cx="3243051" cy="2005209"/>
              </a:xfrm>
              <a:prstGeom prst="roundRect">
                <a:avLst>
                  <a:gd name="adj" fmla="val 8291"/>
                </a:avLst>
              </a:prstGeom>
              <a:solidFill>
                <a:schemeClr val="tx2"/>
              </a:solidFill>
              <a:ln>
                <a:solidFill>
                  <a:schemeClr val="accent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79" name="TextBox 178">
                <a:extLst>
                  <a:ext uri="{FF2B5EF4-FFF2-40B4-BE49-F238E27FC236}">
                    <a16:creationId xmlns:a16="http://schemas.microsoft.com/office/drawing/2014/main" id="{55ADDA1D-FE4B-251A-A0A7-B83556392EDB}"/>
                  </a:ext>
                </a:extLst>
              </p:cNvPr>
              <p:cNvSpPr txBox="1"/>
              <p:nvPr/>
            </p:nvSpPr>
            <p:spPr>
              <a:xfrm>
                <a:off x="1263635" y="2020446"/>
                <a:ext cx="1855027" cy="285548"/>
              </a:xfrm>
              <a:prstGeom prst="rect">
                <a:avLst/>
              </a:prstGeom>
            </p:spPr>
            <p:txBody>
              <a:bodyPr vert="horz" wrap="none" lIns="0" tIns="0" rIns="0" bIns="0" rtlCol="0" anchor="t" anchorCtr="0">
                <a:normAutofit/>
              </a:bodyPr>
              <a:lstStyle/>
              <a:p>
                <a:pPr algn="l"/>
                <a:r>
                  <a:rPr lang="en-US" sz="1600" b="1" dirty="0">
                    <a:solidFill>
                      <a:schemeClr val="accent2">
                        <a:lumMod val="75000"/>
                      </a:schemeClr>
                    </a:solidFill>
                  </a:rPr>
                  <a:t>MAX77958 Memory</a:t>
                </a:r>
              </a:p>
            </p:txBody>
          </p:sp>
          <p:sp>
            <p:nvSpPr>
              <p:cNvPr id="182" name="TextBox 181">
                <a:extLst>
                  <a:ext uri="{FF2B5EF4-FFF2-40B4-BE49-F238E27FC236}">
                    <a16:creationId xmlns:a16="http://schemas.microsoft.com/office/drawing/2014/main" id="{A14B12AA-623A-FCE9-6E2B-B619C80EE686}"/>
                  </a:ext>
                </a:extLst>
              </p:cNvPr>
              <p:cNvSpPr txBox="1"/>
              <p:nvPr/>
            </p:nvSpPr>
            <p:spPr>
              <a:xfrm>
                <a:off x="1478242" y="2343572"/>
                <a:ext cx="909388" cy="281675"/>
              </a:xfrm>
              <a:prstGeom prst="rect">
                <a:avLst/>
              </a:prstGeom>
            </p:spPr>
            <p:txBody>
              <a:bodyPr vert="horz" wrap="none" lIns="0" tIns="0" rIns="0" bIns="0" rtlCol="0" anchor="t" anchorCtr="0">
                <a:normAutofit/>
              </a:bodyPr>
              <a:lstStyle/>
              <a:p>
                <a:pPr algn="l"/>
                <a:r>
                  <a:rPr lang="en-US" sz="1600" b="1" dirty="0">
                    <a:solidFill>
                      <a:schemeClr val="bg1"/>
                    </a:solidFill>
                  </a:rPr>
                  <a:t>RAM /MTP</a:t>
                </a:r>
              </a:p>
            </p:txBody>
          </p:sp>
          <p:sp>
            <p:nvSpPr>
              <p:cNvPr id="184" name="Rectangle: Rounded Corners 183">
                <a:extLst>
                  <a:ext uri="{FF2B5EF4-FFF2-40B4-BE49-F238E27FC236}">
                    <a16:creationId xmlns:a16="http://schemas.microsoft.com/office/drawing/2014/main" id="{AA2EA8F9-8346-3F03-1E49-99E205DA9EB1}"/>
                  </a:ext>
                </a:extLst>
              </p:cNvPr>
              <p:cNvSpPr/>
              <p:nvPr/>
            </p:nvSpPr>
            <p:spPr>
              <a:xfrm>
                <a:off x="1506995" y="2615489"/>
                <a:ext cx="2504820" cy="1484876"/>
              </a:xfrm>
              <a:prstGeom prst="roundRect">
                <a:avLst>
                  <a:gd name="adj" fmla="val 10034"/>
                </a:avLst>
              </a:prstGeom>
              <a:solidFill>
                <a:schemeClr val="bg1">
                  <a:lumMod val="95000"/>
                </a:schemeClr>
              </a:solidFill>
              <a:ln>
                <a:solidFill>
                  <a:schemeClr val="tx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t"/>
              <a:lstStyle/>
              <a:p>
                <a:endParaRPr lang="en-US" sz="900" b="1" dirty="0">
                  <a:solidFill>
                    <a:schemeClr val="tx1"/>
                  </a:solidFill>
                  <a:latin typeface="Barlow" panose="00000500000000000000" pitchFamily="2" charset="0"/>
                </a:endParaRPr>
              </a:p>
            </p:txBody>
          </p:sp>
          <p:cxnSp>
            <p:nvCxnSpPr>
              <p:cNvPr id="186" name="Straight Connector 185">
                <a:extLst>
                  <a:ext uri="{FF2B5EF4-FFF2-40B4-BE49-F238E27FC236}">
                    <a16:creationId xmlns:a16="http://schemas.microsoft.com/office/drawing/2014/main" id="{C86A7432-3B24-8FC9-F030-F22214045F01}"/>
                  </a:ext>
                </a:extLst>
              </p:cNvPr>
              <p:cNvCxnSpPr/>
              <p:nvPr/>
            </p:nvCxnSpPr>
            <p:spPr>
              <a:xfrm>
                <a:off x="2205479" y="3323157"/>
                <a:ext cx="0" cy="501520"/>
              </a:xfrm>
              <a:prstGeom prst="line">
                <a:avLst/>
              </a:prstGeom>
              <a:ln w="15875">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87" name="TextBox 186">
                <a:extLst>
                  <a:ext uri="{FF2B5EF4-FFF2-40B4-BE49-F238E27FC236}">
                    <a16:creationId xmlns:a16="http://schemas.microsoft.com/office/drawing/2014/main" id="{DF95ACDA-33AC-BB8A-9015-23944F223562}"/>
                  </a:ext>
                </a:extLst>
              </p:cNvPr>
              <p:cNvSpPr txBox="1"/>
              <p:nvPr/>
            </p:nvSpPr>
            <p:spPr>
              <a:xfrm>
                <a:off x="1768486" y="2850746"/>
                <a:ext cx="909388" cy="744728"/>
              </a:xfrm>
              <a:prstGeom prst="rect">
                <a:avLst/>
              </a:prstGeom>
            </p:spPr>
            <p:txBody>
              <a:bodyPr vert="horz" wrap="none" lIns="0" tIns="0" rIns="0" bIns="0" rtlCol="0" anchor="t" anchorCtr="0">
                <a:normAutofit fontScale="92500" lnSpcReduction="20000"/>
              </a:bodyPr>
              <a:lstStyle/>
              <a:p>
                <a:endParaRPr lang="en-US" sz="1200" b="1" dirty="0">
                  <a:solidFill>
                    <a:schemeClr val="tx1"/>
                  </a:solidFill>
                  <a:latin typeface="Barlow" panose="00000500000000000000" pitchFamily="2" charset="0"/>
                </a:endParaRPr>
              </a:p>
              <a:p>
                <a:r>
                  <a:rPr lang="en-US" sz="1200" b="1" dirty="0">
                    <a:solidFill>
                      <a:schemeClr val="tx1"/>
                    </a:solidFill>
                    <a:latin typeface="Barlow" panose="00000500000000000000" pitchFamily="2" charset="0"/>
                  </a:rPr>
                  <a:t>5V/3A FPDO</a:t>
                </a:r>
              </a:p>
              <a:p>
                <a:pPr>
                  <a:lnSpc>
                    <a:spcPct val="150000"/>
                  </a:lnSpc>
                </a:pPr>
                <a:r>
                  <a:rPr lang="en-US" sz="1200" b="1" dirty="0">
                    <a:solidFill>
                      <a:schemeClr val="tx1"/>
                    </a:solidFill>
                    <a:latin typeface="Barlow" panose="00000500000000000000" pitchFamily="2" charset="0"/>
                  </a:rPr>
                  <a:t>9V/3A FPDO</a:t>
                </a:r>
              </a:p>
              <a:p>
                <a:pPr>
                  <a:lnSpc>
                    <a:spcPct val="150000"/>
                  </a:lnSpc>
                </a:pPr>
                <a:r>
                  <a:rPr lang="en-US" sz="1200" b="1" dirty="0">
                    <a:solidFill>
                      <a:schemeClr val="tx1"/>
                    </a:solidFill>
                    <a:latin typeface="Barlow" panose="00000500000000000000" pitchFamily="2" charset="0"/>
                  </a:rPr>
                  <a:t>                 </a:t>
                </a:r>
              </a:p>
              <a:p>
                <a:endParaRPr lang="en-US" sz="1200" b="1" dirty="0">
                  <a:solidFill>
                    <a:schemeClr val="tx1"/>
                  </a:solidFill>
                  <a:latin typeface="Barlow" panose="00000500000000000000" pitchFamily="2" charset="0"/>
                </a:endParaRPr>
              </a:p>
              <a:p>
                <a:endParaRPr lang="en-US" sz="1200" b="1" dirty="0">
                  <a:solidFill>
                    <a:schemeClr val="tx1"/>
                  </a:solidFill>
                  <a:latin typeface="Barlow" panose="00000500000000000000" pitchFamily="2" charset="0"/>
                </a:endParaRPr>
              </a:p>
            </p:txBody>
          </p:sp>
          <p:sp>
            <p:nvSpPr>
              <p:cNvPr id="188" name="TextBox 187">
                <a:extLst>
                  <a:ext uri="{FF2B5EF4-FFF2-40B4-BE49-F238E27FC236}">
                    <a16:creationId xmlns:a16="http://schemas.microsoft.com/office/drawing/2014/main" id="{83372C8D-BF6F-0CC8-E2FD-69B8E63035E9}"/>
                  </a:ext>
                </a:extLst>
              </p:cNvPr>
              <p:cNvSpPr txBox="1"/>
              <p:nvPr/>
            </p:nvSpPr>
            <p:spPr>
              <a:xfrm>
                <a:off x="1768486" y="3867048"/>
                <a:ext cx="909388" cy="228824"/>
              </a:xfrm>
              <a:prstGeom prst="rect">
                <a:avLst/>
              </a:prstGeom>
            </p:spPr>
            <p:txBody>
              <a:bodyPr vert="horz" wrap="none" lIns="0" tIns="0" rIns="0" bIns="0" rtlCol="0" anchor="t" anchorCtr="0">
                <a:normAutofit/>
              </a:bodyPr>
              <a:lstStyle/>
              <a:p>
                <a:r>
                  <a:rPr lang="en-US" sz="1200" b="1" dirty="0">
                    <a:solidFill>
                      <a:schemeClr val="tx1"/>
                    </a:solidFill>
                    <a:latin typeface="Barlow" panose="00000500000000000000" pitchFamily="2" charset="0"/>
                  </a:rPr>
                  <a:t>Up to 5 PDOs</a:t>
                </a:r>
              </a:p>
            </p:txBody>
          </p:sp>
          <p:sp>
            <p:nvSpPr>
              <p:cNvPr id="189" name="TextBox 188">
                <a:extLst>
                  <a:ext uri="{FF2B5EF4-FFF2-40B4-BE49-F238E27FC236}">
                    <a16:creationId xmlns:a16="http://schemas.microsoft.com/office/drawing/2014/main" id="{8251C244-2B2C-3854-7091-107414A01435}"/>
                  </a:ext>
                </a:extLst>
              </p:cNvPr>
              <p:cNvSpPr txBox="1"/>
              <p:nvPr/>
            </p:nvSpPr>
            <p:spPr>
              <a:xfrm>
                <a:off x="1750785" y="2697980"/>
                <a:ext cx="909388" cy="744727"/>
              </a:xfrm>
              <a:prstGeom prst="rect">
                <a:avLst/>
              </a:prstGeom>
            </p:spPr>
            <p:txBody>
              <a:bodyPr vert="horz" wrap="none" lIns="0" tIns="0" rIns="0" bIns="0" rtlCol="0" anchor="t" anchorCtr="0">
                <a:normAutofit/>
              </a:bodyPr>
              <a:lstStyle/>
              <a:p>
                <a:pPr algn="l"/>
                <a:r>
                  <a:rPr lang="en-US" sz="1400" b="1" dirty="0">
                    <a:solidFill>
                      <a:schemeClr val="accent2">
                        <a:lumMod val="75000"/>
                      </a:schemeClr>
                    </a:solidFill>
                  </a:rPr>
                  <a:t>Command: Set SNK PDOs</a:t>
                </a:r>
              </a:p>
            </p:txBody>
          </p:sp>
        </p:grpSp>
        <p:sp>
          <p:nvSpPr>
            <p:cNvPr id="7" name="TextBox 6">
              <a:extLst>
                <a:ext uri="{FF2B5EF4-FFF2-40B4-BE49-F238E27FC236}">
                  <a16:creationId xmlns:a16="http://schemas.microsoft.com/office/drawing/2014/main" id="{D0E376A3-F560-C4A5-D2BE-AD064CE153EC}"/>
                </a:ext>
              </a:extLst>
            </p:cNvPr>
            <p:cNvSpPr txBox="1"/>
            <p:nvPr/>
          </p:nvSpPr>
          <p:spPr>
            <a:xfrm>
              <a:off x="1028524" y="4978380"/>
              <a:ext cx="2735900" cy="329954"/>
            </a:xfrm>
            <a:prstGeom prst="rect">
              <a:avLst/>
            </a:prstGeom>
            <a:noFill/>
          </p:spPr>
          <p:txBody>
            <a:bodyPr wrap="square">
              <a:spAutoFit/>
            </a:bodyPr>
            <a:lstStyle/>
            <a:p>
              <a:pPr algn="l"/>
              <a:r>
                <a:rPr lang="en-US" sz="1600" b="1" dirty="0">
                  <a:solidFill>
                    <a:schemeClr val="accent2">
                      <a:lumMod val="75000"/>
                    </a:schemeClr>
                  </a:solidFill>
                </a:rPr>
                <a:t>MAX77958 (IN SINK SIDE)</a:t>
              </a:r>
            </a:p>
          </p:txBody>
        </p:sp>
      </p:grpSp>
      <p:sp>
        <p:nvSpPr>
          <p:cNvPr id="13" name="Arrow: Down 12">
            <a:extLst>
              <a:ext uri="{FF2B5EF4-FFF2-40B4-BE49-F238E27FC236}">
                <a16:creationId xmlns:a16="http://schemas.microsoft.com/office/drawing/2014/main" id="{C7ADA389-E4E3-53F8-2EA6-65BD20FE84D8}"/>
              </a:ext>
            </a:extLst>
          </p:cNvPr>
          <p:cNvSpPr/>
          <p:nvPr/>
        </p:nvSpPr>
        <p:spPr>
          <a:xfrm rot="5400000">
            <a:off x="4305533" y="3385262"/>
            <a:ext cx="560380" cy="587829"/>
          </a:xfrm>
          <a:prstGeom prst="downArrow">
            <a:avLst/>
          </a:prstGeom>
          <a:solidFill>
            <a:srgbClr val="E2E3E6"/>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21" name="Group 20">
            <a:extLst>
              <a:ext uri="{FF2B5EF4-FFF2-40B4-BE49-F238E27FC236}">
                <a16:creationId xmlns:a16="http://schemas.microsoft.com/office/drawing/2014/main" id="{6F7473FE-BBE8-4316-8B0F-72B853D43F58}"/>
              </a:ext>
            </a:extLst>
          </p:cNvPr>
          <p:cNvGrpSpPr/>
          <p:nvPr/>
        </p:nvGrpSpPr>
        <p:grpSpPr>
          <a:xfrm>
            <a:off x="4879638" y="1143994"/>
            <a:ext cx="7092442" cy="5370653"/>
            <a:chOff x="4879638" y="902825"/>
            <a:chExt cx="7092442" cy="5370653"/>
          </a:xfrm>
        </p:grpSpPr>
        <p:sp>
          <p:nvSpPr>
            <p:cNvPr id="8" name="Rectangle: Rounded Corners 7">
              <a:extLst>
                <a:ext uri="{FF2B5EF4-FFF2-40B4-BE49-F238E27FC236}">
                  <a16:creationId xmlns:a16="http://schemas.microsoft.com/office/drawing/2014/main" id="{C819857A-72AC-E428-EEFC-0090C54EE177}"/>
                </a:ext>
              </a:extLst>
            </p:cNvPr>
            <p:cNvSpPr/>
            <p:nvPr/>
          </p:nvSpPr>
          <p:spPr>
            <a:xfrm>
              <a:off x="4879638" y="902825"/>
              <a:ext cx="7092442" cy="5370653"/>
            </a:xfrm>
            <a:prstGeom prst="roundRect">
              <a:avLst>
                <a:gd name="adj" fmla="val 12208"/>
              </a:avLst>
            </a:prstGeom>
            <a:ln w="34925"/>
          </p:spPr>
          <p:style>
            <a:lnRef idx="2">
              <a:schemeClr val="accent2"/>
            </a:lnRef>
            <a:fillRef idx="1">
              <a:schemeClr val="lt1"/>
            </a:fillRef>
            <a:effectRef idx="0">
              <a:schemeClr val="accent2"/>
            </a:effectRef>
            <a:fontRef idx="minor">
              <a:schemeClr val="dk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17" name="Group 16">
              <a:extLst>
                <a:ext uri="{FF2B5EF4-FFF2-40B4-BE49-F238E27FC236}">
                  <a16:creationId xmlns:a16="http://schemas.microsoft.com/office/drawing/2014/main" id="{4BD18838-CA70-5B61-B6C6-0C23C2E56A9E}"/>
                </a:ext>
              </a:extLst>
            </p:cNvPr>
            <p:cNvGrpSpPr/>
            <p:nvPr/>
          </p:nvGrpSpPr>
          <p:grpSpPr>
            <a:xfrm>
              <a:off x="5028083" y="1168141"/>
              <a:ext cx="5152239" cy="4502026"/>
              <a:chOff x="6180878" y="738288"/>
              <a:chExt cx="4803855" cy="4457850"/>
            </a:xfrm>
            <a:solidFill>
              <a:srgbClr val="E2E3E6"/>
            </a:solidFill>
          </p:grpSpPr>
          <p:sp>
            <p:nvSpPr>
              <p:cNvPr id="14" name="Rectangle: Rounded Corners 13">
                <a:extLst>
                  <a:ext uri="{FF2B5EF4-FFF2-40B4-BE49-F238E27FC236}">
                    <a16:creationId xmlns:a16="http://schemas.microsoft.com/office/drawing/2014/main" id="{7DDA4D6A-FFFB-2D18-5B38-C0F7AABA50C6}"/>
                  </a:ext>
                </a:extLst>
              </p:cNvPr>
              <p:cNvSpPr/>
              <p:nvPr/>
            </p:nvSpPr>
            <p:spPr>
              <a:xfrm>
                <a:off x="6180878" y="738288"/>
                <a:ext cx="4803855" cy="4457850"/>
              </a:xfrm>
              <a:prstGeom prst="roundRect">
                <a:avLst>
                  <a:gd name="adj" fmla="val 10034"/>
                </a:avLst>
              </a:prstGeom>
              <a:grpFill/>
              <a:ln w="38100">
                <a:solidFill>
                  <a:srgbClr val="00B0F0"/>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t"/>
              <a:lstStyle/>
              <a:p>
                <a:endParaRPr lang="en-US" sz="900" b="1" dirty="0">
                  <a:solidFill>
                    <a:schemeClr val="tx1"/>
                  </a:solidFill>
                  <a:latin typeface="Barlow" panose="00000500000000000000" pitchFamily="2" charset="0"/>
                </a:endParaRPr>
              </a:p>
            </p:txBody>
          </p:sp>
          <p:pic>
            <p:nvPicPr>
              <p:cNvPr id="159" name="Picture 158">
                <a:extLst>
                  <a:ext uri="{FF2B5EF4-FFF2-40B4-BE49-F238E27FC236}">
                    <a16:creationId xmlns:a16="http://schemas.microsoft.com/office/drawing/2014/main" id="{AB2BCA58-6615-B4F9-77C4-518BA5B33CB8}"/>
                  </a:ext>
                </a:extLst>
              </p:cNvPr>
              <p:cNvPicPr>
                <a:picLocks noChangeAspect="1"/>
              </p:cNvPicPr>
              <p:nvPr/>
            </p:nvPicPr>
            <p:blipFill>
              <a:blip r:embed="rId3"/>
              <a:stretch>
                <a:fillRect/>
              </a:stretch>
            </p:blipFill>
            <p:spPr>
              <a:xfrm>
                <a:off x="6443609" y="931375"/>
                <a:ext cx="4182347" cy="3885570"/>
              </a:xfrm>
              <a:prstGeom prst="rect">
                <a:avLst/>
              </a:prstGeom>
              <a:grpFill/>
              <a:effectLst/>
            </p:spPr>
          </p:pic>
          <p:sp>
            <p:nvSpPr>
              <p:cNvPr id="16" name="TextBox 15">
                <a:extLst>
                  <a:ext uri="{FF2B5EF4-FFF2-40B4-BE49-F238E27FC236}">
                    <a16:creationId xmlns:a16="http://schemas.microsoft.com/office/drawing/2014/main" id="{21CF7BD5-8364-4360-0E94-CDF2F6CBCB7C}"/>
                  </a:ext>
                </a:extLst>
              </p:cNvPr>
              <p:cNvSpPr txBox="1"/>
              <p:nvPr/>
            </p:nvSpPr>
            <p:spPr>
              <a:xfrm>
                <a:off x="7376392" y="4798271"/>
                <a:ext cx="2550904" cy="338554"/>
              </a:xfrm>
              <a:prstGeom prst="rect">
                <a:avLst/>
              </a:prstGeom>
              <a:noFill/>
            </p:spPr>
            <p:txBody>
              <a:bodyPr wrap="square">
                <a:spAutoFit/>
              </a:bodyPr>
              <a:lstStyle/>
              <a:p>
                <a:pPr algn="l"/>
                <a:r>
                  <a:rPr lang="en-US" sz="1600" b="1" dirty="0">
                    <a:solidFill>
                      <a:schemeClr val="accent2">
                        <a:lumMod val="75000"/>
                      </a:schemeClr>
                    </a:solidFill>
                  </a:rPr>
                  <a:t>Command: SNK_PDO_SET</a:t>
                </a:r>
              </a:p>
            </p:txBody>
          </p:sp>
        </p:grpSp>
        <p:grpSp>
          <p:nvGrpSpPr>
            <p:cNvPr id="27" name="Group 26">
              <a:extLst>
                <a:ext uri="{FF2B5EF4-FFF2-40B4-BE49-F238E27FC236}">
                  <a16:creationId xmlns:a16="http://schemas.microsoft.com/office/drawing/2014/main" id="{6C06C366-C9C9-F344-EC9F-8EC327EA4592}"/>
                </a:ext>
              </a:extLst>
            </p:cNvPr>
            <p:cNvGrpSpPr/>
            <p:nvPr/>
          </p:nvGrpSpPr>
          <p:grpSpPr>
            <a:xfrm>
              <a:off x="9532253" y="1796101"/>
              <a:ext cx="2266514" cy="3157864"/>
              <a:chOff x="10409465" y="1886000"/>
              <a:chExt cx="1680935" cy="2422519"/>
            </a:xfrm>
            <a:effectLst>
              <a:outerShdw blurRad="63500" sx="102000" sy="102000" algn="ctr" rotWithShape="0">
                <a:prstClr val="black">
                  <a:alpha val="40000"/>
                </a:prstClr>
              </a:outerShdw>
            </a:effectLst>
          </p:grpSpPr>
          <p:sp>
            <p:nvSpPr>
              <p:cNvPr id="26" name="Rectangle 25">
                <a:extLst>
                  <a:ext uri="{FF2B5EF4-FFF2-40B4-BE49-F238E27FC236}">
                    <a16:creationId xmlns:a16="http://schemas.microsoft.com/office/drawing/2014/main" id="{097AAFA6-6161-2F6D-D00C-B99C8D21E9A2}"/>
                  </a:ext>
                </a:extLst>
              </p:cNvPr>
              <p:cNvSpPr/>
              <p:nvPr/>
            </p:nvSpPr>
            <p:spPr>
              <a:xfrm>
                <a:off x="10409465" y="1886000"/>
                <a:ext cx="1680935" cy="2422519"/>
              </a:xfrm>
              <a:prstGeom prst="rect">
                <a:avLst/>
              </a:prstGeom>
              <a:solidFill>
                <a:schemeClr val="bg1"/>
              </a:solidFill>
              <a:ln w="28575">
                <a:solidFill>
                  <a:schemeClr val="accent5">
                    <a:lumMod val="75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pic>
            <p:nvPicPr>
              <p:cNvPr id="23" name="Picture 22">
                <a:extLst>
                  <a:ext uri="{FF2B5EF4-FFF2-40B4-BE49-F238E27FC236}">
                    <a16:creationId xmlns:a16="http://schemas.microsoft.com/office/drawing/2014/main" id="{D90A9983-FD96-927E-4A0F-544F2850EF4D}"/>
                  </a:ext>
                </a:extLst>
              </p:cNvPr>
              <p:cNvPicPr>
                <a:picLocks noChangeAspect="1"/>
              </p:cNvPicPr>
              <p:nvPr/>
            </p:nvPicPr>
            <p:blipFill>
              <a:blip r:embed="rId4"/>
              <a:stretch>
                <a:fillRect/>
              </a:stretch>
            </p:blipFill>
            <p:spPr>
              <a:xfrm>
                <a:off x="10430285" y="1900605"/>
                <a:ext cx="1647796" cy="2391016"/>
              </a:xfrm>
              <a:prstGeom prst="rect">
                <a:avLst/>
              </a:prstGeom>
            </p:spPr>
          </p:pic>
        </p:grpSp>
        <p:sp>
          <p:nvSpPr>
            <p:cNvPr id="11" name="TextBox 10">
              <a:extLst>
                <a:ext uri="{FF2B5EF4-FFF2-40B4-BE49-F238E27FC236}">
                  <a16:creationId xmlns:a16="http://schemas.microsoft.com/office/drawing/2014/main" id="{7002FF7B-6F2C-C9BE-807E-162F028CC20C}"/>
                </a:ext>
              </a:extLst>
            </p:cNvPr>
            <p:cNvSpPr txBox="1"/>
            <p:nvPr/>
          </p:nvSpPr>
          <p:spPr>
            <a:xfrm>
              <a:off x="7222110" y="5869728"/>
              <a:ext cx="2735900" cy="341909"/>
            </a:xfrm>
            <a:prstGeom prst="rect">
              <a:avLst/>
            </a:prstGeom>
            <a:noFill/>
          </p:spPr>
          <p:txBody>
            <a:bodyPr wrap="square">
              <a:spAutoFit/>
            </a:bodyPr>
            <a:lstStyle/>
            <a:p>
              <a:pPr algn="l"/>
              <a:r>
                <a:rPr lang="en-US" sz="1600" b="1" dirty="0">
                  <a:solidFill>
                    <a:schemeClr val="accent2">
                      <a:lumMod val="75000"/>
                    </a:schemeClr>
                  </a:solidFill>
                </a:rPr>
                <a:t>PROGRAMMER (MAX32660)</a:t>
              </a:r>
            </a:p>
          </p:txBody>
        </p:sp>
        <p:sp>
          <p:nvSpPr>
            <p:cNvPr id="19" name="TextBox 18">
              <a:extLst>
                <a:ext uri="{FF2B5EF4-FFF2-40B4-BE49-F238E27FC236}">
                  <a16:creationId xmlns:a16="http://schemas.microsoft.com/office/drawing/2014/main" id="{7211CF44-816B-B698-EC4F-D5D485B02D2B}"/>
                </a:ext>
              </a:extLst>
            </p:cNvPr>
            <p:cNvSpPr txBox="1"/>
            <p:nvPr/>
          </p:nvSpPr>
          <p:spPr>
            <a:xfrm>
              <a:off x="8669029" y="3012011"/>
              <a:ext cx="915097" cy="338554"/>
            </a:xfrm>
            <a:prstGeom prst="rect">
              <a:avLst/>
            </a:prstGeom>
            <a:noFill/>
          </p:spPr>
          <p:txBody>
            <a:bodyPr wrap="square">
              <a:spAutoFit/>
            </a:bodyPr>
            <a:lstStyle/>
            <a:p>
              <a:pPr algn="l"/>
              <a:r>
                <a:rPr lang="en-US" sz="1600" b="1" dirty="0">
                  <a:solidFill>
                    <a:schemeClr val="accent2">
                      <a:lumMod val="75000"/>
                    </a:schemeClr>
                  </a:solidFill>
                </a:rPr>
                <a:t>5V/3A</a:t>
              </a:r>
            </a:p>
          </p:txBody>
        </p:sp>
        <p:sp>
          <p:nvSpPr>
            <p:cNvPr id="20" name="TextBox 19">
              <a:extLst>
                <a:ext uri="{FF2B5EF4-FFF2-40B4-BE49-F238E27FC236}">
                  <a16:creationId xmlns:a16="http://schemas.microsoft.com/office/drawing/2014/main" id="{2C2B415A-C7A1-6C9B-4211-87101B16480E}"/>
                </a:ext>
              </a:extLst>
            </p:cNvPr>
            <p:cNvSpPr txBox="1"/>
            <p:nvPr/>
          </p:nvSpPr>
          <p:spPr>
            <a:xfrm>
              <a:off x="8669029" y="3412406"/>
              <a:ext cx="849188" cy="338554"/>
            </a:xfrm>
            <a:prstGeom prst="rect">
              <a:avLst/>
            </a:prstGeom>
            <a:noFill/>
          </p:spPr>
          <p:txBody>
            <a:bodyPr wrap="square">
              <a:spAutoFit/>
            </a:bodyPr>
            <a:lstStyle/>
            <a:p>
              <a:pPr algn="l"/>
              <a:r>
                <a:rPr lang="en-US" sz="1600" b="1" dirty="0">
                  <a:solidFill>
                    <a:schemeClr val="accent2">
                      <a:lumMod val="75000"/>
                    </a:schemeClr>
                  </a:solidFill>
                </a:rPr>
                <a:t>9V/3A</a:t>
              </a:r>
            </a:p>
          </p:txBody>
        </p:sp>
      </p:grpSp>
      <p:sp>
        <p:nvSpPr>
          <p:cNvPr id="18" name="TextBox 17">
            <a:extLst>
              <a:ext uri="{FF2B5EF4-FFF2-40B4-BE49-F238E27FC236}">
                <a16:creationId xmlns:a16="http://schemas.microsoft.com/office/drawing/2014/main" id="{B6C1BB91-A146-74DE-056C-52C67ABFFB87}"/>
              </a:ext>
            </a:extLst>
          </p:cNvPr>
          <p:cNvSpPr txBox="1"/>
          <p:nvPr/>
        </p:nvSpPr>
        <p:spPr>
          <a:xfrm rot="16200000">
            <a:off x="4182284" y="4132701"/>
            <a:ext cx="914400" cy="307638"/>
          </a:xfrm>
          <a:prstGeom prst="rect">
            <a:avLst/>
          </a:prstGeom>
        </p:spPr>
        <p:txBody>
          <a:bodyPr vert="horz" wrap="none" lIns="0" tIns="0" rIns="0" bIns="0" rtlCol="0" anchor="t" anchorCtr="0">
            <a:normAutofit/>
          </a:bodyPr>
          <a:lstStyle/>
          <a:p>
            <a:pPr algn="l"/>
            <a:r>
              <a:rPr lang="en-US" b="1" dirty="0">
                <a:solidFill>
                  <a:schemeClr val="tx2"/>
                </a:solidFill>
              </a:rPr>
              <a:t>WRITE</a:t>
            </a:r>
          </a:p>
        </p:txBody>
      </p:sp>
      <p:grpSp>
        <p:nvGrpSpPr>
          <p:cNvPr id="32" name="Group 31">
            <a:extLst>
              <a:ext uri="{FF2B5EF4-FFF2-40B4-BE49-F238E27FC236}">
                <a16:creationId xmlns:a16="http://schemas.microsoft.com/office/drawing/2014/main" id="{035D1A2C-0286-2431-F084-37C9E577891B}"/>
              </a:ext>
            </a:extLst>
          </p:cNvPr>
          <p:cNvGrpSpPr/>
          <p:nvPr/>
        </p:nvGrpSpPr>
        <p:grpSpPr>
          <a:xfrm>
            <a:off x="3691423" y="1430936"/>
            <a:ext cx="1819564" cy="4492178"/>
            <a:chOff x="4400483" y="1058804"/>
            <a:chExt cx="1819564" cy="4492178"/>
          </a:xfrm>
        </p:grpSpPr>
        <p:sp>
          <p:nvSpPr>
            <p:cNvPr id="24" name="Freeform: Shape 23">
              <a:extLst>
                <a:ext uri="{FF2B5EF4-FFF2-40B4-BE49-F238E27FC236}">
                  <a16:creationId xmlns:a16="http://schemas.microsoft.com/office/drawing/2014/main" id="{C6FEAB64-B703-7395-988D-033E33777616}"/>
                </a:ext>
              </a:extLst>
            </p:cNvPr>
            <p:cNvSpPr/>
            <p:nvPr/>
          </p:nvSpPr>
          <p:spPr>
            <a:xfrm>
              <a:off x="4400483" y="1058804"/>
              <a:ext cx="1819564" cy="1370648"/>
            </a:xfrm>
            <a:custGeom>
              <a:avLst/>
              <a:gdLst>
                <a:gd name="connsiteX0" fmla="*/ 0 w 2360428"/>
                <a:gd name="connsiteY0" fmla="*/ 1546174 h 1546174"/>
                <a:gd name="connsiteX1" fmla="*/ 510362 w 2360428"/>
                <a:gd name="connsiteY1" fmla="*/ 1312257 h 1546174"/>
                <a:gd name="connsiteX2" fmla="*/ 1648046 w 2360428"/>
                <a:gd name="connsiteY2" fmla="*/ 174574 h 1546174"/>
                <a:gd name="connsiteX3" fmla="*/ 2360428 w 2360428"/>
                <a:gd name="connsiteY3" fmla="*/ 4453 h 1546174"/>
                <a:gd name="connsiteX4" fmla="*/ 2360428 w 2360428"/>
                <a:gd name="connsiteY4" fmla="*/ 4453 h 1546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428" h="1546174">
                  <a:moveTo>
                    <a:pt x="0" y="1546174"/>
                  </a:moveTo>
                  <a:cubicBezTo>
                    <a:pt x="117844" y="1543515"/>
                    <a:pt x="235688" y="1540857"/>
                    <a:pt x="510362" y="1312257"/>
                  </a:cubicBezTo>
                  <a:cubicBezTo>
                    <a:pt x="785036" y="1083657"/>
                    <a:pt x="1339702" y="392541"/>
                    <a:pt x="1648046" y="174574"/>
                  </a:cubicBezTo>
                  <a:cubicBezTo>
                    <a:pt x="1956390" y="-43393"/>
                    <a:pt x="2360428" y="4453"/>
                    <a:pt x="2360428" y="4453"/>
                  </a:cubicBezTo>
                  <a:lnTo>
                    <a:pt x="2360428" y="4453"/>
                  </a:lnTo>
                </a:path>
              </a:pathLst>
            </a:custGeom>
            <a:noFill/>
            <a:ln>
              <a:solidFill>
                <a:srgbClr val="00B0F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9B3B29FE-44F5-052B-09D0-730F3B7967B6}"/>
                </a:ext>
              </a:extLst>
            </p:cNvPr>
            <p:cNvSpPr/>
            <p:nvPr/>
          </p:nvSpPr>
          <p:spPr>
            <a:xfrm>
              <a:off x="4400483" y="4364545"/>
              <a:ext cx="1709912" cy="1186437"/>
            </a:xfrm>
            <a:custGeom>
              <a:avLst/>
              <a:gdLst>
                <a:gd name="connsiteX0" fmla="*/ 0 w 2371061"/>
                <a:gd name="connsiteY0" fmla="*/ 16149 h 1472809"/>
                <a:gd name="connsiteX1" fmla="*/ 478466 w 2371061"/>
                <a:gd name="connsiteY1" fmla="*/ 154372 h 1472809"/>
                <a:gd name="connsiteX2" fmla="*/ 1477926 w 2371061"/>
                <a:gd name="connsiteY2" fmla="*/ 1132567 h 1472809"/>
                <a:gd name="connsiteX3" fmla="*/ 2371061 w 2371061"/>
                <a:gd name="connsiteY3" fmla="*/ 1472809 h 1472809"/>
              </a:gdLst>
              <a:ahLst/>
              <a:cxnLst>
                <a:cxn ang="0">
                  <a:pos x="connsiteX0" y="connsiteY0"/>
                </a:cxn>
                <a:cxn ang="0">
                  <a:pos x="connsiteX1" y="connsiteY1"/>
                </a:cxn>
                <a:cxn ang="0">
                  <a:pos x="connsiteX2" y="connsiteY2"/>
                </a:cxn>
                <a:cxn ang="0">
                  <a:pos x="connsiteX3" y="connsiteY3"/>
                </a:cxn>
              </a:cxnLst>
              <a:rect l="l" t="t" r="r" b="b"/>
              <a:pathLst>
                <a:path w="2371061" h="1472809">
                  <a:moveTo>
                    <a:pt x="0" y="16149"/>
                  </a:moveTo>
                  <a:cubicBezTo>
                    <a:pt x="116072" y="-7775"/>
                    <a:pt x="232145" y="-31698"/>
                    <a:pt x="478466" y="154372"/>
                  </a:cubicBezTo>
                  <a:cubicBezTo>
                    <a:pt x="724787" y="340442"/>
                    <a:pt x="1162494" y="912828"/>
                    <a:pt x="1477926" y="1132567"/>
                  </a:cubicBezTo>
                  <a:cubicBezTo>
                    <a:pt x="1793358" y="1352306"/>
                    <a:pt x="2082209" y="1412557"/>
                    <a:pt x="2371061" y="1472809"/>
                  </a:cubicBezTo>
                </a:path>
              </a:pathLst>
            </a:custGeom>
            <a:noFill/>
            <a:ln>
              <a:solidFill>
                <a:srgbClr val="00B0F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 name="Thought Bubble: Cloud 14">
            <a:extLst>
              <a:ext uri="{FF2B5EF4-FFF2-40B4-BE49-F238E27FC236}">
                <a16:creationId xmlns:a16="http://schemas.microsoft.com/office/drawing/2014/main" id="{F11563F5-BF33-1C73-D139-33DDEAA892F3}"/>
              </a:ext>
            </a:extLst>
          </p:cNvPr>
          <p:cNvSpPr/>
          <p:nvPr/>
        </p:nvSpPr>
        <p:spPr>
          <a:xfrm flipH="1">
            <a:off x="7879646" y="1856748"/>
            <a:ext cx="2300673" cy="1347678"/>
          </a:xfrm>
          <a:prstGeom prst="cloudCallout">
            <a:avLst>
              <a:gd name="adj1" fmla="val -67160"/>
              <a:gd name="adj2" fmla="val 80602"/>
            </a:avLst>
          </a:prstGeom>
          <a:solidFill>
            <a:schemeClr val="accent1">
              <a:lumMod val="25000"/>
              <a:lumOff val="75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r>
              <a:rPr lang="en-US" dirty="0">
                <a:solidFill>
                  <a:srgbClr val="000000"/>
                </a:solidFill>
                <a:latin typeface="Barlow" pitchFamily="2" charset="77"/>
                <a:cs typeface="Arial" panose="020B0604020202020204" pitchFamily="34" charset="0"/>
              </a:rPr>
              <a:t>How do we get these values in the first place?</a:t>
            </a:r>
          </a:p>
        </p:txBody>
      </p:sp>
      <p:grpSp>
        <p:nvGrpSpPr>
          <p:cNvPr id="30" name="Group 29">
            <a:extLst>
              <a:ext uri="{FF2B5EF4-FFF2-40B4-BE49-F238E27FC236}">
                <a16:creationId xmlns:a16="http://schemas.microsoft.com/office/drawing/2014/main" id="{1ED03A10-354A-AAA5-6436-46F189457E58}"/>
              </a:ext>
            </a:extLst>
          </p:cNvPr>
          <p:cNvGrpSpPr/>
          <p:nvPr/>
        </p:nvGrpSpPr>
        <p:grpSpPr>
          <a:xfrm>
            <a:off x="8535403" y="5308333"/>
            <a:ext cx="3289836" cy="890010"/>
            <a:chOff x="8535403" y="5308333"/>
            <a:chExt cx="3289836" cy="890010"/>
          </a:xfrm>
        </p:grpSpPr>
        <p:pic>
          <p:nvPicPr>
            <p:cNvPr id="28" name="Picture 27">
              <a:extLst>
                <a:ext uri="{FF2B5EF4-FFF2-40B4-BE49-F238E27FC236}">
                  <a16:creationId xmlns:a16="http://schemas.microsoft.com/office/drawing/2014/main" id="{D5BA588A-F81B-F78E-4FE4-7941B7F43138}"/>
                </a:ext>
              </a:extLst>
            </p:cNvPr>
            <p:cNvPicPr>
              <a:picLocks noChangeAspect="1"/>
            </p:cNvPicPr>
            <p:nvPr/>
          </p:nvPicPr>
          <p:blipFill>
            <a:blip r:embed="rId5"/>
            <a:stretch>
              <a:fillRect/>
            </a:stretch>
          </p:blipFill>
          <p:spPr>
            <a:xfrm>
              <a:off x="8535404" y="5329895"/>
              <a:ext cx="3289835" cy="868448"/>
            </a:xfrm>
            <a:prstGeom prst="rect">
              <a:avLst/>
            </a:prstGeom>
          </p:spPr>
        </p:pic>
        <p:sp>
          <p:nvSpPr>
            <p:cNvPr id="29" name="Rectangle 28">
              <a:extLst>
                <a:ext uri="{FF2B5EF4-FFF2-40B4-BE49-F238E27FC236}">
                  <a16:creationId xmlns:a16="http://schemas.microsoft.com/office/drawing/2014/main" id="{E004FC42-6988-521C-1D33-DD308A8CBA28}"/>
                </a:ext>
              </a:extLst>
            </p:cNvPr>
            <p:cNvSpPr/>
            <p:nvPr/>
          </p:nvSpPr>
          <p:spPr>
            <a:xfrm>
              <a:off x="8535403" y="5308333"/>
              <a:ext cx="3289835" cy="890009"/>
            </a:xfrm>
            <a:prstGeom prst="rect">
              <a:avLst/>
            </a:prstGeom>
            <a:noFill/>
            <a:ln w="28575">
              <a:solidFill>
                <a:schemeClr val="accent5">
                  <a:lumMod val="75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spTree>
    <p:extLst>
      <p:ext uri="{BB962C8B-B14F-4D97-AF65-F5344CB8AC3E}">
        <p14:creationId xmlns:p14="http://schemas.microsoft.com/office/powerpoint/2010/main" val="158968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xEl>
                                              <p:pRg st="0" end="0"/>
                                            </p:txEl>
                                          </p:spTgt>
                                        </p:tgtEl>
                                        <p:attrNameLst>
                                          <p:attrName>style.visibility</p:attrName>
                                        </p:attrNameLst>
                                      </p:cBhvr>
                                      <p:to>
                                        <p:strVal val="visible"/>
                                      </p:to>
                                    </p:set>
                                    <p:animEffect transition="in" filter="fade">
                                      <p:cBhvr>
                                        <p:cTn id="18" dur="500"/>
                                        <p:tgtEl>
                                          <p:spTgt spid="18">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GB"/>
              <a:t>Encoding USB Power Data Objects (PDOs)</a:t>
            </a:r>
            <a:endParaRPr lang="en-US" dirty="0"/>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dirty="0"/>
              <a:t>FTC | Orlando, FL | November 4-8, 2024</a:t>
            </a:r>
          </a:p>
        </p:txBody>
      </p:sp>
      <p:sp>
        <p:nvSpPr>
          <p:cNvPr id="22" name="Footer Placeholder 4">
            <a:extLst>
              <a:ext uri="{FF2B5EF4-FFF2-40B4-BE49-F238E27FC236}">
                <a16:creationId xmlns:a16="http://schemas.microsoft.com/office/drawing/2014/main" id="{88701DDC-53E1-8A50-D1D9-34B982712D43}"/>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23" name="Slide Number Placeholder 5">
            <a:extLst>
              <a:ext uri="{FF2B5EF4-FFF2-40B4-BE49-F238E27FC236}">
                <a16:creationId xmlns:a16="http://schemas.microsoft.com/office/drawing/2014/main" id="{94346498-D4A2-84FE-5E30-89D3B71E2D97}"/>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14</a:t>
            </a:fld>
            <a:endParaRPr lang="en-US" dirty="0"/>
          </a:p>
        </p:txBody>
      </p:sp>
      <p:graphicFrame>
        <p:nvGraphicFramePr>
          <p:cNvPr id="7" name="Table 10">
            <a:extLst>
              <a:ext uri="{FF2B5EF4-FFF2-40B4-BE49-F238E27FC236}">
                <a16:creationId xmlns:a16="http://schemas.microsoft.com/office/drawing/2014/main" id="{9BEB678D-6736-0433-E828-7C431B36BEA2}"/>
              </a:ext>
            </a:extLst>
          </p:cNvPr>
          <p:cNvGraphicFramePr>
            <a:graphicFrameLocks noGrp="1"/>
          </p:cNvGraphicFramePr>
          <p:nvPr>
            <p:extLst>
              <p:ext uri="{D42A27DB-BD31-4B8C-83A1-F6EECF244321}">
                <p14:modId xmlns:p14="http://schemas.microsoft.com/office/powerpoint/2010/main" val="1200677825"/>
              </p:ext>
            </p:extLst>
          </p:nvPr>
        </p:nvGraphicFramePr>
        <p:xfrm>
          <a:off x="7419446" y="1120390"/>
          <a:ext cx="4226148" cy="5121782"/>
        </p:xfrm>
        <a:graphic>
          <a:graphicData uri="http://schemas.openxmlformats.org/drawingml/2006/table">
            <a:tbl>
              <a:tblPr firstRow="1" bandRow="1">
                <a:effectLst>
                  <a:outerShdw blurRad="63500" sx="102000" sy="102000" algn="ctr" rotWithShape="0">
                    <a:prstClr val="black">
                      <a:alpha val="40000"/>
                    </a:prstClr>
                  </a:outerShdw>
                </a:effectLst>
                <a:tableStyleId>{5940675A-B579-460E-94D1-54222C63F5DA}</a:tableStyleId>
              </a:tblPr>
              <a:tblGrid>
                <a:gridCol w="918331">
                  <a:extLst>
                    <a:ext uri="{9D8B030D-6E8A-4147-A177-3AD203B41FA5}">
                      <a16:colId xmlns:a16="http://schemas.microsoft.com/office/drawing/2014/main" val="790208267"/>
                    </a:ext>
                  </a:extLst>
                </a:gridCol>
                <a:gridCol w="3307817">
                  <a:extLst>
                    <a:ext uri="{9D8B030D-6E8A-4147-A177-3AD203B41FA5}">
                      <a16:colId xmlns:a16="http://schemas.microsoft.com/office/drawing/2014/main" val="295967170"/>
                    </a:ext>
                  </a:extLst>
                </a:gridCol>
              </a:tblGrid>
              <a:tr h="359648">
                <a:tc>
                  <a:txBody>
                    <a:bodyPr/>
                    <a:lstStyle/>
                    <a:p>
                      <a:pPr algn="ctr"/>
                      <a:r>
                        <a:rPr lang="en-US" sz="1100" b="0" dirty="0">
                          <a:solidFill>
                            <a:schemeClr val="bg1"/>
                          </a:solidFill>
                          <a:latin typeface="Barlow" panose="00000500000000000000" pitchFamily="2" charset="0"/>
                        </a:rPr>
                        <a:t>    Bit(s)</a:t>
                      </a:r>
                    </a:p>
                  </a:txBody>
                  <a:tcP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0" dirty="0">
                          <a:solidFill>
                            <a:schemeClr val="bg1"/>
                          </a:solidFill>
                          <a:latin typeface="Barlow" panose="00000500000000000000" pitchFamily="2" charset="0"/>
                        </a:rPr>
                        <a:t>Description</a:t>
                      </a:r>
                    </a:p>
                  </a:txBody>
                  <a:tcPr>
                    <a:lnL w="381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51543719"/>
                  </a:ext>
                </a:extLst>
              </a:tr>
              <a:tr h="359648">
                <a:tc>
                  <a:txBody>
                    <a:bodyPr/>
                    <a:lstStyle/>
                    <a:p>
                      <a:pPr algn="l"/>
                      <a:r>
                        <a:rPr lang="en-US" sz="1100" b="0" dirty="0">
                          <a:solidFill>
                            <a:schemeClr val="bg2">
                              <a:lumMod val="25000"/>
                            </a:schemeClr>
                          </a:solidFill>
                          <a:latin typeface="Barlow" panose="00000500000000000000" pitchFamily="2" charset="0"/>
                        </a:rPr>
                        <a:t>B31…30</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Fixed supply</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34211909"/>
                  </a:ext>
                </a:extLst>
              </a:tr>
              <a:tr h="359648">
                <a:tc>
                  <a:txBody>
                    <a:bodyPr/>
                    <a:lstStyle/>
                    <a:p>
                      <a:pPr algn="l"/>
                      <a:r>
                        <a:rPr lang="en-US" sz="1100" b="0" dirty="0">
                          <a:solidFill>
                            <a:schemeClr val="bg2">
                              <a:lumMod val="25000"/>
                            </a:schemeClr>
                          </a:solidFill>
                          <a:latin typeface="Barlow" panose="00000500000000000000" pitchFamily="2" charset="0"/>
                        </a:rPr>
                        <a:t>B29</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Dual-Role Power</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0512004"/>
                  </a:ext>
                </a:extLst>
              </a:tr>
              <a:tr h="359648">
                <a:tc>
                  <a:txBody>
                    <a:bodyPr/>
                    <a:lstStyle/>
                    <a:p>
                      <a:pPr algn="l"/>
                      <a:r>
                        <a:rPr lang="en-US" sz="1100" b="0" dirty="0">
                          <a:solidFill>
                            <a:schemeClr val="bg2">
                              <a:lumMod val="25000"/>
                            </a:schemeClr>
                          </a:solidFill>
                          <a:latin typeface="Barlow" panose="00000500000000000000" pitchFamily="2" charset="0"/>
                        </a:rPr>
                        <a:t>B28</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Higher Capability</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73149062"/>
                  </a:ext>
                </a:extLst>
              </a:tr>
              <a:tr h="359648">
                <a:tc>
                  <a:txBody>
                    <a:bodyPr/>
                    <a:lstStyle/>
                    <a:p>
                      <a:pPr algn="l"/>
                      <a:r>
                        <a:rPr lang="en-US" sz="1100" b="0" dirty="0">
                          <a:solidFill>
                            <a:schemeClr val="bg2">
                              <a:lumMod val="25000"/>
                            </a:schemeClr>
                          </a:solidFill>
                          <a:latin typeface="Barlow" panose="00000500000000000000" pitchFamily="2" charset="0"/>
                        </a:rPr>
                        <a:t>B27</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Unconstrained Power</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6170871"/>
                  </a:ext>
                </a:extLst>
              </a:tr>
              <a:tr h="359648">
                <a:tc>
                  <a:txBody>
                    <a:bodyPr/>
                    <a:lstStyle/>
                    <a:p>
                      <a:pPr algn="l"/>
                      <a:r>
                        <a:rPr lang="en-US" sz="1100" b="0" dirty="0">
                          <a:solidFill>
                            <a:schemeClr val="bg2">
                              <a:lumMod val="25000"/>
                            </a:schemeClr>
                          </a:solidFill>
                          <a:latin typeface="Barlow" panose="00000500000000000000" pitchFamily="2" charset="0"/>
                        </a:rPr>
                        <a:t>B26</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USB Communications Capable</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72684112"/>
                  </a:ext>
                </a:extLst>
              </a:tr>
              <a:tr h="359648">
                <a:tc>
                  <a:txBody>
                    <a:bodyPr/>
                    <a:lstStyle/>
                    <a:p>
                      <a:pPr algn="l"/>
                      <a:r>
                        <a:rPr lang="en-US" sz="1100" b="0" dirty="0">
                          <a:solidFill>
                            <a:schemeClr val="bg2">
                              <a:lumMod val="25000"/>
                            </a:schemeClr>
                          </a:solidFill>
                          <a:latin typeface="Barlow" panose="00000500000000000000" pitchFamily="2" charset="0"/>
                        </a:rPr>
                        <a:t>B25</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Dual-Role Data</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35221918"/>
                  </a:ext>
                </a:extLst>
              </a:tr>
              <a:tr h="1525302">
                <a:tc>
                  <a:txBody>
                    <a:bodyPr/>
                    <a:lstStyle/>
                    <a:p>
                      <a:pPr algn="l"/>
                      <a:r>
                        <a:rPr lang="en-US" sz="1100" b="0" dirty="0">
                          <a:solidFill>
                            <a:schemeClr val="bg2">
                              <a:lumMod val="25000"/>
                            </a:schemeClr>
                          </a:solidFill>
                          <a:latin typeface="Barlow" panose="00000500000000000000" pitchFamily="2" charset="0"/>
                        </a:rPr>
                        <a:t>B24…23</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Fast Role Swap required USB Type C Current</a:t>
                      </a:r>
                    </a:p>
                    <a:p>
                      <a:pPr algn="l"/>
                      <a:endParaRPr lang="en-US" sz="1100" b="0" dirty="0">
                        <a:solidFill>
                          <a:schemeClr val="bg2">
                            <a:lumMod val="25000"/>
                          </a:schemeClr>
                        </a:solidFill>
                        <a:latin typeface="Barlow" panose="00000500000000000000" pitchFamily="2" charset="0"/>
                      </a:endParaRPr>
                    </a:p>
                    <a:p>
                      <a:pPr algn="l"/>
                      <a:r>
                        <a:rPr lang="en-US" sz="1100" b="0" dirty="0">
                          <a:solidFill>
                            <a:schemeClr val="bg2">
                              <a:lumMod val="25000"/>
                            </a:schemeClr>
                          </a:solidFill>
                          <a:latin typeface="Barlow" panose="00000500000000000000" pitchFamily="2" charset="0"/>
                        </a:rPr>
                        <a:t>00b:  Fast Swap not supported (default)</a:t>
                      </a:r>
                    </a:p>
                    <a:p>
                      <a:pPr algn="l"/>
                      <a:r>
                        <a:rPr lang="en-US" sz="1100" b="0" dirty="0">
                          <a:solidFill>
                            <a:schemeClr val="bg2">
                              <a:lumMod val="25000"/>
                            </a:schemeClr>
                          </a:solidFill>
                          <a:latin typeface="Barlow" panose="00000500000000000000" pitchFamily="2" charset="0"/>
                        </a:rPr>
                        <a:t>01b: Default USB Power</a:t>
                      </a:r>
                    </a:p>
                    <a:p>
                      <a:pPr algn="l"/>
                      <a:r>
                        <a:rPr lang="en-US" sz="1100" b="0" dirty="0">
                          <a:solidFill>
                            <a:schemeClr val="bg2">
                              <a:lumMod val="25000"/>
                            </a:schemeClr>
                          </a:solidFill>
                          <a:latin typeface="Barlow" panose="00000500000000000000" pitchFamily="2" charset="0"/>
                        </a:rPr>
                        <a:t>10b: 1.5A @ 5V</a:t>
                      </a:r>
                    </a:p>
                    <a:p>
                      <a:pPr algn="l"/>
                      <a:r>
                        <a:rPr lang="en-US" sz="1100" b="0" dirty="0">
                          <a:solidFill>
                            <a:schemeClr val="bg2">
                              <a:lumMod val="25000"/>
                            </a:schemeClr>
                          </a:solidFill>
                          <a:latin typeface="Barlow" panose="00000500000000000000" pitchFamily="2" charset="0"/>
                        </a:rPr>
                        <a:t>11b: 3.0A @ 5V</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38055584"/>
                  </a:ext>
                </a:extLst>
              </a:tr>
              <a:tr h="359648">
                <a:tc>
                  <a:txBody>
                    <a:bodyPr/>
                    <a:lstStyle/>
                    <a:p>
                      <a:pPr algn="l"/>
                      <a:r>
                        <a:rPr lang="en-US" sz="1100" b="0" dirty="0">
                          <a:solidFill>
                            <a:schemeClr val="bg2">
                              <a:lumMod val="25000"/>
                            </a:schemeClr>
                          </a:solidFill>
                          <a:latin typeface="Barlow" panose="00000500000000000000" pitchFamily="2" charset="0"/>
                        </a:rPr>
                        <a:t>B22…20</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i="1" dirty="0">
                          <a:solidFill>
                            <a:schemeClr val="bg2">
                              <a:lumMod val="25000"/>
                            </a:schemeClr>
                          </a:solidFill>
                          <a:latin typeface="Barlow" panose="00000500000000000000" pitchFamily="2" charset="0"/>
                        </a:rPr>
                        <a:t>Reserved – Shall</a:t>
                      </a:r>
                      <a:r>
                        <a:rPr lang="en-US" sz="1100" b="0" dirty="0">
                          <a:solidFill>
                            <a:schemeClr val="bg2">
                              <a:lumMod val="25000"/>
                            </a:schemeClr>
                          </a:solidFill>
                          <a:latin typeface="Barlow" panose="00000500000000000000" pitchFamily="2" charset="0"/>
                        </a:rPr>
                        <a:t> be set to zero.</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3928999"/>
                  </a:ext>
                </a:extLst>
              </a:tr>
              <a:tr h="359648">
                <a:tc>
                  <a:txBody>
                    <a:bodyPr/>
                    <a:lstStyle/>
                    <a:p>
                      <a:pPr algn="l"/>
                      <a:r>
                        <a:rPr lang="en-US" sz="1100" b="0" dirty="0">
                          <a:solidFill>
                            <a:schemeClr val="bg2">
                              <a:lumMod val="25000"/>
                            </a:schemeClr>
                          </a:solidFill>
                          <a:latin typeface="Barlow" panose="00000500000000000000" pitchFamily="2" charset="0"/>
                        </a:rPr>
                        <a:t>B19…10</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Voltage in 50mV units</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75514990"/>
                  </a:ext>
                </a:extLst>
              </a:tr>
              <a:tr h="359648">
                <a:tc>
                  <a:txBody>
                    <a:bodyPr/>
                    <a:lstStyle/>
                    <a:p>
                      <a:pPr algn="l"/>
                      <a:r>
                        <a:rPr lang="en-US" sz="1100" b="0" dirty="0">
                          <a:solidFill>
                            <a:schemeClr val="bg2">
                              <a:lumMod val="25000"/>
                            </a:schemeClr>
                          </a:solidFill>
                          <a:latin typeface="Barlow" panose="00000500000000000000" pitchFamily="2" charset="0"/>
                        </a:rPr>
                        <a:t>B9…0</a:t>
                      </a: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lang="en-US" sz="1100" b="0" dirty="0">
                          <a:solidFill>
                            <a:schemeClr val="bg2">
                              <a:lumMod val="25000"/>
                            </a:schemeClr>
                          </a:solidFill>
                          <a:latin typeface="Barlow" panose="00000500000000000000" pitchFamily="2" charset="0"/>
                        </a:rPr>
                        <a:t>Maximum Current in 10mA units</a:t>
                      </a:r>
                    </a:p>
                  </a:txBody>
                  <a:tcPr>
                    <a:lnL w="38100" cap="flat" cmpd="sng" algn="ctr">
                      <a:solidFill>
                        <a:schemeClr val="bg1"/>
                      </a:solidFill>
                      <a:prstDash val="solid"/>
                      <a:round/>
                      <a:headEnd type="none" w="med" len="med"/>
                      <a:tailEnd type="none" w="med" len="med"/>
                    </a:lnL>
                    <a:lnR w="12700" cmpd="sng">
                      <a:noFill/>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840770"/>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90E55E9-92DD-D547-4D18-7039B4E58D1C}"/>
                  </a:ext>
                </a:extLst>
              </p:cNvPr>
              <p:cNvSpPr txBox="1"/>
              <p:nvPr/>
            </p:nvSpPr>
            <p:spPr>
              <a:xfrm>
                <a:off x="334839" y="1248078"/>
                <a:ext cx="11446226" cy="4992657"/>
              </a:xfrm>
              <a:prstGeom prst="rect">
                <a:avLst/>
              </a:prstGeom>
            </p:spPr>
            <p:txBody>
              <a:bodyPr vert="horz" wrap="none" lIns="0" tIns="0" rIns="0" bIns="0" rtlCol="0" anchor="t" anchorCtr="0">
                <a:normAutofit/>
              </a:bodyPr>
              <a:lstStyle/>
              <a:p>
                <a:pPr marL="285750" indent="-285750">
                  <a:buFont typeface="Wingdings" panose="05000000000000000000" pitchFamily="2" charset="2"/>
                  <a:buChar char="Ø"/>
                </a:pPr>
                <a:r>
                  <a:rPr lang="en-US" sz="1800" dirty="0">
                    <a:effectLst/>
                    <a:ea typeface="Calibri" panose="020F0502020204030204" pitchFamily="34" charset="0"/>
                    <a:cs typeface="Arial" panose="020B0604020202020204" pitchFamily="34" charset="0"/>
                  </a:rPr>
                  <a:t>Hex value for 3A = </a:t>
                </a:r>
                <a14:m>
                  <m:oMath xmlns:m="http://schemas.openxmlformats.org/officeDocument/2006/math">
                    <m:f>
                      <m:fPr>
                        <m:ctrlPr>
                          <a:rPr lang="en-US" i="1">
                            <a:latin typeface="Cambria Math" panose="02040503050406030204" pitchFamily="18" charset="0"/>
                            <a:cs typeface="Arial" panose="020B0604020202020204" pitchFamily="34" charset="0"/>
                          </a:rPr>
                        </m:ctrlPr>
                      </m:fPr>
                      <m:num>
                        <m:r>
                          <m:rPr>
                            <m:nor/>
                          </m:rPr>
                          <a:rPr lang="en-US" b="0" i="0" smtClean="0">
                            <a:latin typeface="Barlow "/>
                            <a:cs typeface="Arial" panose="020B0604020202020204" pitchFamily="34" charset="0"/>
                          </a:rPr>
                          <m:t>Current</m:t>
                        </m:r>
                        <m:r>
                          <m:rPr>
                            <m:nor/>
                          </m:rPr>
                          <a:rPr lang="en-US" b="0" i="0" smtClean="0">
                            <a:latin typeface="Barlow "/>
                            <a:cs typeface="Arial" panose="020B0604020202020204" pitchFamily="34" charset="0"/>
                          </a:rPr>
                          <m:t> </m:t>
                        </m:r>
                        <m:r>
                          <m:rPr>
                            <m:nor/>
                          </m:rPr>
                          <a:rPr lang="en-US" b="0" i="0" smtClean="0">
                            <a:latin typeface="Barlow "/>
                            <a:cs typeface="Arial" panose="020B0604020202020204" pitchFamily="34" charset="0"/>
                          </a:rPr>
                          <m:t>Level</m:t>
                        </m:r>
                      </m:num>
                      <m:den>
                        <m:r>
                          <m:rPr>
                            <m:nor/>
                          </m:rPr>
                          <a:rPr lang="en-US" b="0" i="0" smtClean="0">
                            <a:latin typeface="Barlow "/>
                            <a:cs typeface="Arial" panose="020B0604020202020204" pitchFamily="34" charset="0"/>
                          </a:rPr>
                          <m:t>Current</m:t>
                        </m:r>
                        <m:r>
                          <m:rPr>
                            <m:nor/>
                          </m:rPr>
                          <a:rPr lang="en-US" b="0" i="0" smtClean="0">
                            <a:latin typeface="Barlow "/>
                            <a:cs typeface="Arial" panose="020B0604020202020204" pitchFamily="34" charset="0"/>
                          </a:rPr>
                          <m:t> </m:t>
                        </m:r>
                        <m:r>
                          <m:rPr>
                            <m:nor/>
                          </m:rPr>
                          <a:rPr lang="en-US" b="0" i="0" smtClean="0">
                            <a:latin typeface="Barlow "/>
                            <a:cs typeface="Arial" panose="020B0604020202020204" pitchFamily="34" charset="0"/>
                          </a:rPr>
                          <m:t>LSB</m:t>
                        </m:r>
                      </m:den>
                    </m:f>
                  </m:oMath>
                </a14:m>
                <a:r>
                  <a:rPr lang="en-US" dirty="0">
                    <a:latin typeface="Barlow "/>
                    <a:ea typeface="Calibri" panose="020F0502020204030204" pitchFamily="34" charset="0"/>
                    <a:cs typeface="Arial" panose="020B0604020202020204" pitchFamily="34" charset="0"/>
                  </a:rPr>
                  <a:t> = </a:t>
                </a:r>
                <a14:m>
                  <m:oMath xmlns:m="http://schemas.openxmlformats.org/officeDocument/2006/math">
                    <m:f>
                      <m:fPr>
                        <m:ctrlPr>
                          <a:rPr lang="en-US" i="1">
                            <a:latin typeface="Cambria Math" panose="02040503050406030204" pitchFamily="18" charset="0"/>
                            <a:cs typeface="Arial" panose="020B0604020202020204" pitchFamily="34" charset="0"/>
                          </a:rPr>
                        </m:ctrlPr>
                      </m:fPr>
                      <m:num>
                        <m:r>
                          <m:rPr>
                            <m:nor/>
                          </m:rPr>
                          <a:rPr lang="en-US" i="0">
                            <a:latin typeface="Barlow "/>
                            <a:cs typeface="Arial" panose="020B0604020202020204" pitchFamily="34" charset="0"/>
                          </a:rPr>
                          <m:t>3000</m:t>
                        </m:r>
                        <m:r>
                          <m:rPr>
                            <m:nor/>
                          </m:rPr>
                          <a:rPr lang="en-US" i="0">
                            <a:latin typeface="Barlow "/>
                            <a:cs typeface="Arial" panose="020B0604020202020204" pitchFamily="34" charset="0"/>
                          </a:rPr>
                          <m:t>mA</m:t>
                        </m:r>
                      </m:num>
                      <m:den>
                        <m:r>
                          <m:rPr>
                            <m:nor/>
                          </m:rPr>
                          <a:rPr lang="en-US" i="0">
                            <a:latin typeface="Barlow "/>
                            <a:cs typeface="Arial" panose="020B0604020202020204" pitchFamily="34" charset="0"/>
                          </a:rPr>
                          <m:t>10</m:t>
                        </m:r>
                        <m:r>
                          <m:rPr>
                            <m:nor/>
                          </m:rPr>
                          <a:rPr lang="en-US" i="0">
                            <a:latin typeface="Barlow "/>
                            <a:cs typeface="Arial" panose="020B0604020202020204" pitchFamily="34" charset="0"/>
                          </a:rPr>
                          <m:t>mA</m:t>
                        </m:r>
                      </m:den>
                    </m:f>
                  </m:oMath>
                </a14:m>
                <a:r>
                  <a:rPr lang="en-US" dirty="0">
                    <a:ea typeface="Calibri" panose="020F0502020204030204" pitchFamily="34" charset="0"/>
                    <a:cs typeface="Arial" panose="020B0604020202020204" pitchFamily="34" charset="0"/>
                  </a:rPr>
                  <a:t> = 300</a:t>
                </a:r>
                <a:r>
                  <a:rPr lang="en-US" sz="1700" dirty="0">
                    <a:ea typeface="Calibri" panose="020F0502020204030204" pitchFamily="34" charset="0"/>
                    <a:cs typeface="Arial" panose="020B0604020202020204" pitchFamily="34" charset="0"/>
                  </a:rPr>
                  <a:t>d</a:t>
                </a:r>
                <a:r>
                  <a:rPr lang="en-US" dirty="0">
                    <a:ea typeface="Calibri" panose="020F0502020204030204" pitchFamily="34" charset="0"/>
                    <a:cs typeface="Arial" panose="020B0604020202020204" pitchFamily="34" charset="0"/>
                  </a:rPr>
                  <a:t>/12C</a:t>
                </a:r>
                <a:r>
                  <a:rPr lang="en-US" sz="1700" dirty="0">
                    <a:ea typeface="Calibri" panose="020F0502020204030204" pitchFamily="34" charset="0"/>
                    <a:cs typeface="Arial" panose="020B0604020202020204" pitchFamily="34" charset="0"/>
                  </a:rPr>
                  <a:t>h</a:t>
                </a:r>
                <a:r>
                  <a:rPr lang="en-US" dirty="0">
                    <a:ea typeface="Calibri" panose="020F0502020204030204" pitchFamily="34" charset="0"/>
                    <a:cs typeface="Arial" panose="020B0604020202020204" pitchFamily="34" charset="0"/>
                  </a:rPr>
                  <a:t> </a:t>
                </a:r>
                <a:r>
                  <a:rPr lang="en-US" dirty="0">
                    <a:ea typeface="Calibri" panose="020F0502020204030204" pitchFamily="34" charset="0"/>
                    <a:cs typeface="Arial" panose="020B0604020202020204" pitchFamily="34" charset="0"/>
                    <a:sym typeface="Wingdings" panose="05000000000000000000" pitchFamily="2" charset="2"/>
                  </a:rPr>
                  <a:t></a:t>
                </a:r>
                <a:r>
                  <a:rPr lang="en-US" dirty="0">
                    <a:ea typeface="Calibri" panose="020F0502020204030204" pitchFamily="34" charset="0"/>
                    <a:cs typeface="Arial" panose="020B0604020202020204" pitchFamily="34" charset="0"/>
                  </a:rPr>
                  <a:t>  [B9:B0]</a:t>
                </a:r>
                <a:r>
                  <a:rPr lang="en-US" sz="1800" b="1" dirty="0">
                    <a:effectLst/>
                    <a:ea typeface="Calibri" panose="020F0502020204030204" pitchFamily="34" charset="0"/>
                    <a:cs typeface="Arial" panose="020B0604020202020204" pitchFamily="34" charset="0"/>
                  </a:rPr>
                  <a:t>. </a:t>
                </a:r>
              </a:p>
              <a:p>
                <a:pPr marL="285750" indent="-285750" algn="l">
                  <a:buFont typeface="Wingdings" panose="05000000000000000000" pitchFamily="2" charset="2"/>
                  <a:buChar char="Ø"/>
                </a:pPr>
                <a:endParaRPr lang="en-US" dirty="0">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r>
                  <a:rPr lang="en-US" dirty="0">
                    <a:ea typeface="Calibri" panose="020F0502020204030204" pitchFamily="34" charset="0"/>
                    <a:cs typeface="Arial" panose="020B0604020202020204" pitchFamily="34" charset="0"/>
                  </a:rPr>
                  <a:t>Hex value </a:t>
                </a:r>
                <a:r>
                  <a:rPr lang="en-US" sz="1800" dirty="0">
                    <a:effectLst/>
                    <a:ea typeface="Calibri" panose="020F0502020204030204" pitchFamily="34" charset="0"/>
                    <a:cs typeface="Arial" panose="020B0604020202020204" pitchFamily="34" charset="0"/>
                  </a:rPr>
                  <a:t>for 5V = </a:t>
                </a: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r>
                          <m:rPr>
                            <m:nor/>
                          </m:rPr>
                          <a:rPr lang="en-US" b="0" i="0" smtClean="0">
                            <a:latin typeface="Barlow "/>
                            <a:cs typeface="Arial" panose="020B0604020202020204" pitchFamily="34" charset="0"/>
                          </a:rPr>
                          <m:t>Voltage</m:t>
                        </m:r>
                        <m:r>
                          <m:rPr>
                            <m:nor/>
                          </m:rPr>
                          <a:rPr lang="en-US" b="0" i="0" smtClean="0">
                            <a:latin typeface="Barlow "/>
                            <a:cs typeface="Arial" panose="020B0604020202020204" pitchFamily="34" charset="0"/>
                          </a:rPr>
                          <m:t> </m:t>
                        </m:r>
                        <m:r>
                          <m:rPr>
                            <m:nor/>
                          </m:rPr>
                          <a:rPr lang="en-US" b="0" i="0" smtClean="0">
                            <a:latin typeface="Barlow "/>
                            <a:cs typeface="Arial" panose="020B0604020202020204" pitchFamily="34" charset="0"/>
                          </a:rPr>
                          <m:t>Level</m:t>
                        </m:r>
                      </m:num>
                      <m:den>
                        <m:r>
                          <m:rPr>
                            <m:nor/>
                          </m:rPr>
                          <a:rPr lang="en-US" b="0" i="0" smtClean="0">
                            <a:latin typeface="Barlow "/>
                            <a:cs typeface="Arial" panose="020B0604020202020204" pitchFamily="34" charset="0"/>
                          </a:rPr>
                          <m:t>Voltage</m:t>
                        </m:r>
                        <m:r>
                          <m:rPr>
                            <m:nor/>
                          </m:rPr>
                          <a:rPr lang="en-US" b="0" i="0" smtClean="0">
                            <a:latin typeface="Barlow "/>
                            <a:cs typeface="Arial" panose="020B0604020202020204" pitchFamily="34" charset="0"/>
                          </a:rPr>
                          <m:t> </m:t>
                        </m:r>
                        <m:r>
                          <m:rPr>
                            <m:nor/>
                          </m:rPr>
                          <a:rPr lang="en-US" b="0" i="0" smtClean="0">
                            <a:latin typeface="Barlow "/>
                            <a:cs typeface="Arial" panose="020B0604020202020204" pitchFamily="34" charset="0"/>
                          </a:rPr>
                          <m:t>LSB</m:t>
                        </m:r>
                      </m:den>
                    </m:f>
                  </m:oMath>
                </a14:m>
                <a:r>
                  <a:rPr lang="en-US" dirty="0">
                    <a:latin typeface="Barlow "/>
                    <a:ea typeface="Calibri" panose="020F0502020204030204" pitchFamily="34" charset="0"/>
                    <a:cs typeface="Arial" panose="020B0604020202020204" pitchFamily="34" charset="0"/>
                  </a:rPr>
                  <a:t> = </a:t>
                </a:r>
                <a14:m>
                  <m:oMath xmlns:m="http://schemas.openxmlformats.org/officeDocument/2006/math">
                    <m:f>
                      <m:fPr>
                        <m:ctrlPr>
                          <a:rPr lang="en-US" i="1">
                            <a:latin typeface="Cambria Math" panose="02040503050406030204" pitchFamily="18" charset="0"/>
                            <a:cs typeface="Arial" panose="020B0604020202020204" pitchFamily="34" charset="0"/>
                          </a:rPr>
                        </m:ctrlPr>
                      </m:fPr>
                      <m:num>
                        <m:r>
                          <m:rPr>
                            <m:nor/>
                          </m:rPr>
                          <a:rPr lang="en-US" b="0" i="0" smtClean="0">
                            <a:latin typeface="Cambria Math" panose="02040503050406030204" pitchFamily="18" charset="0"/>
                            <a:cs typeface="Arial" panose="020B0604020202020204" pitchFamily="34" charset="0"/>
                          </a:rPr>
                          <m:t>5</m:t>
                        </m:r>
                        <m:r>
                          <m:rPr>
                            <m:nor/>
                          </m:rPr>
                          <a:rPr lang="en-US" i="0">
                            <a:latin typeface="Barlow "/>
                            <a:cs typeface="Arial" panose="020B0604020202020204" pitchFamily="34" charset="0"/>
                          </a:rPr>
                          <m:t>000</m:t>
                        </m:r>
                        <m:r>
                          <m:rPr>
                            <m:nor/>
                          </m:rPr>
                          <a:rPr lang="en-US" i="0">
                            <a:latin typeface="Barlow "/>
                            <a:cs typeface="Arial" panose="020B0604020202020204" pitchFamily="34" charset="0"/>
                          </a:rPr>
                          <m:t>mV</m:t>
                        </m:r>
                      </m:num>
                      <m:den>
                        <m:r>
                          <m:rPr>
                            <m:nor/>
                          </m:rPr>
                          <a:rPr lang="en-US" b="0" i="0" smtClean="0">
                            <a:latin typeface="Cambria Math" panose="02040503050406030204" pitchFamily="18" charset="0"/>
                            <a:cs typeface="Arial" panose="020B0604020202020204" pitchFamily="34" charset="0"/>
                          </a:rPr>
                          <m:t>5</m:t>
                        </m:r>
                        <m:r>
                          <m:rPr>
                            <m:nor/>
                          </m:rPr>
                          <a:rPr lang="en-US" i="0">
                            <a:latin typeface="Barlow "/>
                            <a:cs typeface="Arial" panose="020B0604020202020204" pitchFamily="34" charset="0"/>
                          </a:rPr>
                          <m:t>0</m:t>
                        </m:r>
                        <m:r>
                          <m:rPr>
                            <m:nor/>
                          </m:rPr>
                          <a:rPr lang="en-US" i="0">
                            <a:latin typeface="Barlow "/>
                            <a:cs typeface="Arial" panose="020B0604020202020204" pitchFamily="34" charset="0"/>
                          </a:rPr>
                          <m:t>mV</m:t>
                        </m:r>
                      </m:den>
                    </m:f>
                    <m:r>
                      <a:rPr lang="en-US" i="1">
                        <a:latin typeface="Cambria Math" panose="02040503050406030204" pitchFamily="18" charset="0"/>
                        <a:cs typeface="Arial" panose="020B0604020202020204" pitchFamily="34" charset="0"/>
                      </a:rPr>
                      <m:t> </m:t>
                    </m:r>
                  </m:oMath>
                </a14:m>
                <a:r>
                  <a:rPr lang="en-US" sz="1800" dirty="0">
                    <a:effectLst/>
                    <a:ea typeface="Calibri" panose="020F0502020204030204" pitchFamily="34" charset="0"/>
                    <a:cs typeface="Arial" panose="020B0604020202020204" pitchFamily="34" charset="0"/>
                  </a:rPr>
                  <a:t>= 100</a:t>
                </a:r>
                <a:r>
                  <a:rPr lang="en-US" sz="1700" dirty="0">
                    <a:effectLst/>
                    <a:ea typeface="Calibri" panose="020F0502020204030204" pitchFamily="34" charset="0"/>
                    <a:cs typeface="Arial" panose="020B0604020202020204" pitchFamily="34" charset="0"/>
                  </a:rPr>
                  <a:t>d</a:t>
                </a:r>
                <a:r>
                  <a:rPr lang="en-US" sz="1800" dirty="0">
                    <a:effectLst/>
                    <a:ea typeface="Calibri" panose="020F0502020204030204" pitchFamily="34" charset="0"/>
                    <a:cs typeface="Arial" panose="020B0604020202020204" pitchFamily="34" charset="0"/>
                  </a:rPr>
                  <a:t>/64</a:t>
                </a:r>
                <a:r>
                  <a:rPr lang="en-US" sz="1700" dirty="0">
                    <a:effectLst/>
                    <a:ea typeface="Calibri" panose="020F0502020204030204" pitchFamily="34" charset="0"/>
                    <a:cs typeface="Arial" panose="020B0604020202020204" pitchFamily="34" charset="0"/>
                  </a:rPr>
                  <a:t>h</a:t>
                </a:r>
                <a:r>
                  <a:rPr lang="en-US" sz="1800" dirty="0">
                    <a:effectLst/>
                    <a:ea typeface="Calibri" panose="020F0502020204030204" pitchFamily="34" charset="0"/>
                    <a:cs typeface="Arial" panose="020B0604020202020204" pitchFamily="34" charset="0"/>
                  </a:rPr>
                  <a:t> </a:t>
                </a:r>
                <a:r>
                  <a:rPr lang="en-US" dirty="0">
                    <a:ea typeface="Calibri" panose="020F0502020204030204" pitchFamily="34" charset="0"/>
                    <a:cs typeface="Arial" panose="020B0604020202020204" pitchFamily="34" charset="0"/>
                    <a:sym typeface="Wingdings" panose="05000000000000000000" pitchFamily="2" charset="2"/>
                  </a:rPr>
                  <a:t></a:t>
                </a:r>
                <a:r>
                  <a:rPr lang="en-US" sz="1800" dirty="0">
                    <a:effectLst/>
                    <a:ea typeface="Calibri" panose="020F0502020204030204" pitchFamily="34" charset="0"/>
                    <a:cs typeface="Arial" panose="020B0604020202020204" pitchFamily="34" charset="0"/>
                  </a:rPr>
                  <a:t> [B19:B10]. </a:t>
                </a:r>
              </a:p>
              <a:p>
                <a:pPr marL="285750" indent="-285750" algn="l">
                  <a:buFont typeface="Wingdings" panose="05000000000000000000" pitchFamily="2" charset="2"/>
                  <a:buChar char="Ø"/>
                </a:pPr>
                <a:endParaRPr lang="en-US" sz="1800" dirty="0">
                  <a:effectLst/>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endParaRPr lang="en-US" sz="1800" dirty="0">
                  <a:effectLst/>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endParaRPr lang="en-US" dirty="0">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endParaRPr lang="en-US" sz="1800" dirty="0">
                  <a:effectLst/>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endParaRPr lang="en-US" dirty="0">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endParaRPr lang="en-US" sz="1800" dirty="0">
                  <a:effectLst/>
                  <a:ea typeface="Calibri" panose="020F0502020204030204" pitchFamily="34" charset="0"/>
                  <a:cs typeface="Arial" panose="020B0604020202020204" pitchFamily="34" charset="0"/>
                </a:endParaRPr>
              </a:p>
              <a:p>
                <a:pPr marL="285750" indent="-285750" algn="l">
                  <a:buFont typeface="Wingdings" panose="05000000000000000000" pitchFamily="2" charset="2"/>
                  <a:buChar char="Ø"/>
                </a:pPr>
                <a:r>
                  <a:rPr lang="en-US" sz="1800" dirty="0">
                    <a:effectLst/>
                    <a:ea typeface="Calibri" panose="020F0502020204030204" pitchFamily="34" charset="0"/>
                    <a:cs typeface="Arial" panose="020B0604020202020204" pitchFamily="34" charset="0"/>
                  </a:rPr>
                  <a:t>Combining hex values  into a 4-byte format, </a:t>
                </a:r>
                <a:endParaRPr lang="en-US" dirty="0">
                  <a:ea typeface="Calibri" panose="020F0502020204030204" pitchFamily="34" charset="0"/>
                  <a:cs typeface="Arial" panose="020B0604020202020204" pitchFamily="34" charset="0"/>
                </a:endParaRPr>
              </a:p>
              <a:p>
                <a:pPr algn="l"/>
                <a:r>
                  <a:rPr lang="en-US" sz="1800" dirty="0">
                    <a:effectLst/>
                    <a:ea typeface="Calibri" panose="020F0502020204030204" pitchFamily="34" charset="0"/>
                    <a:cs typeface="Arial" panose="020B0604020202020204" pitchFamily="34" charset="0"/>
                  </a:rPr>
                  <a:t>      Sink PDO1 is configured as </a:t>
                </a:r>
                <a:r>
                  <a:rPr lang="en-US" sz="1800" b="1" dirty="0">
                    <a:effectLst/>
                    <a:ea typeface="Calibri" panose="020F0502020204030204" pitchFamily="34" charset="0"/>
                    <a:cs typeface="Arial" panose="020B0604020202020204" pitchFamily="34" charset="0"/>
                  </a:rPr>
                  <a:t>0x0001912C.</a:t>
                </a:r>
                <a:endParaRPr lang="en-US" b="1" dirty="0"/>
              </a:p>
            </p:txBody>
          </p:sp>
        </mc:Choice>
        <mc:Fallback xmlns="">
          <p:sp>
            <p:nvSpPr>
              <p:cNvPr id="3" name="TextBox 2">
                <a:extLst>
                  <a:ext uri="{FF2B5EF4-FFF2-40B4-BE49-F238E27FC236}">
                    <a16:creationId xmlns:a16="http://schemas.microsoft.com/office/drawing/2014/main" id="{190E55E9-92DD-D547-4D18-7039B4E58D1C}"/>
                  </a:ext>
                </a:extLst>
              </p:cNvPr>
              <p:cNvSpPr txBox="1">
                <a:spLocks noRot="1" noChangeAspect="1" noMove="1" noResize="1" noEditPoints="1" noAdjustHandles="1" noChangeArrowheads="1" noChangeShapeType="1" noTextEdit="1"/>
              </p:cNvSpPr>
              <p:nvPr/>
            </p:nvSpPr>
            <p:spPr>
              <a:xfrm>
                <a:off x="334839" y="1248078"/>
                <a:ext cx="11446226" cy="4992657"/>
              </a:xfrm>
              <a:prstGeom prst="rect">
                <a:avLst/>
              </a:prstGeom>
              <a:blipFill>
                <a:blip r:embed="rId3"/>
                <a:stretch>
                  <a:fillRect l="-1171"/>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613ECC92-2D07-C45C-7F16-B28E1541C6B4}"/>
              </a:ext>
            </a:extLst>
          </p:cNvPr>
          <p:cNvGrpSpPr/>
          <p:nvPr/>
        </p:nvGrpSpPr>
        <p:grpSpPr>
          <a:xfrm>
            <a:off x="541338" y="4714525"/>
            <a:ext cx="4934545" cy="1870994"/>
            <a:chOff x="574795" y="4649972"/>
            <a:chExt cx="4934545" cy="2024277"/>
          </a:xfrm>
        </p:grpSpPr>
        <p:grpSp>
          <p:nvGrpSpPr>
            <p:cNvPr id="16" name="Group 15">
              <a:extLst>
                <a:ext uri="{FF2B5EF4-FFF2-40B4-BE49-F238E27FC236}">
                  <a16:creationId xmlns:a16="http://schemas.microsoft.com/office/drawing/2014/main" id="{8F4EA7A8-A71D-3E0F-6767-7141D49AC795}"/>
                </a:ext>
              </a:extLst>
            </p:cNvPr>
            <p:cNvGrpSpPr/>
            <p:nvPr/>
          </p:nvGrpSpPr>
          <p:grpSpPr>
            <a:xfrm>
              <a:off x="603443" y="4649972"/>
              <a:ext cx="4905897" cy="1556197"/>
              <a:chOff x="722583" y="4441626"/>
              <a:chExt cx="4905897" cy="1556197"/>
            </a:xfrm>
          </p:grpSpPr>
          <p:sp>
            <p:nvSpPr>
              <p:cNvPr id="5" name="Rectangle: Rounded Corners 4">
                <a:extLst>
                  <a:ext uri="{FF2B5EF4-FFF2-40B4-BE49-F238E27FC236}">
                    <a16:creationId xmlns:a16="http://schemas.microsoft.com/office/drawing/2014/main" id="{2050F661-0836-813C-23C4-1F4963E49A12}"/>
                  </a:ext>
                </a:extLst>
              </p:cNvPr>
              <p:cNvSpPr/>
              <p:nvPr/>
            </p:nvSpPr>
            <p:spPr>
              <a:xfrm>
                <a:off x="722583" y="4441626"/>
                <a:ext cx="4905897" cy="1534514"/>
              </a:xfrm>
              <a:prstGeom prst="roundRect">
                <a:avLst/>
              </a:prstGeom>
              <a:solidFill>
                <a:schemeClr val="accent5">
                  <a:lumMod val="20000"/>
                  <a:lumOff val="80000"/>
                </a:schemeClr>
              </a:solidFill>
              <a:ln>
                <a:solidFill>
                  <a:schemeClr val="accent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11" name="Group 10">
                <a:extLst>
                  <a:ext uri="{FF2B5EF4-FFF2-40B4-BE49-F238E27FC236}">
                    <a16:creationId xmlns:a16="http://schemas.microsoft.com/office/drawing/2014/main" id="{76A1F1AE-75D5-E755-FE11-99D12D1795F8}"/>
                  </a:ext>
                </a:extLst>
              </p:cNvPr>
              <p:cNvGrpSpPr/>
              <p:nvPr/>
            </p:nvGrpSpPr>
            <p:grpSpPr>
              <a:xfrm>
                <a:off x="841721" y="4595076"/>
                <a:ext cx="4667619" cy="1402747"/>
                <a:chOff x="953481" y="4908582"/>
                <a:chExt cx="4667619" cy="1478811"/>
              </a:xfrm>
            </p:grpSpPr>
            <p:pic>
              <p:nvPicPr>
                <p:cNvPr id="489" name="Picture 488">
                  <a:extLst>
                    <a:ext uri="{FF2B5EF4-FFF2-40B4-BE49-F238E27FC236}">
                      <a16:creationId xmlns:a16="http://schemas.microsoft.com/office/drawing/2014/main" id="{3479CB31-5441-5267-BA7B-CFF932E96F8B}"/>
                    </a:ext>
                  </a:extLst>
                </p:cNvPr>
                <p:cNvPicPr>
                  <a:picLocks noChangeAspect="1"/>
                </p:cNvPicPr>
                <p:nvPr/>
              </p:nvPicPr>
              <p:blipFill>
                <a:blip r:embed="rId4"/>
                <a:stretch>
                  <a:fillRect/>
                </a:stretch>
              </p:blipFill>
              <p:spPr>
                <a:xfrm>
                  <a:off x="953481" y="4908582"/>
                  <a:ext cx="4667619" cy="1155870"/>
                </a:xfrm>
                <a:prstGeom prst="rect">
                  <a:avLst/>
                </a:prstGeom>
                <a:effectLst/>
              </p:spPr>
            </p:pic>
            <p:sp>
              <p:nvSpPr>
                <p:cNvPr id="10" name="TextBox 9">
                  <a:extLst>
                    <a:ext uri="{FF2B5EF4-FFF2-40B4-BE49-F238E27FC236}">
                      <a16:creationId xmlns:a16="http://schemas.microsoft.com/office/drawing/2014/main" id="{26576261-5FC7-9347-1AB0-037B2D201E8E}"/>
                    </a:ext>
                  </a:extLst>
                </p:cNvPr>
                <p:cNvSpPr txBox="1"/>
                <p:nvPr/>
              </p:nvSpPr>
              <p:spPr>
                <a:xfrm>
                  <a:off x="3009745" y="6032747"/>
                  <a:ext cx="601389" cy="354646"/>
                </a:xfrm>
                <a:prstGeom prst="rect">
                  <a:avLst/>
                </a:prstGeom>
              </p:spPr>
              <p:txBody>
                <a:bodyPr vert="horz" wrap="none" lIns="0" tIns="0" rIns="0" bIns="0" rtlCol="0" anchor="t" anchorCtr="0">
                  <a:normAutofit/>
                </a:bodyPr>
                <a:lstStyle/>
                <a:p>
                  <a:pPr algn="l"/>
                  <a:r>
                    <a:rPr lang="en-US" sz="1800" b="1" dirty="0">
                      <a:solidFill>
                        <a:srgbClr val="896901"/>
                      </a:solidFill>
                      <a:effectLst/>
                      <a:ea typeface="Calibri" panose="020F0502020204030204" pitchFamily="34" charset="0"/>
                      <a:cs typeface="Arial" panose="020B0604020202020204" pitchFamily="34" charset="0"/>
                    </a:rPr>
                    <a:t>PDO 2</a:t>
                  </a:r>
                  <a:endParaRPr lang="en-US" b="1" dirty="0">
                    <a:solidFill>
                      <a:srgbClr val="896901"/>
                    </a:solidFill>
                  </a:endParaRPr>
                </a:p>
              </p:txBody>
            </p:sp>
          </p:grpSp>
        </p:grpSp>
        <p:sp>
          <p:nvSpPr>
            <p:cNvPr id="14" name="TextBox 13">
              <a:extLst>
                <a:ext uri="{FF2B5EF4-FFF2-40B4-BE49-F238E27FC236}">
                  <a16:creationId xmlns:a16="http://schemas.microsoft.com/office/drawing/2014/main" id="{0121CE6A-3604-3D74-7630-B1B655182CE7}"/>
                </a:ext>
              </a:extLst>
            </p:cNvPr>
            <p:cNvSpPr txBox="1"/>
            <p:nvPr/>
          </p:nvSpPr>
          <p:spPr>
            <a:xfrm>
              <a:off x="574795" y="6270848"/>
              <a:ext cx="2186434" cy="403401"/>
            </a:xfrm>
            <a:prstGeom prst="rect">
              <a:avLst/>
            </a:prstGeom>
          </p:spPr>
          <p:txBody>
            <a:bodyPr vert="horz" wrap="none" lIns="0" tIns="0" rIns="0" bIns="0" rtlCol="0" anchor="t" anchorCtr="0">
              <a:normAutofit/>
            </a:bodyPr>
            <a:lstStyle/>
            <a:p>
              <a:pPr algn="l"/>
              <a:r>
                <a:rPr lang="en-US" sz="1800" dirty="0">
                  <a:effectLst/>
                  <a:ea typeface="Calibri" panose="020F0502020204030204" pitchFamily="34" charset="0"/>
                  <a:cs typeface="Arial" panose="020B0604020202020204" pitchFamily="34" charset="0"/>
                </a:rPr>
                <a:t>Sink PDO2 is configured as </a:t>
              </a:r>
              <a:r>
                <a:rPr lang="en-US" sz="1800" b="1" dirty="0">
                  <a:effectLst/>
                  <a:ea typeface="Calibri" panose="020F0502020204030204" pitchFamily="34" charset="0"/>
                  <a:cs typeface="Arial" panose="020B0604020202020204" pitchFamily="34" charset="0"/>
                </a:rPr>
                <a:t>0x0002D12C.</a:t>
              </a:r>
              <a:endParaRPr lang="en-US" b="1" dirty="0"/>
            </a:p>
          </p:txBody>
        </p:sp>
      </p:grpSp>
      <p:grpSp>
        <p:nvGrpSpPr>
          <p:cNvPr id="13" name="Group 12">
            <a:extLst>
              <a:ext uri="{FF2B5EF4-FFF2-40B4-BE49-F238E27FC236}">
                <a16:creationId xmlns:a16="http://schemas.microsoft.com/office/drawing/2014/main" id="{3BDDEB0C-202E-C487-1D63-953EAE0FAD9F}"/>
              </a:ext>
            </a:extLst>
          </p:cNvPr>
          <p:cNvGrpSpPr/>
          <p:nvPr/>
        </p:nvGrpSpPr>
        <p:grpSpPr>
          <a:xfrm>
            <a:off x="598840" y="2523101"/>
            <a:ext cx="4902602" cy="1458228"/>
            <a:chOff x="605089" y="1209872"/>
            <a:chExt cx="4902602" cy="1458228"/>
          </a:xfrm>
        </p:grpSpPr>
        <p:grpSp>
          <p:nvGrpSpPr>
            <p:cNvPr id="12" name="Group 11">
              <a:extLst>
                <a:ext uri="{FF2B5EF4-FFF2-40B4-BE49-F238E27FC236}">
                  <a16:creationId xmlns:a16="http://schemas.microsoft.com/office/drawing/2014/main" id="{506FFB17-A7F7-ED4F-C534-65E0791F5722}"/>
                </a:ext>
              </a:extLst>
            </p:cNvPr>
            <p:cNvGrpSpPr/>
            <p:nvPr/>
          </p:nvGrpSpPr>
          <p:grpSpPr>
            <a:xfrm>
              <a:off x="605089" y="1209872"/>
              <a:ext cx="4902602" cy="1418317"/>
              <a:chOff x="442021" y="984080"/>
              <a:chExt cx="4902602" cy="1617723"/>
            </a:xfrm>
          </p:grpSpPr>
          <p:sp>
            <p:nvSpPr>
              <p:cNvPr id="8" name="Rectangle: Rounded Corners 7">
                <a:extLst>
                  <a:ext uri="{FF2B5EF4-FFF2-40B4-BE49-F238E27FC236}">
                    <a16:creationId xmlns:a16="http://schemas.microsoft.com/office/drawing/2014/main" id="{2EA4C133-B3D6-91FB-32FD-84CC448323AA}"/>
                  </a:ext>
                </a:extLst>
              </p:cNvPr>
              <p:cNvSpPr/>
              <p:nvPr/>
            </p:nvSpPr>
            <p:spPr>
              <a:xfrm>
                <a:off x="442021" y="984080"/>
                <a:ext cx="4902602" cy="1617723"/>
              </a:xfrm>
              <a:prstGeom prst="roundRect">
                <a:avLst/>
              </a:prstGeom>
              <a:solidFill>
                <a:schemeClr val="accent5">
                  <a:lumMod val="20000"/>
                  <a:lumOff val="80000"/>
                </a:schemeClr>
              </a:solidFill>
              <a:ln>
                <a:solidFill>
                  <a:schemeClr val="accent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pic>
            <p:nvPicPr>
              <p:cNvPr id="488" name="Picture 487">
                <a:extLst>
                  <a:ext uri="{FF2B5EF4-FFF2-40B4-BE49-F238E27FC236}">
                    <a16:creationId xmlns:a16="http://schemas.microsoft.com/office/drawing/2014/main" id="{B80D1A29-FA68-A129-0D7E-1CFEB0E4780E}"/>
                  </a:ext>
                </a:extLst>
              </p:cNvPr>
              <p:cNvPicPr>
                <a:picLocks noChangeAspect="1"/>
              </p:cNvPicPr>
              <p:nvPr/>
            </p:nvPicPr>
            <p:blipFill>
              <a:blip r:embed="rId5"/>
              <a:stretch>
                <a:fillRect/>
              </a:stretch>
            </p:blipFill>
            <p:spPr>
              <a:xfrm>
                <a:off x="529924" y="1126345"/>
                <a:ext cx="4670380" cy="1155870"/>
              </a:xfrm>
              <a:prstGeom prst="rect">
                <a:avLst/>
              </a:prstGeom>
              <a:effectLst/>
            </p:spPr>
          </p:pic>
        </p:grpSp>
        <p:sp>
          <p:nvSpPr>
            <p:cNvPr id="15" name="TextBox 14">
              <a:extLst>
                <a:ext uri="{FF2B5EF4-FFF2-40B4-BE49-F238E27FC236}">
                  <a16:creationId xmlns:a16="http://schemas.microsoft.com/office/drawing/2014/main" id="{2A2206FC-D2B9-C310-C9BC-A90B3CE809F1}"/>
                </a:ext>
              </a:extLst>
            </p:cNvPr>
            <p:cNvSpPr txBox="1"/>
            <p:nvPr/>
          </p:nvSpPr>
          <p:spPr>
            <a:xfrm>
              <a:off x="2755695" y="2331696"/>
              <a:ext cx="601389" cy="336404"/>
            </a:xfrm>
            <a:prstGeom prst="rect">
              <a:avLst/>
            </a:prstGeom>
          </p:spPr>
          <p:txBody>
            <a:bodyPr vert="horz" wrap="none" lIns="0" tIns="0" rIns="0" bIns="0" rtlCol="0" anchor="t" anchorCtr="0">
              <a:normAutofit/>
            </a:bodyPr>
            <a:lstStyle/>
            <a:p>
              <a:pPr algn="l"/>
              <a:r>
                <a:rPr lang="en-US" sz="1800" b="1" dirty="0">
                  <a:solidFill>
                    <a:srgbClr val="896901"/>
                  </a:solidFill>
                  <a:effectLst/>
                  <a:ea typeface="Calibri" panose="020F0502020204030204" pitchFamily="34" charset="0"/>
                  <a:cs typeface="Arial" panose="020B0604020202020204" pitchFamily="34" charset="0"/>
                </a:rPr>
                <a:t>PDO 1</a:t>
              </a:r>
              <a:endParaRPr lang="en-US" b="1" dirty="0">
                <a:solidFill>
                  <a:srgbClr val="896901"/>
                </a:solidFill>
              </a:endParaRPr>
            </a:p>
          </p:txBody>
        </p:sp>
      </p:grpSp>
      <p:sp>
        <p:nvSpPr>
          <p:cNvPr id="6" name="TextBox 5">
            <a:extLst>
              <a:ext uri="{FF2B5EF4-FFF2-40B4-BE49-F238E27FC236}">
                <a16:creationId xmlns:a16="http://schemas.microsoft.com/office/drawing/2014/main" id="{7C5FEA22-F2A9-E2D9-367A-91A754EEB52C}"/>
              </a:ext>
            </a:extLst>
          </p:cNvPr>
          <p:cNvSpPr txBox="1"/>
          <p:nvPr/>
        </p:nvSpPr>
        <p:spPr>
          <a:xfrm>
            <a:off x="7796893" y="6346915"/>
            <a:ext cx="914400" cy="336480"/>
          </a:xfrm>
          <a:prstGeom prst="rect">
            <a:avLst/>
          </a:prstGeom>
        </p:spPr>
        <p:txBody>
          <a:bodyPr vert="horz" wrap="none" lIns="0" tIns="0" rIns="0" bIns="0" rtlCol="0" anchor="t" anchorCtr="0">
            <a:normAutofit/>
          </a:bodyPr>
          <a:lstStyle/>
          <a:p>
            <a:pPr algn="l"/>
            <a:r>
              <a:rPr lang="en-US" dirty="0"/>
              <a:t>Sink PDO Format (USB Document)</a:t>
            </a:r>
          </a:p>
        </p:txBody>
      </p:sp>
    </p:spTree>
    <p:extLst>
      <p:ext uri="{BB962C8B-B14F-4D97-AF65-F5344CB8AC3E}">
        <p14:creationId xmlns:p14="http://schemas.microsoft.com/office/powerpoint/2010/main" val="10185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GB"/>
              <a:t>Sink Response to a 60W Samsung adapter</a:t>
            </a:r>
            <a:endParaRPr lang="en-US" dirty="0"/>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grpSp>
        <p:nvGrpSpPr>
          <p:cNvPr id="114" name="Group 113">
            <a:extLst>
              <a:ext uri="{FF2B5EF4-FFF2-40B4-BE49-F238E27FC236}">
                <a16:creationId xmlns:a16="http://schemas.microsoft.com/office/drawing/2014/main" id="{5D44B3A6-43F0-99C1-25B0-A0F16D928DEC}"/>
              </a:ext>
            </a:extLst>
          </p:cNvPr>
          <p:cNvGrpSpPr/>
          <p:nvPr/>
        </p:nvGrpSpPr>
        <p:grpSpPr>
          <a:xfrm>
            <a:off x="2613004" y="3651384"/>
            <a:ext cx="2021980" cy="2591270"/>
            <a:chOff x="3291543" y="3465790"/>
            <a:chExt cx="2021980" cy="2591270"/>
          </a:xfrm>
        </p:grpSpPr>
        <p:sp>
          <p:nvSpPr>
            <p:cNvPr id="34" name="Rectangle 33">
              <a:extLst>
                <a:ext uri="{FF2B5EF4-FFF2-40B4-BE49-F238E27FC236}">
                  <a16:creationId xmlns:a16="http://schemas.microsoft.com/office/drawing/2014/main" id="{58191115-91B3-7F66-DE34-CE01843FD859}"/>
                </a:ext>
              </a:extLst>
            </p:cNvPr>
            <p:cNvSpPr/>
            <p:nvPr/>
          </p:nvSpPr>
          <p:spPr>
            <a:xfrm rot="5400000">
              <a:off x="3044168" y="3787706"/>
              <a:ext cx="2516729" cy="2021980"/>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400" dirty="0" err="1">
                <a:solidFill>
                  <a:srgbClr val="000000"/>
                </a:solidFill>
                <a:latin typeface="Barlow" pitchFamily="2" charset="77"/>
                <a:cs typeface="Arial" panose="020B0604020202020204" pitchFamily="34" charset="0"/>
              </a:endParaRPr>
            </a:p>
          </p:txBody>
        </p:sp>
        <p:cxnSp>
          <p:nvCxnSpPr>
            <p:cNvPr id="35" name="Straight Connector 34">
              <a:extLst>
                <a:ext uri="{FF2B5EF4-FFF2-40B4-BE49-F238E27FC236}">
                  <a16:creationId xmlns:a16="http://schemas.microsoft.com/office/drawing/2014/main" id="{E13576A0-4D56-427C-7A66-3E51E56E761C}"/>
                </a:ext>
              </a:extLst>
            </p:cNvPr>
            <p:cNvCxnSpPr>
              <a:cxnSpLocks/>
              <a:endCxn id="61" idx="6"/>
            </p:cNvCxnSpPr>
            <p:nvPr/>
          </p:nvCxnSpPr>
          <p:spPr>
            <a:xfrm rot="5400000" flipH="1" flipV="1">
              <a:off x="3700531" y="3998647"/>
              <a:ext cx="768162" cy="6826"/>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275D226F-0020-666B-4562-FE0539D88B71}"/>
                </a:ext>
              </a:extLst>
            </p:cNvPr>
            <p:cNvCxnSpPr>
              <a:cxnSpLocks/>
              <a:endCxn id="60" idx="6"/>
            </p:cNvCxnSpPr>
            <p:nvPr/>
          </p:nvCxnSpPr>
          <p:spPr>
            <a:xfrm rot="5400000" flipH="1" flipV="1">
              <a:off x="3874531" y="3995154"/>
              <a:ext cx="773664" cy="4258"/>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nvGrpSpPr>
            <p:cNvPr id="40" name="Group 39">
              <a:extLst>
                <a:ext uri="{FF2B5EF4-FFF2-40B4-BE49-F238E27FC236}">
                  <a16:creationId xmlns:a16="http://schemas.microsoft.com/office/drawing/2014/main" id="{9F4A3C68-E070-4555-6BD6-BA8480EA49FF}"/>
                </a:ext>
              </a:extLst>
            </p:cNvPr>
            <p:cNvGrpSpPr/>
            <p:nvPr/>
          </p:nvGrpSpPr>
          <p:grpSpPr>
            <a:xfrm>
              <a:off x="4978381" y="5871651"/>
              <a:ext cx="152372" cy="58684"/>
              <a:chOff x="8643839" y="3430799"/>
              <a:chExt cx="290244" cy="111833"/>
            </a:xfrm>
            <a:effectLst>
              <a:outerShdw blurRad="50800" dist="38100" dir="5400000" algn="t" rotWithShape="0">
                <a:prstClr val="black">
                  <a:alpha val="40000"/>
                </a:prstClr>
              </a:outerShdw>
            </a:effectLst>
          </p:grpSpPr>
          <p:cxnSp>
            <p:nvCxnSpPr>
              <p:cNvPr id="62" name="Straight Connector 61">
                <a:extLst>
                  <a:ext uri="{FF2B5EF4-FFF2-40B4-BE49-F238E27FC236}">
                    <a16:creationId xmlns:a16="http://schemas.microsoft.com/office/drawing/2014/main" id="{EAF2C8F2-78B9-36FE-677D-1D2F3D64AAB4}"/>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3" name="Straight Connector 62">
                <a:extLst>
                  <a:ext uri="{FF2B5EF4-FFF2-40B4-BE49-F238E27FC236}">
                    <a16:creationId xmlns:a16="http://schemas.microsoft.com/office/drawing/2014/main" id="{1210B190-48C4-FE65-1714-3143C85950DC}"/>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4" name="Straight Connector 63">
                <a:extLst>
                  <a:ext uri="{FF2B5EF4-FFF2-40B4-BE49-F238E27FC236}">
                    <a16:creationId xmlns:a16="http://schemas.microsoft.com/office/drawing/2014/main" id="{FE8862FE-72A9-A737-54C2-C88060713A60}"/>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41" name="TextBox 40">
              <a:extLst>
                <a:ext uri="{FF2B5EF4-FFF2-40B4-BE49-F238E27FC236}">
                  <a16:creationId xmlns:a16="http://schemas.microsoft.com/office/drawing/2014/main" id="{CA9C68BB-8827-7CC6-7F27-022623AD60B4}"/>
                </a:ext>
              </a:extLst>
            </p:cNvPr>
            <p:cNvSpPr txBox="1"/>
            <p:nvPr/>
          </p:nvSpPr>
          <p:spPr>
            <a:xfrm rot="5400000">
              <a:off x="3887830" y="4375714"/>
              <a:ext cx="276249" cy="180101"/>
            </a:xfrm>
            <a:prstGeom prst="rect">
              <a:avLst/>
            </a:prstGeom>
            <a:noFill/>
            <a:ln w="28575">
              <a:noFill/>
            </a:ln>
            <a:effectLst>
              <a:outerShdw blurRad="50800" dist="38100" dir="5400000" algn="t" rotWithShape="0">
                <a:prstClr val="black">
                  <a:alpha val="40000"/>
                </a:prstClr>
              </a:outerShdw>
            </a:effectLst>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5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42" name="Connector: Elbow 41">
              <a:extLst>
                <a:ext uri="{FF2B5EF4-FFF2-40B4-BE49-F238E27FC236}">
                  <a16:creationId xmlns:a16="http://schemas.microsoft.com/office/drawing/2014/main" id="{BD0B7F80-5E94-6DC2-9081-4A74667A5FC1}"/>
                </a:ext>
              </a:extLst>
            </p:cNvPr>
            <p:cNvCxnSpPr>
              <a:cxnSpLocks/>
              <a:stCxn id="37" idx="3"/>
              <a:endCxn id="38" idx="3"/>
            </p:cNvCxnSpPr>
            <p:nvPr/>
          </p:nvCxnSpPr>
          <p:spPr>
            <a:xfrm flipH="1">
              <a:off x="4741736" y="4258732"/>
              <a:ext cx="10999" cy="927042"/>
            </a:xfrm>
            <a:prstGeom prst="bentConnector3">
              <a:avLst>
                <a:gd name="adj1" fmla="val -2753841"/>
              </a:avLst>
            </a:prstGeom>
            <a:ln w="12700"/>
            <a:effectLst/>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nvGrpSpPr>
            <p:cNvPr id="44" name="Group 43">
              <a:extLst>
                <a:ext uri="{FF2B5EF4-FFF2-40B4-BE49-F238E27FC236}">
                  <a16:creationId xmlns:a16="http://schemas.microsoft.com/office/drawing/2014/main" id="{59455024-FE4A-C4C2-0560-63A69C0E683E}"/>
                </a:ext>
              </a:extLst>
            </p:cNvPr>
            <p:cNvGrpSpPr/>
            <p:nvPr/>
          </p:nvGrpSpPr>
          <p:grpSpPr>
            <a:xfrm rot="5400000">
              <a:off x="4141477" y="3182555"/>
              <a:ext cx="226677" cy="793148"/>
              <a:chOff x="6153786" y="1548598"/>
              <a:chExt cx="226677" cy="793148"/>
            </a:xfrm>
          </p:grpSpPr>
          <p:sp>
            <p:nvSpPr>
              <p:cNvPr id="58" name="Rectangle: Rounded Corners 57">
                <a:extLst>
                  <a:ext uri="{FF2B5EF4-FFF2-40B4-BE49-F238E27FC236}">
                    <a16:creationId xmlns:a16="http://schemas.microsoft.com/office/drawing/2014/main" id="{0D4E0A18-6ED6-8E09-EE23-133508236C77}"/>
                  </a:ext>
                </a:extLst>
              </p:cNvPr>
              <p:cNvSpPr/>
              <p:nvPr/>
            </p:nvSpPr>
            <p:spPr>
              <a:xfrm>
                <a:off x="6153786" y="1548598"/>
                <a:ext cx="226677" cy="793148"/>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9" name="Oval 58">
                <a:extLst>
                  <a:ext uri="{FF2B5EF4-FFF2-40B4-BE49-F238E27FC236}">
                    <a16:creationId xmlns:a16="http://schemas.microsoft.com/office/drawing/2014/main" id="{DAF57E7B-0920-6B3E-068E-C2C9F6AE1792}"/>
                  </a:ext>
                </a:extLst>
              </p:cNvPr>
              <p:cNvSpPr/>
              <p:nvPr/>
            </p:nvSpPr>
            <p:spPr>
              <a:xfrm>
                <a:off x="6228064" y="1649331"/>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Barlow" panose="00000500000000000000" pitchFamily="2" charset="0"/>
                </a:endParaRPr>
              </a:p>
            </p:txBody>
          </p:sp>
          <p:sp>
            <p:nvSpPr>
              <p:cNvPr id="60" name="Oval 59">
                <a:extLst>
                  <a:ext uri="{FF2B5EF4-FFF2-40B4-BE49-F238E27FC236}">
                    <a16:creationId xmlns:a16="http://schemas.microsoft.com/office/drawing/2014/main" id="{835D3DA5-B94B-A2C2-5A2D-C315F2E38F71}"/>
                  </a:ext>
                </a:extLst>
              </p:cNvPr>
              <p:cNvSpPr/>
              <p:nvPr/>
            </p:nvSpPr>
            <p:spPr>
              <a:xfrm>
                <a:off x="6219454" y="1896528"/>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sp>
            <p:nvSpPr>
              <p:cNvPr id="61" name="Oval 60">
                <a:extLst>
                  <a:ext uri="{FF2B5EF4-FFF2-40B4-BE49-F238E27FC236}">
                    <a16:creationId xmlns:a16="http://schemas.microsoft.com/office/drawing/2014/main" id="{0263448A-756B-CAC7-8697-9146D66663DC}"/>
                  </a:ext>
                </a:extLst>
              </p:cNvPr>
              <p:cNvSpPr/>
              <p:nvPr/>
            </p:nvSpPr>
            <p:spPr>
              <a:xfrm>
                <a:off x="6226980" y="2071995"/>
                <a:ext cx="78994" cy="79934"/>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grpSp>
        <p:sp>
          <p:nvSpPr>
            <p:cNvPr id="45" name="TextBox 44">
              <a:extLst>
                <a:ext uri="{FF2B5EF4-FFF2-40B4-BE49-F238E27FC236}">
                  <a16:creationId xmlns:a16="http://schemas.microsoft.com/office/drawing/2014/main" id="{93BD87F4-0DC2-3E43-AC06-3E1B59DAD346}"/>
                </a:ext>
              </a:extLst>
            </p:cNvPr>
            <p:cNvSpPr txBox="1"/>
            <p:nvPr/>
          </p:nvSpPr>
          <p:spPr>
            <a:xfrm>
              <a:off x="4606907" y="3537121"/>
              <a:ext cx="375424" cy="194542"/>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VBUS</a:t>
              </a:r>
            </a:p>
          </p:txBody>
        </p:sp>
        <p:sp>
          <p:nvSpPr>
            <p:cNvPr id="46" name="TextBox 45">
              <a:extLst>
                <a:ext uri="{FF2B5EF4-FFF2-40B4-BE49-F238E27FC236}">
                  <a16:creationId xmlns:a16="http://schemas.microsoft.com/office/drawing/2014/main" id="{D1B95BE9-62EE-25BD-C5BB-43B7D4920496}"/>
                </a:ext>
              </a:extLst>
            </p:cNvPr>
            <p:cNvSpPr txBox="1"/>
            <p:nvPr/>
          </p:nvSpPr>
          <p:spPr>
            <a:xfrm>
              <a:off x="4194824" y="3743585"/>
              <a:ext cx="304892" cy="194542"/>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CC1</a:t>
              </a:r>
            </a:p>
          </p:txBody>
        </p:sp>
        <p:sp>
          <p:nvSpPr>
            <p:cNvPr id="47" name="TextBox 46">
              <a:extLst>
                <a:ext uri="{FF2B5EF4-FFF2-40B4-BE49-F238E27FC236}">
                  <a16:creationId xmlns:a16="http://schemas.microsoft.com/office/drawing/2014/main" id="{B27F7F6F-63F2-130A-5A76-F9D3D36FBBA2}"/>
                </a:ext>
              </a:extLst>
            </p:cNvPr>
            <p:cNvSpPr txBox="1"/>
            <p:nvPr/>
          </p:nvSpPr>
          <p:spPr>
            <a:xfrm>
              <a:off x="4018334" y="3743061"/>
              <a:ext cx="320922" cy="194542"/>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CC2</a:t>
              </a:r>
            </a:p>
          </p:txBody>
        </p:sp>
        <p:sp>
          <p:nvSpPr>
            <p:cNvPr id="49" name="Arrow: Left-Right 48">
              <a:extLst>
                <a:ext uri="{FF2B5EF4-FFF2-40B4-BE49-F238E27FC236}">
                  <a16:creationId xmlns:a16="http://schemas.microsoft.com/office/drawing/2014/main" id="{7675F9B5-BA43-99A4-D779-68F8EC8EA603}"/>
                </a:ext>
              </a:extLst>
            </p:cNvPr>
            <p:cNvSpPr/>
            <p:nvPr/>
          </p:nvSpPr>
          <p:spPr>
            <a:xfrm rot="5400000">
              <a:off x="4132359" y="4650719"/>
              <a:ext cx="355879" cy="138308"/>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400" dirty="0" err="1">
                <a:solidFill>
                  <a:srgbClr val="000000"/>
                </a:solidFill>
                <a:latin typeface="Barlow" pitchFamily="2" charset="77"/>
                <a:cs typeface="Arial" panose="020B0604020202020204" pitchFamily="34" charset="0"/>
              </a:endParaRPr>
            </a:p>
          </p:txBody>
        </p:sp>
        <p:sp>
          <p:nvSpPr>
            <p:cNvPr id="50" name="TextBox 49">
              <a:extLst>
                <a:ext uri="{FF2B5EF4-FFF2-40B4-BE49-F238E27FC236}">
                  <a16:creationId xmlns:a16="http://schemas.microsoft.com/office/drawing/2014/main" id="{52781212-C163-2816-3BDA-A2BC1E941A81}"/>
                </a:ext>
              </a:extLst>
            </p:cNvPr>
            <p:cNvSpPr txBox="1"/>
            <p:nvPr/>
          </p:nvSpPr>
          <p:spPr>
            <a:xfrm rot="5400000">
              <a:off x="4162662" y="4627331"/>
              <a:ext cx="295274" cy="194542"/>
            </a:xfrm>
            <a:prstGeom prst="rect">
              <a:avLst/>
            </a:prstGeom>
            <a:noFill/>
            <a:scene3d>
              <a:camera prst="orthographicFront"/>
              <a:lightRig rig="threePt" dir="t"/>
            </a:scene3d>
            <a:sp3d>
              <a:bevelT w="165100" prst="coolSlant"/>
            </a:sp3d>
          </p:spPr>
          <p:txBody>
            <a:bodyPr wrap="none" rtlCol="0">
              <a:spAutoFit/>
            </a:bodyPr>
            <a:lstStyle/>
            <a:p>
              <a:r>
                <a:rPr lang="en-US" sz="600" b="1" dirty="0">
                  <a:latin typeface="Barlow" panose="00000500000000000000" pitchFamily="2" charset="0"/>
                </a:rPr>
                <a:t>I2C</a:t>
              </a:r>
            </a:p>
          </p:txBody>
        </p:sp>
        <p:grpSp>
          <p:nvGrpSpPr>
            <p:cNvPr id="51" name="Group 50">
              <a:extLst>
                <a:ext uri="{FF2B5EF4-FFF2-40B4-BE49-F238E27FC236}">
                  <a16:creationId xmlns:a16="http://schemas.microsoft.com/office/drawing/2014/main" id="{43F9E649-8DF9-6E72-0A55-D425261A47CC}"/>
                </a:ext>
              </a:extLst>
            </p:cNvPr>
            <p:cNvGrpSpPr/>
            <p:nvPr/>
          </p:nvGrpSpPr>
          <p:grpSpPr>
            <a:xfrm>
              <a:off x="3555447" y="4438131"/>
              <a:ext cx="152372" cy="58684"/>
              <a:chOff x="8643839" y="3430799"/>
              <a:chExt cx="290244" cy="111833"/>
            </a:xfrm>
            <a:effectLst>
              <a:outerShdw blurRad="50800" dist="38100" dir="5400000" algn="t" rotWithShape="0">
                <a:prstClr val="black">
                  <a:alpha val="40000"/>
                </a:prstClr>
              </a:outerShdw>
            </a:effectLst>
          </p:grpSpPr>
          <p:cxnSp>
            <p:nvCxnSpPr>
              <p:cNvPr id="55" name="Straight Connector 54">
                <a:extLst>
                  <a:ext uri="{FF2B5EF4-FFF2-40B4-BE49-F238E27FC236}">
                    <a16:creationId xmlns:a16="http://schemas.microsoft.com/office/drawing/2014/main" id="{A2070CD5-BD30-29F4-219C-D53DAEC47C5E}"/>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56" name="Straight Connector 55">
                <a:extLst>
                  <a:ext uri="{FF2B5EF4-FFF2-40B4-BE49-F238E27FC236}">
                    <a16:creationId xmlns:a16="http://schemas.microsoft.com/office/drawing/2014/main" id="{C4E943C9-2B79-ECC4-D09D-94668769C814}"/>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57" name="Straight Connector 56">
                <a:extLst>
                  <a:ext uri="{FF2B5EF4-FFF2-40B4-BE49-F238E27FC236}">
                    <a16:creationId xmlns:a16="http://schemas.microsoft.com/office/drawing/2014/main" id="{41B1B9E9-375C-8F09-BF4B-C125D7EB6816}"/>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52" name="TextBox 51">
              <a:extLst>
                <a:ext uri="{FF2B5EF4-FFF2-40B4-BE49-F238E27FC236}">
                  <a16:creationId xmlns:a16="http://schemas.microsoft.com/office/drawing/2014/main" id="{D618D690-F6F7-D023-9872-41808C3A9942}"/>
                </a:ext>
              </a:extLst>
            </p:cNvPr>
            <p:cNvSpPr txBox="1"/>
            <p:nvPr/>
          </p:nvSpPr>
          <p:spPr>
            <a:xfrm>
              <a:off x="3400166" y="5789071"/>
              <a:ext cx="683847" cy="204674"/>
            </a:xfrm>
            <a:prstGeom prst="rect">
              <a:avLst/>
            </a:prstGeom>
          </p:spPr>
          <p:txBody>
            <a:bodyPr vert="horz" wrap="none" lIns="0" tIns="0" rIns="0" bIns="0" rtlCol="0" anchor="t" anchorCtr="0">
              <a:normAutofit/>
            </a:bodyPr>
            <a:lstStyle/>
            <a:p>
              <a:pPr algn="l"/>
              <a:r>
                <a:rPr lang="en-US" sz="1200" b="1" dirty="0">
                  <a:solidFill>
                    <a:schemeClr val="accent2">
                      <a:lumMod val="75000"/>
                    </a:schemeClr>
                  </a:solidFill>
                </a:rPr>
                <a:t>Sink side</a:t>
              </a:r>
            </a:p>
          </p:txBody>
        </p:sp>
        <p:pic>
          <p:nvPicPr>
            <p:cNvPr id="53" name="Picture 52">
              <a:extLst>
                <a:ext uri="{FF2B5EF4-FFF2-40B4-BE49-F238E27FC236}">
                  <a16:creationId xmlns:a16="http://schemas.microsoft.com/office/drawing/2014/main" id="{13099BA4-8A80-823A-8E82-A0278DA1F9AC}"/>
                </a:ext>
              </a:extLst>
            </p:cNvPr>
            <p:cNvPicPr>
              <a:picLocks noChangeAspect="1"/>
            </p:cNvPicPr>
            <p:nvPr/>
          </p:nvPicPr>
          <p:blipFill>
            <a:blip r:embed="rId3"/>
            <a:stretch>
              <a:fillRect/>
            </a:stretch>
          </p:blipFill>
          <p:spPr>
            <a:xfrm>
              <a:off x="4890430" y="5407386"/>
              <a:ext cx="328275" cy="319084"/>
            </a:xfrm>
            <a:prstGeom prst="rect">
              <a:avLst/>
            </a:prstGeom>
            <a:effectLst>
              <a:outerShdw blurRad="50800" dist="38100" dir="5400000" algn="t" rotWithShape="0">
                <a:prstClr val="black">
                  <a:alpha val="40000"/>
                </a:prstClr>
              </a:outerShdw>
            </a:effectLst>
          </p:spPr>
        </p:pic>
        <p:cxnSp>
          <p:nvCxnSpPr>
            <p:cNvPr id="54" name="Connector: Elbow 53">
              <a:extLst>
                <a:ext uri="{FF2B5EF4-FFF2-40B4-BE49-F238E27FC236}">
                  <a16:creationId xmlns:a16="http://schemas.microsoft.com/office/drawing/2014/main" id="{CF9ABC38-17F5-470E-FA30-5BEA7DC39BAF}"/>
                </a:ext>
              </a:extLst>
            </p:cNvPr>
            <p:cNvCxnSpPr>
              <a:cxnSpLocks/>
              <a:stCxn id="58" idx="0"/>
              <a:endCxn id="37" idx="3"/>
            </p:cNvCxnSpPr>
            <p:nvPr/>
          </p:nvCxnSpPr>
          <p:spPr>
            <a:xfrm>
              <a:off x="4651390" y="3579130"/>
              <a:ext cx="101345" cy="679602"/>
            </a:xfrm>
            <a:prstGeom prst="bentConnector3">
              <a:avLst>
                <a:gd name="adj1" fmla="val 395742"/>
              </a:avLst>
            </a:prstGeom>
            <a:ln w="12700"/>
            <a:effectLst/>
          </p:spPr>
          <p:style>
            <a:lnRef idx="2">
              <a:schemeClr val="dk1"/>
            </a:lnRef>
            <a:fillRef idx="0">
              <a:schemeClr val="dk1"/>
            </a:fillRef>
            <a:effectRef idx="1">
              <a:schemeClr val="dk1"/>
            </a:effectRef>
            <a:fontRef idx="minor">
              <a:schemeClr val="tx1"/>
            </a:fontRef>
          </p:style>
        </p:cxnSp>
        <p:sp>
          <p:nvSpPr>
            <p:cNvPr id="37" name="Rectangle: Rounded Corners 36">
              <a:extLst>
                <a:ext uri="{FF2B5EF4-FFF2-40B4-BE49-F238E27FC236}">
                  <a16:creationId xmlns:a16="http://schemas.microsoft.com/office/drawing/2014/main" id="{BD9BE1FD-236C-3B2D-3F9A-4D14CEC7D309}"/>
                </a:ext>
              </a:extLst>
            </p:cNvPr>
            <p:cNvSpPr/>
            <p:nvPr/>
          </p:nvSpPr>
          <p:spPr>
            <a:xfrm>
              <a:off x="3828932" y="3991615"/>
              <a:ext cx="923803" cy="534233"/>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solidFill>
                  <a:latin typeface="Barlow" panose="00000500000000000000" pitchFamily="2" charset="0"/>
                </a:rPr>
                <a:t>MAX77958</a:t>
              </a:r>
            </a:p>
            <a:p>
              <a:pPr algn="ctr"/>
              <a:r>
                <a:rPr lang="en-US" sz="500" b="1" dirty="0">
                  <a:solidFill>
                    <a:schemeClr val="tx1"/>
                  </a:solidFill>
                  <a:latin typeface="Barlow" panose="00000500000000000000" pitchFamily="2" charset="0"/>
                </a:rPr>
                <a:t>PD negotiator</a:t>
              </a:r>
            </a:p>
          </p:txBody>
        </p:sp>
        <p:sp>
          <p:nvSpPr>
            <p:cNvPr id="38" name="Rectangle: Rounded Corners 37">
              <a:extLst>
                <a:ext uri="{FF2B5EF4-FFF2-40B4-BE49-F238E27FC236}">
                  <a16:creationId xmlns:a16="http://schemas.microsoft.com/office/drawing/2014/main" id="{E9EBB765-2E0E-8681-3555-6FE17CA1E7ED}"/>
                </a:ext>
              </a:extLst>
            </p:cNvPr>
            <p:cNvSpPr/>
            <p:nvPr/>
          </p:nvSpPr>
          <p:spPr>
            <a:xfrm>
              <a:off x="3828932" y="4916318"/>
              <a:ext cx="912804" cy="538912"/>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lumMod val="85000"/>
                      <a:lumOff val="15000"/>
                    </a:schemeClr>
                  </a:solidFill>
                  <a:latin typeface="Barlow" panose="00000500000000000000" pitchFamily="2" charset="0"/>
                </a:rPr>
                <a:t>MAX77986</a:t>
              </a:r>
            </a:p>
            <a:p>
              <a:pPr algn="ctr"/>
              <a:r>
                <a:rPr lang="en-US" sz="500" b="1" dirty="0">
                  <a:solidFill>
                    <a:schemeClr val="tx1">
                      <a:lumMod val="85000"/>
                      <a:lumOff val="15000"/>
                    </a:schemeClr>
                  </a:solidFill>
                  <a:latin typeface="Barlow" panose="00000500000000000000" pitchFamily="2" charset="0"/>
                </a:rPr>
                <a:t>Buck Charger</a:t>
              </a:r>
            </a:p>
          </p:txBody>
        </p:sp>
        <p:sp>
          <p:nvSpPr>
            <p:cNvPr id="39" name="TextBox 38">
              <a:extLst>
                <a:ext uri="{FF2B5EF4-FFF2-40B4-BE49-F238E27FC236}">
                  <a16:creationId xmlns:a16="http://schemas.microsoft.com/office/drawing/2014/main" id="{715EA9BE-1359-8BB7-470B-13C8AD99AF21}"/>
                </a:ext>
              </a:extLst>
            </p:cNvPr>
            <p:cNvSpPr txBox="1"/>
            <p:nvPr/>
          </p:nvSpPr>
          <p:spPr>
            <a:xfrm>
              <a:off x="4227926" y="4405746"/>
              <a:ext cx="276127" cy="18018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500" dirty="0">
                  <a:ln w="0"/>
                  <a:effectLst>
                    <a:outerShdw blurRad="38100" dist="19050" dir="2700000" algn="tl" rotWithShape="0">
                      <a:schemeClr val="dk1">
                        <a:alpha val="40000"/>
                      </a:schemeClr>
                    </a:outerShdw>
                  </a:effectLst>
                  <a:latin typeface="Barlow" panose="00000500000000000000" pitchFamily="2" charset="0"/>
                </a:rPr>
                <a:t>I2C M</a:t>
              </a:r>
            </a:p>
          </p:txBody>
        </p:sp>
        <p:cxnSp>
          <p:nvCxnSpPr>
            <p:cNvPr id="87" name="Connector: Elbow 86">
              <a:extLst>
                <a:ext uri="{FF2B5EF4-FFF2-40B4-BE49-F238E27FC236}">
                  <a16:creationId xmlns:a16="http://schemas.microsoft.com/office/drawing/2014/main" id="{EFE48FA4-0A94-3379-98F0-BDDF232B4E9B}"/>
                </a:ext>
              </a:extLst>
            </p:cNvPr>
            <p:cNvCxnSpPr>
              <a:cxnSpLocks/>
              <a:stCxn id="37" idx="1"/>
            </p:cNvCxnSpPr>
            <p:nvPr/>
          </p:nvCxnSpPr>
          <p:spPr>
            <a:xfrm rot="10800000" flipV="1">
              <a:off x="3631058" y="4258732"/>
              <a:ext cx="197874" cy="173684"/>
            </a:xfrm>
            <a:prstGeom prst="bentConnector2">
              <a:avLst/>
            </a:prstGeom>
            <a:ln w="12700">
              <a:solidFill>
                <a:schemeClr val="tx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CD0F0A0E-5D7E-52BB-26AF-C04F9451A82E}"/>
                </a:ext>
              </a:extLst>
            </p:cNvPr>
            <p:cNvSpPr txBox="1"/>
            <p:nvPr/>
          </p:nvSpPr>
          <p:spPr>
            <a:xfrm>
              <a:off x="4234688" y="4946778"/>
              <a:ext cx="276127" cy="18018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5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92" name="Straight Connector 91">
              <a:extLst>
                <a:ext uri="{FF2B5EF4-FFF2-40B4-BE49-F238E27FC236}">
                  <a16:creationId xmlns:a16="http://schemas.microsoft.com/office/drawing/2014/main" id="{2D73BEA1-B946-8769-50F9-AC51DFFEBE66}"/>
                </a:ext>
              </a:extLst>
            </p:cNvPr>
            <p:cNvCxnSpPr>
              <a:cxnSpLocks/>
              <a:endCxn id="53" idx="2"/>
            </p:cNvCxnSpPr>
            <p:nvPr/>
          </p:nvCxnSpPr>
          <p:spPr>
            <a:xfrm flipH="1" flipV="1">
              <a:off x="5054568" y="5726470"/>
              <a:ext cx="342" cy="145181"/>
            </a:xfrm>
            <a:prstGeom prst="line">
              <a:avLst/>
            </a:prstGeom>
            <a:ln w="12700">
              <a:solidFill>
                <a:schemeClr val="tx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7EDC8E2D-10D8-791D-6183-9213359822C0}"/>
                </a:ext>
              </a:extLst>
            </p:cNvPr>
            <p:cNvCxnSpPr>
              <a:cxnSpLocks/>
            </p:cNvCxnSpPr>
            <p:nvPr/>
          </p:nvCxnSpPr>
          <p:spPr>
            <a:xfrm rot="16200000" flipV="1">
              <a:off x="4848035" y="5200511"/>
              <a:ext cx="100577" cy="313174"/>
            </a:xfrm>
            <a:prstGeom prst="bentConnector2">
              <a:avLst/>
            </a:prstGeom>
            <a:ln w="12700">
              <a:solidFill>
                <a:schemeClr val="tx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grpSp>
        <p:nvGrpSpPr>
          <p:cNvPr id="5" name="Group 4">
            <a:extLst>
              <a:ext uri="{FF2B5EF4-FFF2-40B4-BE49-F238E27FC236}">
                <a16:creationId xmlns:a16="http://schemas.microsoft.com/office/drawing/2014/main" id="{26DC25DB-D8A4-1258-32C7-636A80FA2C08}"/>
              </a:ext>
            </a:extLst>
          </p:cNvPr>
          <p:cNvGrpSpPr/>
          <p:nvPr/>
        </p:nvGrpSpPr>
        <p:grpSpPr>
          <a:xfrm>
            <a:off x="562280" y="1431021"/>
            <a:ext cx="3152660" cy="2124596"/>
            <a:chOff x="783614" y="1069833"/>
            <a:chExt cx="3152660" cy="2124596"/>
          </a:xfrm>
        </p:grpSpPr>
        <p:grpSp>
          <p:nvGrpSpPr>
            <p:cNvPr id="113" name="Group 112">
              <a:extLst>
                <a:ext uri="{FF2B5EF4-FFF2-40B4-BE49-F238E27FC236}">
                  <a16:creationId xmlns:a16="http://schemas.microsoft.com/office/drawing/2014/main" id="{B254B1BB-95A0-4333-01F3-DCBBF1FA2A5E}"/>
                </a:ext>
              </a:extLst>
            </p:cNvPr>
            <p:cNvGrpSpPr/>
            <p:nvPr/>
          </p:nvGrpSpPr>
          <p:grpSpPr>
            <a:xfrm>
              <a:off x="2668689" y="1540126"/>
              <a:ext cx="1267585" cy="1654303"/>
              <a:chOff x="2119324" y="2193172"/>
              <a:chExt cx="1267585" cy="1654303"/>
            </a:xfrm>
          </p:grpSpPr>
          <p:pic>
            <p:nvPicPr>
              <p:cNvPr id="6" name="Picture 5">
                <a:extLst>
                  <a:ext uri="{FF2B5EF4-FFF2-40B4-BE49-F238E27FC236}">
                    <a16:creationId xmlns:a16="http://schemas.microsoft.com/office/drawing/2014/main" id="{5CF02BA8-819B-D721-E6E3-ADF0C3854AF4}"/>
                  </a:ext>
                </a:extLst>
              </p:cNvPr>
              <p:cNvPicPr>
                <a:picLocks noChangeAspect="1"/>
              </p:cNvPicPr>
              <p:nvPr/>
            </p:nvPicPr>
            <p:blipFill rotWithShape="1">
              <a:blip r:embed="rId4">
                <a:clrChange>
                  <a:clrFrom>
                    <a:srgbClr val="FFFFFF"/>
                  </a:clrFrom>
                  <a:clrTo>
                    <a:srgbClr val="FFFFFF">
                      <a:alpha val="0"/>
                    </a:srgbClr>
                  </a:clrTo>
                </a:clrChange>
              </a:blip>
              <a:srcRect b="4496"/>
              <a:stretch/>
            </p:blipFill>
            <p:spPr>
              <a:xfrm rot="16200000">
                <a:off x="2606208" y="1706288"/>
                <a:ext cx="226677" cy="1200446"/>
              </a:xfrm>
              <a:prstGeom prst="rect">
                <a:avLst/>
              </a:prstGeom>
            </p:spPr>
          </p:pic>
          <p:pic>
            <p:nvPicPr>
              <p:cNvPr id="7" name="Picture 6">
                <a:extLst>
                  <a:ext uri="{FF2B5EF4-FFF2-40B4-BE49-F238E27FC236}">
                    <a16:creationId xmlns:a16="http://schemas.microsoft.com/office/drawing/2014/main" id="{EC50FD13-F1F8-7165-2D1F-A03A10A5CF83}"/>
                  </a:ext>
                </a:extLst>
              </p:cNvPr>
              <p:cNvPicPr>
                <a:picLocks noChangeAspect="1"/>
              </p:cNvPicPr>
              <p:nvPr/>
            </p:nvPicPr>
            <p:blipFill rotWithShape="1">
              <a:blip r:embed="rId4">
                <a:clrChange>
                  <a:clrFrom>
                    <a:srgbClr val="FFFFFF"/>
                  </a:clrFrom>
                  <a:clrTo>
                    <a:srgbClr val="FFFFFF">
                      <a:alpha val="0"/>
                    </a:srgbClr>
                  </a:clrTo>
                </a:clrChange>
              </a:blip>
              <a:srcRect b="4496"/>
              <a:stretch/>
            </p:blipFill>
            <p:spPr>
              <a:xfrm flipV="1">
                <a:off x="3187078" y="2325677"/>
                <a:ext cx="199831" cy="1521798"/>
              </a:xfrm>
              <a:prstGeom prst="rect">
                <a:avLst/>
              </a:prstGeom>
            </p:spPr>
          </p:pic>
        </p:grpSp>
        <p:grpSp>
          <p:nvGrpSpPr>
            <p:cNvPr id="116" name="Group 115">
              <a:extLst>
                <a:ext uri="{FF2B5EF4-FFF2-40B4-BE49-F238E27FC236}">
                  <a16:creationId xmlns:a16="http://schemas.microsoft.com/office/drawing/2014/main" id="{9DFA8AB4-9F81-3E96-1BE4-EB1656A60158}"/>
                </a:ext>
              </a:extLst>
            </p:cNvPr>
            <p:cNvGrpSpPr/>
            <p:nvPr/>
          </p:nvGrpSpPr>
          <p:grpSpPr>
            <a:xfrm>
              <a:off x="783614" y="1069833"/>
              <a:ext cx="1963156" cy="1126655"/>
              <a:chOff x="864483" y="1153207"/>
              <a:chExt cx="1963156" cy="1126655"/>
            </a:xfrm>
          </p:grpSpPr>
          <p:grpSp>
            <p:nvGrpSpPr>
              <p:cNvPr id="102" name="Group 101">
                <a:extLst>
                  <a:ext uri="{FF2B5EF4-FFF2-40B4-BE49-F238E27FC236}">
                    <a16:creationId xmlns:a16="http://schemas.microsoft.com/office/drawing/2014/main" id="{48BC3C9D-B0B7-460A-7C3A-C11A1A3F7788}"/>
                  </a:ext>
                </a:extLst>
              </p:cNvPr>
              <p:cNvGrpSpPr/>
              <p:nvPr/>
            </p:nvGrpSpPr>
            <p:grpSpPr>
              <a:xfrm>
                <a:off x="864483" y="1153207"/>
                <a:ext cx="1963156" cy="1126655"/>
                <a:chOff x="702914" y="1256853"/>
                <a:chExt cx="2937090" cy="1628247"/>
              </a:xfrm>
            </p:grpSpPr>
            <p:grpSp>
              <p:nvGrpSpPr>
                <p:cNvPr id="103" name="Group 102">
                  <a:extLst>
                    <a:ext uri="{FF2B5EF4-FFF2-40B4-BE49-F238E27FC236}">
                      <a16:creationId xmlns:a16="http://schemas.microsoft.com/office/drawing/2014/main" id="{E5D1B7E2-01D2-9711-1286-84143C339696}"/>
                    </a:ext>
                  </a:extLst>
                </p:cNvPr>
                <p:cNvGrpSpPr/>
                <p:nvPr/>
              </p:nvGrpSpPr>
              <p:grpSpPr>
                <a:xfrm>
                  <a:off x="702914" y="1256853"/>
                  <a:ext cx="2744112" cy="1628247"/>
                  <a:chOff x="993604" y="1272265"/>
                  <a:chExt cx="6842453" cy="4597230"/>
                </a:xfrm>
              </p:grpSpPr>
              <p:sp>
                <p:nvSpPr>
                  <p:cNvPr id="109" name="Rectangle: Rounded Corners 108">
                    <a:extLst>
                      <a:ext uri="{FF2B5EF4-FFF2-40B4-BE49-F238E27FC236}">
                        <a16:creationId xmlns:a16="http://schemas.microsoft.com/office/drawing/2014/main" id="{2180A430-BA48-0CE6-38A1-6883FF796D5A}"/>
                      </a:ext>
                    </a:extLst>
                  </p:cNvPr>
                  <p:cNvSpPr/>
                  <p:nvPr/>
                </p:nvSpPr>
                <p:spPr>
                  <a:xfrm>
                    <a:off x="2029668" y="1272265"/>
                    <a:ext cx="5806389" cy="4597227"/>
                  </a:xfrm>
                  <a:prstGeom prst="roundRect">
                    <a:avLst>
                      <a:gd name="adj" fmla="val 19007"/>
                    </a:avLst>
                  </a:prstGeom>
                  <a:solidFill>
                    <a:schemeClr val="bg2">
                      <a:lumMod val="20000"/>
                      <a:lumOff val="8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0" name="Rectangle: Rounded Corners 109">
                    <a:extLst>
                      <a:ext uri="{FF2B5EF4-FFF2-40B4-BE49-F238E27FC236}">
                        <a16:creationId xmlns:a16="http://schemas.microsoft.com/office/drawing/2014/main" id="{431C37AC-884A-ABF5-8DB8-8074925D6108}"/>
                      </a:ext>
                    </a:extLst>
                  </p:cNvPr>
                  <p:cNvSpPr/>
                  <p:nvPr/>
                </p:nvSpPr>
                <p:spPr>
                  <a:xfrm>
                    <a:off x="2029663" y="1272270"/>
                    <a:ext cx="1561958" cy="4597225"/>
                  </a:xfrm>
                  <a:prstGeom prst="roundRect">
                    <a:avLst>
                      <a:gd name="adj" fmla="val 50000"/>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Rectangle: Rounded Corners 110">
                    <a:extLst>
                      <a:ext uri="{FF2B5EF4-FFF2-40B4-BE49-F238E27FC236}">
                        <a16:creationId xmlns:a16="http://schemas.microsoft.com/office/drawing/2014/main" id="{057935C2-E707-8FA6-8A5F-C69ACB9CD400}"/>
                      </a:ext>
                    </a:extLst>
                  </p:cNvPr>
                  <p:cNvSpPr/>
                  <p:nvPr/>
                </p:nvSpPr>
                <p:spPr>
                  <a:xfrm>
                    <a:off x="1012468" y="4253261"/>
                    <a:ext cx="1896227" cy="346984"/>
                  </a:xfrm>
                  <a:prstGeom prst="roundRect">
                    <a:avLst>
                      <a:gd name="adj" fmla="val 48705"/>
                    </a:avLst>
                  </a:prstGeom>
                  <a:solidFill>
                    <a:schemeClr val="bg1">
                      <a:lumMod val="85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D5818A61-CD08-F5A3-204A-3B9D77D7237B}"/>
                      </a:ext>
                    </a:extLst>
                  </p:cNvPr>
                  <p:cNvSpPr/>
                  <p:nvPr/>
                </p:nvSpPr>
                <p:spPr>
                  <a:xfrm>
                    <a:off x="993604" y="2484640"/>
                    <a:ext cx="1896226" cy="352801"/>
                  </a:xfrm>
                  <a:prstGeom prst="roundRect">
                    <a:avLst>
                      <a:gd name="adj" fmla="val 45793"/>
                    </a:avLst>
                  </a:prstGeom>
                  <a:solidFill>
                    <a:schemeClr val="bg1">
                      <a:lumMod val="85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04" name="Group 103">
                  <a:extLst>
                    <a:ext uri="{FF2B5EF4-FFF2-40B4-BE49-F238E27FC236}">
                      <a16:creationId xmlns:a16="http://schemas.microsoft.com/office/drawing/2014/main" id="{4786DA4C-051F-2631-E5D9-1D9175001D23}"/>
                    </a:ext>
                  </a:extLst>
                </p:cNvPr>
                <p:cNvGrpSpPr/>
                <p:nvPr/>
              </p:nvGrpSpPr>
              <p:grpSpPr>
                <a:xfrm>
                  <a:off x="3413327" y="1686251"/>
                  <a:ext cx="226677" cy="793148"/>
                  <a:chOff x="6153786" y="1548598"/>
                  <a:chExt cx="226677" cy="793148"/>
                </a:xfrm>
                <a:scene3d>
                  <a:camera prst="isometricOffAxis2Right"/>
                  <a:lightRig rig="threePt" dir="t"/>
                </a:scene3d>
              </p:grpSpPr>
              <p:sp>
                <p:nvSpPr>
                  <p:cNvPr id="105" name="Rectangle: Rounded Corners 104">
                    <a:extLst>
                      <a:ext uri="{FF2B5EF4-FFF2-40B4-BE49-F238E27FC236}">
                        <a16:creationId xmlns:a16="http://schemas.microsoft.com/office/drawing/2014/main" id="{05F9051B-48A4-B10F-8C3E-94655BD32292}"/>
                      </a:ext>
                    </a:extLst>
                  </p:cNvPr>
                  <p:cNvSpPr/>
                  <p:nvPr/>
                </p:nvSpPr>
                <p:spPr>
                  <a:xfrm>
                    <a:off x="6153786" y="1548598"/>
                    <a:ext cx="226677" cy="793148"/>
                  </a:xfrm>
                  <a:prstGeom prst="roundRect">
                    <a:avLst>
                      <a:gd name="adj" fmla="val 50000"/>
                    </a:avLst>
                  </a:prstGeom>
                  <a:solidFill>
                    <a:schemeClr val="bg1">
                      <a:lumMod val="85000"/>
                    </a:schemeClr>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06" name="Oval 105">
                    <a:extLst>
                      <a:ext uri="{FF2B5EF4-FFF2-40B4-BE49-F238E27FC236}">
                        <a16:creationId xmlns:a16="http://schemas.microsoft.com/office/drawing/2014/main" id="{82939D64-0BE5-2475-E0B1-903CD84865CC}"/>
                      </a:ext>
                    </a:extLst>
                  </p:cNvPr>
                  <p:cNvSpPr/>
                  <p:nvPr/>
                </p:nvSpPr>
                <p:spPr>
                  <a:xfrm>
                    <a:off x="6187483" y="1684777"/>
                    <a:ext cx="78994" cy="79934"/>
                  </a:xfrm>
                  <a:prstGeom prst="ellipse">
                    <a:avLst/>
                  </a:prstGeom>
                  <a:solidFill>
                    <a:schemeClr val="bg1"/>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Barlow" panose="00000500000000000000" pitchFamily="2" charset="0"/>
                    </a:endParaRPr>
                  </a:p>
                </p:txBody>
              </p:sp>
              <p:sp>
                <p:nvSpPr>
                  <p:cNvPr id="107" name="Oval 106">
                    <a:extLst>
                      <a:ext uri="{FF2B5EF4-FFF2-40B4-BE49-F238E27FC236}">
                        <a16:creationId xmlns:a16="http://schemas.microsoft.com/office/drawing/2014/main" id="{B05117EE-5100-582E-DC00-21F5045D70E0}"/>
                      </a:ext>
                    </a:extLst>
                  </p:cNvPr>
                  <p:cNvSpPr/>
                  <p:nvPr/>
                </p:nvSpPr>
                <p:spPr>
                  <a:xfrm>
                    <a:off x="6187483" y="1891915"/>
                    <a:ext cx="78994" cy="79934"/>
                  </a:xfrm>
                  <a:prstGeom prst="ellipse">
                    <a:avLst/>
                  </a:prstGeom>
                  <a:solidFill>
                    <a:schemeClr val="bg1"/>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sp>
                <p:nvSpPr>
                  <p:cNvPr id="108" name="Oval 107">
                    <a:extLst>
                      <a:ext uri="{FF2B5EF4-FFF2-40B4-BE49-F238E27FC236}">
                        <a16:creationId xmlns:a16="http://schemas.microsoft.com/office/drawing/2014/main" id="{AB6F9A8A-B720-566A-AD5C-C804C23CF66D}"/>
                      </a:ext>
                    </a:extLst>
                  </p:cNvPr>
                  <p:cNvSpPr/>
                  <p:nvPr/>
                </p:nvSpPr>
                <p:spPr>
                  <a:xfrm>
                    <a:off x="6187483" y="2072582"/>
                    <a:ext cx="78994" cy="79934"/>
                  </a:xfrm>
                  <a:prstGeom prst="ellipse">
                    <a:avLst/>
                  </a:prstGeom>
                  <a:solidFill>
                    <a:schemeClr val="bg1"/>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grpSp>
          </p:grpSp>
          <p:sp>
            <p:nvSpPr>
              <p:cNvPr id="115" name="TextBox 114">
                <a:extLst>
                  <a:ext uri="{FF2B5EF4-FFF2-40B4-BE49-F238E27FC236}">
                    <a16:creationId xmlns:a16="http://schemas.microsoft.com/office/drawing/2014/main" id="{881D80D7-E0C1-E112-0C16-0341718BE052}"/>
                  </a:ext>
                </a:extLst>
              </p:cNvPr>
              <p:cNvSpPr txBox="1"/>
              <p:nvPr/>
            </p:nvSpPr>
            <p:spPr>
              <a:xfrm>
                <a:off x="1693082" y="1200812"/>
                <a:ext cx="914400" cy="249515"/>
              </a:xfrm>
              <a:prstGeom prst="rect">
                <a:avLst/>
              </a:prstGeom>
            </p:spPr>
            <p:txBody>
              <a:bodyPr vert="horz" wrap="none" lIns="0" tIns="0" rIns="0" bIns="0" rtlCol="0" anchor="t" anchorCtr="0">
                <a:normAutofit/>
              </a:bodyPr>
              <a:lstStyle/>
              <a:p>
                <a:pPr algn="l"/>
                <a:r>
                  <a:rPr lang="en-US" sz="1600" b="1" dirty="0"/>
                  <a:t>60W PD</a:t>
                </a:r>
              </a:p>
            </p:txBody>
          </p:sp>
        </p:grpSp>
      </p:grpSp>
      <p:sp>
        <p:nvSpPr>
          <p:cNvPr id="73" name="Rectangle: Rounded Corners 72">
            <a:extLst>
              <a:ext uri="{FF2B5EF4-FFF2-40B4-BE49-F238E27FC236}">
                <a16:creationId xmlns:a16="http://schemas.microsoft.com/office/drawing/2014/main" id="{51EFACCE-3F57-584C-BCBD-C0FD6D7ED664}"/>
              </a:ext>
            </a:extLst>
          </p:cNvPr>
          <p:cNvSpPr/>
          <p:nvPr/>
        </p:nvSpPr>
        <p:spPr>
          <a:xfrm>
            <a:off x="5510721" y="1191829"/>
            <a:ext cx="6167596" cy="4945181"/>
          </a:xfrm>
          <a:prstGeom prst="roundRect">
            <a:avLst>
              <a:gd name="adj" fmla="val 9619"/>
            </a:avLst>
          </a:prstGeom>
          <a:ln/>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1" name="TextBox 10">
            <a:extLst>
              <a:ext uri="{FF2B5EF4-FFF2-40B4-BE49-F238E27FC236}">
                <a16:creationId xmlns:a16="http://schemas.microsoft.com/office/drawing/2014/main" id="{D08E1712-0066-5C5F-B646-CCF6A7A4C454}"/>
              </a:ext>
            </a:extLst>
          </p:cNvPr>
          <p:cNvSpPr txBox="1"/>
          <p:nvPr/>
        </p:nvSpPr>
        <p:spPr>
          <a:xfrm>
            <a:off x="5533875" y="3166130"/>
            <a:ext cx="939369" cy="511458"/>
          </a:xfrm>
          <a:prstGeom prst="rect">
            <a:avLst/>
          </a:prstGeom>
          <a:noFill/>
        </p:spPr>
        <p:txBody>
          <a:bodyPr wrap="square" rtlCol="0">
            <a:spAutoFit/>
          </a:bodyPr>
          <a:lstStyle/>
          <a:p>
            <a:r>
              <a:rPr lang="en-US" sz="1200" b="1" dirty="0">
                <a:solidFill>
                  <a:srgbClr val="002060"/>
                </a:solidFill>
              </a:rPr>
              <a:t>CC PIN</a:t>
            </a:r>
          </a:p>
          <a:p>
            <a:r>
              <a:rPr lang="en-US" sz="1200" b="1" dirty="0">
                <a:solidFill>
                  <a:srgbClr val="002060"/>
                </a:solidFill>
              </a:rPr>
              <a:t>5V/DIV</a:t>
            </a:r>
          </a:p>
        </p:txBody>
      </p:sp>
      <p:grpSp>
        <p:nvGrpSpPr>
          <p:cNvPr id="12" name="Group 11">
            <a:extLst>
              <a:ext uri="{FF2B5EF4-FFF2-40B4-BE49-F238E27FC236}">
                <a16:creationId xmlns:a16="http://schemas.microsoft.com/office/drawing/2014/main" id="{38FE0451-125A-E79B-8A32-5F4D819BE6DE}"/>
              </a:ext>
            </a:extLst>
          </p:cNvPr>
          <p:cNvGrpSpPr/>
          <p:nvPr/>
        </p:nvGrpSpPr>
        <p:grpSpPr>
          <a:xfrm>
            <a:off x="6332754" y="1613375"/>
            <a:ext cx="4537554" cy="4233506"/>
            <a:chOff x="10149840" y="4531359"/>
            <a:chExt cx="3855817" cy="2471422"/>
          </a:xfrm>
        </p:grpSpPr>
        <p:pic>
          <p:nvPicPr>
            <p:cNvPr id="31" name="Picture 30">
              <a:extLst>
                <a:ext uri="{FF2B5EF4-FFF2-40B4-BE49-F238E27FC236}">
                  <a16:creationId xmlns:a16="http://schemas.microsoft.com/office/drawing/2014/main" id="{5A1406C6-AE29-9C8F-226C-5ACFE35C13AF}"/>
                </a:ext>
              </a:extLst>
            </p:cNvPr>
            <p:cNvPicPr>
              <a:picLocks noChangeAspect="1"/>
            </p:cNvPicPr>
            <p:nvPr/>
          </p:nvPicPr>
          <p:blipFill rotWithShape="1">
            <a:blip r:embed="rId5" cstate="screen">
              <a:extLst>
                <a:ext uri="{28A0092B-C50C-407E-A947-70E740481C1C}">
                  <a14:useLocalDpi xmlns:a14="http://schemas.microsoft.com/office/drawing/2010/main" val="0"/>
                </a:ext>
              </a:extLst>
            </a:blip>
            <a:srcRect/>
            <a:stretch/>
          </p:blipFill>
          <p:spPr>
            <a:xfrm>
              <a:off x="10149840" y="4531359"/>
              <a:ext cx="3855817" cy="2361855"/>
            </a:xfrm>
            <a:prstGeom prst="rect">
              <a:avLst/>
            </a:prstGeom>
          </p:spPr>
        </p:pic>
        <p:pic>
          <p:nvPicPr>
            <p:cNvPr id="32" name="Picture 31">
              <a:extLst>
                <a:ext uri="{FF2B5EF4-FFF2-40B4-BE49-F238E27FC236}">
                  <a16:creationId xmlns:a16="http://schemas.microsoft.com/office/drawing/2014/main" id="{E5FF2548-57FA-2F21-8CAC-C977367B00CF}"/>
                </a:ext>
              </a:extLst>
            </p:cNvPr>
            <p:cNvPicPr>
              <a:picLocks noChangeAspect="1"/>
            </p:cNvPicPr>
            <p:nvPr/>
          </p:nvPicPr>
          <p:blipFill rotWithShape="1">
            <a:blip r:embed="rId6" cstate="screen">
              <a:extLst>
                <a:ext uri="{28A0092B-C50C-407E-A947-70E740481C1C}">
                  <a14:useLocalDpi xmlns:a14="http://schemas.microsoft.com/office/drawing/2010/main" val="0"/>
                </a:ext>
              </a:extLst>
            </a:blip>
            <a:srcRect/>
            <a:stretch/>
          </p:blipFill>
          <p:spPr>
            <a:xfrm>
              <a:off x="10149840" y="5791201"/>
              <a:ext cx="3855812" cy="1211580"/>
            </a:xfrm>
            <a:prstGeom prst="rect">
              <a:avLst/>
            </a:prstGeom>
          </p:spPr>
        </p:pic>
      </p:grpSp>
      <p:cxnSp>
        <p:nvCxnSpPr>
          <p:cNvPr id="13" name="Straight Connector 12">
            <a:extLst>
              <a:ext uri="{FF2B5EF4-FFF2-40B4-BE49-F238E27FC236}">
                <a16:creationId xmlns:a16="http://schemas.microsoft.com/office/drawing/2014/main" id="{1501DC32-95A2-2091-AD5F-4684F314B69E}"/>
              </a:ext>
            </a:extLst>
          </p:cNvPr>
          <p:cNvCxnSpPr>
            <a:cxnSpLocks/>
          </p:cNvCxnSpPr>
          <p:nvPr/>
        </p:nvCxnSpPr>
        <p:spPr>
          <a:xfrm>
            <a:off x="6332752" y="1598532"/>
            <a:ext cx="0" cy="4258327"/>
          </a:xfrm>
          <a:prstGeom prst="line">
            <a:avLst/>
          </a:prstGeom>
          <a:ln w="12700"/>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FAAD1ACC-F5E5-AE14-BE87-2610805BB1F1}"/>
              </a:ext>
            </a:extLst>
          </p:cNvPr>
          <p:cNvCxnSpPr>
            <a:cxnSpLocks/>
          </p:cNvCxnSpPr>
          <p:nvPr/>
        </p:nvCxnSpPr>
        <p:spPr>
          <a:xfrm>
            <a:off x="6323709" y="1598532"/>
            <a:ext cx="4532580" cy="14843"/>
          </a:xfrm>
          <a:prstGeom prst="line">
            <a:avLst/>
          </a:prstGeom>
          <a:ln w="12700"/>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BEB21AFD-631C-C525-907F-2943F1B3E465}"/>
              </a:ext>
            </a:extLst>
          </p:cNvPr>
          <p:cNvCxnSpPr>
            <a:cxnSpLocks/>
          </p:cNvCxnSpPr>
          <p:nvPr/>
        </p:nvCxnSpPr>
        <p:spPr>
          <a:xfrm>
            <a:off x="10865334" y="1600322"/>
            <a:ext cx="0" cy="4256539"/>
          </a:xfrm>
          <a:prstGeom prst="line">
            <a:avLst/>
          </a:prstGeom>
          <a:ln w="12700"/>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85F97469-2E3C-38F5-01EE-B761C8D5B7A8}"/>
              </a:ext>
            </a:extLst>
          </p:cNvPr>
          <p:cNvCxnSpPr>
            <a:cxnSpLocks/>
          </p:cNvCxnSpPr>
          <p:nvPr/>
        </p:nvCxnSpPr>
        <p:spPr>
          <a:xfrm>
            <a:off x="6327778" y="5846881"/>
            <a:ext cx="4537556" cy="0"/>
          </a:xfrm>
          <a:prstGeom prst="line">
            <a:avLst/>
          </a:prstGeom>
          <a:ln w="12700"/>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612A18DC-0535-CFD8-1EAE-A5CC4568C5F2}"/>
              </a:ext>
            </a:extLst>
          </p:cNvPr>
          <p:cNvSpPr txBox="1"/>
          <p:nvPr/>
        </p:nvSpPr>
        <p:spPr>
          <a:xfrm>
            <a:off x="6356951" y="5223019"/>
            <a:ext cx="1989007" cy="289825"/>
          </a:xfrm>
          <a:prstGeom prst="rect">
            <a:avLst/>
          </a:prstGeom>
          <a:solidFill>
            <a:schemeClr val="bg1"/>
          </a:solidFill>
        </p:spPr>
        <p:txBody>
          <a:bodyPr wrap="square" rtlCol="0">
            <a:spAutoFit/>
          </a:bodyPr>
          <a:lstStyle/>
          <a:p>
            <a:r>
              <a:rPr lang="en-US" sz="1100" b="1" dirty="0">
                <a:solidFill>
                  <a:srgbClr val="00B050"/>
                </a:solidFill>
              </a:rPr>
              <a:t>Request (from MAX77958)</a:t>
            </a:r>
          </a:p>
        </p:txBody>
      </p:sp>
      <p:sp>
        <p:nvSpPr>
          <p:cNvPr id="18" name="TextBox 17">
            <a:extLst>
              <a:ext uri="{FF2B5EF4-FFF2-40B4-BE49-F238E27FC236}">
                <a16:creationId xmlns:a16="http://schemas.microsoft.com/office/drawing/2014/main" id="{66634C43-C989-3C8F-F472-0C1CEC012138}"/>
              </a:ext>
            </a:extLst>
          </p:cNvPr>
          <p:cNvSpPr txBox="1"/>
          <p:nvPr/>
        </p:nvSpPr>
        <p:spPr>
          <a:xfrm>
            <a:off x="8964349" y="5204089"/>
            <a:ext cx="1770036" cy="277000"/>
          </a:xfrm>
          <a:prstGeom prst="rect">
            <a:avLst/>
          </a:prstGeom>
          <a:solidFill>
            <a:schemeClr val="bg1"/>
          </a:solidFill>
        </p:spPr>
        <p:txBody>
          <a:bodyPr wrap="none" rtlCol="0">
            <a:spAutoFit/>
          </a:bodyPr>
          <a:lstStyle/>
          <a:p>
            <a:r>
              <a:rPr lang="en-US" sz="1200" b="1" dirty="0">
                <a:solidFill>
                  <a:schemeClr val="accent6">
                    <a:lumMod val="60000"/>
                    <a:lumOff val="40000"/>
                  </a:schemeClr>
                </a:solidFill>
              </a:rPr>
              <a:t>Answer (from Adapter)</a:t>
            </a:r>
          </a:p>
        </p:txBody>
      </p:sp>
      <p:cxnSp>
        <p:nvCxnSpPr>
          <p:cNvPr id="19" name="Straight Connector 18">
            <a:extLst>
              <a:ext uri="{FF2B5EF4-FFF2-40B4-BE49-F238E27FC236}">
                <a16:creationId xmlns:a16="http://schemas.microsoft.com/office/drawing/2014/main" id="{36472440-134E-2DFA-9617-BE5D4D15419E}"/>
              </a:ext>
            </a:extLst>
          </p:cNvPr>
          <p:cNvCxnSpPr>
            <a:cxnSpLocks/>
          </p:cNvCxnSpPr>
          <p:nvPr/>
        </p:nvCxnSpPr>
        <p:spPr>
          <a:xfrm>
            <a:off x="8692964" y="1603177"/>
            <a:ext cx="0" cy="1046051"/>
          </a:xfrm>
          <a:prstGeom prst="line">
            <a:avLst/>
          </a:prstGeom>
          <a:ln w="12700">
            <a:solidFill>
              <a:srgbClr val="002060"/>
            </a:solidFill>
            <a:prstDash val="dash"/>
          </a:ln>
        </p:spPr>
        <p:style>
          <a:lnRef idx="3">
            <a:schemeClr val="accent1"/>
          </a:lnRef>
          <a:fillRef idx="0">
            <a:schemeClr val="accent1"/>
          </a:fillRef>
          <a:effectRef idx="2">
            <a:schemeClr val="accent1"/>
          </a:effectRef>
          <a:fontRef idx="minor">
            <a:schemeClr val="tx1"/>
          </a:fontRef>
        </p:style>
      </p:cxnSp>
      <p:sp>
        <p:nvSpPr>
          <p:cNvPr id="20" name="TextBox 19">
            <a:extLst>
              <a:ext uri="{FF2B5EF4-FFF2-40B4-BE49-F238E27FC236}">
                <a16:creationId xmlns:a16="http://schemas.microsoft.com/office/drawing/2014/main" id="{C540A7F3-5D97-8AFD-8ADA-2293229ECD49}"/>
              </a:ext>
            </a:extLst>
          </p:cNvPr>
          <p:cNvSpPr txBox="1"/>
          <p:nvPr/>
        </p:nvSpPr>
        <p:spPr>
          <a:xfrm>
            <a:off x="6794320" y="2298932"/>
            <a:ext cx="1435905" cy="261610"/>
          </a:xfrm>
          <a:prstGeom prst="rect">
            <a:avLst/>
          </a:prstGeom>
          <a:solidFill>
            <a:schemeClr val="bg1"/>
          </a:solidFill>
        </p:spPr>
        <p:txBody>
          <a:bodyPr wrap="square" rtlCol="0">
            <a:spAutoFit/>
          </a:bodyPr>
          <a:lstStyle/>
          <a:p>
            <a:r>
              <a:rPr lang="en-US" sz="1100" b="1" dirty="0">
                <a:solidFill>
                  <a:srgbClr val="CC0099"/>
                </a:solidFill>
              </a:rPr>
              <a:t>Nothing Attached</a:t>
            </a:r>
          </a:p>
        </p:txBody>
      </p:sp>
      <p:sp>
        <p:nvSpPr>
          <p:cNvPr id="21" name="TextBox 20">
            <a:extLst>
              <a:ext uri="{FF2B5EF4-FFF2-40B4-BE49-F238E27FC236}">
                <a16:creationId xmlns:a16="http://schemas.microsoft.com/office/drawing/2014/main" id="{9AB47E9E-BE4D-D928-FEDC-3D071C5A5A6A}"/>
              </a:ext>
            </a:extLst>
          </p:cNvPr>
          <p:cNvSpPr txBox="1"/>
          <p:nvPr/>
        </p:nvSpPr>
        <p:spPr>
          <a:xfrm>
            <a:off x="6979720" y="2836403"/>
            <a:ext cx="988584" cy="277000"/>
          </a:xfrm>
          <a:prstGeom prst="rect">
            <a:avLst/>
          </a:prstGeom>
          <a:solidFill>
            <a:schemeClr val="bg1"/>
          </a:solidFill>
        </p:spPr>
        <p:txBody>
          <a:bodyPr wrap="square" rtlCol="0">
            <a:spAutoFit/>
          </a:bodyPr>
          <a:lstStyle/>
          <a:p>
            <a:r>
              <a:rPr lang="en-US" sz="1200" b="1" dirty="0">
                <a:solidFill>
                  <a:schemeClr val="tx2"/>
                </a:solidFill>
              </a:rPr>
              <a:t>DRP Mode</a:t>
            </a:r>
          </a:p>
        </p:txBody>
      </p:sp>
      <p:sp>
        <p:nvSpPr>
          <p:cNvPr id="22" name="TextBox 21">
            <a:extLst>
              <a:ext uri="{FF2B5EF4-FFF2-40B4-BE49-F238E27FC236}">
                <a16:creationId xmlns:a16="http://schemas.microsoft.com/office/drawing/2014/main" id="{5B70B6A3-2645-FDAA-3C11-EB9398E0E477}"/>
              </a:ext>
            </a:extLst>
          </p:cNvPr>
          <p:cNvSpPr txBox="1"/>
          <p:nvPr/>
        </p:nvSpPr>
        <p:spPr>
          <a:xfrm>
            <a:off x="9068697" y="2836403"/>
            <a:ext cx="1787109" cy="277000"/>
          </a:xfrm>
          <a:prstGeom prst="rect">
            <a:avLst/>
          </a:prstGeom>
          <a:solidFill>
            <a:schemeClr val="bg1"/>
          </a:solidFill>
        </p:spPr>
        <p:txBody>
          <a:bodyPr wrap="square" rtlCol="0">
            <a:spAutoFit/>
          </a:bodyPr>
          <a:lstStyle/>
          <a:p>
            <a:r>
              <a:rPr lang="en-US" sz="1200" b="1" dirty="0">
                <a:solidFill>
                  <a:schemeClr val="tx2"/>
                </a:solidFill>
              </a:rPr>
              <a:t>MAX77958 in Sink Mode</a:t>
            </a:r>
          </a:p>
        </p:txBody>
      </p:sp>
      <p:sp>
        <p:nvSpPr>
          <p:cNvPr id="23" name="Isosceles Triangle 22">
            <a:extLst>
              <a:ext uri="{FF2B5EF4-FFF2-40B4-BE49-F238E27FC236}">
                <a16:creationId xmlns:a16="http://schemas.microsoft.com/office/drawing/2014/main" id="{BC400DBA-50FD-69E2-1B22-D096AF449828}"/>
              </a:ext>
            </a:extLst>
          </p:cNvPr>
          <p:cNvSpPr/>
          <p:nvPr/>
        </p:nvSpPr>
        <p:spPr>
          <a:xfrm rot="10800000">
            <a:off x="8589667" y="1461123"/>
            <a:ext cx="204553" cy="119491"/>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p>
        </p:txBody>
      </p:sp>
      <p:sp>
        <p:nvSpPr>
          <p:cNvPr id="24" name="TextBox 23">
            <a:extLst>
              <a:ext uri="{FF2B5EF4-FFF2-40B4-BE49-F238E27FC236}">
                <a16:creationId xmlns:a16="http://schemas.microsoft.com/office/drawing/2014/main" id="{A094548D-49DA-06E0-85CF-B67FFA807DE4}"/>
              </a:ext>
            </a:extLst>
          </p:cNvPr>
          <p:cNvSpPr txBox="1"/>
          <p:nvPr/>
        </p:nvSpPr>
        <p:spPr>
          <a:xfrm>
            <a:off x="7867155" y="1191830"/>
            <a:ext cx="1787109" cy="277000"/>
          </a:xfrm>
          <a:prstGeom prst="rect">
            <a:avLst/>
          </a:prstGeom>
          <a:noFill/>
        </p:spPr>
        <p:txBody>
          <a:bodyPr wrap="square" rtlCol="0">
            <a:spAutoFit/>
          </a:bodyPr>
          <a:lstStyle/>
          <a:p>
            <a:r>
              <a:rPr lang="en-US" sz="1200" b="1" dirty="0">
                <a:solidFill>
                  <a:srgbClr val="002060"/>
                </a:solidFill>
              </a:rPr>
              <a:t>Connection detected</a:t>
            </a:r>
          </a:p>
        </p:txBody>
      </p:sp>
      <p:sp>
        <p:nvSpPr>
          <p:cNvPr id="25" name="Rectangle 24">
            <a:extLst>
              <a:ext uri="{FF2B5EF4-FFF2-40B4-BE49-F238E27FC236}">
                <a16:creationId xmlns:a16="http://schemas.microsoft.com/office/drawing/2014/main" id="{22C97666-E8E0-57A2-5442-896F04B44532}"/>
              </a:ext>
            </a:extLst>
          </p:cNvPr>
          <p:cNvSpPr/>
          <p:nvPr/>
        </p:nvSpPr>
        <p:spPr>
          <a:xfrm>
            <a:off x="8763962" y="1613375"/>
            <a:ext cx="68568" cy="2178320"/>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p>
        </p:txBody>
      </p:sp>
      <p:sp>
        <p:nvSpPr>
          <p:cNvPr id="26" name="Right Brace 25">
            <a:extLst>
              <a:ext uri="{FF2B5EF4-FFF2-40B4-BE49-F238E27FC236}">
                <a16:creationId xmlns:a16="http://schemas.microsoft.com/office/drawing/2014/main" id="{FD9EC3B3-4407-7363-8ADE-E84129BD1538}"/>
              </a:ext>
            </a:extLst>
          </p:cNvPr>
          <p:cNvSpPr/>
          <p:nvPr/>
        </p:nvSpPr>
        <p:spPr>
          <a:xfrm rot="16200000">
            <a:off x="8518189" y="1881407"/>
            <a:ext cx="156747" cy="4517657"/>
          </a:xfrm>
          <a:prstGeom prst="rightBrace">
            <a:avLst>
              <a:gd name="adj1" fmla="val 91607"/>
              <a:gd name="adj2" fmla="val 50000"/>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600" b="1" dirty="0"/>
          </a:p>
        </p:txBody>
      </p:sp>
      <p:cxnSp>
        <p:nvCxnSpPr>
          <p:cNvPr id="27" name="Straight Arrow Connector 26">
            <a:extLst>
              <a:ext uri="{FF2B5EF4-FFF2-40B4-BE49-F238E27FC236}">
                <a16:creationId xmlns:a16="http://schemas.microsoft.com/office/drawing/2014/main" id="{A94D3956-C5A4-DCEE-08E7-CB601B6FB870}"/>
              </a:ext>
            </a:extLst>
          </p:cNvPr>
          <p:cNvCxnSpPr>
            <a:cxnSpLocks/>
          </p:cNvCxnSpPr>
          <p:nvPr/>
        </p:nvCxnSpPr>
        <p:spPr>
          <a:xfrm flipH="1">
            <a:off x="8606695" y="3819155"/>
            <a:ext cx="151314" cy="212215"/>
          </a:xfrm>
          <a:prstGeom prst="straightConnector1">
            <a:avLst/>
          </a:prstGeom>
          <a:ln w="9525">
            <a:solidFill>
              <a:srgbClr val="FF0000"/>
            </a:solidFill>
            <a:headEnd type="none" w="sm" len="med"/>
            <a:tailEnd type="triangle" w="sm" len="med"/>
          </a:ln>
        </p:spPr>
        <p:style>
          <a:lnRef idx="1">
            <a:schemeClr val="accent1"/>
          </a:lnRef>
          <a:fillRef idx="0">
            <a:schemeClr val="accent1"/>
          </a:fillRef>
          <a:effectRef idx="0">
            <a:schemeClr val="accent1"/>
          </a:effectRef>
          <a:fontRef idx="minor">
            <a:schemeClr val="tx1"/>
          </a:fontRef>
        </p:style>
      </p:cxnSp>
      <p:sp>
        <p:nvSpPr>
          <p:cNvPr id="28" name="Isosceles Triangle 27">
            <a:extLst>
              <a:ext uri="{FF2B5EF4-FFF2-40B4-BE49-F238E27FC236}">
                <a16:creationId xmlns:a16="http://schemas.microsoft.com/office/drawing/2014/main" id="{FFB4391D-C48C-AC24-B283-0519FB8C158C}"/>
              </a:ext>
            </a:extLst>
          </p:cNvPr>
          <p:cNvSpPr/>
          <p:nvPr/>
        </p:nvSpPr>
        <p:spPr>
          <a:xfrm rot="5400000">
            <a:off x="6153662" y="3674990"/>
            <a:ext cx="204136" cy="114847"/>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p>
        </p:txBody>
      </p:sp>
      <p:sp>
        <p:nvSpPr>
          <p:cNvPr id="29" name="Isosceles Triangle 28">
            <a:extLst>
              <a:ext uri="{FF2B5EF4-FFF2-40B4-BE49-F238E27FC236}">
                <a16:creationId xmlns:a16="http://schemas.microsoft.com/office/drawing/2014/main" id="{93A0FE08-AF78-2575-A504-0EFB5B8CFC31}"/>
              </a:ext>
            </a:extLst>
          </p:cNvPr>
          <p:cNvSpPr/>
          <p:nvPr/>
        </p:nvSpPr>
        <p:spPr>
          <a:xfrm rot="5400000">
            <a:off x="6158939" y="2556147"/>
            <a:ext cx="204136" cy="125400"/>
          </a:xfrm>
          <a:prstGeom prst="triangle">
            <a:avLst/>
          </a:prstGeom>
          <a:solidFill>
            <a:srgbClr val="CC00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1AE1E3C-B2E6-C078-3B49-92E0748BE624}"/>
                  </a:ext>
                </a:extLst>
              </p:cNvPr>
              <p:cNvSpPr txBox="1"/>
              <p:nvPr/>
            </p:nvSpPr>
            <p:spPr>
              <a:xfrm>
                <a:off x="5524746" y="2114700"/>
                <a:ext cx="1787109" cy="511458"/>
              </a:xfrm>
              <a:prstGeom prst="rect">
                <a:avLst/>
              </a:prstGeom>
              <a:noFill/>
            </p:spPr>
            <p:txBody>
              <a:bodyPr wrap="square" rtlCol="0">
                <a:spAutoFit/>
              </a:bodyPr>
              <a:lstStyle/>
              <a:p>
                <a:r>
                  <a:rPr lang="en-US" sz="1200" b="1" dirty="0">
                    <a:solidFill>
                      <a:srgbClr val="002060"/>
                    </a:solidFill>
                  </a:rPr>
                  <a:t>USB</a:t>
                </a:r>
                <a14:m>
                  <m:oMath xmlns:m="http://schemas.openxmlformats.org/officeDocument/2006/math">
                    <m:r>
                      <a:rPr lang="en-US" sz="1100" b="1" i="0" smtClean="0">
                        <a:solidFill>
                          <a:srgbClr val="002060"/>
                        </a:solidFill>
                        <a:latin typeface="Cambria Math" panose="02040503050406030204" pitchFamily="18" charset="0"/>
                      </a:rPr>
                      <m:t> </m:t>
                    </m:r>
                    <m:sSub>
                      <m:sSubPr>
                        <m:ctrlPr>
                          <a:rPr lang="en-US" sz="1100" b="1" i="1" smtClean="0">
                            <a:solidFill>
                              <a:srgbClr val="002060"/>
                            </a:solidFill>
                            <a:latin typeface="Cambria Math" panose="02040503050406030204" pitchFamily="18" charset="0"/>
                          </a:rPr>
                        </m:ctrlPr>
                      </m:sSubPr>
                      <m:e>
                        <m:r>
                          <m:rPr>
                            <m:nor/>
                          </m:rPr>
                          <a:rPr lang="en-US" sz="1100" b="1" i="0" smtClean="0">
                            <a:solidFill>
                              <a:srgbClr val="002060"/>
                            </a:solidFill>
                          </a:rPr>
                          <m:t>V</m:t>
                        </m:r>
                      </m:e>
                      <m:sub>
                        <m:r>
                          <m:rPr>
                            <m:nor/>
                          </m:rPr>
                          <a:rPr lang="en-US" sz="1100" b="1" i="0" smtClean="0">
                            <a:solidFill>
                              <a:srgbClr val="002060"/>
                            </a:solidFill>
                          </a:rPr>
                          <m:t>BUS</m:t>
                        </m:r>
                      </m:sub>
                    </m:sSub>
                  </m:oMath>
                </a14:m>
                <a:endParaRPr lang="en-US" sz="1200" b="1" dirty="0">
                  <a:solidFill>
                    <a:srgbClr val="002060"/>
                  </a:solidFill>
                </a:endParaRPr>
              </a:p>
              <a:p>
                <a:r>
                  <a:rPr lang="en-US" sz="1200" b="1" dirty="0">
                    <a:solidFill>
                      <a:srgbClr val="002060"/>
                    </a:solidFill>
                  </a:rPr>
                  <a:t>5V/DIV</a:t>
                </a:r>
              </a:p>
            </p:txBody>
          </p:sp>
        </mc:Choice>
        <mc:Fallback xmlns="">
          <p:sp>
            <p:nvSpPr>
              <p:cNvPr id="30" name="TextBox 29">
                <a:extLst>
                  <a:ext uri="{FF2B5EF4-FFF2-40B4-BE49-F238E27FC236}">
                    <a16:creationId xmlns:a16="http://schemas.microsoft.com/office/drawing/2014/main" id="{81AE1E3C-B2E6-C078-3B49-92E0748BE624}"/>
                  </a:ext>
                </a:extLst>
              </p:cNvPr>
              <p:cNvSpPr txBox="1">
                <a:spLocks noRot="1" noChangeAspect="1" noMove="1" noResize="1" noEditPoints="1" noAdjustHandles="1" noChangeArrowheads="1" noChangeShapeType="1" noTextEdit="1"/>
              </p:cNvSpPr>
              <p:nvPr/>
            </p:nvSpPr>
            <p:spPr>
              <a:xfrm>
                <a:off x="5524746" y="2114700"/>
                <a:ext cx="1787109" cy="511458"/>
              </a:xfrm>
              <a:prstGeom prst="rect">
                <a:avLst/>
              </a:prstGeom>
              <a:blipFill>
                <a:blip r:embed="rId7"/>
                <a:stretch>
                  <a:fillRect t="-3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04A5517-2876-F3BF-CBE3-73710C234C5A}"/>
              </a:ext>
            </a:extLst>
          </p:cNvPr>
          <p:cNvSpPr txBox="1"/>
          <p:nvPr/>
        </p:nvSpPr>
        <p:spPr>
          <a:xfrm>
            <a:off x="10846278" y="5619834"/>
            <a:ext cx="1061864" cy="306874"/>
          </a:xfrm>
          <a:prstGeom prst="rect">
            <a:avLst/>
          </a:prstGeom>
          <a:noFill/>
        </p:spPr>
        <p:txBody>
          <a:bodyPr wrap="square" rtlCol="0">
            <a:spAutoFit/>
          </a:bodyPr>
          <a:lstStyle/>
          <a:p>
            <a:r>
              <a:rPr lang="en-US" sz="1200" b="1" dirty="0">
                <a:solidFill>
                  <a:srgbClr val="002060"/>
                </a:solidFill>
              </a:rPr>
              <a:t>10ms/DIV</a:t>
            </a:r>
          </a:p>
        </p:txBody>
      </p:sp>
      <p:sp>
        <p:nvSpPr>
          <p:cNvPr id="10" name="TextBox 9">
            <a:extLst>
              <a:ext uri="{FF2B5EF4-FFF2-40B4-BE49-F238E27FC236}">
                <a16:creationId xmlns:a16="http://schemas.microsoft.com/office/drawing/2014/main" id="{903C43E3-49C1-F58C-C47B-66510DCC444D}"/>
              </a:ext>
            </a:extLst>
          </p:cNvPr>
          <p:cNvSpPr txBox="1"/>
          <p:nvPr/>
        </p:nvSpPr>
        <p:spPr>
          <a:xfrm>
            <a:off x="10846278" y="3510159"/>
            <a:ext cx="832037" cy="306874"/>
          </a:xfrm>
          <a:prstGeom prst="rect">
            <a:avLst/>
          </a:prstGeom>
          <a:noFill/>
        </p:spPr>
        <p:txBody>
          <a:bodyPr wrap="square" rtlCol="0">
            <a:spAutoFit/>
          </a:bodyPr>
          <a:lstStyle/>
          <a:p>
            <a:r>
              <a:rPr lang="en-US" sz="1200" b="1" dirty="0">
                <a:solidFill>
                  <a:srgbClr val="002060"/>
                </a:solidFill>
              </a:rPr>
              <a:t>2s/DIV</a:t>
            </a:r>
          </a:p>
        </p:txBody>
      </p:sp>
      <p:sp>
        <p:nvSpPr>
          <p:cNvPr id="65" name="Oval 64">
            <a:extLst>
              <a:ext uri="{FF2B5EF4-FFF2-40B4-BE49-F238E27FC236}">
                <a16:creationId xmlns:a16="http://schemas.microsoft.com/office/drawing/2014/main" id="{893F9F9E-3C02-5B14-241E-04588CBDA9F4}"/>
              </a:ext>
            </a:extLst>
          </p:cNvPr>
          <p:cNvSpPr/>
          <p:nvPr/>
        </p:nvSpPr>
        <p:spPr>
          <a:xfrm>
            <a:off x="8708703" y="3501870"/>
            <a:ext cx="45719" cy="289825"/>
          </a:xfrm>
          <a:prstGeom prst="ellipse">
            <a:avLst/>
          </a:prstGeom>
          <a:noFill/>
          <a:ln w="9525">
            <a:solidFill>
              <a:srgbClr val="FF0000"/>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cxnSp>
        <p:nvCxnSpPr>
          <p:cNvPr id="67" name="Straight Arrow Connector 66">
            <a:extLst>
              <a:ext uri="{FF2B5EF4-FFF2-40B4-BE49-F238E27FC236}">
                <a16:creationId xmlns:a16="http://schemas.microsoft.com/office/drawing/2014/main" id="{C24459FC-E1D7-2870-2B54-7DC29D8FD1C2}"/>
              </a:ext>
            </a:extLst>
          </p:cNvPr>
          <p:cNvCxnSpPr>
            <a:cxnSpLocks/>
            <a:stCxn id="65" idx="0"/>
          </p:cNvCxnSpPr>
          <p:nvPr/>
        </p:nvCxnSpPr>
        <p:spPr>
          <a:xfrm flipV="1">
            <a:off x="8731563" y="3339141"/>
            <a:ext cx="380891" cy="162729"/>
          </a:xfrm>
          <a:prstGeom prst="straightConnector1">
            <a:avLst/>
          </a:prstGeom>
          <a:ln w="9525">
            <a:solidFill>
              <a:srgbClr val="FF0000"/>
            </a:solidFill>
            <a:headEnd type="none" w="sm" len="med"/>
            <a:tailEnd type="triangle" w="sm" len="med"/>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C8B758C-BDF4-F45C-590E-7C932CC7374F}"/>
              </a:ext>
            </a:extLst>
          </p:cNvPr>
          <p:cNvSpPr txBox="1"/>
          <p:nvPr/>
        </p:nvSpPr>
        <p:spPr>
          <a:xfrm>
            <a:off x="9154197" y="3216950"/>
            <a:ext cx="1580188" cy="276999"/>
          </a:xfrm>
          <a:prstGeom prst="rect">
            <a:avLst/>
          </a:prstGeom>
          <a:solidFill>
            <a:schemeClr val="bg1"/>
          </a:solidFill>
        </p:spPr>
        <p:txBody>
          <a:bodyPr wrap="square" rtlCol="0">
            <a:spAutoFit/>
          </a:bodyPr>
          <a:lstStyle/>
          <a:p>
            <a:r>
              <a:rPr lang="en-US" sz="1200" b="1" dirty="0">
                <a:solidFill>
                  <a:schemeClr val="accent6">
                    <a:lumMod val="60000"/>
                    <a:lumOff val="40000"/>
                  </a:schemeClr>
                </a:solidFill>
              </a:rPr>
              <a:t>Source capabilities</a:t>
            </a:r>
          </a:p>
        </p:txBody>
      </p:sp>
      <p:sp>
        <p:nvSpPr>
          <p:cNvPr id="3" name="TextBox 2">
            <a:extLst>
              <a:ext uri="{FF2B5EF4-FFF2-40B4-BE49-F238E27FC236}">
                <a16:creationId xmlns:a16="http://schemas.microsoft.com/office/drawing/2014/main" id="{555D6E12-DAF7-7FD8-1850-1B3834B38CF3}"/>
              </a:ext>
            </a:extLst>
          </p:cNvPr>
          <p:cNvSpPr txBox="1"/>
          <p:nvPr/>
        </p:nvSpPr>
        <p:spPr>
          <a:xfrm>
            <a:off x="9784129" y="1643866"/>
            <a:ext cx="446706" cy="307777"/>
          </a:xfrm>
          <a:prstGeom prst="rect">
            <a:avLst/>
          </a:prstGeom>
          <a:noFill/>
        </p:spPr>
        <p:txBody>
          <a:bodyPr wrap="square" rtlCol="0">
            <a:spAutoFit/>
          </a:bodyPr>
          <a:lstStyle/>
          <a:p>
            <a:r>
              <a:rPr lang="en-US" sz="1400" b="1" dirty="0">
                <a:solidFill>
                  <a:srgbClr val="8A2683"/>
                </a:solidFill>
              </a:rPr>
              <a:t>9V</a:t>
            </a:r>
          </a:p>
        </p:txBody>
      </p:sp>
      <p:sp>
        <p:nvSpPr>
          <p:cNvPr id="8" name="TextBox 7">
            <a:extLst>
              <a:ext uri="{FF2B5EF4-FFF2-40B4-BE49-F238E27FC236}">
                <a16:creationId xmlns:a16="http://schemas.microsoft.com/office/drawing/2014/main" id="{6945EA81-85E1-D674-D8EA-D55FA63841B0}"/>
              </a:ext>
            </a:extLst>
          </p:cNvPr>
          <p:cNvSpPr txBox="1"/>
          <p:nvPr/>
        </p:nvSpPr>
        <p:spPr>
          <a:xfrm>
            <a:off x="7337870" y="6217559"/>
            <a:ext cx="2016176" cy="322822"/>
          </a:xfrm>
          <a:prstGeom prst="rect">
            <a:avLst/>
          </a:prstGeom>
        </p:spPr>
        <p:txBody>
          <a:bodyPr vert="horz" wrap="none" lIns="0" tIns="0" rIns="0" bIns="0" rtlCol="0" anchor="t" anchorCtr="0">
            <a:normAutofit/>
          </a:bodyPr>
          <a:lstStyle/>
          <a:p>
            <a:pPr algn="l"/>
            <a:r>
              <a:rPr lang="en-US" dirty="0"/>
              <a:t>MAX77958 response to adapter</a:t>
            </a:r>
          </a:p>
        </p:txBody>
      </p:sp>
      <p:sp>
        <p:nvSpPr>
          <p:cNvPr id="33" name="TextBox 32">
            <a:extLst>
              <a:ext uri="{FF2B5EF4-FFF2-40B4-BE49-F238E27FC236}">
                <a16:creationId xmlns:a16="http://schemas.microsoft.com/office/drawing/2014/main" id="{A543F05F-178E-C722-4094-92E472152538}"/>
              </a:ext>
            </a:extLst>
          </p:cNvPr>
          <p:cNvSpPr txBox="1"/>
          <p:nvPr/>
        </p:nvSpPr>
        <p:spPr>
          <a:xfrm>
            <a:off x="7214804" y="4444325"/>
            <a:ext cx="446706" cy="307777"/>
          </a:xfrm>
          <a:prstGeom prst="rect">
            <a:avLst/>
          </a:prstGeom>
          <a:noFill/>
        </p:spPr>
        <p:txBody>
          <a:bodyPr wrap="square" rtlCol="0">
            <a:spAutoFit/>
          </a:bodyPr>
          <a:lstStyle/>
          <a:p>
            <a:r>
              <a:rPr lang="en-US" sz="1400" b="1" dirty="0">
                <a:solidFill>
                  <a:srgbClr val="8A2683"/>
                </a:solidFill>
              </a:rPr>
              <a:t>5V</a:t>
            </a:r>
          </a:p>
        </p:txBody>
      </p:sp>
      <p:sp>
        <p:nvSpPr>
          <p:cNvPr id="43" name="TextBox 42">
            <a:extLst>
              <a:ext uri="{FF2B5EF4-FFF2-40B4-BE49-F238E27FC236}">
                <a16:creationId xmlns:a16="http://schemas.microsoft.com/office/drawing/2014/main" id="{4DE9958E-3586-BCC2-BADE-07FC981E3592}"/>
              </a:ext>
            </a:extLst>
          </p:cNvPr>
          <p:cNvSpPr txBox="1"/>
          <p:nvPr/>
        </p:nvSpPr>
        <p:spPr>
          <a:xfrm>
            <a:off x="9744091" y="4303693"/>
            <a:ext cx="446706" cy="307777"/>
          </a:xfrm>
          <a:prstGeom prst="rect">
            <a:avLst/>
          </a:prstGeom>
          <a:noFill/>
        </p:spPr>
        <p:txBody>
          <a:bodyPr wrap="square" rtlCol="0">
            <a:spAutoFit/>
          </a:bodyPr>
          <a:lstStyle/>
          <a:p>
            <a:r>
              <a:rPr lang="en-US" sz="1400" b="1" dirty="0">
                <a:solidFill>
                  <a:srgbClr val="8A2683"/>
                </a:solidFill>
              </a:rPr>
              <a:t>9V</a:t>
            </a:r>
          </a:p>
        </p:txBody>
      </p:sp>
      <p:sp>
        <p:nvSpPr>
          <p:cNvPr id="48" name="TextBox 47">
            <a:extLst>
              <a:ext uri="{FF2B5EF4-FFF2-40B4-BE49-F238E27FC236}">
                <a16:creationId xmlns:a16="http://schemas.microsoft.com/office/drawing/2014/main" id="{544AB160-EED5-9948-B257-EF7A869D01DF}"/>
              </a:ext>
            </a:extLst>
          </p:cNvPr>
          <p:cNvSpPr txBox="1"/>
          <p:nvPr/>
        </p:nvSpPr>
        <p:spPr>
          <a:xfrm>
            <a:off x="1424027" y="1783763"/>
            <a:ext cx="1032716" cy="906312"/>
          </a:xfrm>
          <a:prstGeom prst="rect">
            <a:avLst/>
          </a:prstGeom>
        </p:spPr>
        <p:txBody>
          <a:bodyPr vert="horz" wrap="none" lIns="0" tIns="0" rIns="0" bIns="0" rtlCol="0" anchor="t" anchorCtr="0">
            <a:normAutofit/>
          </a:bodyPr>
          <a:lstStyle/>
          <a:p>
            <a:pPr algn="l"/>
            <a:r>
              <a:rPr lang="en-US" sz="1200" b="1" dirty="0"/>
              <a:t>5V/3A,</a:t>
            </a:r>
          </a:p>
          <a:p>
            <a:pPr algn="l"/>
            <a:r>
              <a:rPr lang="en-US" sz="1200" b="1" dirty="0"/>
              <a:t>9V,3A,</a:t>
            </a:r>
          </a:p>
          <a:p>
            <a:pPr algn="l"/>
            <a:r>
              <a:rPr lang="en-US" sz="1200" b="1" dirty="0"/>
              <a:t>15V/3A</a:t>
            </a:r>
          </a:p>
          <a:p>
            <a:pPr algn="l"/>
            <a:r>
              <a:rPr lang="en-US" sz="1200" b="1" dirty="0"/>
              <a:t>20V/3A</a:t>
            </a:r>
          </a:p>
        </p:txBody>
      </p:sp>
      <p:sp>
        <p:nvSpPr>
          <p:cNvPr id="66" name="TextBox 65">
            <a:extLst>
              <a:ext uri="{FF2B5EF4-FFF2-40B4-BE49-F238E27FC236}">
                <a16:creationId xmlns:a16="http://schemas.microsoft.com/office/drawing/2014/main" id="{4EA2A1D2-E7B2-CE35-755D-2FC77DC91381}"/>
              </a:ext>
            </a:extLst>
          </p:cNvPr>
          <p:cNvSpPr txBox="1"/>
          <p:nvPr/>
        </p:nvSpPr>
        <p:spPr>
          <a:xfrm>
            <a:off x="8739483" y="1843816"/>
            <a:ext cx="446706" cy="307777"/>
          </a:xfrm>
          <a:prstGeom prst="rect">
            <a:avLst/>
          </a:prstGeom>
          <a:noFill/>
        </p:spPr>
        <p:txBody>
          <a:bodyPr wrap="square" rtlCol="0">
            <a:spAutoFit/>
          </a:bodyPr>
          <a:lstStyle/>
          <a:p>
            <a:r>
              <a:rPr lang="en-US" sz="1400" b="1" dirty="0">
                <a:solidFill>
                  <a:srgbClr val="8A2683"/>
                </a:solidFill>
              </a:rPr>
              <a:t>5V</a:t>
            </a:r>
          </a:p>
        </p:txBody>
      </p:sp>
      <p:sp>
        <p:nvSpPr>
          <p:cNvPr id="68" name="Footer Placeholder 4">
            <a:extLst>
              <a:ext uri="{FF2B5EF4-FFF2-40B4-BE49-F238E27FC236}">
                <a16:creationId xmlns:a16="http://schemas.microsoft.com/office/drawing/2014/main" id="{7698FAC6-1176-7E28-E9FA-69F87B5099E5}"/>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9" name="Slide Number Placeholder 5">
            <a:extLst>
              <a:ext uri="{FF2B5EF4-FFF2-40B4-BE49-F238E27FC236}">
                <a16:creationId xmlns:a16="http://schemas.microsoft.com/office/drawing/2014/main" id="{564633A2-2BB7-FBAC-165C-F86CD2310418}"/>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15</a:t>
            </a:fld>
            <a:endParaRPr lang="en-US" dirty="0"/>
          </a:p>
        </p:txBody>
      </p:sp>
      <p:sp>
        <p:nvSpPr>
          <p:cNvPr id="70" name="Rectangle 69">
            <a:extLst>
              <a:ext uri="{FF2B5EF4-FFF2-40B4-BE49-F238E27FC236}">
                <a16:creationId xmlns:a16="http://schemas.microsoft.com/office/drawing/2014/main" id="{AC9A1499-B008-5A94-F393-7054C6643E11}"/>
              </a:ext>
            </a:extLst>
          </p:cNvPr>
          <p:cNvSpPr/>
          <p:nvPr/>
        </p:nvSpPr>
        <p:spPr>
          <a:xfrm>
            <a:off x="8508912" y="1633886"/>
            <a:ext cx="2346894" cy="4203015"/>
          </a:xfrm>
          <a:prstGeom prst="rect">
            <a:avLst/>
          </a:prstGeom>
          <a:solidFill>
            <a:schemeClr val="bg1"/>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Tree>
    <p:extLst>
      <p:ext uri="{BB962C8B-B14F-4D97-AF65-F5344CB8AC3E}">
        <p14:creationId xmlns:p14="http://schemas.microsoft.com/office/powerpoint/2010/main" val="2855267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fade">
                                      <p:cBhvr>
                                        <p:cTn id="16" dur="500"/>
                                        <p:tgtEl>
                                          <p:spTgt spid="7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500"/>
                                        <p:tgtEl>
                                          <p:spTgt spid="65"/>
                                        </p:tgtEl>
                                      </p:cBhvr>
                                    </p:animEffect>
                                  </p:childTnLst>
                                </p:cTn>
                              </p:par>
                              <p:par>
                                <p:cTn id="20" presetID="10" presetClass="entr" presetSubtype="0" fill="hold"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500"/>
                                        <p:tgtEl>
                                          <p:spTgt spid="6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500"/>
                                        <p:tgtEl>
                                          <p:spTgt spid="66"/>
                                        </p:tgtEl>
                                      </p:cBhvr>
                                    </p:animEffect>
                                  </p:childTnLst>
                                </p:cTn>
                              </p:par>
                              <p:par>
                                <p:cTn id="41" presetID="10" presetClass="exit" presetSubtype="0" fill="hold" grpId="0" nodeType="withEffect">
                                  <p:stCondLst>
                                    <p:cond delay="0"/>
                                  </p:stCondLst>
                                  <p:childTnLst>
                                    <p:animEffect transition="out" filter="fade">
                                      <p:cBhvr>
                                        <p:cTn id="42" dur="500"/>
                                        <p:tgtEl>
                                          <p:spTgt spid="70"/>
                                        </p:tgtEl>
                                      </p:cBhvr>
                                    </p:animEffect>
                                    <p:set>
                                      <p:cBhvr>
                                        <p:cTn id="43" dur="1" fill="hold">
                                          <p:stCondLst>
                                            <p:cond delay="499"/>
                                          </p:stCondLst>
                                        </p:cTn>
                                        <p:tgtEl>
                                          <p:spTgt spid="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65" grpId="0" animBg="1"/>
      <p:bldP spid="72" grpId="0" animBg="1"/>
      <p:bldP spid="3" grpId="0"/>
      <p:bldP spid="43" grpId="0"/>
      <p:bldP spid="48" grpId="0"/>
      <p:bldP spid="66" grpId="0"/>
      <p:bldP spid="7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USB PD DRP Solution with MCU</a:t>
            </a:r>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16</a:t>
            </a:fld>
            <a:endParaRPr lang="en-US" dirty="0"/>
          </a:p>
        </p:txBody>
      </p:sp>
      <p:grpSp>
        <p:nvGrpSpPr>
          <p:cNvPr id="62" name="Group 61">
            <a:extLst>
              <a:ext uri="{FF2B5EF4-FFF2-40B4-BE49-F238E27FC236}">
                <a16:creationId xmlns:a16="http://schemas.microsoft.com/office/drawing/2014/main" id="{B0AABDF5-2FC0-8172-1299-FEEE7951E71E}"/>
              </a:ext>
            </a:extLst>
          </p:cNvPr>
          <p:cNvGrpSpPr/>
          <p:nvPr/>
        </p:nvGrpSpPr>
        <p:grpSpPr>
          <a:xfrm>
            <a:off x="1234060" y="3937968"/>
            <a:ext cx="4314367" cy="2406722"/>
            <a:chOff x="296644" y="1797863"/>
            <a:chExt cx="5012899" cy="3176046"/>
          </a:xfrm>
        </p:grpSpPr>
        <p:grpSp>
          <p:nvGrpSpPr>
            <p:cNvPr id="57" name="Group 56">
              <a:extLst>
                <a:ext uri="{FF2B5EF4-FFF2-40B4-BE49-F238E27FC236}">
                  <a16:creationId xmlns:a16="http://schemas.microsoft.com/office/drawing/2014/main" id="{B122FC94-A72C-7CC0-874A-D7D7173F58A3}"/>
                </a:ext>
              </a:extLst>
            </p:cNvPr>
            <p:cNvGrpSpPr/>
            <p:nvPr/>
          </p:nvGrpSpPr>
          <p:grpSpPr>
            <a:xfrm>
              <a:off x="296644" y="1797863"/>
              <a:ext cx="5012899" cy="3176046"/>
              <a:chOff x="310180" y="1866029"/>
              <a:chExt cx="5012899" cy="3176046"/>
            </a:xfrm>
          </p:grpSpPr>
          <p:sp>
            <p:nvSpPr>
              <p:cNvPr id="17" name="Rectangle 16">
                <a:extLst>
                  <a:ext uri="{FF2B5EF4-FFF2-40B4-BE49-F238E27FC236}">
                    <a16:creationId xmlns:a16="http://schemas.microsoft.com/office/drawing/2014/main" id="{8EABFB09-81DE-4A89-20BB-3B5D43CCB3D5}"/>
                  </a:ext>
                </a:extLst>
              </p:cNvPr>
              <p:cNvSpPr/>
              <p:nvPr/>
            </p:nvSpPr>
            <p:spPr>
              <a:xfrm>
                <a:off x="433667" y="1866029"/>
                <a:ext cx="4889412" cy="3176046"/>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129" name="Straight Connector 128">
                <a:extLst>
                  <a:ext uri="{FF2B5EF4-FFF2-40B4-BE49-F238E27FC236}">
                    <a16:creationId xmlns:a16="http://schemas.microsoft.com/office/drawing/2014/main" id="{627ECAF5-1D8C-97EA-AA93-BC4EB04E88FA}"/>
                  </a:ext>
                </a:extLst>
              </p:cNvPr>
              <p:cNvCxnSpPr>
                <a:cxnSpLocks/>
              </p:cNvCxnSpPr>
              <p:nvPr/>
            </p:nvCxnSpPr>
            <p:spPr>
              <a:xfrm flipH="1">
                <a:off x="530360" y="2603461"/>
                <a:ext cx="1646755"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31" name="Straight Connector 130">
                <a:extLst>
                  <a:ext uri="{FF2B5EF4-FFF2-40B4-BE49-F238E27FC236}">
                    <a16:creationId xmlns:a16="http://schemas.microsoft.com/office/drawing/2014/main" id="{DF75BB84-B9A7-F34B-08F8-F4F76C5E2BD0}"/>
                  </a:ext>
                </a:extLst>
              </p:cNvPr>
              <p:cNvCxnSpPr>
                <a:cxnSpLocks/>
                <a:endCxn id="137" idx="6"/>
              </p:cNvCxnSpPr>
              <p:nvPr/>
            </p:nvCxnSpPr>
            <p:spPr>
              <a:xfrm flipH="1" flipV="1">
                <a:off x="513677" y="3191352"/>
                <a:ext cx="1027142" cy="939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30" name="Straight Connector 129">
                <a:extLst>
                  <a:ext uri="{FF2B5EF4-FFF2-40B4-BE49-F238E27FC236}">
                    <a16:creationId xmlns:a16="http://schemas.microsoft.com/office/drawing/2014/main" id="{017479EE-599A-AEB7-4B82-F30E7843A832}"/>
                  </a:ext>
                </a:extLst>
              </p:cNvPr>
              <p:cNvCxnSpPr>
                <a:cxnSpLocks/>
                <a:endCxn id="136" idx="6"/>
              </p:cNvCxnSpPr>
              <p:nvPr/>
            </p:nvCxnSpPr>
            <p:spPr>
              <a:xfrm flipH="1" flipV="1">
                <a:off x="509734" y="2957706"/>
                <a:ext cx="1034498" cy="5858"/>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11" name="Rectangle: Rounded Corners 110">
                <a:extLst>
                  <a:ext uri="{FF2B5EF4-FFF2-40B4-BE49-F238E27FC236}">
                    <a16:creationId xmlns:a16="http://schemas.microsoft.com/office/drawing/2014/main" id="{48FF07A2-E26E-D1AB-8167-A2EADB3BB90A}"/>
                  </a:ext>
                </a:extLst>
              </p:cNvPr>
              <p:cNvSpPr/>
              <p:nvPr/>
            </p:nvSpPr>
            <p:spPr>
              <a:xfrm>
                <a:off x="310180" y="2416354"/>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2" name="Rectangle 111">
                <a:extLst>
                  <a:ext uri="{FF2B5EF4-FFF2-40B4-BE49-F238E27FC236}">
                    <a16:creationId xmlns:a16="http://schemas.microsoft.com/office/drawing/2014/main" id="{60B65EB6-A184-2B51-B2D6-EC0A2B74BE15}"/>
                  </a:ext>
                </a:extLst>
              </p:cNvPr>
              <p:cNvSpPr/>
              <p:nvPr/>
            </p:nvSpPr>
            <p:spPr>
              <a:xfrm>
                <a:off x="2155541" y="4046000"/>
                <a:ext cx="234918" cy="260678"/>
              </a:xfrm>
              <a:prstGeom prst="rect">
                <a:avLst/>
              </a:prstGeom>
              <a:solidFill>
                <a:schemeClr val="bg1"/>
              </a:solidFill>
              <a:ln w="28575">
                <a:solidFill>
                  <a:schemeClr val="bg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Barlow" panose="00000500000000000000" pitchFamily="2" charset="0"/>
                </a:endParaRPr>
              </a:p>
            </p:txBody>
          </p:sp>
          <p:cxnSp>
            <p:nvCxnSpPr>
              <p:cNvPr id="115" name="Straight Connector 114">
                <a:extLst>
                  <a:ext uri="{FF2B5EF4-FFF2-40B4-BE49-F238E27FC236}">
                    <a16:creationId xmlns:a16="http://schemas.microsoft.com/office/drawing/2014/main" id="{FD380517-346F-A33F-185A-BCEE81B806EF}"/>
                  </a:ext>
                </a:extLst>
              </p:cNvPr>
              <p:cNvCxnSpPr>
                <a:cxnSpLocks/>
              </p:cNvCxnSpPr>
              <p:nvPr/>
            </p:nvCxnSpPr>
            <p:spPr>
              <a:xfrm>
                <a:off x="4511825" y="4024091"/>
                <a:ext cx="469074" cy="0"/>
              </a:xfrm>
              <a:prstGeom prst="line">
                <a:avLst/>
              </a:prstGeom>
              <a:ln w="12700">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16" name="Straight Connector 115">
                <a:extLst>
                  <a:ext uri="{FF2B5EF4-FFF2-40B4-BE49-F238E27FC236}">
                    <a16:creationId xmlns:a16="http://schemas.microsoft.com/office/drawing/2014/main" id="{6D4E2DB9-2483-B474-C410-D8F1F2501170}"/>
                  </a:ext>
                </a:extLst>
              </p:cNvPr>
              <p:cNvCxnSpPr>
                <a:cxnSpLocks/>
              </p:cNvCxnSpPr>
              <p:nvPr/>
            </p:nvCxnSpPr>
            <p:spPr>
              <a:xfrm>
                <a:off x="4511825" y="4581665"/>
                <a:ext cx="469074" cy="0"/>
              </a:xfrm>
              <a:prstGeom prst="line">
                <a:avLst/>
              </a:prstGeom>
              <a:ln w="12700">
                <a:solidFill>
                  <a:schemeClr val="dk1"/>
                </a:solidFill>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17" name="Rectangle: Rounded Corners 116">
                <a:extLst>
                  <a:ext uri="{FF2B5EF4-FFF2-40B4-BE49-F238E27FC236}">
                    <a16:creationId xmlns:a16="http://schemas.microsoft.com/office/drawing/2014/main" id="{20F669E0-53AE-2C8F-7B9E-DBCF20E3ECE2}"/>
                  </a:ext>
                </a:extLst>
              </p:cNvPr>
              <p:cNvSpPr/>
              <p:nvPr/>
            </p:nvSpPr>
            <p:spPr>
              <a:xfrm>
                <a:off x="1539691" y="2772533"/>
                <a:ext cx="1235256" cy="734921"/>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MAX77958</a:t>
                </a:r>
              </a:p>
              <a:p>
                <a:pPr algn="ctr"/>
                <a:r>
                  <a:rPr lang="en-US" sz="600" b="1" dirty="0">
                    <a:solidFill>
                      <a:schemeClr val="tx1">
                        <a:lumMod val="85000"/>
                        <a:lumOff val="15000"/>
                      </a:schemeClr>
                    </a:solidFill>
                    <a:latin typeface="Barlow" panose="00000500000000000000" pitchFamily="2" charset="0"/>
                  </a:rPr>
                  <a:t>PD negotiator</a:t>
                </a:r>
              </a:p>
            </p:txBody>
          </p:sp>
          <p:sp>
            <p:nvSpPr>
              <p:cNvPr id="118" name="Rectangle: Rounded Corners 117">
                <a:extLst>
                  <a:ext uri="{FF2B5EF4-FFF2-40B4-BE49-F238E27FC236}">
                    <a16:creationId xmlns:a16="http://schemas.microsoft.com/office/drawing/2014/main" id="{E4B71B5E-9C90-A1D6-69E4-B915C1803463}"/>
                  </a:ext>
                </a:extLst>
              </p:cNvPr>
              <p:cNvSpPr/>
              <p:nvPr/>
            </p:nvSpPr>
            <p:spPr>
              <a:xfrm>
                <a:off x="3302707" y="2772533"/>
                <a:ext cx="1220549" cy="741358"/>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MAX77986</a:t>
                </a:r>
              </a:p>
              <a:p>
                <a:pPr algn="ctr"/>
                <a:r>
                  <a:rPr lang="en-US" sz="600" b="1" dirty="0">
                    <a:solidFill>
                      <a:schemeClr val="tx1">
                        <a:lumMod val="85000"/>
                        <a:lumOff val="15000"/>
                      </a:schemeClr>
                    </a:solidFill>
                    <a:latin typeface="Barlow" panose="00000500000000000000" pitchFamily="2" charset="0"/>
                  </a:rPr>
                  <a:t>Buck Charger</a:t>
                </a:r>
              </a:p>
            </p:txBody>
          </p:sp>
          <p:sp>
            <p:nvSpPr>
              <p:cNvPr id="119" name="TextBox 118">
                <a:extLst>
                  <a:ext uri="{FF2B5EF4-FFF2-40B4-BE49-F238E27FC236}">
                    <a16:creationId xmlns:a16="http://schemas.microsoft.com/office/drawing/2014/main" id="{D60EF61D-41EF-EBFC-C172-16842D01FE4D}"/>
                  </a:ext>
                </a:extLst>
              </p:cNvPr>
              <p:cNvSpPr txBox="1"/>
              <p:nvPr/>
            </p:nvSpPr>
            <p:spPr>
              <a:xfrm rot="16200000">
                <a:off x="2521736" y="2973281"/>
                <a:ext cx="379856" cy="240927"/>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M</a:t>
                </a:r>
              </a:p>
            </p:txBody>
          </p:sp>
          <p:sp>
            <p:nvSpPr>
              <p:cNvPr id="121" name="Rectangle: Rounded Corners 120">
                <a:extLst>
                  <a:ext uri="{FF2B5EF4-FFF2-40B4-BE49-F238E27FC236}">
                    <a16:creationId xmlns:a16="http://schemas.microsoft.com/office/drawing/2014/main" id="{CCD28E2C-EBA2-077A-06A3-B469238B5152}"/>
                  </a:ext>
                </a:extLst>
              </p:cNvPr>
              <p:cNvSpPr/>
              <p:nvPr/>
            </p:nvSpPr>
            <p:spPr>
              <a:xfrm>
                <a:off x="1533730" y="3922552"/>
                <a:ext cx="1207374" cy="741358"/>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600" b="1" dirty="0">
                    <a:solidFill>
                      <a:schemeClr val="tx1">
                        <a:lumMod val="85000"/>
                        <a:lumOff val="15000"/>
                      </a:schemeClr>
                    </a:solidFill>
                    <a:latin typeface="Barlow" panose="00000500000000000000" pitchFamily="2" charset="0"/>
                  </a:rPr>
                  <a:t>MCU</a:t>
                </a:r>
              </a:p>
            </p:txBody>
          </p:sp>
          <p:grpSp>
            <p:nvGrpSpPr>
              <p:cNvPr id="123" name="Group 122">
                <a:extLst>
                  <a:ext uri="{FF2B5EF4-FFF2-40B4-BE49-F238E27FC236}">
                    <a16:creationId xmlns:a16="http://schemas.microsoft.com/office/drawing/2014/main" id="{10FED313-A74E-61E0-5F70-69C2E0BEFCA7}"/>
                  </a:ext>
                </a:extLst>
              </p:cNvPr>
              <p:cNvGrpSpPr/>
              <p:nvPr/>
            </p:nvGrpSpPr>
            <p:grpSpPr>
              <a:xfrm>
                <a:off x="4886622" y="4746886"/>
                <a:ext cx="203743" cy="80729"/>
                <a:chOff x="8643839" y="3430799"/>
                <a:chExt cx="290244" cy="111833"/>
              </a:xfrm>
            </p:grpSpPr>
            <p:cxnSp>
              <p:nvCxnSpPr>
                <p:cNvPr id="148" name="Straight Connector 147">
                  <a:extLst>
                    <a:ext uri="{FF2B5EF4-FFF2-40B4-BE49-F238E27FC236}">
                      <a16:creationId xmlns:a16="http://schemas.microsoft.com/office/drawing/2014/main" id="{EFE58FA4-3DBA-88BC-4DB4-90F500E8480D}"/>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0F96C145-37F2-0E44-00C6-10C353D4242A}"/>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50" name="Straight Connector 149">
                  <a:extLst>
                    <a:ext uri="{FF2B5EF4-FFF2-40B4-BE49-F238E27FC236}">
                      <a16:creationId xmlns:a16="http://schemas.microsoft.com/office/drawing/2014/main" id="{938A0D35-29DF-8512-4500-F5781E8097D8}"/>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126" name="TextBox 125">
                <a:extLst>
                  <a:ext uri="{FF2B5EF4-FFF2-40B4-BE49-F238E27FC236}">
                    <a16:creationId xmlns:a16="http://schemas.microsoft.com/office/drawing/2014/main" id="{2F19D9FB-C44E-35B6-43C8-E79C8FC309FA}"/>
                  </a:ext>
                </a:extLst>
              </p:cNvPr>
              <p:cNvSpPr txBox="1"/>
              <p:nvPr/>
            </p:nvSpPr>
            <p:spPr>
              <a:xfrm>
                <a:off x="1992423" y="3337482"/>
                <a:ext cx="369384" cy="247757"/>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127" name="Connector: Elbow 126">
                <a:extLst>
                  <a:ext uri="{FF2B5EF4-FFF2-40B4-BE49-F238E27FC236}">
                    <a16:creationId xmlns:a16="http://schemas.microsoft.com/office/drawing/2014/main" id="{E92AC3BD-8AEC-3323-40E0-BE5848E9835A}"/>
                  </a:ext>
                </a:extLst>
              </p:cNvPr>
              <p:cNvCxnSpPr>
                <a:cxnSpLocks/>
              </p:cNvCxnSpPr>
              <p:nvPr/>
            </p:nvCxnSpPr>
            <p:spPr>
              <a:xfrm rot="16200000" flipH="1">
                <a:off x="3024170" y="1900313"/>
                <a:ext cx="3461" cy="1747903"/>
              </a:xfrm>
              <a:prstGeom prst="bentConnector3">
                <a:avLst>
                  <a:gd name="adj1" fmla="val -4870673"/>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32" name="Straight Connector 131">
                <a:extLst>
                  <a:ext uri="{FF2B5EF4-FFF2-40B4-BE49-F238E27FC236}">
                    <a16:creationId xmlns:a16="http://schemas.microsoft.com/office/drawing/2014/main" id="{86AC09F6-49B6-FD36-4B46-83FEE79EE63C}"/>
                  </a:ext>
                </a:extLst>
              </p:cNvPr>
              <p:cNvCxnSpPr>
                <a:cxnSpLocks/>
              </p:cNvCxnSpPr>
              <p:nvPr/>
            </p:nvCxnSpPr>
            <p:spPr>
              <a:xfrm flipH="1">
                <a:off x="613120" y="3361310"/>
                <a:ext cx="26200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34" name="Straight Connector 133">
                <a:extLst>
                  <a:ext uri="{FF2B5EF4-FFF2-40B4-BE49-F238E27FC236}">
                    <a16:creationId xmlns:a16="http://schemas.microsoft.com/office/drawing/2014/main" id="{5C263276-3EDA-5355-FAD7-DFCA672CDE25}"/>
                  </a:ext>
                </a:extLst>
              </p:cNvPr>
              <p:cNvCxnSpPr>
                <a:cxnSpLocks/>
              </p:cNvCxnSpPr>
              <p:nvPr/>
            </p:nvCxnSpPr>
            <p:spPr>
              <a:xfrm>
                <a:off x="875122" y="3361310"/>
                <a:ext cx="0" cy="234073"/>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35" name="Oval 134">
                <a:extLst>
                  <a:ext uri="{FF2B5EF4-FFF2-40B4-BE49-F238E27FC236}">
                    <a16:creationId xmlns:a16="http://schemas.microsoft.com/office/drawing/2014/main" id="{D0357DE4-0804-BB8D-815F-9F31750879B1}"/>
                  </a:ext>
                </a:extLst>
              </p:cNvPr>
              <p:cNvSpPr/>
              <p:nvPr/>
            </p:nvSpPr>
            <p:spPr>
              <a:xfrm>
                <a:off x="409500" y="2554927"/>
                <a:ext cx="105626" cy="109962"/>
              </a:xfrm>
              <a:prstGeom prst="ellipse">
                <a:avLst/>
              </a:prstGeom>
              <a:solidFill>
                <a:schemeClr val="bg1"/>
              </a:solidFill>
              <a:ln w="28575">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136" name="Oval 135">
                <a:extLst>
                  <a:ext uri="{FF2B5EF4-FFF2-40B4-BE49-F238E27FC236}">
                    <a16:creationId xmlns:a16="http://schemas.microsoft.com/office/drawing/2014/main" id="{6A4EE918-5D3F-29D6-3FF4-A60657E52019}"/>
                  </a:ext>
                </a:extLst>
              </p:cNvPr>
              <p:cNvSpPr/>
              <p:nvPr/>
            </p:nvSpPr>
            <p:spPr>
              <a:xfrm>
                <a:off x="404108" y="2902724"/>
                <a:ext cx="105626" cy="109962"/>
              </a:xfrm>
              <a:prstGeom prst="ellipse">
                <a:avLst/>
              </a:prstGeom>
              <a:solidFill>
                <a:schemeClr val="bg1"/>
              </a:solidFill>
              <a:ln w="28575">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137" name="Oval 136">
                <a:extLst>
                  <a:ext uri="{FF2B5EF4-FFF2-40B4-BE49-F238E27FC236}">
                    <a16:creationId xmlns:a16="http://schemas.microsoft.com/office/drawing/2014/main" id="{9D63C0E7-2672-0CF0-53FE-ACED4A7F95E7}"/>
                  </a:ext>
                </a:extLst>
              </p:cNvPr>
              <p:cNvSpPr/>
              <p:nvPr/>
            </p:nvSpPr>
            <p:spPr>
              <a:xfrm>
                <a:off x="408051" y="3136370"/>
                <a:ext cx="105626" cy="109962"/>
              </a:xfrm>
              <a:prstGeom prst="ellipse">
                <a:avLst/>
              </a:prstGeom>
              <a:solidFill>
                <a:schemeClr val="bg1"/>
              </a:solidFill>
              <a:ln w="28575">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139" name="TextBox 138">
                <a:extLst>
                  <a:ext uri="{FF2B5EF4-FFF2-40B4-BE49-F238E27FC236}">
                    <a16:creationId xmlns:a16="http://schemas.microsoft.com/office/drawing/2014/main" id="{26D3120D-220B-0C3D-906E-38BB90705CB5}"/>
                  </a:ext>
                </a:extLst>
              </p:cNvPr>
              <p:cNvSpPr txBox="1"/>
              <p:nvPr/>
            </p:nvSpPr>
            <p:spPr>
              <a:xfrm>
                <a:off x="597548" y="2339482"/>
                <a:ext cx="471595" cy="264004"/>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VBUS</a:t>
                </a:r>
              </a:p>
            </p:txBody>
          </p:sp>
          <p:sp>
            <p:nvSpPr>
              <p:cNvPr id="140" name="TextBox 139">
                <a:extLst>
                  <a:ext uri="{FF2B5EF4-FFF2-40B4-BE49-F238E27FC236}">
                    <a16:creationId xmlns:a16="http://schemas.microsoft.com/office/drawing/2014/main" id="{364AB169-9BA7-223B-C8DC-08DC6354EC43}"/>
                  </a:ext>
                </a:extLst>
              </p:cNvPr>
              <p:cNvSpPr txBox="1"/>
              <p:nvPr/>
            </p:nvSpPr>
            <p:spPr>
              <a:xfrm>
                <a:off x="585533" y="2746681"/>
                <a:ext cx="378468" cy="264004"/>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CC1</a:t>
                </a:r>
              </a:p>
            </p:txBody>
          </p:sp>
          <p:sp>
            <p:nvSpPr>
              <p:cNvPr id="141" name="TextBox 140">
                <a:extLst>
                  <a:ext uri="{FF2B5EF4-FFF2-40B4-BE49-F238E27FC236}">
                    <a16:creationId xmlns:a16="http://schemas.microsoft.com/office/drawing/2014/main" id="{DD0BD4B2-5511-C9FE-8964-5061F344AA5A}"/>
                  </a:ext>
                </a:extLst>
              </p:cNvPr>
              <p:cNvSpPr txBox="1"/>
              <p:nvPr/>
            </p:nvSpPr>
            <p:spPr>
              <a:xfrm>
                <a:off x="574417" y="2971372"/>
                <a:ext cx="398957" cy="264004"/>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CC2</a:t>
                </a:r>
              </a:p>
            </p:txBody>
          </p:sp>
          <p:sp>
            <p:nvSpPr>
              <p:cNvPr id="142" name="Rectangle: Rounded Corners 141">
                <a:extLst>
                  <a:ext uri="{FF2B5EF4-FFF2-40B4-BE49-F238E27FC236}">
                    <a16:creationId xmlns:a16="http://schemas.microsoft.com/office/drawing/2014/main" id="{4FAA9DD9-C755-F45B-197C-82130E09E4ED}"/>
                  </a:ext>
                </a:extLst>
              </p:cNvPr>
              <p:cNvSpPr/>
              <p:nvPr/>
            </p:nvSpPr>
            <p:spPr>
              <a:xfrm>
                <a:off x="3269508" y="3918631"/>
                <a:ext cx="1253747" cy="745280"/>
              </a:xfrm>
              <a:prstGeom prst="roundRect">
                <a:avLst>
                  <a:gd name="adj" fmla="val 1001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MAX17260/2</a:t>
                </a:r>
              </a:p>
              <a:p>
                <a:pPr algn="ctr"/>
                <a:r>
                  <a:rPr lang="en-US" sz="600" b="1" dirty="0">
                    <a:solidFill>
                      <a:schemeClr val="tx1">
                        <a:lumMod val="85000"/>
                        <a:lumOff val="15000"/>
                      </a:schemeClr>
                    </a:solidFill>
                    <a:latin typeface="Barlow" panose="00000500000000000000" pitchFamily="2" charset="0"/>
                  </a:rPr>
                  <a:t>Fuel Gauge</a:t>
                </a:r>
              </a:p>
            </p:txBody>
          </p:sp>
          <p:cxnSp>
            <p:nvCxnSpPr>
              <p:cNvPr id="143" name="Connector: Elbow 142">
                <a:extLst>
                  <a:ext uri="{FF2B5EF4-FFF2-40B4-BE49-F238E27FC236}">
                    <a16:creationId xmlns:a16="http://schemas.microsoft.com/office/drawing/2014/main" id="{36220339-4C5E-E8EE-BD14-C751055B9472}"/>
                  </a:ext>
                </a:extLst>
              </p:cNvPr>
              <p:cNvCxnSpPr>
                <a:cxnSpLocks/>
              </p:cNvCxnSpPr>
              <p:nvPr/>
            </p:nvCxnSpPr>
            <p:spPr>
              <a:xfrm>
                <a:off x="4521942" y="3154824"/>
                <a:ext cx="464284" cy="854394"/>
              </a:xfrm>
              <a:prstGeom prst="bentConnector2">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20" name="Straight Connector 119">
                <a:extLst>
                  <a:ext uri="{FF2B5EF4-FFF2-40B4-BE49-F238E27FC236}">
                    <a16:creationId xmlns:a16="http://schemas.microsoft.com/office/drawing/2014/main" id="{194DB489-659F-0533-A25F-184569D5FCE0}"/>
                  </a:ext>
                </a:extLst>
              </p:cNvPr>
              <p:cNvCxnSpPr>
                <a:cxnSpLocks/>
              </p:cNvCxnSpPr>
              <p:nvPr/>
            </p:nvCxnSpPr>
            <p:spPr>
              <a:xfrm>
                <a:off x="4987997" y="3991751"/>
                <a:ext cx="0" cy="755141"/>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5" name="Arrow: Left-Right 14">
                <a:extLst>
                  <a:ext uri="{FF2B5EF4-FFF2-40B4-BE49-F238E27FC236}">
                    <a16:creationId xmlns:a16="http://schemas.microsoft.com/office/drawing/2014/main" id="{77275A3D-7972-2F5B-7FBF-286410529687}"/>
                  </a:ext>
                </a:extLst>
              </p:cNvPr>
              <p:cNvSpPr/>
              <p:nvPr/>
            </p:nvSpPr>
            <p:spPr>
              <a:xfrm>
                <a:off x="2800896" y="3032458"/>
                <a:ext cx="475861" cy="190266"/>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8" name="Arrow: Left-Right 17">
                <a:extLst>
                  <a:ext uri="{FF2B5EF4-FFF2-40B4-BE49-F238E27FC236}">
                    <a16:creationId xmlns:a16="http://schemas.microsoft.com/office/drawing/2014/main" id="{929C39E7-D5F0-B49E-FA60-39778FEDC8EF}"/>
                  </a:ext>
                </a:extLst>
              </p:cNvPr>
              <p:cNvSpPr/>
              <p:nvPr/>
            </p:nvSpPr>
            <p:spPr>
              <a:xfrm rot="5400000">
                <a:off x="1915134" y="3636468"/>
                <a:ext cx="408221" cy="169510"/>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9" name="Arrow: Left-Right 18">
                <a:extLst>
                  <a:ext uri="{FF2B5EF4-FFF2-40B4-BE49-F238E27FC236}">
                    <a16:creationId xmlns:a16="http://schemas.microsoft.com/office/drawing/2014/main" id="{90768459-904F-9AD2-8562-A7812CFDB990}"/>
                  </a:ext>
                </a:extLst>
              </p:cNvPr>
              <p:cNvSpPr/>
              <p:nvPr/>
            </p:nvSpPr>
            <p:spPr>
              <a:xfrm>
                <a:off x="2763991" y="4144321"/>
                <a:ext cx="475861" cy="190266"/>
              </a:xfrm>
              <a:prstGeom prst="leftRightArrow">
                <a:avLst>
                  <a:gd name="adj1" fmla="val 64384"/>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09" name="TextBox 108">
                <a:extLst>
                  <a:ext uri="{FF2B5EF4-FFF2-40B4-BE49-F238E27FC236}">
                    <a16:creationId xmlns:a16="http://schemas.microsoft.com/office/drawing/2014/main" id="{22C9D10F-E135-E026-272B-9E88E504C13D}"/>
                  </a:ext>
                </a:extLst>
              </p:cNvPr>
              <p:cNvSpPr txBox="1"/>
              <p:nvPr/>
            </p:nvSpPr>
            <p:spPr>
              <a:xfrm>
                <a:off x="2878373" y="3001928"/>
                <a:ext cx="363568" cy="264004"/>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sp>
            <p:nvSpPr>
              <p:cNvPr id="110" name="TextBox 109">
                <a:extLst>
                  <a:ext uri="{FF2B5EF4-FFF2-40B4-BE49-F238E27FC236}">
                    <a16:creationId xmlns:a16="http://schemas.microsoft.com/office/drawing/2014/main" id="{90CE30BB-9006-51B8-48C2-FC6A0619E99B}"/>
                  </a:ext>
                </a:extLst>
              </p:cNvPr>
              <p:cNvSpPr txBox="1"/>
              <p:nvPr/>
            </p:nvSpPr>
            <p:spPr>
              <a:xfrm>
                <a:off x="2832128" y="4101182"/>
                <a:ext cx="363568" cy="264004"/>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sp>
            <p:nvSpPr>
              <p:cNvPr id="20" name="TextBox 19">
                <a:extLst>
                  <a:ext uri="{FF2B5EF4-FFF2-40B4-BE49-F238E27FC236}">
                    <a16:creationId xmlns:a16="http://schemas.microsoft.com/office/drawing/2014/main" id="{358C4067-8F34-0577-2D31-7CBA415AD3A8}"/>
                  </a:ext>
                </a:extLst>
              </p:cNvPr>
              <p:cNvSpPr txBox="1"/>
              <p:nvPr/>
            </p:nvSpPr>
            <p:spPr>
              <a:xfrm rot="16200000">
                <a:off x="1869982" y="3572544"/>
                <a:ext cx="496298" cy="232446"/>
              </a:xfrm>
              <a:prstGeom prst="rect">
                <a:avLst/>
              </a:prstGeom>
              <a:noFill/>
              <a:scene3d>
                <a:camera prst="orthographicFront"/>
                <a:lightRig rig="threePt" dir="t"/>
              </a:scene3d>
              <a:sp3d>
                <a:bevelT w="165100" prst="coolSlant"/>
              </a:sp3d>
            </p:spPr>
            <p:txBody>
              <a:bodyPr wrap="square" rtlCol="0">
                <a:spAutoFit/>
              </a:bodyPr>
              <a:lstStyle/>
              <a:p>
                <a:r>
                  <a:rPr lang="en-US" sz="700" b="1" dirty="0">
                    <a:latin typeface="Barlow" panose="00000500000000000000" pitchFamily="2" charset="0"/>
                  </a:rPr>
                  <a:t>I2C</a:t>
                </a:r>
              </a:p>
            </p:txBody>
          </p:sp>
          <p:grpSp>
            <p:nvGrpSpPr>
              <p:cNvPr id="23" name="Group 22">
                <a:extLst>
                  <a:ext uri="{FF2B5EF4-FFF2-40B4-BE49-F238E27FC236}">
                    <a16:creationId xmlns:a16="http://schemas.microsoft.com/office/drawing/2014/main" id="{5AF4DF9C-5F77-C1AB-F72B-590C8975C514}"/>
                  </a:ext>
                </a:extLst>
              </p:cNvPr>
              <p:cNvGrpSpPr/>
              <p:nvPr/>
            </p:nvGrpSpPr>
            <p:grpSpPr>
              <a:xfrm>
                <a:off x="773844" y="3595383"/>
                <a:ext cx="203743" cy="80729"/>
                <a:chOff x="8646553" y="3430799"/>
                <a:chExt cx="290244" cy="111833"/>
              </a:xfrm>
            </p:grpSpPr>
            <p:cxnSp>
              <p:nvCxnSpPr>
                <p:cNvPr id="24" name="Straight Connector 23">
                  <a:extLst>
                    <a:ext uri="{FF2B5EF4-FFF2-40B4-BE49-F238E27FC236}">
                      <a16:creationId xmlns:a16="http://schemas.microsoft.com/office/drawing/2014/main" id="{5ABDEC45-5241-AF82-30F9-54087E720614}"/>
                    </a:ext>
                  </a:extLst>
                </p:cNvPr>
                <p:cNvCxnSpPr>
                  <a:cxnSpLocks/>
                </p:cNvCxnSpPr>
                <p:nvPr/>
              </p:nvCxnSpPr>
              <p:spPr>
                <a:xfrm>
                  <a:off x="8646553"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6B272548-172B-8E67-CF83-8A47EE2ACC7C}"/>
                    </a:ext>
                  </a:extLst>
                </p:cNvPr>
                <p:cNvCxnSpPr>
                  <a:cxnSpLocks/>
                </p:cNvCxnSpPr>
                <p:nvPr/>
              </p:nvCxnSpPr>
              <p:spPr>
                <a:xfrm>
                  <a:off x="8673699"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E08A76DA-74F2-EE36-4C52-BBCB7C611698}"/>
                    </a:ext>
                  </a:extLst>
                </p:cNvPr>
                <p:cNvCxnSpPr>
                  <a:cxnSpLocks/>
                </p:cNvCxnSpPr>
                <p:nvPr/>
              </p:nvCxnSpPr>
              <p:spPr>
                <a:xfrm>
                  <a:off x="8741430"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pic>
            <p:nvPicPr>
              <p:cNvPr id="31" name="Picture 30">
                <a:extLst>
                  <a:ext uri="{FF2B5EF4-FFF2-40B4-BE49-F238E27FC236}">
                    <a16:creationId xmlns:a16="http://schemas.microsoft.com/office/drawing/2014/main" id="{CC6970AD-0B0F-D3AE-DF07-B98225D102CC}"/>
                  </a:ext>
                </a:extLst>
              </p:cNvPr>
              <p:cNvPicPr>
                <a:picLocks noChangeAspect="1"/>
              </p:cNvPicPr>
              <p:nvPr/>
            </p:nvPicPr>
            <p:blipFill>
              <a:blip r:embed="rId3"/>
              <a:stretch>
                <a:fillRect/>
              </a:stretch>
            </p:blipFill>
            <p:spPr>
              <a:xfrm>
                <a:off x="4768166" y="4097546"/>
                <a:ext cx="438950" cy="438950"/>
              </a:xfrm>
              <a:prstGeom prst="rect">
                <a:avLst/>
              </a:prstGeom>
            </p:spPr>
          </p:pic>
          <p:cxnSp>
            <p:nvCxnSpPr>
              <p:cNvPr id="9" name="Straight Arrow Connector 8">
                <a:extLst>
                  <a:ext uri="{FF2B5EF4-FFF2-40B4-BE49-F238E27FC236}">
                    <a16:creationId xmlns:a16="http://schemas.microsoft.com/office/drawing/2014/main" id="{2A74F054-8C46-B325-6785-0CCB93B7D8A7}"/>
                  </a:ext>
                </a:extLst>
              </p:cNvPr>
              <p:cNvCxnSpPr>
                <a:cxnSpLocks/>
              </p:cNvCxnSpPr>
              <p:nvPr/>
            </p:nvCxnSpPr>
            <p:spPr>
              <a:xfrm flipV="1">
                <a:off x="4523256" y="2957705"/>
                <a:ext cx="519778" cy="1"/>
              </a:xfrm>
              <a:prstGeom prst="straightConnector1">
                <a:avLst/>
              </a:prstGeom>
              <a:ln w="12700">
                <a:solidFill>
                  <a:schemeClr val="tx1"/>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C9B16C54-E250-E96B-BF38-D5D4A8D7EED9}"/>
                </a:ext>
              </a:extLst>
            </p:cNvPr>
            <p:cNvSpPr txBox="1"/>
            <p:nvPr/>
          </p:nvSpPr>
          <p:spPr>
            <a:xfrm>
              <a:off x="4585834" y="2670927"/>
              <a:ext cx="649893" cy="213169"/>
            </a:xfrm>
            <a:prstGeom prst="rect">
              <a:avLst/>
            </a:prstGeom>
          </p:spPr>
          <p:txBody>
            <a:bodyPr vert="horz" wrap="none" lIns="0" tIns="0" rIns="0" bIns="0" rtlCol="0" anchor="t" anchorCtr="0">
              <a:noAutofit/>
            </a:bodyPr>
            <a:lstStyle/>
            <a:p>
              <a:pPr algn="l"/>
              <a:r>
                <a:rPr lang="en-US" sz="1050" b="1" dirty="0">
                  <a:solidFill>
                    <a:schemeClr val="accent6">
                      <a:lumMod val="60000"/>
                      <a:lumOff val="40000"/>
                    </a:schemeClr>
                  </a:solidFill>
                </a:rPr>
                <a:t>To System</a:t>
              </a:r>
            </a:p>
          </p:txBody>
        </p:sp>
      </p:grpSp>
      <p:cxnSp>
        <p:nvCxnSpPr>
          <p:cNvPr id="8" name="Straight Arrow Connector 7">
            <a:extLst>
              <a:ext uri="{FF2B5EF4-FFF2-40B4-BE49-F238E27FC236}">
                <a16:creationId xmlns:a16="http://schemas.microsoft.com/office/drawing/2014/main" id="{622BA3F8-0A31-168F-345B-21C262B71FDC}"/>
              </a:ext>
            </a:extLst>
          </p:cNvPr>
          <p:cNvCxnSpPr>
            <a:cxnSpLocks/>
            <a:stCxn id="41" idx="2"/>
            <a:endCxn id="14" idx="0"/>
          </p:cNvCxnSpPr>
          <p:nvPr/>
        </p:nvCxnSpPr>
        <p:spPr>
          <a:xfrm>
            <a:off x="8281186" y="4441232"/>
            <a:ext cx="4984" cy="308875"/>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3A120EAD-35BA-20C8-DBB0-81176BD45A5A}"/>
              </a:ext>
            </a:extLst>
          </p:cNvPr>
          <p:cNvSpPr/>
          <p:nvPr/>
        </p:nvSpPr>
        <p:spPr>
          <a:xfrm>
            <a:off x="9513779" y="5013375"/>
            <a:ext cx="1846416" cy="570617"/>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rPr>
              <a:t>MAX77958 NEGOTIATES THE HIGHEST POWER PROFILE WITH THE SOURCE, ALIGNING WITH SINK PDOS SET BY THE MCU AT INITIALIZATION.</a:t>
            </a:r>
            <a:endParaRPr lang="en-US" sz="800" b="1" dirty="0">
              <a:solidFill>
                <a:schemeClr val="tx1"/>
              </a:solidFill>
              <a:latin typeface="Barlow" panose="00000500000000000000" pitchFamily="2" charset="0"/>
            </a:endParaRPr>
          </a:p>
        </p:txBody>
      </p:sp>
      <p:cxnSp>
        <p:nvCxnSpPr>
          <p:cNvPr id="12" name="Straight Arrow Connector 11">
            <a:extLst>
              <a:ext uri="{FF2B5EF4-FFF2-40B4-BE49-F238E27FC236}">
                <a16:creationId xmlns:a16="http://schemas.microsoft.com/office/drawing/2014/main" id="{9786A92A-A069-0F18-B67D-CD3BD7BB529F}"/>
              </a:ext>
            </a:extLst>
          </p:cNvPr>
          <p:cNvCxnSpPr>
            <a:cxnSpLocks/>
            <a:stCxn id="34" idx="2"/>
            <a:endCxn id="11" idx="0"/>
          </p:cNvCxnSpPr>
          <p:nvPr/>
        </p:nvCxnSpPr>
        <p:spPr>
          <a:xfrm>
            <a:off x="10427442" y="4486839"/>
            <a:ext cx="9545" cy="526536"/>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13" name="Rectangle 12">
            <a:extLst>
              <a:ext uri="{FF2B5EF4-FFF2-40B4-BE49-F238E27FC236}">
                <a16:creationId xmlns:a16="http://schemas.microsoft.com/office/drawing/2014/main" id="{9AB92374-E85B-6DE0-45F3-D69113C4B89D}"/>
              </a:ext>
            </a:extLst>
          </p:cNvPr>
          <p:cNvSpPr/>
          <p:nvPr/>
        </p:nvSpPr>
        <p:spPr>
          <a:xfrm>
            <a:off x="7371938" y="5438855"/>
            <a:ext cx="1838574" cy="345469"/>
          </a:xfrm>
          <a:prstGeom prst="rect">
            <a:avLst/>
          </a:prstGeom>
          <a:solidFill>
            <a:srgbClr val="A9D18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SINK SELECTS AND REQUEST FOR A SPECIFIC PDO </a:t>
            </a:r>
          </a:p>
        </p:txBody>
      </p:sp>
      <p:sp>
        <p:nvSpPr>
          <p:cNvPr id="14" name="Rectangle 13">
            <a:extLst>
              <a:ext uri="{FF2B5EF4-FFF2-40B4-BE49-F238E27FC236}">
                <a16:creationId xmlns:a16="http://schemas.microsoft.com/office/drawing/2014/main" id="{287BAF15-B21D-9FDD-B346-1E4BF675FB27}"/>
              </a:ext>
            </a:extLst>
          </p:cNvPr>
          <p:cNvSpPr/>
          <p:nvPr/>
        </p:nvSpPr>
        <p:spPr>
          <a:xfrm>
            <a:off x="7361900" y="4750107"/>
            <a:ext cx="1848540" cy="345469"/>
          </a:xfrm>
          <a:prstGeom prst="rect">
            <a:avLst/>
          </a:prstGeom>
          <a:solidFill>
            <a:srgbClr val="A9D18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ADVERISES ITS SOURCE PDOs</a:t>
            </a:r>
          </a:p>
        </p:txBody>
      </p:sp>
      <p:cxnSp>
        <p:nvCxnSpPr>
          <p:cNvPr id="16" name="Straight Arrow Connector 15">
            <a:extLst>
              <a:ext uri="{FF2B5EF4-FFF2-40B4-BE49-F238E27FC236}">
                <a16:creationId xmlns:a16="http://schemas.microsoft.com/office/drawing/2014/main" id="{999241A5-59CC-4ED5-A412-D8FCCB24ADBF}"/>
              </a:ext>
            </a:extLst>
          </p:cNvPr>
          <p:cNvCxnSpPr>
            <a:cxnSpLocks/>
            <a:stCxn id="14" idx="2"/>
            <a:endCxn id="13" idx="0"/>
          </p:cNvCxnSpPr>
          <p:nvPr/>
        </p:nvCxnSpPr>
        <p:spPr>
          <a:xfrm>
            <a:off x="8286171" y="5095576"/>
            <a:ext cx="5054" cy="343279"/>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21" name="Rectangle 20">
            <a:extLst>
              <a:ext uri="{FF2B5EF4-FFF2-40B4-BE49-F238E27FC236}">
                <a16:creationId xmlns:a16="http://schemas.microsoft.com/office/drawing/2014/main" id="{F63351A1-F134-2F42-4C93-2F9FD42D916E}"/>
              </a:ext>
            </a:extLst>
          </p:cNvPr>
          <p:cNvSpPr/>
          <p:nvPr/>
        </p:nvSpPr>
        <p:spPr>
          <a:xfrm>
            <a:off x="7371938" y="6044595"/>
            <a:ext cx="1849174" cy="537962"/>
          </a:xfrm>
          <a:prstGeom prst="rect">
            <a:avLst/>
          </a:prstGeom>
          <a:solidFill>
            <a:srgbClr val="A9D18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ACCEPTS THE PDO AND </a:t>
            </a:r>
          </a:p>
          <a:p>
            <a:pPr algn="ctr"/>
            <a:r>
              <a:rPr lang="en-US" sz="800" b="1" dirty="0">
                <a:solidFill>
                  <a:schemeClr val="tx1"/>
                </a:solidFill>
                <a:latin typeface="Barlow" panose="00000500000000000000" pitchFamily="2" charset="0"/>
              </a:rPr>
              <a:t>CONFIGURES THE CHARGER FOR</a:t>
            </a:r>
          </a:p>
          <a:p>
            <a:pPr algn="ctr"/>
            <a:r>
              <a:rPr lang="en-US" sz="800" b="1" dirty="0">
                <a:solidFill>
                  <a:schemeClr val="tx1"/>
                </a:solidFill>
                <a:latin typeface="Barlow" panose="00000500000000000000" pitchFamily="2" charset="0"/>
              </a:rPr>
              <a:t>REQUIRED OTG VOLTAGE AND CURRENT</a:t>
            </a:r>
          </a:p>
        </p:txBody>
      </p:sp>
      <p:cxnSp>
        <p:nvCxnSpPr>
          <p:cNvPr id="22" name="Straight Arrow Connector 21">
            <a:extLst>
              <a:ext uri="{FF2B5EF4-FFF2-40B4-BE49-F238E27FC236}">
                <a16:creationId xmlns:a16="http://schemas.microsoft.com/office/drawing/2014/main" id="{4D378C6B-5855-A72C-C7FF-218ABD620F79}"/>
              </a:ext>
            </a:extLst>
          </p:cNvPr>
          <p:cNvCxnSpPr>
            <a:cxnSpLocks/>
            <a:stCxn id="13" idx="2"/>
            <a:endCxn id="21" idx="0"/>
          </p:cNvCxnSpPr>
          <p:nvPr/>
        </p:nvCxnSpPr>
        <p:spPr>
          <a:xfrm>
            <a:off x="8291225" y="5784324"/>
            <a:ext cx="5300" cy="260271"/>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72D75BDC-5346-94E0-7AE9-A6616B2D1B33}"/>
              </a:ext>
            </a:extLst>
          </p:cNvPr>
          <p:cNvCxnSpPr>
            <a:cxnSpLocks/>
            <a:stCxn id="45" idx="2"/>
            <a:endCxn id="28" idx="0"/>
          </p:cNvCxnSpPr>
          <p:nvPr/>
        </p:nvCxnSpPr>
        <p:spPr>
          <a:xfrm>
            <a:off x="8267793" y="2156235"/>
            <a:ext cx="5100" cy="272299"/>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28" name="Flowchart: Decision 27">
            <a:extLst>
              <a:ext uri="{FF2B5EF4-FFF2-40B4-BE49-F238E27FC236}">
                <a16:creationId xmlns:a16="http://schemas.microsoft.com/office/drawing/2014/main" id="{1C54EEE0-F642-AC91-09DD-AFB6CD6D0229}"/>
              </a:ext>
            </a:extLst>
          </p:cNvPr>
          <p:cNvSpPr/>
          <p:nvPr/>
        </p:nvSpPr>
        <p:spPr>
          <a:xfrm>
            <a:off x="7511748" y="2428534"/>
            <a:ext cx="1522289" cy="443757"/>
          </a:xfrm>
          <a:prstGeom prst="flowChartDecision">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cs typeface="Angsana New" panose="02020603050405020304" pitchFamily="18" charset="-34"/>
              </a:rPr>
              <a:t>CCSTATUS0 [2:0]</a:t>
            </a:r>
          </a:p>
        </p:txBody>
      </p:sp>
      <p:cxnSp>
        <p:nvCxnSpPr>
          <p:cNvPr id="29" name="Straight Arrow Connector 28">
            <a:extLst>
              <a:ext uri="{FF2B5EF4-FFF2-40B4-BE49-F238E27FC236}">
                <a16:creationId xmlns:a16="http://schemas.microsoft.com/office/drawing/2014/main" id="{68F1E237-8E99-9155-7447-27F9740424CF}"/>
              </a:ext>
            </a:extLst>
          </p:cNvPr>
          <p:cNvCxnSpPr>
            <a:cxnSpLocks/>
            <a:stCxn id="28" idx="2"/>
            <a:endCxn id="33" idx="0"/>
          </p:cNvCxnSpPr>
          <p:nvPr/>
        </p:nvCxnSpPr>
        <p:spPr>
          <a:xfrm>
            <a:off x="8272893" y="2872291"/>
            <a:ext cx="8966" cy="315483"/>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32" name="Rectangle 31">
            <a:extLst>
              <a:ext uri="{FF2B5EF4-FFF2-40B4-BE49-F238E27FC236}">
                <a16:creationId xmlns:a16="http://schemas.microsoft.com/office/drawing/2014/main" id="{8F55C3EF-4FD7-C5FC-FC47-173BC7D6C184}"/>
              </a:ext>
            </a:extLst>
          </p:cNvPr>
          <p:cNvSpPr/>
          <p:nvPr/>
        </p:nvSpPr>
        <p:spPr>
          <a:xfrm>
            <a:off x="5761703" y="3378680"/>
            <a:ext cx="1284045" cy="264732"/>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cs typeface="Angsana New" panose="02020603050405020304" pitchFamily="18" charset="-34"/>
              </a:rPr>
              <a:t>CHARGER DISABLED</a:t>
            </a:r>
            <a:endParaRPr lang="en-US" sz="800" dirty="0"/>
          </a:p>
        </p:txBody>
      </p:sp>
      <p:sp>
        <p:nvSpPr>
          <p:cNvPr id="33" name="Rectangle 32">
            <a:extLst>
              <a:ext uri="{FF2B5EF4-FFF2-40B4-BE49-F238E27FC236}">
                <a16:creationId xmlns:a16="http://schemas.microsoft.com/office/drawing/2014/main" id="{2082A41D-511F-5A6D-235A-4969C32F70EC}"/>
              </a:ext>
            </a:extLst>
          </p:cNvPr>
          <p:cNvSpPr/>
          <p:nvPr/>
        </p:nvSpPr>
        <p:spPr>
          <a:xfrm>
            <a:off x="7361900" y="3187774"/>
            <a:ext cx="1839918" cy="576520"/>
          </a:xfrm>
          <a:prstGeom prst="rect">
            <a:avLst/>
          </a:prstGeom>
          <a:solidFill>
            <a:srgbClr val="A9D18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cs typeface="Angsana New" panose="02020603050405020304" pitchFamily="18" charset="-34"/>
              </a:rPr>
              <a:t>MAX77958 WRITES MAX77986 REGISTERS CHG_CNFG_11 [6:0] = 0x00 &amp; CHG_CNFG_10 [5:0] = 0x19 FOR OTG OUTPUT OF 5V/3A </a:t>
            </a:r>
            <a:endParaRPr lang="en-US" sz="800" dirty="0"/>
          </a:p>
        </p:txBody>
      </p:sp>
      <p:sp>
        <p:nvSpPr>
          <p:cNvPr id="34" name="Rectangle 33">
            <a:extLst>
              <a:ext uri="{FF2B5EF4-FFF2-40B4-BE49-F238E27FC236}">
                <a16:creationId xmlns:a16="http://schemas.microsoft.com/office/drawing/2014/main" id="{47298EF3-150A-571C-C963-D81486EDB1D2}"/>
              </a:ext>
            </a:extLst>
          </p:cNvPr>
          <p:cNvSpPr/>
          <p:nvPr/>
        </p:nvSpPr>
        <p:spPr>
          <a:xfrm>
            <a:off x="9508156" y="3992468"/>
            <a:ext cx="1838572" cy="494371"/>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COMMANDS MAX77958 TO </a:t>
            </a:r>
          </a:p>
          <a:p>
            <a:pPr algn="ctr"/>
            <a:r>
              <a:rPr lang="en-US" sz="800" b="1" dirty="0">
                <a:solidFill>
                  <a:schemeClr val="tx1"/>
                </a:solidFill>
                <a:latin typeface="Barlow" panose="00000500000000000000" pitchFamily="2" charset="0"/>
              </a:rPr>
              <a:t>WRITE MAX77986’s</a:t>
            </a:r>
          </a:p>
          <a:p>
            <a:pPr algn="ctr"/>
            <a:r>
              <a:rPr lang="en-US" sz="800" b="1" dirty="0">
                <a:solidFill>
                  <a:schemeClr val="tx1"/>
                </a:solidFill>
                <a:latin typeface="Barlow" panose="00000500000000000000" pitchFamily="2" charset="0"/>
              </a:rPr>
              <a:t> CHG_CNFG_00 [3:0] = 0b0101 TO ENABLE CHARGING MODE</a:t>
            </a:r>
          </a:p>
        </p:txBody>
      </p:sp>
      <p:sp>
        <p:nvSpPr>
          <p:cNvPr id="35" name="Rectangle 34">
            <a:extLst>
              <a:ext uri="{FF2B5EF4-FFF2-40B4-BE49-F238E27FC236}">
                <a16:creationId xmlns:a16="http://schemas.microsoft.com/office/drawing/2014/main" id="{4DA69B65-D229-C3C6-526D-90C7685CC4C6}"/>
              </a:ext>
            </a:extLst>
          </p:cNvPr>
          <p:cNvSpPr/>
          <p:nvPr/>
        </p:nvSpPr>
        <p:spPr>
          <a:xfrm>
            <a:off x="9508154" y="3293726"/>
            <a:ext cx="1839918" cy="464854"/>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READS CC_STATUS0 [5:4] AND CONFIGURES MAX77986 INPUT CURRENT LIMIT</a:t>
            </a:r>
          </a:p>
        </p:txBody>
      </p:sp>
      <p:sp>
        <p:nvSpPr>
          <p:cNvPr id="36" name="TextBox 35">
            <a:extLst>
              <a:ext uri="{FF2B5EF4-FFF2-40B4-BE49-F238E27FC236}">
                <a16:creationId xmlns:a16="http://schemas.microsoft.com/office/drawing/2014/main" id="{21ECF954-2D41-A987-7F64-C61605F0C925}"/>
              </a:ext>
            </a:extLst>
          </p:cNvPr>
          <p:cNvSpPr txBox="1"/>
          <p:nvPr/>
        </p:nvSpPr>
        <p:spPr>
          <a:xfrm>
            <a:off x="9059363" y="2455483"/>
            <a:ext cx="1814920" cy="215444"/>
          </a:xfrm>
          <a:prstGeom prst="rect">
            <a:avLst/>
          </a:prstGeom>
          <a:noFill/>
        </p:spPr>
        <p:txBody>
          <a:bodyPr wrap="none" rtlCol="0">
            <a:spAutoFit/>
          </a:bodyPr>
          <a:lstStyle/>
          <a:p>
            <a:r>
              <a:rPr lang="en-US" sz="800" b="1" dirty="0">
                <a:latin typeface="Barlow" panose="00000500000000000000" pitchFamily="2" charset="0"/>
              </a:rPr>
              <a:t>CCIStat = SINK (SOURCE DETECTED)</a:t>
            </a:r>
          </a:p>
        </p:txBody>
      </p:sp>
      <p:sp>
        <p:nvSpPr>
          <p:cNvPr id="37" name="TextBox 36">
            <a:extLst>
              <a:ext uri="{FF2B5EF4-FFF2-40B4-BE49-F238E27FC236}">
                <a16:creationId xmlns:a16="http://schemas.microsoft.com/office/drawing/2014/main" id="{327042EE-B097-31EE-ECE0-E2C89C1B7E8A}"/>
              </a:ext>
            </a:extLst>
          </p:cNvPr>
          <p:cNvSpPr txBox="1"/>
          <p:nvPr/>
        </p:nvSpPr>
        <p:spPr>
          <a:xfrm>
            <a:off x="6339076" y="2452954"/>
            <a:ext cx="1380506" cy="215444"/>
          </a:xfrm>
          <a:prstGeom prst="rect">
            <a:avLst/>
          </a:prstGeom>
          <a:noFill/>
        </p:spPr>
        <p:txBody>
          <a:bodyPr wrap="none" rtlCol="0">
            <a:spAutoFit/>
          </a:bodyPr>
          <a:lstStyle/>
          <a:p>
            <a:r>
              <a:rPr lang="en-US" sz="800" b="1" dirty="0">
                <a:latin typeface="Barlow" panose="00000500000000000000" pitchFamily="2" charset="0"/>
              </a:rPr>
              <a:t>CCIStat = NO CONNECTION</a:t>
            </a:r>
          </a:p>
        </p:txBody>
      </p:sp>
      <p:cxnSp>
        <p:nvCxnSpPr>
          <p:cNvPr id="38" name="Connector: Elbow 37">
            <a:extLst>
              <a:ext uri="{FF2B5EF4-FFF2-40B4-BE49-F238E27FC236}">
                <a16:creationId xmlns:a16="http://schemas.microsoft.com/office/drawing/2014/main" id="{F06DE611-4176-F3E4-2C08-9001848F9C83}"/>
              </a:ext>
            </a:extLst>
          </p:cNvPr>
          <p:cNvCxnSpPr>
            <a:cxnSpLocks/>
            <a:stCxn id="28" idx="1"/>
            <a:endCxn id="32" idx="0"/>
          </p:cNvCxnSpPr>
          <p:nvPr/>
        </p:nvCxnSpPr>
        <p:spPr>
          <a:xfrm rot="10800000" flipV="1">
            <a:off x="6403726" y="2650412"/>
            <a:ext cx="1108022" cy="728267"/>
          </a:xfrm>
          <a:prstGeom prst="bentConnector2">
            <a:avLst/>
          </a:prstGeom>
          <a:ln w="12700">
            <a:tailEnd type="triangle" w="med" len="med"/>
          </a:ln>
        </p:spPr>
        <p:style>
          <a:lnRef idx="3">
            <a:schemeClr val="dk1"/>
          </a:lnRef>
          <a:fillRef idx="0">
            <a:schemeClr val="dk1"/>
          </a:fillRef>
          <a:effectRef idx="2">
            <a:schemeClr val="dk1"/>
          </a:effectRef>
          <a:fontRef idx="minor">
            <a:schemeClr val="tx1"/>
          </a:fontRef>
        </p:style>
      </p:cxnSp>
      <p:cxnSp>
        <p:nvCxnSpPr>
          <p:cNvPr id="39" name="Connector: Elbow 38">
            <a:extLst>
              <a:ext uri="{FF2B5EF4-FFF2-40B4-BE49-F238E27FC236}">
                <a16:creationId xmlns:a16="http://schemas.microsoft.com/office/drawing/2014/main" id="{4A103CFC-8D48-1D03-3E11-BC8C421091CA}"/>
              </a:ext>
            </a:extLst>
          </p:cNvPr>
          <p:cNvCxnSpPr>
            <a:cxnSpLocks/>
            <a:stCxn id="28" idx="3"/>
            <a:endCxn id="35" idx="0"/>
          </p:cNvCxnSpPr>
          <p:nvPr/>
        </p:nvCxnSpPr>
        <p:spPr>
          <a:xfrm>
            <a:off x="9034037" y="2650413"/>
            <a:ext cx="1394076" cy="643313"/>
          </a:xfrm>
          <a:prstGeom prst="bentConnector2">
            <a:avLst/>
          </a:prstGeom>
          <a:ln w="12700">
            <a:tailEnd type="triangle" w="med" len="med"/>
          </a:ln>
        </p:spPr>
        <p:style>
          <a:lnRef idx="3">
            <a:schemeClr val="dk1"/>
          </a:lnRef>
          <a:fillRef idx="0">
            <a:schemeClr val="dk1"/>
          </a:fillRef>
          <a:effectRef idx="2">
            <a:schemeClr val="dk1"/>
          </a:effectRef>
          <a:fontRef idx="minor">
            <a:schemeClr val="tx1"/>
          </a:fontRef>
        </p:style>
      </p:cxnSp>
      <p:cxnSp>
        <p:nvCxnSpPr>
          <p:cNvPr id="40" name="Straight Arrow Connector 39">
            <a:extLst>
              <a:ext uri="{FF2B5EF4-FFF2-40B4-BE49-F238E27FC236}">
                <a16:creationId xmlns:a16="http://schemas.microsoft.com/office/drawing/2014/main" id="{B8190870-0B2C-25D8-F67F-871D3048C0D5}"/>
              </a:ext>
            </a:extLst>
          </p:cNvPr>
          <p:cNvCxnSpPr>
            <a:cxnSpLocks/>
            <a:stCxn id="35" idx="2"/>
            <a:endCxn id="34" idx="0"/>
          </p:cNvCxnSpPr>
          <p:nvPr/>
        </p:nvCxnSpPr>
        <p:spPr>
          <a:xfrm flipH="1">
            <a:off x="10427442" y="3758577"/>
            <a:ext cx="673" cy="233891"/>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41" name="Rectangle 40">
            <a:extLst>
              <a:ext uri="{FF2B5EF4-FFF2-40B4-BE49-F238E27FC236}">
                <a16:creationId xmlns:a16="http://schemas.microsoft.com/office/drawing/2014/main" id="{9B7421DB-B84F-2601-61D6-1CE7B36C46FC}"/>
              </a:ext>
            </a:extLst>
          </p:cNvPr>
          <p:cNvSpPr/>
          <p:nvPr/>
        </p:nvSpPr>
        <p:spPr>
          <a:xfrm>
            <a:off x="7361900" y="4041212"/>
            <a:ext cx="1838572" cy="400020"/>
          </a:xfrm>
          <a:prstGeom prst="rect">
            <a:avLst/>
          </a:prstGeom>
          <a:solidFill>
            <a:srgbClr val="A9D18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WRITES MAX77986 REGISTER CHG_CNFG_00 [3:0] = 0b1010 TO ENABLE OTG MODE</a:t>
            </a:r>
          </a:p>
        </p:txBody>
      </p:sp>
      <p:cxnSp>
        <p:nvCxnSpPr>
          <p:cNvPr id="42" name="Straight Arrow Connector 41">
            <a:extLst>
              <a:ext uri="{FF2B5EF4-FFF2-40B4-BE49-F238E27FC236}">
                <a16:creationId xmlns:a16="http://schemas.microsoft.com/office/drawing/2014/main" id="{B1231BBC-0943-BFCF-2ECF-E480BA1C2374}"/>
              </a:ext>
            </a:extLst>
          </p:cNvPr>
          <p:cNvCxnSpPr>
            <a:cxnSpLocks/>
            <a:stCxn id="33" idx="2"/>
            <a:endCxn id="41" idx="0"/>
          </p:cNvCxnSpPr>
          <p:nvPr/>
        </p:nvCxnSpPr>
        <p:spPr>
          <a:xfrm flipH="1">
            <a:off x="8281186" y="3764294"/>
            <a:ext cx="673" cy="276918"/>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43" name="Rectangle: Rounded Corners 42">
            <a:extLst>
              <a:ext uri="{FF2B5EF4-FFF2-40B4-BE49-F238E27FC236}">
                <a16:creationId xmlns:a16="http://schemas.microsoft.com/office/drawing/2014/main" id="{86546DB8-7788-5A3F-10E8-9B50A6C185D5}"/>
              </a:ext>
            </a:extLst>
          </p:cNvPr>
          <p:cNvSpPr/>
          <p:nvPr/>
        </p:nvSpPr>
        <p:spPr>
          <a:xfrm>
            <a:off x="7583093" y="688024"/>
            <a:ext cx="1363029" cy="305339"/>
          </a:xfrm>
          <a:prstGeom prst="roundRect">
            <a:avLst>
              <a:gd name="adj" fmla="val 50000"/>
            </a:avLst>
          </a:prstGeom>
          <a:solidFill>
            <a:srgbClr val="F4B18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CONNECTION DETECTED</a:t>
            </a:r>
          </a:p>
        </p:txBody>
      </p:sp>
      <p:sp>
        <p:nvSpPr>
          <p:cNvPr id="44" name="Rectangle 43">
            <a:extLst>
              <a:ext uri="{FF2B5EF4-FFF2-40B4-BE49-F238E27FC236}">
                <a16:creationId xmlns:a16="http://schemas.microsoft.com/office/drawing/2014/main" id="{768D3AB3-2B64-D9E1-1D52-04A989AB9EB7}"/>
              </a:ext>
            </a:extLst>
          </p:cNvPr>
          <p:cNvSpPr/>
          <p:nvPr/>
        </p:nvSpPr>
        <p:spPr>
          <a:xfrm>
            <a:off x="7398797" y="1246341"/>
            <a:ext cx="1731623" cy="284983"/>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INTERRUPTS THE MCU TO READ CCSTATUS0 REGISTER</a:t>
            </a:r>
          </a:p>
        </p:txBody>
      </p:sp>
      <p:sp>
        <p:nvSpPr>
          <p:cNvPr id="45" name="Rectangle 44">
            <a:extLst>
              <a:ext uri="{FF2B5EF4-FFF2-40B4-BE49-F238E27FC236}">
                <a16:creationId xmlns:a16="http://schemas.microsoft.com/office/drawing/2014/main" id="{BB6D5B91-8618-B23C-1111-914D6EFE0083}"/>
              </a:ext>
            </a:extLst>
          </p:cNvPr>
          <p:cNvSpPr/>
          <p:nvPr/>
        </p:nvSpPr>
        <p:spPr>
          <a:xfrm>
            <a:off x="7401981" y="1777358"/>
            <a:ext cx="1731623" cy="378877"/>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READS MAX77958 INTERRUPT REGISTERS FOR CLEARING INTERRUPT</a:t>
            </a:r>
          </a:p>
        </p:txBody>
      </p:sp>
      <p:sp>
        <p:nvSpPr>
          <p:cNvPr id="46" name="TextBox 45">
            <a:extLst>
              <a:ext uri="{FF2B5EF4-FFF2-40B4-BE49-F238E27FC236}">
                <a16:creationId xmlns:a16="http://schemas.microsoft.com/office/drawing/2014/main" id="{956E5C0D-BB18-418D-0357-6E681B5067BC}"/>
              </a:ext>
            </a:extLst>
          </p:cNvPr>
          <p:cNvSpPr txBox="1"/>
          <p:nvPr/>
        </p:nvSpPr>
        <p:spPr>
          <a:xfrm>
            <a:off x="7401979" y="2888898"/>
            <a:ext cx="1808460" cy="215444"/>
          </a:xfrm>
          <a:prstGeom prst="rect">
            <a:avLst/>
          </a:prstGeom>
          <a:solidFill>
            <a:schemeClr val="bg1"/>
          </a:solidFill>
        </p:spPr>
        <p:txBody>
          <a:bodyPr wrap="square" rtlCol="0">
            <a:spAutoFit/>
          </a:bodyPr>
          <a:lstStyle/>
          <a:p>
            <a:r>
              <a:rPr lang="en-US" sz="800" b="1" dirty="0">
                <a:latin typeface="Barlow" panose="00000500000000000000" pitchFamily="2" charset="0"/>
              </a:rPr>
              <a:t>CCIStat = SOURCE(SINK DETECTED)</a:t>
            </a:r>
          </a:p>
        </p:txBody>
      </p:sp>
      <p:cxnSp>
        <p:nvCxnSpPr>
          <p:cNvPr id="47" name="Straight Arrow Connector 46">
            <a:extLst>
              <a:ext uri="{FF2B5EF4-FFF2-40B4-BE49-F238E27FC236}">
                <a16:creationId xmlns:a16="http://schemas.microsoft.com/office/drawing/2014/main" id="{E2CE1036-63A8-84CC-06A2-AE99CA817DD0}"/>
              </a:ext>
            </a:extLst>
          </p:cNvPr>
          <p:cNvCxnSpPr>
            <a:cxnSpLocks/>
            <a:stCxn id="43" idx="2"/>
            <a:endCxn id="44" idx="0"/>
          </p:cNvCxnSpPr>
          <p:nvPr/>
        </p:nvCxnSpPr>
        <p:spPr>
          <a:xfrm>
            <a:off x="8264608" y="993363"/>
            <a:ext cx="1" cy="252978"/>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EAFF8E77-F93A-108E-0BC2-79F3238FFFAF}"/>
              </a:ext>
            </a:extLst>
          </p:cNvPr>
          <p:cNvCxnSpPr>
            <a:cxnSpLocks/>
            <a:stCxn id="44" idx="2"/>
            <a:endCxn id="45" idx="0"/>
          </p:cNvCxnSpPr>
          <p:nvPr/>
        </p:nvCxnSpPr>
        <p:spPr>
          <a:xfrm>
            <a:off x="8264609" y="1531325"/>
            <a:ext cx="3183" cy="246034"/>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49" name="Rectangle 48">
            <a:extLst>
              <a:ext uri="{FF2B5EF4-FFF2-40B4-BE49-F238E27FC236}">
                <a16:creationId xmlns:a16="http://schemas.microsoft.com/office/drawing/2014/main" id="{C2C5774C-9F20-9F97-B800-89C6A13F5192}"/>
              </a:ext>
            </a:extLst>
          </p:cNvPr>
          <p:cNvSpPr/>
          <p:nvPr/>
        </p:nvSpPr>
        <p:spPr>
          <a:xfrm>
            <a:off x="9523844" y="6245781"/>
            <a:ext cx="1849892" cy="315081"/>
          </a:xfrm>
          <a:prstGeom prst="rect">
            <a:avLst/>
          </a:prstGeom>
          <a:solidFill>
            <a:srgbClr val="B58EC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DYNAMIC VOLTAGE NEGOTIATION</a:t>
            </a:r>
          </a:p>
        </p:txBody>
      </p:sp>
      <p:cxnSp>
        <p:nvCxnSpPr>
          <p:cNvPr id="50" name="Straight Arrow Connector 49">
            <a:extLst>
              <a:ext uri="{FF2B5EF4-FFF2-40B4-BE49-F238E27FC236}">
                <a16:creationId xmlns:a16="http://schemas.microsoft.com/office/drawing/2014/main" id="{21DBF7E5-D466-AEC6-F95B-E66F29F5DAF9}"/>
              </a:ext>
            </a:extLst>
          </p:cNvPr>
          <p:cNvCxnSpPr>
            <a:cxnSpLocks/>
            <a:stCxn id="11" idx="2"/>
            <a:endCxn id="49" idx="0"/>
          </p:cNvCxnSpPr>
          <p:nvPr/>
        </p:nvCxnSpPr>
        <p:spPr>
          <a:xfrm>
            <a:off x="10436987" y="5583992"/>
            <a:ext cx="11803" cy="661789"/>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51" name="Rectangle 50">
            <a:extLst>
              <a:ext uri="{FF2B5EF4-FFF2-40B4-BE49-F238E27FC236}">
                <a16:creationId xmlns:a16="http://schemas.microsoft.com/office/drawing/2014/main" id="{E2AF12B8-02AD-F9A9-6EB3-93FE7DA53B9F}"/>
              </a:ext>
            </a:extLst>
          </p:cNvPr>
          <p:cNvSpPr/>
          <p:nvPr/>
        </p:nvSpPr>
        <p:spPr>
          <a:xfrm>
            <a:off x="9970758" y="1812767"/>
            <a:ext cx="1849893" cy="382919"/>
          </a:xfrm>
          <a:prstGeom prst="rect">
            <a:avLst/>
          </a:prstGeom>
          <a:solidFill>
            <a:srgbClr val="B58EC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USING ONLY MCU PROGRAMMING</a:t>
            </a:r>
          </a:p>
        </p:txBody>
      </p:sp>
      <p:sp>
        <p:nvSpPr>
          <p:cNvPr id="52" name="Rectangle 51">
            <a:extLst>
              <a:ext uri="{FF2B5EF4-FFF2-40B4-BE49-F238E27FC236}">
                <a16:creationId xmlns:a16="http://schemas.microsoft.com/office/drawing/2014/main" id="{13F2396F-10F7-4868-13F8-FE35FB712EE1}"/>
              </a:ext>
            </a:extLst>
          </p:cNvPr>
          <p:cNvSpPr/>
          <p:nvPr/>
        </p:nvSpPr>
        <p:spPr>
          <a:xfrm>
            <a:off x="9978869" y="1283648"/>
            <a:ext cx="1827490" cy="402355"/>
          </a:xfrm>
          <a:prstGeom prst="rect">
            <a:avLst/>
          </a:prstGeom>
          <a:solidFill>
            <a:srgbClr val="F4B18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USER CAN EITHER USE MAX77958’s MTP OR MCU PROGRAMMING BASED ON PREFERENCE</a:t>
            </a:r>
          </a:p>
        </p:txBody>
      </p:sp>
      <p:sp>
        <p:nvSpPr>
          <p:cNvPr id="53" name="Rectangle 52">
            <a:extLst>
              <a:ext uri="{FF2B5EF4-FFF2-40B4-BE49-F238E27FC236}">
                <a16:creationId xmlns:a16="http://schemas.microsoft.com/office/drawing/2014/main" id="{2018316C-5184-AFDB-0C2F-228F9AD8AC18}"/>
              </a:ext>
            </a:extLst>
          </p:cNvPr>
          <p:cNvSpPr/>
          <p:nvPr/>
        </p:nvSpPr>
        <p:spPr>
          <a:xfrm>
            <a:off x="9970757" y="720950"/>
            <a:ext cx="1827490" cy="442343"/>
          </a:xfrm>
          <a:prstGeom prst="rect">
            <a:avLst/>
          </a:prstGeom>
          <a:solidFill>
            <a:srgbClr val="A9D18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MAX77958’s MTP CONFIGURED USING CUSTOMIZATION SCRIPT AND PROGRAMMED TO MTP BY MCU/GUI</a:t>
            </a:r>
          </a:p>
        </p:txBody>
      </p:sp>
      <p:sp>
        <p:nvSpPr>
          <p:cNvPr id="54" name="Rectangle 53">
            <a:extLst>
              <a:ext uri="{FF2B5EF4-FFF2-40B4-BE49-F238E27FC236}">
                <a16:creationId xmlns:a16="http://schemas.microsoft.com/office/drawing/2014/main" id="{54915408-144C-A4DD-5B16-5F1247B053E7}"/>
              </a:ext>
            </a:extLst>
          </p:cNvPr>
          <p:cNvSpPr/>
          <p:nvPr/>
        </p:nvSpPr>
        <p:spPr>
          <a:xfrm>
            <a:off x="9306556" y="5717383"/>
            <a:ext cx="2284467" cy="279926"/>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SOURCE ACCEPTS THE REQUEST AND RAISE THE VBUS TO THE REQUESTED PDO VOLTAGE</a:t>
            </a:r>
          </a:p>
        </p:txBody>
      </p:sp>
      <p:sp>
        <p:nvSpPr>
          <p:cNvPr id="55" name="Rectangle 54">
            <a:extLst>
              <a:ext uri="{FF2B5EF4-FFF2-40B4-BE49-F238E27FC236}">
                <a16:creationId xmlns:a16="http://schemas.microsoft.com/office/drawing/2014/main" id="{E8E0E6BF-07C7-A257-BC04-128FAEED378C}"/>
              </a:ext>
            </a:extLst>
          </p:cNvPr>
          <p:cNvSpPr/>
          <p:nvPr/>
        </p:nvSpPr>
        <p:spPr>
          <a:xfrm>
            <a:off x="9523844" y="4610144"/>
            <a:ext cx="1848540" cy="279926"/>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SOURCE SENT ITS CAPABILITIES IN THE FORM OF PDOs</a:t>
            </a:r>
          </a:p>
        </p:txBody>
      </p:sp>
      <p:sp>
        <p:nvSpPr>
          <p:cNvPr id="56" name="Rectangle 55">
            <a:extLst>
              <a:ext uri="{FF2B5EF4-FFF2-40B4-BE49-F238E27FC236}">
                <a16:creationId xmlns:a16="http://schemas.microsoft.com/office/drawing/2014/main" id="{9A1E49B3-8232-57AF-4ADE-AE44BCE18F15}"/>
              </a:ext>
            </a:extLst>
          </p:cNvPr>
          <p:cNvSpPr/>
          <p:nvPr/>
        </p:nvSpPr>
        <p:spPr>
          <a:xfrm>
            <a:off x="9528472" y="2858172"/>
            <a:ext cx="1839919" cy="156596"/>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SOURCE RAISES THE VBUS TO 5V</a:t>
            </a:r>
          </a:p>
        </p:txBody>
      </p:sp>
      <p:sp>
        <p:nvSpPr>
          <p:cNvPr id="10" name="Right Brace 9">
            <a:extLst>
              <a:ext uri="{FF2B5EF4-FFF2-40B4-BE49-F238E27FC236}">
                <a16:creationId xmlns:a16="http://schemas.microsoft.com/office/drawing/2014/main" id="{01DA7510-87DB-AA6C-6B06-2089AE80052C}"/>
              </a:ext>
            </a:extLst>
          </p:cNvPr>
          <p:cNvSpPr/>
          <p:nvPr/>
        </p:nvSpPr>
        <p:spPr>
          <a:xfrm>
            <a:off x="11454328" y="3259117"/>
            <a:ext cx="180831" cy="1286098"/>
          </a:xfrm>
          <a:prstGeom prst="rightBrace">
            <a:avLst>
              <a:gd name="adj1" fmla="val 24799"/>
              <a:gd name="adj2" fmla="val 50000"/>
            </a:avLst>
          </a:prstGeom>
          <a:ln w="190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2000"/>
          </a:p>
        </p:txBody>
      </p:sp>
      <p:sp>
        <p:nvSpPr>
          <p:cNvPr id="58" name="Right Brace 57">
            <a:extLst>
              <a:ext uri="{FF2B5EF4-FFF2-40B4-BE49-F238E27FC236}">
                <a16:creationId xmlns:a16="http://schemas.microsoft.com/office/drawing/2014/main" id="{68BEB47B-72C3-FBAF-28B4-B872DE9810FF}"/>
              </a:ext>
            </a:extLst>
          </p:cNvPr>
          <p:cNvSpPr/>
          <p:nvPr/>
        </p:nvSpPr>
        <p:spPr>
          <a:xfrm>
            <a:off x="11541616" y="5042076"/>
            <a:ext cx="133623" cy="955234"/>
          </a:xfrm>
          <a:prstGeom prst="rightBrace">
            <a:avLst>
              <a:gd name="adj1" fmla="val 40889"/>
              <a:gd name="adj2" fmla="val 50000"/>
            </a:avLst>
          </a:prstGeom>
          <a:ln w="190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2000"/>
          </a:p>
        </p:txBody>
      </p:sp>
      <p:sp>
        <p:nvSpPr>
          <p:cNvPr id="59" name="TextBox 58">
            <a:extLst>
              <a:ext uri="{FF2B5EF4-FFF2-40B4-BE49-F238E27FC236}">
                <a16:creationId xmlns:a16="http://schemas.microsoft.com/office/drawing/2014/main" id="{783EAFEE-FB9E-AC9A-E0D3-C9C135E0DDA1}"/>
              </a:ext>
            </a:extLst>
          </p:cNvPr>
          <p:cNvSpPr txBox="1"/>
          <p:nvPr/>
        </p:nvSpPr>
        <p:spPr>
          <a:xfrm rot="16200000">
            <a:off x="10968190" y="3507243"/>
            <a:ext cx="1604735" cy="282723"/>
          </a:xfrm>
          <a:prstGeom prst="rect">
            <a:avLst/>
          </a:prstGeom>
        </p:spPr>
        <p:txBody>
          <a:bodyPr vert="horz" wrap="none" lIns="0" tIns="0" rIns="0" bIns="0" rtlCol="0" anchor="t" anchorCtr="0">
            <a:normAutofit/>
          </a:bodyPr>
          <a:lstStyle/>
          <a:p>
            <a:pPr algn="l"/>
            <a:r>
              <a:rPr lang="en-US" sz="1400" b="1" i="1" dirty="0">
                <a:solidFill>
                  <a:schemeClr val="tx2"/>
                </a:solidFill>
              </a:rPr>
              <a:t>Slow Charging</a:t>
            </a:r>
          </a:p>
        </p:txBody>
      </p:sp>
      <p:sp>
        <p:nvSpPr>
          <p:cNvPr id="61" name="TextBox 60">
            <a:extLst>
              <a:ext uri="{FF2B5EF4-FFF2-40B4-BE49-F238E27FC236}">
                <a16:creationId xmlns:a16="http://schemas.microsoft.com/office/drawing/2014/main" id="{330954D1-C7C2-63D7-41DC-D5772DBDD0A3}"/>
              </a:ext>
            </a:extLst>
          </p:cNvPr>
          <p:cNvSpPr txBox="1"/>
          <p:nvPr/>
        </p:nvSpPr>
        <p:spPr>
          <a:xfrm rot="16200000">
            <a:off x="11037715" y="5001073"/>
            <a:ext cx="1604735" cy="312234"/>
          </a:xfrm>
          <a:prstGeom prst="rect">
            <a:avLst/>
          </a:prstGeom>
        </p:spPr>
        <p:txBody>
          <a:bodyPr vert="horz" wrap="none" lIns="0" tIns="0" rIns="0" bIns="0" rtlCol="0" anchor="t" anchorCtr="0">
            <a:normAutofit/>
          </a:bodyPr>
          <a:lstStyle/>
          <a:p>
            <a:pPr algn="l"/>
            <a:r>
              <a:rPr lang="en-US" sz="1400" b="1" i="1" dirty="0">
                <a:solidFill>
                  <a:schemeClr val="tx2"/>
                </a:solidFill>
              </a:rPr>
              <a:t>PD Charging</a:t>
            </a:r>
          </a:p>
        </p:txBody>
      </p:sp>
      <p:sp>
        <p:nvSpPr>
          <p:cNvPr id="3" name="TextBox 2">
            <a:extLst>
              <a:ext uri="{FF2B5EF4-FFF2-40B4-BE49-F238E27FC236}">
                <a16:creationId xmlns:a16="http://schemas.microsoft.com/office/drawing/2014/main" id="{9503C8F2-7C0B-ADC3-5A30-0F5793A844FD}"/>
              </a:ext>
            </a:extLst>
          </p:cNvPr>
          <p:cNvSpPr txBox="1"/>
          <p:nvPr/>
        </p:nvSpPr>
        <p:spPr>
          <a:xfrm>
            <a:off x="2402444" y="4159973"/>
            <a:ext cx="745799" cy="272300"/>
          </a:xfrm>
          <a:prstGeom prst="rect">
            <a:avLst/>
          </a:prstGeom>
        </p:spPr>
        <p:txBody>
          <a:bodyPr vert="horz" wrap="none" lIns="0" tIns="0" rIns="0" bIns="0" rtlCol="0" anchor="t" anchorCtr="0">
            <a:normAutofit/>
          </a:bodyPr>
          <a:lstStyle/>
          <a:p>
            <a:pPr algn="l"/>
            <a:r>
              <a:rPr lang="en-US" sz="1600" b="1" dirty="0">
                <a:solidFill>
                  <a:schemeClr val="tx2"/>
                </a:solidFill>
              </a:rPr>
              <a:t>SOURCE</a:t>
            </a:r>
          </a:p>
        </p:txBody>
      </p:sp>
      <p:sp>
        <p:nvSpPr>
          <p:cNvPr id="30" name="TextBox 29">
            <a:extLst>
              <a:ext uri="{FF2B5EF4-FFF2-40B4-BE49-F238E27FC236}">
                <a16:creationId xmlns:a16="http://schemas.microsoft.com/office/drawing/2014/main" id="{B6EA2BC7-585F-94A9-1AE9-8A7E3BD8A239}"/>
              </a:ext>
            </a:extLst>
          </p:cNvPr>
          <p:cNvSpPr txBox="1"/>
          <p:nvPr/>
        </p:nvSpPr>
        <p:spPr>
          <a:xfrm>
            <a:off x="3841882" y="3967353"/>
            <a:ext cx="745799" cy="272300"/>
          </a:xfrm>
          <a:prstGeom prst="rect">
            <a:avLst/>
          </a:prstGeom>
        </p:spPr>
        <p:txBody>
          <a:bodyPr vert="horz" wrap="none" lIns="0" tIns="0" rIns="0" bIns="0" rtlCol="0" anchor="t" anchorCtr="0">
            <a:normAutofit/>
          </a:bodyPr>
          <a:lstStyle/>
          <a:p>
            <a:pPr algn="l"/>
            <a:r>
              <a:rPr lang="en-US" sz="1600" b="1" dirty="0">
                <a:solidFill>
                  <a:schemeClr val="tx2"/>
                </a:solidFill>
              </a:rPr>
              <a:t>Power Bank (DRP)</a:t>
            </a:r>
          </a:p>
        </p:txBody>
      </p:sp>
      <p:sp>
        <p:nvSpPr>
          <p:cNvPr id="60" name="TextBox 59">
            <a:extLst>
              <a:ext uri="{FF2B5EF4-FFF2-40B4-BE49-F238E27FC236}">
                <a16:creationId xmlns:a16="http://schemas.microsoft.com/office/drawing/2014/main" id="{1796D469-EE7C-61A8-322D-9D7C5AB36C33}"/>
              </a:ext>
            </a:extLst>
          </p:cNvPr>
          <p:cNvSpPr txBox="1"/>
          <p:nvPr/>
        </p:nvSpPr>
        <p:spPr>
          <a:xfrm>
            <a:off x="2581853" y="4156118"/>
            <a:ext cx="745799" cy="272300"/>
          </a:xfrm>
          <a:prstGeom prst="rect">
            <a:avLst/>
          </a:prstGeom>
        </p:spPr>
        <p:txBody>
          <a:bodyPr vert="horz" wrap="none" lIns="0" tIns="0" rIns="0" bIns="0" rtlCol="0" anchor="t" anchorCtr="0">
            <a:normAutofit/>
          </a:bodyPr>
          <a:lstStyle/>
          <a:p>
            <a:pPr algn="l"/>
            <a:r>
              <a:rPr lang="en-US" sz="1600" b="1" dirty="0">
                <a:solidFill>
                  <a:schemeClr val="tx2"/>
                </a:solidFill>
              </a:rPr>
              <a:t>SINK</a:t>
            </a:r>
          </a:p>
        </p:txBody>
      </p:sp>
      <p:grpSp>
        <p:nvGrpSpPr>
          <p:cNvPr id="67" name="Group 66">
            <a:extLst>
              <a:ext uri="{FF2B5EF4-FFF2-40B4-BE49-F238E27FC236}">
                <a16:creationId xmlns:a16="http://schemas.microsoft.com/office/drawing/2014/main" id="{7C2B30B2-4234-1023-EB05-1112A0D2E827}"/>
              </a:ext>
            </a:extLst>
          </p:cNvPr>
          <p:cNvGrpSpPr/>
          <p:nvPr/>
        </p:nvGrpSpPr>
        <p:grpSpPr>
          <a:xfrm rot="10800000">
            <a:off x="1178376" y="1777004"/>
            <a:ext cx="1963156" cy="1126655"/>
            <a:chOff x="702914" y="1256853"/>
            <a:chExt cx="2937090" cy="1628247"/>
          </a:xfrm>
        </p:grpSpPr>
        <p:grpSp>
          <p:nvGrpSpPr>
            <p:cNvPr id="69" name="Group 68">
              <a:extLst>
                <a:ext uri="{FF2B5EF4-FFF2-40B4-BE49-F238E27FC236}">
                  <a16:creationId xmlns:a16="http://schemas.microsoft.com/office/drawing/2014/main" id="{500F1912-05E1-41C6-507E-D9515B6B13ED}"/>
                </a:ext>
              </a:extLst>
            </p:cNvPr>
            <p:cNvGrpSpPr/>
            <p:nvPr/>
          </p:nvGrpSpPr>
          <p:grpSpPr>
            <a:xfrm>
              <a:off x="702914" y="1256853"/>
              <a:ext cx="2744112" cy="1628247"/>
              <a:chOff x="993604" y="1272265"/>
              <a:chExt cx="6842453" cy="4597230"/>
            </a:xfrm>
          </p:grpSpPr>
          <p:sp>
            <p:nvSpPr>
              <p:cNvPr id="75" name="Rectangle: Rounded Corners 74">
                <a:extLst>
                  <a:ext uri="{FF2B5EF4-FFF2-40B4-BE49-F238E27FC236}">
                    <a16:creationId xmlns:a16="http://schemas.microsoft.com/office/drawing/2014/main" id="{96965003-BBD6-9C41-3913-FB530B3E9EA5}"/>
                  </a:ext>
                </a:extLst>
              </p:cNvPr>
              <p:cNvSpPr/>
              <p:nvPr/>
            </p:nvSpPr>
            <p:spPr>
              <a:xfrm>
                <a:off x="2029668" y="1272265"/>
                <a:ext cx="5806389" cy="4597227"/>
              </a:xfrm>
              <a:prstGeom prst="roundRect">
                <a:avLst>
                  <a:gd name="adj" fmla="val 19007"/>
                </a:avLst>
              </a:prstGeom>
              <a:solidFill>
                <a:schemeClr val="bg2">
                  <a:lumMod val="20000"/>
                  <a:lumOff val="8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6" name="Rectangle: Rounded Corners 75">
                <a:extLst>
                  <a:ext uri="{FF2B5EF4-FFF2-40B4-BE49-F238E27FC236}">
                    <a16:creationId xmlns:a16="http://schemas.microsoft.com/office/drawing/2014/main" id="{79B3CD19-57CD-DCED-EE4E-D172591B1EE1}"/>
                  </a:ext>
                </a:extLst>
              </p:cNvPr>
              <p:cNvSpPr/>
              <p:nvPr/>
            </p:nvSpPr>
            <p:spPr>
              <a:xfrm>
                <a:off x="2029663" y="1272270"/>
                <a:ext cx="1561958" cy="4597225"/>
              </a:xfrm>
              <a:prstGeom prst="roundRect">
                <a:avLst>
                  <a:gd name="adj" fmla="val 50000"/>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7" name="Rectangle: Rounded Corners 76">
                <a:extLst>
                  <a:ext uri="{FF2B5EF4-FFF2-40B4-BE49-F238E27FC236}">
                    <a16:creationId xmlns:a16="http://schemas.microsoft.com/office/drawing/2014/main" id="{2D81CDA5-B956-86E1-4C93-1D232B229284}"/>
                  </a:ext>
                </a:extLst>
              </p:cNvPr>
              <p:cNvSpPr/>
              <p:nvPr/>
            </p:nvSpPr>
            <p:spPr>
              <a:xfrm>
                <a:off x="1012468" y="4253261"/>
                <a:ext cx="1896227" cy="346984"/>
              </a:xfrm>
              <a:prstGeom prst="roundRect">
                <a:avLst>
                  <a:gd name="adj" fmla="val 48705"/>
                </a:avLst>
              </a:prstGeom>
              <a:solidFill>
                <a:schemeClr val="bg1">
                  <a:lumMod val="85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01A9063E-AB2A-ECC2-AAE5-7A74C3552E86}"/>
                  </a:ext>
                </a:extLst>
              </p:cNvPr>
              <p:cNvSpPr/>
              <p:nvPr/>
            </p:nvSpPr>
            <p:spPr>
              <a:xfrm>
                <a:off x="993604" y="2484640"/>
                <a:ext cx="1896226" cy="352801"/>
              </a:xfrm>
              <a:prstGeom prst="roundRect">
                <a:avLst>
                  <a:gd name="adj" fmla="val 45793"/>
                </a:avLst>
              </a:prstGeom>
              <a:solidFill>
                <a:schemeClr val="bg1">
                  <a:lumMod val="85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70" name="Group 69">
              <a:extLst>
                <a:ext uri="{FF2B5EF4-FFF2-40B4-BE49-F238E27FC236}">
                  <a16:creationId xmlns:a16="http://schemas.microsoft.com/office/drawing/2014/main" id="{A7DD1F78-560B-9CDE-74ED-C5084C7B8085}"/>
                </a:ext>
              </a:extLst>
            </p:cNvPr>
            <p:cNvGrpSpPr/>
            <p:nvPr/>
          </p:nvGrpSpPr>
          <p:grpSpPr>
            <a:xfrm>
              <a:off x="3413327" y="1686251"/>
              <a:ext cx="226677" cy="793148"/>
              <a:chOff x="6153786" y="1548598"/>
              <a:chExt cx="226677" cy="793148"/>
            </a:xfrm>
            <a:scene3d>
              <a:camera prst="isometricOffAxis2Right"/>
              <a:lightRig rig="threePt" dir="t"/>
            </a:scene3d>
          </p:grpSpPr>
          <p:sp>
            <p:nvSpPr>
              <p:cNvPr id="71" name="Rectangle: Rounded Corners 70">
                <a:extLst>
                  <a:ext uri="{FF2B5EF4-FFF2-40B4-BE49-F238E27FC236}">
                    <a16:creationId xmlns:a16="http://schemas.microsoft.com/office/drawing/2014/main" id="{377637A6-7C90-C14C-5B9F-7AAD663A8283}"/>
                  </a:ext>
                </a:extLst>
              </p:cNvPr>
              <p:cNvSpPr/>
              <p:nvPr/>
            </p:nvSpPr>
            <p:spPr>
              <a:xfrm>
                <a:off x="6153786" y="1548598"/>
                <a:ext cx="226677" cy="793148"/>
              </a:xfrm>
              <a:prstGeom prst="roundRect">
                <a:avLst>
                  <a:gd name="adj" fmla="val 50000"/>
                </a:avLst>
              </a:prstGeom>
              <a:solidFill>
                <a:schemeClr val="bg1">
                  <a:lumMod val="85000"/>
                </a:schemeClr>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72" name="Oval 71">
                <a:extLst>
                  <a:ext uri="{FF2B5EF4-FFF2-40B4-BE49-F238E27FC236}">
                    <a16:creationId xmlns:a16="http://schemas.microsoft.com/office/drawing/2014/main" id="{1BB5582B-D2BD-FDA9-01C4-02DFB0D709F3}"/>
                  </a:ext>
                </a:extLst>
              </p:cNvPr>
              <p:cNvSpPr/>
              <p:nvPr/>
            </p:nvSpPr>
            <p:spPr>
              <a:xfrm>
                <a:off x="6187483" y="1684777"/>
                <a:ext cx="78994" cy="79934"/>
              </a:xfrm>
              <a:prstGeom prst="ellipse">
                <a:avLst/>
              </a:prstGeom>
              <a:solidFill>
                <a:schemeClr val="bg1"/>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Barlow" panose="00000500000000000000" pitchFamily="2" charset="0"/>
                </a:endParaRPr>
              </a:p>
            </p:txBody>
          </p:sp>
          <p:sp>
            <p:nvSpPr>
              <p:cNvPr id="73" name="Oval 72">
                <a:extLst>
                  <a:ext uri="{FF2B5EF4-FFF2-40B4-BE49-F238E27FC236}">
                    <a16:creationId xmlns:a16="http://schemas.microsoft.com/office/drawing/2014/main" id="{F0B08C44-2FEB-73A5-C284-53CAE3FD291C}"/>
                  </a:ext>
                </a:extLst>
              </p:cNvPr>
              <p:cNvSpPr/>
              <p:nvPr/>
            </p:nvSpPr>
            <p:spPr>
              <a:xfrm>
                <a:off x="6187483" y="1891915"/>
                <a:ext cx="78994" cy="79934"/>
              </a:xfrm>
              <a:prstGeom prst="ellipse">
                <a:avLst/>
              </a:prstGeom>
              <a:solidFill>
                <a:schemeClr val="bg1"/>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sp>
            <p:nvSpPr>
              <p:cNvPr id="74" name="Oval 73">
                <a:extLst>
                  <a:ext uri="{FF2B5EF4-FFF2-40B4-BE49-F238E27FC236}">
                    <a16:creationId xmlns:a16="http://schemas.microsoft.com/office/drawing/2014/main" id="{F770EA86-551C-21B6-6D3A-81366F19E8DC}"/>
                  </a:ext>
                </a:extLst>
              </p:cNvPr>
              <p:cNvSpPr/>
              <p:nvPr/>
            </p:nvSpPr>
            <p:spPr>
              <a:xfrm>
                <a:off x="6187483" y="2072582"/>
                <a:ext cx="78994" cy="79934"/>
              </a:xfrm>
              <a:prstGeom prst="ellipse">
                <a:avLst/>
              </a:prstGeom>
              <a:solidFill>
                <a:schemeClr val="bg1"/>
              </a:solidFill>
              <a:ln w="12700">
                <a:solidFill>
                  <a:schemeClr val="tx1"/>
                </a:solidFill>
              </a:ln>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Barlow" panose="00000500000000000000" pitchFamily="2" charset="0"/>
                </a:endParaRPr>
              </a:p>
            </p:txBody>
          </p:sp>
        </p:grpSp>
      </p:grpSp>
      <p:grpSp>
        <p:nvGrpSpPr>
          <p:cNvPr id="84" name="Group 83">
            <a:extLst>
              <a:ext uri="{FF2B5EF4-FFF2-40B4-BE49-F238E27FC236}">
                <a16:creationId xmlns:a16="http://schemas.microsoft.com/office/drawing/2014/main" id="{D2F72276-F0A0-484A-664B-65291CAC240F}"/>
              </a:ext>
            </a:extLst>
          </p:cNvPr>
          <p:cNvGrpSpPr/>
          <p:nvPr/>
        </p:nvGrpSpPr>
        <p:grpSpPr>
          <a:xfrm>
            <a:off x="331769" y="2166066"/>
            <a:ext cx="902417" cy="2739716"/>
            <a:chOff x="331769" y="2166066"/>
            <a:chExt cx="902417" cy="2739716"/>
          </a:xfrm>
        </p:grpSpPr>
        <p:pic>
          <p:nvPicPr>
            <p:cNvPr id="79" name="Picture 78">
              <a:extLst>
                <a:ext uri="{FF2B5EF4-FFF2-40B4-BE49-F238E27FC236}">
                  <a16:creationId xmlns:a16="http://schemas.microsoft.com/office/drawing/2014/main" id="{561226A8-6FF4-28E0-2A2C-9DEA4B0DB9A3}"/>
                </a:ext>
              </a:extLst>
            </p:cNvPr>
            <p:cNvPicPr>
              <a:picLocks noChangeAspect="1"/>
            </p:cNvPicPr>
            <p:nvPr/>
          </p:nvPicPr>
          <p:blipFill rotWithShape="1">
            <a:blip r:embed="rId4">
              <a:clrChange>
                <a:clrFrom>
                  <a:srgbClr val="FFFFFF"/>
                </a:clrFrom>
                <a:clrTo>
                  <a:srgbClr val="FFFFFF">
                    <a:alpha val="0"/>
                  </a:srgbClr>
                </a:clrTo>
              </a:clrChange>
            </a:blip>
            <a:srcRect l="1" r="348" b="29748"/>
            <a:stretch/>
          </p:blipFill>
          <p:spPr>
            <a:xfrm rot="16200000" flipV="1">
              <a:off x="721217" y="1939985"/>
              <a:ext cx="208981" cy="816956"/>
            </a:xfrm>
            <a:prstGeom prst="rect">
              <a:avLst/>
            </a:prstGeom>
          </p:spPr>
        </p:pic>
        <p:pic>
          <p:nvPicPr>
            <p:cNvPr id="80" name="Picture 79">
              <a:extLst>
                <a:ext uri="{FF2B5EF4-FFF2-40B4-BE49-F238E27FC236}">
                  <a16:creationId xmlns:a16="http://schemas.microsoft.com/office/drawing/2014/main" id="{F9DF8229-8719-F2EA-27F4-8E410B9DE598}"/>
                </a:ext>
              </a:extLst>
            </p:cNvPr>
            <p:cNvPicPr>
              <a:picLocks noChangeAspect="1"/>
            </p:cNvPicPr>
            <p:nvPr/>
          </p:nvPicPr>
          <p:blipFill rotWithShape="1">
            <a:blip r:embed="rId4">
              <a:clrChange>
                <a:clrFrom>
                  <a:srgbClr val="FFFFFF"/>
                </a:clrFrom>
                <a:clrTo>
                  <a:srgbClr val="FFFFFF">
                    <a:alpha val="0"/>
                  </a:srgbClr>
                </a:clrTo>
              </a:clrChange>
            </a:blip>
            <a:srcRect r="-1" b="43816"/>
            <a:stretch/>
          </p:blipFill>
          <p:spPr>
            <a:xfrm rot="5400000">
              <a:off x="676501" y="4443239"/>
              <a:ext cx="225107" cy="699980"/>
            </a:xfrm>
            <a:prstGeom prst="rect">
              <a:avLst/>
            </a:prstGeom>
          </p:spPr>
        </p:pic>
        <p:pic>
          <p:nvPicPr>
            <p:cNvPr id="83" name="Picture 82">
              <a:extLst>
                <a:ext uri="{FF2B5EF4-FFF2-40B4-BE49-F238E27FC236}">
                  <a16:creationId xmlns:a16="http://schemas.microsoft.com/office/drawing/2014/main" id="{F22D4BD6-DDAB-280D-BDA8-C62EF151868F}"/>
                </a:ext>
              </a:extLst>
            </p:cNvPr>
            <p:cNvPicPr>
              <a:picLocks noChangeAspect="1"/>
            </p:cNvPicPr>
            <p:nvPr/>
          </p:nvPicPr>
          <p:blipFill rotWithShape="1">
            <a:blip r:embed="rId5"/>
            <a:srcRect t="46705" b="1"/>
            <a:stretch/>
          </p:blipFill>
          <p:spPr>
            <a:xfrm rot="5400000">
              <a:off x="-938472" y="3436307"/>
              <a:ext cx="2660473" cy="119992"/>
            </a:xfrm>
            <a:prstGeom prst="rect">
              <a:avLst/>
            </a:prstGeom>
          </p:spPr>
        </p:pic>
      </p:grpSp>
      <p:pic>
        <p:nvPicPr>
          <p:cNvPr id="86" name="Picture 85" descr="A grey cell phone with a black background&#10;&#10;Description automatically generated">
            <a:extLst>
              <a:ext uri="{FF2B5EF4-FFF2-40B4-BE49-F238E27FC236}">
                <a16:creationId xmlns:a16="http://schemas.microsoft.com/office/drawing/2014/main" id="{0F4BA18E-30C0-2F8D-944D-A36428C170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1101981" y="1065419"/>
            <a:ext cx="2428534" cy="2537066"/>
          </a:xfrm>
          <a:prstGeom prst="rect">
            <a:avLst/>
          </a:prstGeom>
        </p:spPr>
      </p:pic>
      <p:pic>
        <p:nvPicPr>
          <p:cNvPr id="89" name="Picture 88">
            <a:extLst>
              <a:ext uri="{FF2B5EF4-FFF2-40B4-BE49-F238E27FC236}">
                <a16:creationId xmlns:a16="http://schemas.microsoft.com/office/drawing/2014/main" id="{23DDD628-C3DA-83ED-D22F-A4A96703F4DC}"/>
              </a:ext>
            </a:extLst>
          </p:cNvPr>
          <p:cNvPicPr>
            <a:picLocks noChangeAspect="1"/>
          </p:cNvPicPr>
          <p:nvPr/>
        </p:nvPicPr>
        <p:blipFill>
          <a:blip r:embed="rId7"/>
          <a:stretch>
            <a:fillRect/>
          </a:stretch>
        </p:blipFill>
        <p:spPr>
          <a:xfrm>
            <a:off x="3445429" y="1199517"/>
            <a:ext cx="2169035" cy="2449088"/>
          </a:xfrm>
          <a:prstGeom prst="rect">
            <a:avLst/>
          </a:prstGeom>
        </p:spPr>
      </p:pic>
      <p:sp>
        <p:nvSpPr>
          <p:cNvPr id="90" name="TextBox 89">
            <a:extLst>
              <a:ext uri="{FF2B5EF4-FFF2-40B4-BE49-F238E27FC236}">
                <a16:creationId xmlns:a16="http://schemas.microsoft.com/office/drawing/2014/main" id="{2E0B7BCD-8900-8453-05B8-F39E0CE6D6AC}"/>
              </a:ext>
            </a:extLst>
          </p:cNvPr>
          <p:cNvSpPr txBox="1"/>
          <p:nvPr/>
        </p:nvSpPr>
        <p:spPr>
          <a:xfrm>
            <a:off x="4104420" y="4264132"/>
            <a:ext cx="745799" cy="272300"/>
          </a:xfrm>
          <a:prstGeom prst="rect">
            <a:avLst/>
          </a:prstGeom>
        </p:spPr>
        <p:txBody>
          <a:bodyPr vert="horz" wrap="none" lIns="0" tIns="0" rIns="0" bIns="0" rtlCol="0" anchor="t" anchorCtr="0">
            <a:normAutofit/>
          </a:bodyPr>
          <a:lstStyle/>
          <a:p>
            <a:pPr algn="l"/>
            <a:r>
              <a:rPr lang="en-US" sz="1000" b="1" dirty="0">
                <a:solidFill>
                  <a:schemeClr val="tx2"/>
                </a:solidFill>
              </a:rPr>
              <a:t>DISABLED</a:t>
            </a:r>
          </a:p>
        </p:txBody>
      </p:sp>
      <p:sp>
        <p:nvSpPr>
          <p:cNvPr id="91" name="TextBox 90">
            <a:extLst>
              <a:ext uri="{FF2B5EF4-FFF2-40B4-BE49-F238E27FC236}">
                <a16:creationId xmlns:a16="http://schemas.microsoft.com/office/drawing/2014/main" id="{DA1C0F36-E189-3586-1A55-709A938B5415}"/>
              </a:ext>
            </a:extLst>
          </p:cNvPr>
          <p:cNvSpPr txBox="1"/>
          <p:nvPr/>
        </p:nvSpPr>
        <p:spPr>
          <a:xfrm>
            <a:off x="3980965" y="4255733"/>
            <a:ext cx="745799" cy="272300"/>
          </a:xfrm>
          <a:prstGeom prst="rect">
            <a:avLst/>
          </a:prstGeom>
        </p:spPr>
        <p:txBody>
          <a:bodyPr vert="horz" wrap="none" lIns="0" tIns="0" rIns="0" bIns="0" rtlCol="0" anchor="t" anchorCtr="0">
            <a:normAutofit fontScale="92500" lnSpcReduction="20000"/>
          </a:bodyPr>
          <a:lstStyle/>
          <a:p>
            <a:pPr algn="ctr"/>
            <a:r>
              <a:rPr lang="en-US" sz="1050" b="1" dirty="0">
                <a:solidFill>
                  <a:schemeClr val="tx2"/>
                </a:solidFill>
              </a:rPr>
              <a:t>FORWARD CHARGING</a:t>
            </a:r>
          </a:p>
          <a:p>
            <a:pPr algn="ctr"/>
            <a:r>
              <a:rPr lang="en-US" sz="1050" b="1" dirty="0">
                <a:solidFill>
                  <a:schemeClr val="tx2"/>
                </a:solidFill>
              </a:rPr>
              <a:t>MODE</a:t>
            </a:r>
          </a:p>
        </p:txBody>
      </p:sp>
      <p:sp>
        <p:nvSpPr>
          <p:cNvPr id="92" name="TextBox 91">
            <a:extLst>
              <a:ext uri="{FF2B5EF4-FFF2-40B4-BE49-F238E27FC236}">
                <a16:creationId xmlns:a16="http://schemas.microsoft.com/office/drawing/2014/main" id="{BE283653-8931-16E6-7304-630E66E4AE04}"/>
              </a:ext>
            </a:extLst>
          </p:cNvPr>
          <p:cNvSpPr txBox="1"/>
          <p:nvPr/>
        </p:nvSpPr>
        <p:spPr>
          <a:xfrm>
            <a:off x="3973258" y="4238517"/>
            <a:ext cx="745799" cy="272300"/>
          </a:xfrm>
          <a:prstGeom prst="rect">
            <a:avLst/>
          </a:prstGeom>
        </p:spPr>
        <p:txBody>
          <a:bodyPr vert="horz" wrap="none" lIns="0" tIns="0" rIns="0" bIns="0" rtlCol="0" anchor="t" anchorCtr="0">
            <a:normAutofit/>
          </a:bodyPr>
          <a:lstStyle/>
          <a:p>
            <a:pPr algn="ctr"/>
            <a:r>
              <a:rPr lang="en-US" sz="1000" b="1" dirty="0">
                <a:solidFill>
                  <a:schemeClr val="tx2"/>
                </a:solidFill>
              </a:rPr>
              <a:t>REVERSE OTG MODE</a:t>
            </a:r>
          </a:p>
        </p:txBody>
      </p:sp>
      <p:sp>
        <p:nvSpPr>
          <p:cNvPr id="81" name="Rectangle: Rounded Corners 80">
            <a:extLst>
              <a:ext uri="{FF2B5EF4-FFF2-40B4-BE49-F238E27FC236}">
                <a16:creationId xmlns:a16="http://schemas.microsoft.com/office/drawing/2014/main" id="{43A45764-EC8D-71E9-12A4-8A05A8F20BD4}"/>
              </a:ext>
            </a:extLst>
          </p:cNvPr>
          <p:cNvSpPr/>
          <p:nvPr/>
        </p:nvSpPr>
        <p:spPr>
          <a:xfrm>
            <a:off x="7449115" y="-18251"/>
            <a:ext cx="1665487" cy="446587"/>
          </a:xfrm>
          <a:prstGeom prst="roundRect">
            <a:avLst/>
          </a:prstGeom>
          <a:solidFill>
            <a:srgbClr val="F4B183"/>
          </a:solidFill>
          <a:ln w="1905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spcBef>
                <a:spcPts val="600"/>
              </a:spcBef>
              <a:spcAft>
                <a:spcPts val="800"/>
              </a:spcAft>
              <a:buClr>
                <a:schemeClr val="accent1"/>
              </a:buClr>
              <a:buSzPct val="70000"/>
            </a:pPr>
            <a:r>
              <a:rPr lang="en-US" sz="1000" b="1" dirty="0">
                <a:solidFill>
                  <a:srgbClr val="000000"/>
                </a:solidFill>
                <a:latin typeface="Barlow" pitchFamily="2" charset="77"/>
                <a:cs typeface="Arial" panose="020B0604020202020204" pitchFamily="34" charset="0"/>
              </a:rPr>
              <a:t>INITIALIZATION</a:t>
            </a:r>
          </a:p>
        </p:txBody>
      </p:sp>
    </p:spTree>
    <p:extLst>
      <p:ext uri="{BB962C8B-B14F-4D97-AF65-F5344CB8AC3E}">
        <p14:creationId xmlns:p14="http://schemas.microsoft.com/office/powerpoint/2010/main" val="3143609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nodeType="with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500"/>
                                        <p:tgtEl>
                                          <p:spTgt spid="4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fade">
                                      <p:cBhvr>
                                        <p:cTn id="38" dur="500"/>
                                        <p:tgtEl>
                                          <p:spTgt spid="90"/>
                                        </p:tgtEl>
                                      </p:cBhvr>
                                    </p:animEffect>
                                  </p:childTnLst>
                                </p:cTn>
                              </p:par>
                              <p:par>
                                <p:cTn id="39" presetID="10"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92"/>
                                        </p:tgtEl>
                                        <p:attrNameLst>
                                          <p:attrName>style.visibility</p:attrName>
                                        </p:attrNameLst>
                                      </p:cBhvr>
                                      <p:to>
                                        <p:strVal val="visible"/>
                                      </p:to>
                                    </p:set>
                                    <p:animEffect transition="in" filter="fade">
                                      <p:cBhvr>
                                        <p:cTn id="58" dur="500"/>
                                        <p:tgtEl>
                                          <p:spTgt spid="9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5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fade">
                                      <p:cBhvr>
                                        <p:cTn id="76" dur="500"/>
                                        <p:tgtEl>
                                          <p:spTgt spid="3"/>
                                        </p:tgtEl>
                                      </p:cBhvr>
                                    </p:animEffect>
                                  </p:childTnLst>
                                </p:cTn>
                              </p:par>
                              <p:par>
                                <p:cTn id="77" presetID="10" presetClass="entr" presetSubtype="0" fill="hold" nodeType="withEffect">
                                  <p:stCondLst>
                                    <p:cond delay="0"/>
                                  </p:stCondLst>
                                  <p:childTnLst>
                                    <p:set>
                                      <p:cBhvr>
                                        <p:cTn id="78" dur="1" fill="hold">
                                          <p:stCondLst>
                                            <p:cond delay="0"/>
                                          </p:stCondLst>
                                        </p:cTn>
                                        <p:tgtEl>
                                          <p:spTgt spid="86"/>
                                        </p:tgtEl>
                                        <p:attrNameLst>
                                          <p:attrName>style.visibility</p:attrName>
                                        </p:attrNameLst>
                                      </p:cBhvr>
                                      <p:to>
                                        <p:strVal val="visible"/>
                                      </p:to>
                                    </p:set>
                                    <p:animEffect transition="in" filter="fade">
                                      <p:cBhvr>
                                        <p:cTn id="79" dur="500"/>
                                        <p:tgtEl>
                                          <p:spTgt spid="86"/>
                                        </p:tgtEl>
                                      </p:cBhvr>
                                    </p:animEffect>
                                  </p:childTnLst>
                                </p:cTn>
                              </p:par>
                              <p:par>
                                <p:cTn id="80" presetID="10" presetClass="entr" presetSubtype="0" fill="hold" nodeType="with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fade">
                                      <p:cBhvr>
                                        <p:cTn id="82" dur="500"/>
                                        <p:tgtEl>
                                          <p:spTgt spid="42"/>
                                        </p:tgtEl>
                                      </p:cBhvr>
                                    </p:animEffect>
                                  </p:childTnLst>
                                </p:cTn>
                              </p:par>
                              <p:par>
                                <p:cTn id="83" presetID="10" presetClass="entr" presetSubtype="0" fill="hold" nodeType="with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fade">
                                      <p:cBhvr>
                                        <p:cTn id="85" dur="500"/>
                                        <p:tgtEl>
                                          <p:spTgt spid="84"/>
                                        </p:tgtEl>
                                      </p:cBhvr>
                                    </p:animEffect>
                                  </p:childTnLst>
                                </p:cTn>
                              </p:par>
                              <p:par>
                                <p:cTn id="86" presetID="10" presetClass="exit" presetSubtype="0" fill="hold" grpId="1" nodeType="withEffect">
                                  <p:stCondLst>
                                    <p:cond delay="0"/>
                                  </p:stCondLst>
                                  <p:childTnLst>
                                    <p:animEffect transition="out" filter="fade">
                                      <p:cBhvr>
                                        <p:cTn id="87" dur="500"/>
                                        <p:tgtEl>
                                          <p:spTgt spid="90"/>
                                        </p:tgtEl>
                                      </p:cBhvr>
                                    </p:animEffect>
                                    <p:set>
                                      <p:cBhvr>
                                        <p:cTn id="88" dur="1" fill="hold">
                                          <p:stCondLst>
                                            <p:cond delay="499"/>
                                          </p:stCondLst>
                                        </p:cTn>
                                        <p:tgtEl>
                                          <p:spTgt spid="90"/>
                                        </p:tgtEl>
                                        <p:attrNameLst>
                                          <p:attrName>style.visibility</p:attrName>
                                        </p:attrNameLst>
                                      </p:cBhvr>
                                      <p:to>
                                        <p:strVal val="hidden"/>
                                      </p:to>
                                    </p:set>
                                  </p:childTnLst>
                                </p:cTn>
                              </p:par>
                              <p:par>
                                <p:cTn id="89" presetID="10" presetClass="entr" presetSubtype="0" fill="hold" nodeType="with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fade">
                                      <p:cBhvr>
                                        <p:cTn id="91" dur="500"/>
                                        <p:tgtEl>
                                          <p:spTgt spid="8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500"/>
                                        <p:tgtEl>
                                          <p:spTgt spid="4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50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500"/>
                                        <p:tgtEl>
                                          <p:spTgt spid="40"/>
                                        </p:tgtEl>
                                      </p:cBhvr>
                                    </p:animEffect>
                                  </p:childTnLst>
                                </p:cTn>
                              </p:par>
                              <p:par>
                                <p:cTn id="112" presetID="10" presetClass="exit" presetSubtype="0" fill="hold" grpId="1" nodeType="withEffect">
                                  <p:stCondLst>
                                    <p:cond delay="0"/>
                                  </p:stCondLst>
                                  <p:childTnLst>
                                    <p:animEffect transition="out" filter="fade">
                                      <p:cBhvr>
                                        <p:cTn id="113" dur="500"/>
                                        <p:tgtEl>
                                          <p:spTgt spid="92"/>
                                        </p:tgtEl>
                                      </p:cBhvr>
                                    </p:animEffect>
                                    <p:set>
                                      <p:cBhvr>
                                        <p:cTn id="114" dur="1" fill="hold">
                                          <p:stCondLst>
                                            <p:cond delay="499"/>
                                          </p:stCondLst>
                                        </p:cTn>
                                        <p:tgtEl>
                                          <p:spTgt spid="92"/>
                                        </p:tgtEl>
                                        <p:attrNameLst>
                                          <p:attrName>style.visibility</p:attrName>
                                        </p:attrNameLst>
                                      </p:cBhvr>
                                      <p:to>
                                        <p:strVal val="hidden"/>
                                      </p:to>
                                    </p:set>
                                  </p:childTnLst>
                                </p:cTn>
                              </p:par>
                              <p:par>
                                <p:cTn id="115" presetID="10" presetClass="entr" presetSubtype="0" fill="hold" grpId="0" nodeType="with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fade">
                                      <p:cBhvr>
                                        <p:cTn id="117" dur="500"/>
                                        <p:tgtEl>
                                          <p:spTgt spid="56"/>
                                        </p:tgtEl>
                                      </p:cBhvr>
                                    </p:animEffect>
                                  </p:childTnLst>
                                </p:cTn>
                              </p:par>
                              <p:par>
                                <p:cTn id="118" presetID="10" presetClass="exit" presetSubtype="0" fill="hold" nodeType="withEffect">
                                  <p:stCondLst>
                                    <p:cond delay="0"/>
                                  </p:stCondLst>
                                  <p:childTnLst>
                                    <p:animEffect transition="out" filter="fade">
                                      <p:cBhvr>
                                        <p:cTn id="119" dur="500"/>
                                        <p:tgtEl>
                                          <p:spTgt spid="89"/>
                                        </p:tgtEl>
                                      </p:cBhvr>
                                    </p:animEffect>
                                    <p:set>
                                      <p:cBhvr>
                                        <p:cTn id="120" dur="1" fill="hold">
                                          <p:stCondLst>
                                            <p:cond delay="499"/>
                                          </p:stCondLst>
                                        </p:cTn>
                                        <p:tgtEl>
                                          <p:spTgt spid="89"/>
                                        </p:tgtEl>
                                        <p:attrNameLst>
                                          <p:attrName>style.visibility</p:attrName>
                                        </p:attrNameLst>
                                      </p:cBhvr>
                                      <p:to>
                                        <p:strVal val="hidden"/>
                                      </p:to>
                                    </p:set>
                                  </p:childTnLst>
                                </p:cTn>
                              </p:par>
                              <p:par>
                                <p:cTn id="121" presetID="10" presetClass="entr" presetSubtype="0" fill="hold" nodeType="withEffect">
                                  <p:stCondLst>
                                    <p:cond delay="0"/>
                                  </p:stCondLst>
                                  <p:childTnLst>
                                    <p:set>
                                      <p:cBhvr>
                                        <p:cTn id="122" dur="1" fill="hold">
                                          <p:stCondLst>
                                            <p:cond delay="0"/>
                                          </p:stCondLst>
                                        </p:cTn>
                                        <p:tgtEl>
                                          <p:spTgt spid="67"/>
                                        </p:tgtEl>
                                        <p:attrNameLst>
                                          <p:attrName>style.visibility</p:attrName>
                                        </p:attrNameLst>
                                      </p:cBhvr>
                                      <p:to>
                                        <p:strVal val="visible"/>
                                      </p:to>
                                    </p:set>
                                    <p:animEffect transition="in" filter="fade">
                                      <p:cBhvr>
                                        <p:cTn id="123" dur="500"/>
                                        <p:tgtEl>
                                          <p:spTgt spid="67"/>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91"/>
                                        </p:tgtEl>
                                        <p:attrNameLst>
                                          <p:attrName>style.visibility</p:attrName>
                                        </p:attrNameLst>
                                      </p:cBhvr>
                                      <p:to>
                                        <p:strVal val="visible"/>
                                      </p:to>
                                    </p:set>
                                    <p:animEffect transition="in" filter="fade">
                                      <p:cBhvr>
                                        <p:cTn id="126" dur="500"/>
                                        <p:tgtEl>
                                          <p:spTgt spid="91"/>
                                        </p:tgtEl>
                                      </p:cBhvr>
                                    </p:animEffect>
                                  </p:childTnLst>
                                </p:cTn>
                              </p:par>
                              <p:par>
                                <p:cTn id="127" presetID="10" presetClass="exit" presetSubtype="0" fill="hold" grpId="1" nodeType="withEffect">
                                  <p:stCondLst>
                                    <p:cond delay="0"/>
                                  </p:stCondLst>
                                  <p:childTnLst>
                                    <p:animEffect transition="out" filter="fade">
                                      <p:cBhvr>
                                        <p:cTn id="128" dur="500"/>
                                        <p:tgtEl>
                                          <p:spTgt spid="3"/>
                                        </p:tgtEl>
                                      </p:cBhvr>
                                    </p:animEffect>
                                    <p:set>
                                      <p:cBhvr>
                                        <p:cTn id="129" dur="1" fill="hold">
                                          <p:stCondLst>
                                            <p:cond delay="499"/>
                                          </p:stCondLst>
                                        </p:cTn>
                                        <p:tgtEl>
                                          <p:spTgt spid="3"/>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500"/>
                                        <p:tgtEl>
                                          <p:spTgt spid="86"/>
                                        </p:tgtEl>
                                      </p:cBhvr>
                                    </p:animEffect>
                                    <p:set>
                                      <p:cBhvr>
                                        <p:cTn id="132" dur="1" fill="hold">
                                          <p:stCondLst>
                                            <p:cond delay="499"/>
                                          </p:stCondLst>
                                        </p:cTn>
                                        <p:tgtEl>
                                          <p:spTgt spid="86"/>
                                        </p:tgtEl>
                                        <p:attrNameLst>
                                          <p:attrName>style.visibility</p:attrName>
                                        </p:attrNameLst>
                                      </p:cBhvr>
                                      <p:to>
                                        <p:strVal val="hidden"/>
                                      </p:to>
                                    </p:set>
                                  </p:childTnLst>
                                </p:cTn>
                              </p:par>
                              <p:par>
                                <p:cTn id="133" presetID="10" presetClass="entr" presetSubtype="0" fill="hold" grpId="0" nodeType="withEffect">
                                  <p:stCondLst>
                                    <p:cond delay="0"/>
                                  </p:stCondLst>
                                  <p:childTnLst>
                                    <p:set>
                                      <p:cBhvr>
                                        <p:cTn id="134" dur="1" fill="hold">
                                          <p:stCondLst>
                                            <p:cond delay="0"/>
                                          </p:stCondLst>
                                        </p:cTn>
                                        <p:tgtEl>
                                          <p:spTgt spid="60"/>
                                        </p:tgtEl>
                                        <p:attrNameLst>
                                          <p:attrName>style.visibility</p:attrName>
                                        </p:attrNameLst>
                                      </p:cBhvr>
                                      <p:to>
                                        <p:strVal val="visible"/>
                                      </p:to>
                                    </p:set>
                                    <p:animEffect transition="in" filter="fade">
                                      <p:cBhvr>
                                        <p:cTn id="135" dur="500"/>
                                        <p:tgtEl>
                                          <p:spTgt spid="60"/>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0"/>
                                        </p:tgtEl>
                                        <p:attrNameLst>
                                          <p:attrName>style.visibility</p:attrName>
                                        </p:attrNameLst>
                                      </p:cBhvr>
                                      <p:to>
                                        <p:strVal val="visible"/>
                                      </p:to>
                                    </p:set>
                                    <p:animEffect transition="in" filter="fade">
                                      <p:cBhvr>
                                        <p:cTn id="138" dur="500"/>
                                        <p:tgtEl>
                                          <p:spTgt spid="1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9"/>
                                        </p:tgtEl>
                                        <p:attrNameLst>
                                          <p:attrName>style.visibility</p:attrName>
                                        </p:attrNameLst>
                                      </p:cBhvr>
                                      <p:to>
                                        <p:strVal val="visible"/>
                                      </p:to>
                                    </p:set>
                                    <p:animEffect transition="in" filter="fade">
                                      <p:cBhvr>
                                        <p:cTn id="141" dur="500"/>
                                        <p:tgtEl>
                                          <p:spTgt spid="59"/>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11"/>
                                        </p:tgtEl>
                                        <p:attrNameLst>
                                          <p:attrName>style.visibility</p:attrName>
                                        </p:attrNameLst>
                                      </p:cBhvr>
                                      <p:to>
                                        <p:strVal val="visible"/>
                                      </p:to>
                                    </p:set>
                                    <p:animEffect transition="in" filter="fade">
                                      <p:cBhvr>
                                        <p:cTn id="146" dur="500"/>
                                        <p:tgtEl>
                                          <p:spTgt spid="11"/>
                                        </p:tgtEl>
                                      </p:cBhvr>
                                    </p:animEffect>
                                  </p:childTnLst>
                                </p:cTn>
                              </p:par>
                              <p:par>
                                <p:cTn id="147" presetID="10" presetClass="entr" presetSubtype="0" fill="hold" nodeType="withEffect">
                                  <p:stCondLst>
                                    <p:cond delay="0"/>
                                  </p:stCondLst>
                                  <p:childTnLst>
                                    <p:set>
                                      <p:cBhvr>
                                        <p:cTn id="148" dur="1" fill="hold">
                                          <p:stCondLst>
                                            <p:cond delay="0"/>
                                          </p:stCondLst>
                                        </p:cTn>
                                        <p:tgtEl>
                                          <p:spTgt spid="12"/>
                                        </p:tgtEl>
                                        <p:attrNameLst>
                                          <p:attrName>style.visibility</p:attrName>
                                        </p:attrNameLst>
                                      </p:cBhvr>
                                      <p:to>
                                        <p:strVal val="visible"/>
                                      </p:to>
                                    </p:set>
                                    <p:animEffect transition="in" filter="fade">
                                      <p:cBhvr>
                                        <p:cTn id="149" dur="500"/>
                                        <p:tgtEl>
                                          <p:spTgt spid="12"/>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500"/>
                                        <p:tgtEl>
                                          <p:spTgt spid="5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8"/>
                                        </p:tgtEl>
                                        <p:attrNameLst>
                                          <p:attrName>style.visibility</p:attrName>
                                        </p:attrNameLst>
                                      </p:cBhvr>
                                      <p:to>
                                        <p:strVal val="visible"/>
                                      </p:to>
                                    </p:set>
                                    <p:animEffect transition="in" filter="fade">
                                      <p:cBhvr>
                                        <p:cTn id="155" dur="500"/>
                                        <p:tgtEl>
                                          <p:spTgt spid="5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61"/>
                                        </p:tgtEl>
                                        <p:attrNameLst>
                                          <p:attrName>style.visibility</p:attrName>
                                        </p:attrNameLst>
                                      </p:cBhvr>
                                      <p:to>
                                        <p:strVal val="visible"/>
                                      </p:to>
                                    </p:set>
                                    <p:animEffect transition="in" filter="fade">
                                      <p:cBhvr>
                                        <p:cTn id="158" dur="500"/>
                                        <p:tgtEl>
                                          <p:spTgt spid="61"/>
                                        </p:tgtEl>
                                      </p:cBhvr>
                                    </p:animEffect>
                                  </p:childTnLst>
                                </p:cTn>
                              </p:par>
                              <p:par>
                                <p:cTn id="159" presetID="10" presetClass="entr" presetSubtype="0" fill="hold" nodeType="withEffect">
                                  <p:stCondLst>
                                    <p:cond delay="0"/>
                                  </p:stCondLst>
                                  <p:childTnLst>
                                    <p:set>
                                      <p:cBhvr>
                                        <p:cTn id="160" dur="1" fill="hold">
                                          <p:stCondLst>
                                            <p:cond delay="0"/>
                                          </p:stCondLst>
                                        </p:cTn>
                                        <p:tgtEl>
                                          <p:spTgt spid="50"/>
                                        </p:tgtEl>
                                        <p:attrNameLst>
                                          <p:attrName>style.visibility</p:attrName>
                                        </p:attrNameLst>
                                      </p:cBhvr>
                                      <p:to>
                                        <p:strVal val="visible"/>
                                      </p:to>
                                    </p:set>
                                    <p:animEffect transition="in" filter="fade">
                                      <p:cBhvr>
                                        <p:cTn id="161" dur="500"/>
                                        <p:tgtEl>
                                          <p:spTgt spid="50"/>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4"/>
                                        </p:tgtEl>
                                        <p:attrNameLst>
                                          <p:attrName>style.visibility</p:attrName>
                                        </p:attrNameLst>
                                      </p:cBhvr>
                                      <p:to>
                                        <p:strVal val="visible"/>
                                      </p:to>
                                    </p:set>
                                    <p:animEffect transition="in" filter="fade">
                                      <p:cBhvr>
                                        <p:cTn id="164" dur="500"/>
                                        <p:tgtEl>
                                          <p:spTgt spid="54"/>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49"/>
                                        </p:tgtEl>
                                        <p:attrNameLst>
                                          <p:attrName>style.visibility</p:attrName>
                                        </p:attrNameLst>
                                      </p:cBhvr>
                                      <p:to>
                                        <p:strVal val="visible"/>
                                      </p:to>
                                    </p:set>
                                    <p:animEffect transition="in" filter="fade">
                                      <p:cBhvr>
                                        <p:cTn id="16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21" grpId="0" animBg="1"/>
      <p:bldP spid="28" grpId="0" animBg="1"/>
      <p:bldP spid="32" grpId="0" animBg="1"/>
      <p:bldP spid="33" grpId="0" animBg="1"/>
      <p:bldP spid="34" grpId="0" animBg="1"/>
      <p:bldP spid="35" grpId="0" animBg="1"/>
      <p:bldP spid="36" grpId="0"/>
      <p:bldP spid="37" grpId="0"/>
      <p:bldP spid="41" grpId="0" animBg="1"/>
      <p:bldP spid="43" grpId="0" animBg="1"/>
      <p:bldP spid="44" grpId="0" animBg="1"/>
      <p:bldP spid="45" grpId="0" animBg="1"/>
      <p:bldP spid="46" grpId="0" animBg="1"/>
      <p:bldP spid="49" grpId="0" animBg="1"/>
      <p:bldP spid="54" grpId="0" animBg="1"/>
      <p:bldP spid="55" grpId="0" animBg="1"/>
      <p:bldP spid="56" grpId="0" animBg="1"/>
      <p:bldP spid="10" grpId="0" animBg="1"/>
      <p:bldP spid="58" grpId="0" animBg="1"/>
      <p:bldP spid="59" grpId="0"/>
      <p:bldP spid="61" grpId="0"/>
      <p:bldP spid="3" grpId="0"/>
      <p:bldP spid="3" grpId="1"/>
      <p:bldP spid="60" grpId="0"/>
      <p:bldP spid="90" grpId="0"/>
      <p:bldP spid="90" grpId="1"/>
      <p:bldP spid="91" grpId="0"/>
      <p:bldP spid="92" grpId="0"/>
      <p:bldP spid="9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GB"/>
              <a:t>Heating issue at higher power</a:t>
            </a:r>
            <a:endParaRPr lang="en-US" dirty="0"/>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17</a:t>
            </a:fld>
            <a:endParaRPr lang="en-US" dirty="0"/>
          </a:p>
        </p:txBody>
      </p:sp>
      <p:grpSp>
        <p:nvGrpSpPr>
          <p:cNvPr id="3" name="Group 2">
            <a:extLst>
              <a:ext uri="{FF2B5EF4-FFF2-40B4-BE49-F238E27FC236}">
                <a16:creationId xmlns:a16="http://schemas.microsoft.com/office/drawing/2014/main" id="{2471EBAB-C37E-257A-15A3-69946C3D4947}"/>
              </a:ext>
            </a:extLst>
          </p:cNvPr>
          <p:cNvGrpSpPr/>
          <p:nvPr/>
        </p:nvGrpSpPr>
        <p:grpSpPr>
          <a:xfrm>
            <a:off x="541540" y="1479046"/>
            <a:ext cx="6457635" cy="4114034"/>
            <a:chOff x="1021770" y="1658809"/>
            <a:chExt cx="5012899" cy="3176046"/>
          </a:xfrm>
        </p:grpSpPr>
        <p:sp>
          <p:nvSpPr>
            <p:cNvPr id="8" name="Rectangle 7">
              <a:extLst>
                <a:ext uri="{FF2B5EF4-FFF2-40B4-BE49-F238E27FC236}">
                  <a16:creationId xmlns:a16="http://schemas.microsoft.com/office/drawing/2014/main" id="{637A137C-9CE3-7E61-2746-F6093CF8363E}"/>
                </a:ext>
              </a:extLst>
            </p:cNvPr>
            <p:cNvSpPr/>
            <p:nvPr/>
          </p:nvSpPr>
          <p:spPr>
            <a:xfrm>
              <a:off x="1145257" y="1658809"/>
              <a:ext cx="4889412" cy="3176046"/>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9" name="TextBox 8">
              <a:extLst>
                <a:ext uri="{FF2B5EF4-FFF2-40B4-BE49-F238E27FC236}">
                  <a16:creationId xmlns:a16="http://schemas.microsoft.com/office/drawing/2014/main" id="{7DEA7471-AAE0-37AC-DE5B-D0266AEDB5B7}"/>
                </a:ext>
              </a:extLst>
            </p:cNvPr>
            <p:cNvSpPr txBox="1"/>
            <p:nvPr/>
          </p:nvSpPr>
          <p:spPr>
            <a:xfrm>
              <a:off x="5293311" y="1738224"/>
              <a:ext cx="672603" cy="215635"/>
            </a:xfrm>
            <a:prstGeom prst="rect">
              <a:avLst/>
            </a:prstGeom>
          </p:spPr>
          <p:txBody>
            <a:bodyPr vert="horz" wrap="none" lIns="0" tIns="0" rIns="0" bIns="0" rtlCol="0" anchor="t" anchorCtr="0">
              <a:normAutofit/>
            </a:bodyPr>
            <a:lstStyle/>
            <a:p>
              <a:pPr algn="l"/>
              <a:r>
                <a:rPr lang="en-US" sz="1600" b="1" dirty="0">
                  <a:solidFill>
                    <a:schemeClr val="accent2">
                      <a:lumMod val="75000"/>
                    </a:schemeClr>
                  </a:solidFill>
                </a:rPr>
                <a:t>Sink side</a:t>
              </a:r>
            </a:p>
          </p:txBody>
        </p:sp>
        <p:cxnSp>
          <p:nvCxnSpPr>
            <p:cNvPr id="10" name="Straight Connector 9">
              <a:extLst>
                <a:ext uri="{FF2B5EF4-FFF2-40B4-BE49-F238E27FC236}">
                  <a16:creationId xmlns:a16="http://schemas.microsoft.com/office/drawing/2014/main" id="{8210E90F-695F-73AE-7C83-DC7EC4A10AA1}"/>
                </a:ext>
              </a:extLst>
            </p:cNvPr>
            <p:cNvCxnSpPr>
              <a:cxnSpLocks/>
            </p:cNvCxnSpPr>
            <p:nvPr/>
          </p:nvCxnSpPr>
          <p:spPr>
            <a:xfrm flipH="1">
              <a:off x="1241950" y="2388670"/>
              <a:ext cx="1646755"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F4400106-9B91-9A73-2E69-97DB68C0836E}"/>
                </a:ext>
              </a:extLst>
            </p:cNvPr>
            <p:cNvCxnSpPr>
              <a:cxnSpLocks/>
              <a:endCxn id="28" idx="6"/>
            </p:cNvCxnSpPr>
            <p:nvPr/>
          </p:nvCxnSpPr>
          <p:spPr>
            <a:xfrm flipH="1" flipV="1">
              <a:off x="1225267" y="2984132"/>
              <a:ext cx="1027142" cy="939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F973A8D8-4DC3-7C35-68E1-613149AD1103}"/>
                </a:ext>
              </a:extLst>
            </p:cNvPr>
            <p:cNvCxnSpPr>
              <a:cxnSpLocks/>
              <a:endCxn id="27" idx="6"/>
            </p:cNvCxnSpPr>
            <p:nvPr/>
          </p:nvCxnSpPr>
          <p:spPr>
            <a:xfrm flipH="1" flipV="1">
              <a:off x="1221324" y="2750486"/>
              <a:ext cx="1034498" cy="5858"/>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3" name="Rectangle: Rounded Corners 12">
              <a:extLst>
                <a:ext uri="{FF2B5EF4-FFF2-40B4-BE49-F238E27FC236}">
                  <a16:creationId xmlns:a16="http://schemas.microsoft.com/office/drawing/2014/main" id="{7247F069-EC9B-7B25-801F-EAB4BFAC771F}"/>
                </a:ext>
              </a:extLst>
            </p:cNvPr>
            <p:cNvSpPr/>
            <p:nvPr/>
          </p:nvSpPr>
          <p:spPr>
            <a:xfrm>
              <a:off x="1021770" y="2209134"/>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30C4E26E-A745-6CC1-7F0E-817B164558C0}"/>
                </a:ext>
              </a:extLst>
            </p:cNvPr>
            <p:cNvSpPr/>
            <p:nvPr/>
          </p:nvSpPr>
          <p:spPr>
            <a:xfrm>
              <a:off x="2867131" y="3838780"/>
              <a:ext cx="234918" cy="260678"/>
            </a:xfrm>
            <a:prstGeom prst="rect">
              <a:avLst/>
            </a:prstGeom>
            <a:solidFill>
              <a:schemeClr val="bg1"/>
            </a:solidFill>
            <a:ln w="28575">
              <a:solidFill>
                <a:schemeClr val="bg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latin typeface="Barlow" panose="00000500000000000000" pitchFamily="2" charset="0"/>
              </a:endParaRPr>
            </a:p>
          </p:txBody>
        </p:sp>
        <p:cxnSp>
          <p:nvCxnSpPr>
            <p:cNvPr id="15" name="Straight Connector 14">
              <a:extLst>
                <a:ext uri="{FF2B5EF4-FFF2-40B4-BE49-F238E27FC236}">
                  <a16:creationId xmlns:a16="http://schemas.microsoft.com/office/drawing/2014/main" id="{EAFB174D-4FB9-7D48-DC7A-5283AD909D9A}"/>
                </a:ext>
              </a:extLst>
            </p:cNvPr>
            <p:cNvCxnSpPr>
              <a:cxnSpLocks/>
            </p:cNvCxnSpPr>
            <p:nvPr/>
          </p:nvCxnSpPr>
          <p:spPr>
            <a:xfrm>
              <a:off x="5223415" y="3816871"/>
              <a:ext cx="469074" cy="0"/>
            </a:xfrm>
            <a:prstGeom prst="line">
              <a:avLst/>
            </a:prstGeom>
            <a:ln w="12700">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ECA1FEA3-6D1B-597F-EF10-1BDFE7B738A8}"/>
                </a:ext>
              </a:extLst>
            </p:cNvPr>
            <p:cNvCxnSpPr>
              <a:cxnSpLocks/>
            </p:cNvCxnSpPr>
            <p:nvPr/>
          </p:nvCxnSpPr>
          <p:spPr>
            <a:xfrm>
              <a:off x="5223415" y="4374445"/>
              <a:ext cx="469074" cy="0"/>
            </a:xfrm>
            <a:prstGeom prst="line">
              <a:avLst/>
            </a:prstGeom>
            <a:ln w="12700">
              <a:solidFill>
                <a:schemeClr val="dk1"/>
              </a:solidFill>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17" name="Rectangle: Rounded Corners 16">
              <a:extLst>
                <a:ext uri="{FF2B5EF4-FFF2-40B4-BE49-F238E27FC236}">
                  <a16:creationId xmlns:a16="http://schemas.microsoft.com/office/drawing/2014/main" id="{F3C56658-43A1-D948-FF49-B255D4CE7E81}"/>
                </a:ext>
              </a:extLst>
            </p:cNvPr>
            <p:cNvSpPr/>
            <p:nvPr/>
          </p:nvSpPr>
          <p:spPr>
            <a:xfrm>
              <a:off x="2251281" y="2565313"/>
              <a:ext cx="1235256" cy="734921"/>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b="1" dirty="0">
                  <a:solidFill>
                    <a:schemeClr val="tx1">
                      <a:lumMod val="85000"/>
                      <a:lumOff val="15000"/>
                    </a:schemeClr>
                  </a:solidFill>
                  <a:latin typeface="Barlow" panose="00000500000000000000" pitchFamily="2" charset="0"/>
                </a:rPr>
                <a:t>MAX77958</a:t>
              </a:r>
            </a:p>
            <a:p>
              <a:pPr algn="ctr"/>
              <a:r>
                <a:rPr lang="en-US" sz="700" b="1" dirty="0">
                  <a:solidFill>
                    <a:schemeClr val="tx1">
                      <a:lumMod val="85000"/>
                      <a:lumOff val="15000"/>
                    </a:schemeClr>
                  </a:solidFill>
                  <a:latin typeface="Barlow" panose="00000500000000000000" pitchFamily="2" charset="0"/>
                </a:rPr>
                <a:t>PD negotiator</a:t>
              </a:r>
            </a:p>
          </p:txBody>
        </p:sp>
        <p:sp>
          <p:nvSpPr>
            <p:cNvPr id="18" name="Rectangle: Rounded Corners 17">
              <a:extLst>
                <a:ext uri="{FF2B5EF4-FFF2-40B4-BE49-F238E27FC236}">
                  <a16:creationId xmlns:a16="http://schemas.microsoft.com/office/drawing/2014/main" id="{B34FAB54-B2FD-9474-0EBF-DB04E923AD00}"/>
                </a:ext>
              </a:extLst>
            </p:cNvPr>
            <p:cNvSpPr/>
            <p:nvPr/>
          </p:nvSpPr>
          <p:spPr>
            <a:xfrm>
              <a:off x="4014297" y="2565313"/>
              <a:ext cx="1220549" cy="741358"/>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b="1" dirty="0">
                  <a:solidFill>
                    <a:schemeClr val="tx1">
                      <a:lumMod val="85000"/>
                      <a:lumOff val="15000"/>
                    </a:schemeClr>
                  </a:solidFill>
                  <a:latin typeface="Barlow" panose="00000500000000000000" pitchFamily="2" charset="0"/>
                </a:rPr>
                <a:t>MAX77986</a:t>
              </a:r>
            </a:p>
            <a:p>
              <a:pPr algn="ctr"/>
              <a:r>
                <a:rPr lang="en-US" sz="700" b="1" dirty="0">
                  <a:solidFill>
                    <a:schemeClr val="tx1">
                      <a:lumMod val="85000"/>
                      <a:lumOff val="15000"/>
                    </a:schemeClr>
                  </a:solidFill>
                  <a:latin typeface="Barlow" panose="00000500000000000000" pitchFamily="2" charset="0"/>
                </a:rPr>
                <a:t>Buck Charger</a:t>
              </a:r>
            </a:p>
          </p:txBody>
        </p:sp>
        <p:sp>
          <p:nvSpPr>
            <p:cNvPr id="19" name="TextBox 18">
              <a:extLst>
                <a:ext uri="{FF2B5EF4-FFF2-40B4-BE49-F238E27FC236}">
                  <a16:creationId xmlns:a16="http://schemas.microsoft.com/office/drawing/2014/main" id="{6FE070B5-FA67-CC46-A4DC-7A59146FE537}"/>
                </a:ext>
              </a:extLst>
            </p:cNvPr>
            <p:cNvSpPr txBox="1"/>
            <p:nvPr/>
          </p:nvSpPr>
          <p:spPr>
            <a:xfrm rot="16200000">
              <a:off x="3233326" y="2766061"/>
              <a:ext cx="379856" cy="240927"/>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700" dirty="0">
                  <a:ln w="0"/>
                  <a:effectLst>
                    <a:outerShdw blurRad="38100" dist="19050" dir="2700000" algn="tl" rotWithShape="0">
                      <a:schemeClr val="dk1">
                        <a:alpha val="40000"/>
                      </a:schemeClr>
                    </a:outerShdw>
                  </a:effectLst>
                  <a:latin typeface="Barlow" panose="00000500000000000000" pitchFamily="2" charset="0"/>
                </a:rPr>
                <a:t>I2C M</a:t>
              </a:r>
            </a:p>
          </p:txBody>
        </p:sp>
        <p:sp>
          <p:nvSpPr>
            <p:cNvPr id="20" name="Rectangle: Rounded Corners 19">
              <a:extLst>
                <a:ext uri="{FF2B5EF4-FFF2-40B4-BE49-F238E27FC236}">
                  <a16:creationId xmlns:a16="http://schemas.microsoft.com/office/drawing/2014/main" id="{18D822D8-F450-0DEB-AF44-4940B25B01EC}"/>
                </a:ext>
              </a:extLst>
            </p:cNvPr>
            <p:cNvSpPr/>
            <p:nvPr/>
          </p:nvSpPr>
          <p:spPr>
            <a:xfrm>
              <a:off x="2245320" y="3715332"/>
              <a:ext cx="1207374" cy="741358"/>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b="1" dirty="0">
                  <a:solidFill>
                    <a:schemeClr val="tx1">
                      <a:lumMod val="85000"/>
                      <a:lumOff val="15000"/>
                    </a:schemeClr>
                  </a:solidFill>
                  <a:latin typeface="Barlow" panose="00000500000000000000" pitchFamily="2" charset="0"/>
                </a:rPr>
                <a:t>MAX32660</a:t>
              </a:r>
            </a:p>
            <a:p>
              <a:pPr algn="ctr"/>
              <a:r>
                <a:rPr lang="en-US" sz="700" b="1" dirty="0">
                  <a:solidFill>
                    <a:schemeClr val="tx1">
                      <a:lumMod val="85000"/>
                      <a:lumOff val="15000"/>
                    </a:schemeClr>
                  </a:solidFill>
                  <a:latin typeface="Barlow" panose="00000500000000000000" pitchFamily="2" charset="0"/>
                </a:rPr>
                <a:t>MCU</a:t>
              </a:r>
            </a:p>
          </p:txBody>
        </p:sp>
        <p:grpSp>
          <p:nvGrpSpPr>
            <p:cNvPr id="21" name="Group 20">
              <a:extLst>
                <a:ext uri="{FF2B5EF4-FFF2-40B4-BE49-F238E27FC236}">
                  <a16:creationId xmlns:a16="http://schemas.microsoft.com/office/drawing/2014/main" id="{D3B0A92F-1303-BEF2-5826-D0FBD92D09DF}"/>
                </a:ext>
              </a:extLst>
            </p:cNvPr>
            <p:cNvGrpSpPr/>
            <p:nvPr/>
          </p:nvGrpSpPr>
          <p:grpSpPr>
            <a:xfrm>
              <a:off x="5598212" y="4539666"/>
              <a:ext cx="203743" cy="80729"/>
              <a:chOff x="8643839" y="3430799"/>
              <a:chExt cx="290244" cy="111833"/>
            </a:xfrm>
          </p:grpSpPr>
          <p:cxnSp>
            <p:nvCxnSpPr>
              <p:cNvPr id="49" name="Straight Connector 48">
                <a:extLst>
                  <a:ext uri="{FF2B5EF4-FFF2-40B4-BE49-F238E27FC236}">
                    <a16:creationId xmlns:a16="http://schemas.microsoft.com/office/drawing/2014/main" id="{0B121CFB-C48A-2155-1DF9-44F2A0EA2398}"/>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50" name="Straight Connector 49">
                <a:extLst>
                  <a:ext uri="{FF2B5EF4-FFF2-40B4-BE49-F238E27FC236}">
                    <a16:creationId xmlns:a16="http://schemas.microsoft.com/office/drawing/2014/main" id="{90587D8D-439B-DE48-F19D-6655590A085F}"/>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51" name="Straight Connector 50">
                <a:extLst>
                  <a:ext uri="{FF2B5EF4-FFF2-40B4-BE49-F238E27FC236}">
                    <a16:creationId xmlns:a16="http://schemas.microsoft.com/office/drawing/2014/main" id="{308A844F-8D0F-E798-038E-A5E15E14F418}"/>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22" name="TextBox 21">
              <a:extLst>
                <a:ext uri="{FF2B5EF4-FFF2-40B4-BE49-F238E27FC236}">
                  <a16:creationId xmlns:a16="http://schemas.microsoft.com/office/drawing/2014/main" id="{72F2E91E-5BC2-353D-D84A-21540E1834D4}"/>
                </a:ext>
              </a:extLst>
            </p:cNvPr>
            <p:cNvSpPr txBox="1"/>
            <p:nvPr/>
          </p:nvSpPr>
          <p:spPr>
            <a:xfrm>
              <a:off x="2704013" y="3130262"/>
              <a:ext cx="369384" cy="247757"/>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7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23" name="Connector: Elbow 22">
              <a:extLst>
                <a:ext uri="{FF2B5EF4-FFF2-40B4-BE49-F238E27FC236}">
                  <a16:creationId xmlns:a16="http://schemas.microsoft.com/office/drawing/2014/main" id="{C47B0391-84A2-F594-B084-981A3DEB0E93}"/>
                </a:ext>
              </a:extLst>
            </p:cNvPr>
            <p:cNvCxnSpPr>
              <a:cxnSpLocks/>
            </p:cNvCxnSpPr>
            <p:nvPr/>
          </p:nvCxnSpPr>
          <p:spPr>
            <a:xfrm rot="16200000" flipH="1">
              <a:off x="3735760" y="1693093"/>
              <a:ext cx="3461" cy="1747903"/>
            </a:xfrm>
            <a:prstGeom prst="bentConnector3">
              <a:avLst>
                <a:gd name="adj1" fmla="val -4870673"/>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E3C28F6B-C549-0E8F-64FB-F17C5BF65A74}"/>
                </a:ext>
              </a:extLst>
            </p:cNvPr>
            <p:cNvCxnSpPr>
              <a:cxnSpLocks/>
            </p:cNvCxnSpPr>
            <p:nvPr/>
          </p:nvCxnSpPr>
          <p:spPr>
            <a:xfrm flipH="1">
              <a:off x="1324710" y="3154090"/>
              <a:ext cx="26200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E6568A7F-C633-8C6F-6D54-96E4D57DF295}"/>
                </a:ext>
              </a:extLst>
            </p:cNvPr>
            <p:cNvCxnSpPr>
              <a:cxnSpLocks/>
            </p:cNvCxnSpPr>
            <p:nvPr/>
          </p:nvCxnSpPr>
          <p:spPr>
            <a:xfrm>
              <a:off x="1586712" y="3154090"/>
              <a:ext cx="0" cy="234073"/>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26" name="Oval 25">
              <a:extLst>
                <a:ext uri="{FF2B5EF4-FFF2-40B4-BE49-F238E27FC236}">
                  <a16:creationId xmlns:a16="http://schemas.microsoft.com/office/drawing/2014/main" id="{8837330E-5A33-A4EA-7EF8-95F6EDBCAF8C}"/>
                </a:ext>
              </a:extLst>
            </p:cNvPr>
            <p:cNvSpPr/>
            <p:nvPr/>
          </p:nvSpPr>
          <p:spPr>
            <a:xfrm>
              <a:off x="1121090" y="2347707"/>
              <a:ext cx="105626" cy="109962"/>
            </a:xfrm>
            <a:prstGeom prst="ellipse">
              <a:avLst/>
            </a:prstGeom>
            <a:solidFill>
              <a:schemeClr val="bg1"/>
            </a:solidFill>
            <a:ln w="28575">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Barlow" panose="00000500000000000000" pitchFamily="2" charset="0"/>
              </a:endParaRPr>
            </a:p>
          </p:txBody>
        </p:sp>
        <p:sp>
          <p:nvSpPr>
            <p:cNvPr id="27" name="Oval 26">
              <a:extLst>
                <a:ext uri="{FF2B5EF4-FFF2-40B4-BE49-F238E27FC236}">
                  <a16:creationId xmlns:a16="http://schemas.microsoft.com/office/drawing/2014/main" id="{FFE68366-ABD7-F79C-3471-3A61EBE26127}"/>
                </a:ext>
              </a:extLst>
            </p:cNvPr>
            <p:cNvSpPr/>
            <p:nvPr/>
          </p:nvSpPr>
          <p:spPr>
            <a:xfrm>
              <a:off x="1115698" y="2695504"/>
              <a:ext cx="105626" cy="109962"/>
            </a:xfrm>
            <a:prstGeom prst="ellipse">
              <a:avLst/>
            </a:prstGeom>
            <a:solidFill>
              <a:schemeClr val="bg1"/>
            </a:solidFill>
            <a:ln w="28575">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Barlow" panose="00000500000000000000" pitchFamily="2" charset="0"/>
              </a:endParaRPr>
            </a:p>
          </p:txBody>
        </p:sp>
        <p:sp>
          <p:nvSpPr>
            <p:cNvPr id="28" name="Oval 27">
              <a:extLst>
                <a:ext uri="{FF2B5EF4-FFF2-40B4-BE49-F238E27FC236}">
                  <a16:creationId xmlns:a16="http://schemas.microsoft.com/office/drawing/2014/main" id="{125EC7EE-ACF3-4CA1-42D8-970B3BEF0DED}"/>
                </a:ext>
              </a:extLst>
            </p:cNvPr>
            <p:cNvSpPr/>
            <p:nvPr/>
          </p:nvSpPr>
          <p:spPr>
            <a:xfrm>
              <a:off x="1119641" y="2929150"/>
              <a:ext cx="105626" cy="109962"/>
            </a:xfrm>
            <a:prstGeom prst="ellipse">
              <a:avLst/>
            </a:prstGeom>
            <a:solidFill>
              <a:schemeClr val="bg1"/>
            </a:solidFill>
            <a:ln w="28575">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Barlow" panose="00000500000000000000" pitchFamily="2" charset="0"/>
              </a:endParaRPr>
            </a:p>
          </p:txBody>
        </p:sp>
        <p:sp>
          <p:nvSpPr>
            <p:cNvPr id="29" name="TextBox 28">
              <a:extLst>
                <a:ext uri="{FF2B5EF4-FFF2-40B4-BE49-F238E27FC236}">
                  <a16:creationId xmlns:a16="http://schemas.microsoft.com/office/drawing/2014/main" id="{3CF936FC-1EB7-070F-DE62-F92A2A7F7A0A}"/>
                </a:ext>
              </a:extLst>
            </p:cNvPr>
            <p:cNvSpPr txBox="1"/>
            <p:nvPr/>
          </p:nvSpPr>
          <p:spPr>
            <a:xfrm>
              <a:off x="1303680" y="2191551"/>
              <a:ext cx="437940" cy="215444"/>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800" b="1" dirty="0">
                  <a:latin typeface="Barlow" panose="00000500000000000000" pitchFamily="2" charset="0"/>
                </a:rPr>
                <a:t>VBUS</a:t>
              </a:r>
            </a:p>
          </p:txBody>
        </p:sp>
        <p:sp>
          <p:nvSpPr>
            <p:cNvPr id="30" name="TextBox 29">
              <a:extLst>
                <a:ext uri="{FF2B5EF4-FFF2-40B4-BE49-F238E27FC236}">
                  <a16:creationId xmlns:a16="http://schemas.microsoft.com/office/drawing/2014/main" id="{56D415B3-EA38-CAD9-2F00-4F89E5751363}"/>
                </a:ext>
              </a:extLst>
            </p:cNvPr>
            <p:cNvSpPr txBox="1"/>
            <p:nvPr/>
          </p:nvSpPr>
          <p:spPr>
            <a:xfrm>
              <a:off x="1297123" y="2539460"/>
              <a:ext cx="346570" cy="215444"/>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800" b="1" dirty="0">
                  <a:latin typeface="Barlow" panose="00000500000000000000" pitchFamily="2" charset="0"/>
                </a:rPr>
                <a:t>CC1</a:t>
              </a:r>
            </a:p>
          </p:txBody>
        </p:sp>
        <p:sp>
          <p:nvSpPr>
            <p:cNvPr id="31" name="TextBox 30">
              <a:extLst>
                <a:ext uri="{FF2B5EF4-FFF2-40B4-BE49-F238E27FC236}">
                  <a16:creationId xmlns:a16="http://schemas.microsoft.com/office/drawing/2014/main" id="{3EA97EBF-DA20-278D-5CEB-EC0B1272481A}"/>
                </a:ext>
              </a:extLst>
            </p:cNvPr>
            <p:cNvSpPr txBox="1"/>
            <p:nvPr/>
          </p:nvSpPr>
          <p:spPr>
            <a:xfrm>
              <a:off x="1286006" y="2764152"/>
              <a:ext cx="367408" cy="215444"/>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800" b="1" dirty="0">
                  <a:latin typeface="Barlow" panose="00000500000000000000" pitchFamily="2" charset="0"/>
                </a:rPr>
                <a:t>CC2</a:t>
              </a:r>
            </a:p>
          </p:txBody>
        </p:sp>
        <p:sp>
          <p:nvSpPr>
            <p:cNvPr id="32" name="Rectangle: Rounded Corners 31">
              <a:extLst>
                <a:ext uri="{FF2B5EF4-FFF2-40B4-BE49-F238E27FC236}">
                  <a16:creationId xmlns:a16="http://schemas.microsoft.com/office/drawing/2014/main" id="{49A7D122-0B64-223E-4571-8D8E949A5D59}"/>
                </a:ext>
              </a:extLst>
            </p:cNvPr>
            <p:cNvSpPr/>
            <p:nvPr/>
          </p:nvSpPr>
          <p:spPr>
            <a:xfrm>
              <a:off x="3981098" y="3711411"/>
              <a:ext cx="1253747" cy="745280"/>
            </a:xfrm>
            <a:prstGeom prst="roundRect">
              <a:avLst>
                <a:gd name="adj" fmla="val 1001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b="1" dirty="0">
                  <a:solidFill>
                    <a:schemeClr val="tx1">
                      <a:lumMod val="85000"/>
                      <a:lumOff val="15000"/>
                    </a:schemeClr>
                  </a:solidFill>
                  <a:latin typeface="Barlow" panose="00000500000000000000" pitchFamily="2" charset="0"/>
                </a:rPr>
                <a:t>MAX17260/2</a:t>
              </a:r>
            </a:p>
            <a:p>
              <a:pPr algn="ctr"/>
              <a:r>
                <a:rPr lang="en-US" sz="700" b="1" dirty="0">
                  <a:solidFill>
                    <a:schemeClr val="tx1">
                      <a:lumMod val="85000"/>
                      <a:lumOff val="15000"/>
                    </a:schemeClr>
                  </a:solidFill>
                  <a:latin typeface="Barlow" panose="00000500000000000000" pitchFamily="2" charset="0"/>
                </a:rPr>
                <a:t>Fuel Gauge</a:t>
              </a:r>
            </a:p>
          </p:txBody>
        </p:sp>
        <p:cxnSp>
          <p:nvCxnSpPr>
            <p:cNvPr id="33" name="Connector: Elbow 32">
              <a:extLst>
                <a:ext uri="{FF2B5EF4-FFF2-40B4-BE49-F238E27FC236}">
                  <a16:creationId xmlns:a16="http://schemas.microsoft.com/office/drawing/2014/main" id="{52746A77-29A7-B8B1-E379-30F821013985}"/>
                </a:ext>
              </a:extLst>
            </p:cNvPr>
            <p:cNvCxnSpPr>
              <a:cxnSpLocks/>
            </p:cNvCxnSpPr>
            <p:nvPr/>
          </p:nvCxnSpPr>
          <p:spPr>
            <a:xfrm>
              <a:off x="5223372" y="2947604"/>
              <a:ext cx="464284" cy="854394"/>
            </a:xfrm>
            <a:prstGeom prst="bentConnector2">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C3E25BE8-5807-C4F4-E8B2-15AF0D959282}"/>
                </a:ext>
              </a:extLst>
            </p:cNvPr>
            <p:cNvCxnSpPr>
              <a:cxnSpLocks/>
            </p:cNvCxnSpPr>
            <p:nvPr/>
          </p:nvCxnSpPr>
          <p:spPr>
            <a:xfrm>
              <a:off x="5691895" y="3784531"/>
              <a:ext cx="0" cy="755141"/>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35" name="Arrow: Left-Right 34">
              <a:extLst>
                <a:ext uri="{FF2B5EF4-FFF2-40B4-BE49-F238E27FC236}">
                  <a16:creationId xmlns:a16="http://schemas.microsoft.com/office/drawing/2014/main" id="{0BD24D8C-04CF-7492-919F-9FF2C3C14850}"/>
                </a:ext>
              </a:extLst>
            </p:cNvPr>
            <p:cNvSpPr/>
            <p:nvPr/>
          </p:nvSpPr>
          <p:spPr>
            <a:xfrm>
              <a:off x="3512486" y="2825238"/>
              <a:ext cx="475861" cy="190266"/>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36" name="Arrow: Left-Right 35">
              <a:extLst>
                <a:ext uri="{FF2B5EF4-FFF2-40B4-BE49-F238E27FC236}">
                  <a16:creationId xmlns:a16="http://schemas.microsoft.com/office/drawing/2014/main" id="{D569BE57-0ABA-66F8-6A7F-0BA8EFC0321F}"/>
                </a:ext>
              </a:extLst>
            </p:cNvPr>
            <p:cNvSpPr/>
            <p:nvPr/>
          </p:nvSpPr>
          <p:spPr>
            <a:xfrm rot="5400000">
              <a:off x="2626724" y="3429248"/>
              <a:ext cx="408221" cy="169510"/>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38" name="Arrow: Left-Right 37">
              <a:extLst>
                <a:ext uri="{FF2B5EF4-FFF2-40B4-BE49-F238E27FC236}">
                  <a16:creationId xmlns:a16="http://schemas.microsoft.com/office/drawing/2014/main" id="{26C5036C-A6F9-AD94-1A24-CA84672EB7FA}"/>
                </a:ext>
              </a:extLst>
            </p:cNvPr>
            <p:cNvSpPr/>
            <p:nvPr/>
          </p:nvSpPr>
          <p:spPr>
            <a:xfrm>
              <a:off x="3475581" y="3957857"/>
              <a:ext cx="475861" cy="169510"/>
            </a:xfrm>
            <a:prstGeom prst="leftRightArrow">
              <a:avLst>
                <a:gd name="adj1" fmla="val 64384"/>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39" name="TextBox 38">
              <a:extLst>
                <a:ext uri="{FF2B5EF4-FFF2-40B4-BE49-F238E27FC236}">
                  <a16:creationId xmlns:a16="http://schemas.microsoft.com/office/drawing/2014/main" id="{9F7EACF8-390C-0FDA-CE97-D432FD622CE8}"/>
                </a:ext>
              </a:extLst>
            </p:cNvPr>
            <p:cNvSpPr txBox="1"/>
            <p:nvPr/>
          </p:nvSpPr>
          <p:spPr>
            <a:xfrm>
              <a:off x="3625461" y="2839882"/>
              <a:ext cx="332142" cy="215444"/>
            </a:xfrm>
            <a:prstGeom prst="rect">
              <a:avLst/>
            </a:prstGeom>
            <a:noFill/>
            <a:scene3d>
              <a:camera prst="orthographicFront"/>
              <a:lightRig rig="threePt" dir="t"/>
            </a:scene3d>
            <a:sp3d>
              <a:bevelT w="165100" prst="coolSlant"/>
            </a:sp3d>
          </p:spPr>
          <p:txBody>
            <a:bodyPr wrap="none" rtlCol="0">
              <a:spAutoFit/>
            </a:bodyPr>
            <a:lstStyle/>
            <a:p>
              <a:r>
                <a:rPr lang="en-US" sz="800" b="1" dirty="0">
                  <a:latin typeface="Barlow" panose="00000500000000000000" pitchFamily="2" charset="0"/>
                </a:rPr>
                <a:t>I2C</a:t>
              </a:r>
            </a:p>
          </p:txBody>
        </p:sp>
        <p:sp>
          <p:nvSpPr>
            <p:cNvPr id="40" name="TextBox 39">
              <a:extLst>
                <a:ext uri="{FF2B5EF4-FFF2-40B4-BE49-F238E27FC236}">
                  <a16:creationId xmlns:a16="http://schemas.microsoft.com/office/drawing/2014/main" id="{A2D524F6-4540-1D95-A746-796362B5B064}"/>
                </a:ext>
              </a:extLst>
            </p:cNvPr>
            <p:cNvSpPr txBox="1"/>
            <p:nvPr/>
          </p:nvSpPr>
          <p:spPr>
            <a:xfrm>
              <a:off x="3602115" y="3968376"/>
              <a:ext cx="332142" cy="215444"/>
            </a:xfrm>
            <a:prstGeom prst="rect">
              <a:avLst/>
            </a:prstGeom>
            <a:noFill/>
            <a:scene3d>
              <a:camera prst="orthographicFront"/>
              <a:lightRig rig="threePt" dir="t"/>
            </a:scene3d>
            <a:sp3d>
              <a:bevelT w="165100" prst="coolSlant"/>
            </a:sp3d>
          </p:spPr>
          <p:txBody>
            <a:bodyPr wrap="none" rtlCol="0">
              <a:spAutoFit/>
            </a:bodyPr>
            <a:lstStyle/>
            <a:p>
              <a:r>
                <a:rPr lang="en-US" sz="800" b="1" dirty="0">
                  <a:latin typeface="Barlow" panose="00000500000000000000" pitchFamily="2" charset="0"/>
                </a:rPr>
                <a:t>I2C</a:t>
              </a:r>
            </a:p>
          </p:txBody>
        </p:sp>
        <p:sp>
          <p:nvSpPr>
            <p:cNvPr id="41" name="TextBox 40">
              <a:extLst>
                <a:ext uri="{FF2B5EF4-FFF2-40B4-BE49-F238E27FC236}">
                  <a16:creationId xmlns:a16="http://schemas.microsoft.com/office/drawing/2014/main" id="{FA663C4C-C82A-9AA7-74BC-89ECB1B03D00}"/>
                </a:ext>
              </a:extLst>
            </p:cNvPr>
            <p:cNvSpPr txBox="1"/>
            <p:nvPr/>
          </p:nvSpPr>
          <p:spPr>
            <a:xfrm rot="16200000">
              <a:off x="2687731" y="3358583"/>
              <a:ext cx="332142"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I2C</a:t>
              </a:r>
            </a:p>
          </p:txBody>
        </p:sp>
        <p:grpSp>
          <p:nvGrpSpPr>
            <p:cNvPr id="42" name="Group 41">
              <a:extLst>
                <a:ext uri="{FF2B5EF4-FFF2-40B4-BE49-F238E27FC236}">
                  <a16:creationId xmlns:a16="http://schemas.microsoft.com/office/drawing/2014/main" id="{545C43EC-CB0E-598A-73A4-58508AB7E6BF}"/>
                </a:ext>
              </a:extLst>
            </p:cNvPr>
            <p:cNvGrpSpPr/>
            <p:nvPr/>
          </p:nvGrpSpPr>
          <p:grpSpPr>
            <a:xfrm>
              <a:off x="1485434" y="3388163"/>
              <a:ext cx="203743" cy="80729"/>
              <a:chOff x="8646553" y="3430799"/>
              <a:chExt cx="290244" cy="111833"/>
            </a:xfrm>
          </p:grpSpPr>
          <p:cxnSp>
            <p:nvCxnSpPr>
              <p:cNvPr id="46" name="Straight Connector 45">
                <a:extLst>
                  <a:ext uri="{FF2B5EF4-FFF2-40B4-BE49-F238E27FC236}">
                    <a16:creationId xmlns:a16="http://schemas.microsoft.com/office/drawing/2014/main" id="{A3B93BF6-2F92-AEA1-1BA4-49A27D5F54EC}"/>
                  </a:ext>
                </a:extLst>
              </p:cNvPr>
              <p:cNvCxnSpPr>
                <a:cxnSpLocks/>
              </p:cNvCxnSpPr>
              <p:nvPr/>
            </p:nvCxnSpPr>
            <p:spPr>
              <a:xfrm>
                <a:off x="8646553"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7" name="Straight Connector 46">
                <a:extLst>
                  <a:ext uri="{FF2B5EF4-FFF2-40B4-BE49-F238E27FC236}">
                    <a16:creationId xmlns:a16="http://schemas.microsoft.com/office/drawing/2014/main" id="{65AAC7DB-995A-45E8-6FE6-E3C3AC9FC636}"/>
                  </a:ext>
                </a:extLst>
              </p:cNvPr>
              <p:cNvCxnSpPr>
                <a:cxnSpLocks/>
              </p:cNvCxnSpPr>
              <p:nvPr/>
            </p:nvCxnSpPr>
            <p:spPr>
              <a:xfrm>
                <a:off x="8673699"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8" name="Straight Connector 47">
                <a:extLst>
                  <a:ext uri="{FF2B5EF4-FFF2-40B4-BE49-F238E27FC236}">
                    <a16:creationId xmlns:a16="http://schemas.microsoft.com/office/drawing/2014/main" id="{072E0D86-3670-3C48-9C95-44632B332D27}"/>
                  </a:ext>
                </a:extLst>
              </p:cNvPr>
              <p:cNvCxnSpPr>
                <a:cxnSpLocks/>
              </p:cNvCxnSpPr>
              <p:nvPr/>
            </p:nvCxnSpPr>
            <p:spPr>
              <a:xfrm>
                <a:off x="8741430"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pic>
          <p:nvPicPr>
            <p:cNvPr id="43" name="Picture 42">
              <a:extLst>
                <a:ext uri="{FF2B5EF4-FFF2-40B4-BE49-F238E27FC236}">
                  <a16:creationId xmlns:a16="http://schemas.microsoft.com/office/drawing/2014/main" id="{FB5B00F8-6439-E8D6-0DD8-2943F41F40BD}"/>
                </a:ext>
              </a:extLst>
            </p:cNvPr>
            <p:cNvPicPr>
              <a:picLocks noChangeAspect="1"/>
            </p:cNvPicPr>
            <p:nvPr/>
          </p:nvPicPr>
          <p:blipFill>
            <a:blip r:embed="rId3"/>
            <a:stretch>
              <a:fillRect/>
            </a:stretch>
          </p:blipFill>
          <p:spPr>
            <a:xfrm>
              <a:off x="5472064" y="3890326"/>
              <a:ext cx="438950" cy="438950"/>
            </a:xfrm>
            <a:prstGeom prst="rect">
              <a:avLst/>
            </a:prstGeom>
          </p:spPr>
        </p:pic>
        <p:cxnSp>
          <p:nvCxnSpPr>
            <p:cNvPr id="44" name="Straight Arrow Connector 43">
              <a:extLst>
                <a:ext uri="{FF2B5EF4-FFF2-40B4-BE49-F238E27FC236}">
                  <a16:creationId xmlns:a16="http://schemas.microsoft.com/office/drawing/2014/main" id="{9ACDA3A0-BE46-9C71-E921-1EE13EC2708C}"/>
                </a:ext>
              </a:extLst>
            </p:cNvPr>
            <p:cNvCxnSpPr>
              <a:cxnSpLocks/>
            </p:cNvCxnSpPr>
            <p:nvPr/>
          </p:nvCxnSpPr>
          <p:spPr>
            <a:xfrm flipV="1">
              <a:off x="5234846" y="2750485"/>
              <a:ext cx="519778" cy="1"/>
            </a:xfrm>
            <a:prstGeom prst="straightConnector1">
              <a:avLst/>
            </a:prstGeom>
            <a:ln w="12700">
              <a:solidFill>
                <a:schemeClr val="tx1"/>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F1E2494E-ED3B-8130-DB7C-325D8010B668}"/>
                </a:ext>
              </a:extLst>
            </p:cNvPr>
            <p:cNvSpPr txBox="1"/>
            <p:nvPr/>
          </p:nvSpPr>
          <p:spPr>
            <a:xfrm>
              <a:off x="5284141" y="2610028"/>
              <a:ext cx="541662" cy="195438"/>
            </a:xfrm>
            <a:prstGeom prst="rect">
              <a:avLst/>
            </a:prstGeom>
          </p:spPr>
          <p:txBody>
            <a:bodyPr vert="horz" wrap="none" lIns="0" tIns="0" rIns="0" bIns="0" rtlCol="0" anchor="t" anchorCtr="0">
              <a:normAutofit/>
            </a:bodyPr>
            <a:lstStyle/>
            <a:p>
              <a:pPr algn="l"/>
              <a:r>
                <a:rPr lang="en-US" sz="1100" b="1" dirty="0">
                  <a:solidFill>
                    <a:schemeClr val="accent6">
                      <a:lumMod val="60000"/>
                      <a:lumOff val="40000"/>
                    </a:schemeClr>
                  </a:solidFill>
                </a:rPr>
                <a:t>To System</a:t>
              </a:r>
            </a:p>
          </p:txBody>
        </p:sp>
      </p:grpSp>
      <p:sp>
        <p:nvSpPr>
          <p:cNvPr id="55" name="TextBox 54">
            <a:extLst>
              <a:ext uri="{FF2B5EF4-FFF2-40B4-BE49-F238E27FC236}">
                <a16:creationId xmlns:a16="http://schemas.microsoft.com/office/drawing/2014/main" id="{9D4ABE5E-950F-B3A9-5254-636ECD8631DF}"/>
              </a:ext>
            </a:extLst>
          </p:cNvPr>
          <p:cNvSpPr txBox="1"/>
          <p:nvPr/>
        </p:nvSpPr>
        <p:spPr>
          <a:xfrm>
            <a:off x="1401297" y="2104999"/>
            <a:ext cx="2121357" cy="270570"/>
          </a:xfrm>
          <a:prstGeom prst="rect">
            <a:avLst/>
          </a:prstGeom>
        </p:spPr>
        <p:txBody>
          <a:bodyPr vert="horz" wrap="none" lIns="0" tIns="0" rIns="0" bIns="0" rtlCol="0" anchor="t" anchorCtr="0">
            <a:normAutofit/>
          </a:bodyPr>
          <a:lstStyle/>
          <a:p>
            <a:pPr algn="l"/>
            <a:r>
              <a:rPr lang="en-US" sz="1400" b="1" dirty="0">
                <a:solidFill>
                  <a:schemeClr val="accent1">
                    <a:lumMod val="90000"/>
                    <a:lumOff val="10000"/>
                  </a:schemeClr>
                </a:solidFill>
              </a:rPr>
              <a:t>5V                    9V ……… . </a:t>
            </a:r>
            <a:r>
              <a:rPr lang="en-US" sz="1400" b="1">
                <a:solidFill>
                  <a:schemeClr val="accent1">
                    <a:lumMod val="90000"/>
                    <a:lumOff val="10000"/>
                  </a:schemeClr>
                </a:solidFill>
              </a:rPr>
              <a:t>15V</a:t>
            </a:r>
            <a:endParaRPr lang="en-US" sz="1400" b="1" dirty="0">
              <a:solidFill>
                <a:schemeClr val="accent1">
                  <a:lumMod val="90000"/>
                  <a:lumOff val="10000"/>
                </a:schemeClr>
              </a:solidFill>
            </a:endParaRPr>
          </a:p>
        </p:txBody>
      </p:sp>
      <p:grpSp>
        <p:nvGrpSpPr>
          <p:cNvPr id="65" name="Group 64">
            <a:extLst>
              <a:ext uri="{FF2B5EF4-FFF2-40B4-BE49-F238E27FC236}">
                <a16:creationId xmlns:a16="http://schemas.microsoft.com/office/drawing/2014/main" id="{3B4663AA-0CF8-DB63-48F4-94E437880709}"/>
              </a:ext>
            </a:extLst>
          </p:cNvPr>
          <p:cNvGrpSpPr/>
          <p:nvPr/>
        </p:nvGrpSpPr>
        <p:grpSpPr>
          <a:xfrm>
            <a:off x="1291326" y="1861347"/>
            <a:ext cx="1068147" cy="986030"/>
            <a:chOff x="1319809" y="1914614"/>
            <a:chExt cx="1095162" cy="1021556"/>
          </a:xfrm>
        </p:grpSpPr>
        <p:sp>
          <p:nvSpPr>
            <p:cNvPr id="60" name="Arc 59">
              <a:extLst>
                <a:ext uri="{FF2B5EF4-FFF2-40B4-BE49-F238E27FC236}">
                  <a16:creationId xmlns:a16="http://schemas.microsoft.com/office/drawing/2014/main" id="{20453C5B-D56C-42EB-4E06-2300E24BC695}"/>
                </a:ext>
              </a:extLst>
            </p:cNvPr>
            <p:cNvSpPr/>
            <p:nvPr/>
          </p:nvSpPr>
          <p:spPr>
            <a:xfrm rot="19009266">
              <a:off x="1319809" y="1914614"/>
              <a:ext cx="1095162" cy="1021556"/>
            </a:xfrm>
            <a:prstGeom prst="arc">
              <a:avLst/>
            </a:pr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63" name="Freeform: Shape 62">
              <a:extLst>
                <a:ext uri="{FF2B5EF4-FFF2-40B4-BE49-F238E27FC236}">
                  <a16:creationId xmlns:a16="http://schemas.microsoft.com/office/drawing/2014/main" id="{488D4C08-2FE3-654D-1792-3A4BD72C5F3F}"/>
                </a:ext>
              </a:extLst>
            </p:cNvPr>
            <p:cNvSpPr/>
            <p:nvPr/>
          </p:nvSpPr>
          <p:spPr>
            <a:xfrm>
              <a:off x="2152992" y="1920056"/>
              <a:ext cx="195493" cy="175218"/>
            </a:xfrm>
            <a:custGeom>
              <a:avLst/>
              <a:gdLst>
                <a:gd name="connsiteX0" fmla="*/ 91440 w 195493"/>
                <a:gd name="connsiteY0" fmla="*/ 0 h 175218"/>
                <a:gd name="connsiteX1" fmla="*/ 193040 w 195493"/>
                <a:gd name="connsiteY1" fmla="*/ 162560 h 175218"/>
                <a:gd name="connsiteX2" fmla="*/ 0 w 195493"/>
                <a:gd name="connsiteY2" fmla="*/ 152400 h 175218"/>
              </a:gdLst>
              <a:ahLst/>
              <a:cxnLst>
                <a:cxn ang="0">
                  <a:pos x="connsiteX0" y="connsiteY0"/>
                </a:cxn>
                <a:cxn ang="0">
                  <a:pos x="connsiteX1" y="connsiteY1"/>
                </a:cxn>
                <a:cxn ang="0">
                  <a:pos x="connsiteX2" y="connsiteY2"/>
                </a:cxn>
              </a:cxnLst>
              <a:rect l="l" t="t" r="r" b="b"/>
              <a:pathLst>
                <a:path w="195493" h="175218">
                  <a:moveTo>
                    <a:pt x="91440" y="0"/>
                  </a:moveTo>
                  <a:cubicBezTo>
                    <a:pt x="149860" y="68580"/>
                    <a:pt x="208280" y="137160"/>
                    <a:pt x="193040" y="162560"/>
                  </a:cubicBezTo>
                  <a:cubicBezTo>
                    <a:pt x="177800" y="187960"/>
                    <a:pt x="88900" y="170180"/>
                    <a:pt x="0" y="152400"/>
                  </a:cubicBezTo>
                </a:path>
              </a:pathLst>
            </a:cu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grpSp>
      <p:sp>
        <p:nvSpPr>
          <p:cNvPr id="64" name="Arrow: Right 63">
            <a:extLst>
              <a:ext uri="{FF2B5EF4-FFF2-40B4-BE49-F238E27FC236}">
                <a16:creationId xmlns:a16="http://schemas.microsoft.com/office/drawing/2014/main" id="{85F5D75C-72A6-0BA7-7342-A30FE9266802}"/>
              </a:ext>
            </a:extLst>
          </p:cNvPr>
          <p:cNvSpPr/>
          <p:nvPr/>
        </p:nvSpPr>
        <p:spPr>
          <a:xfrm rot="16200000">
            <a:off x="5943240" y="2362815"/>
            <a:ext cx="421967" cy="173092"/>
          </a:xfrm>
          <a:prstGeom prst="rightArrow">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grpSp>
        <p:nvGrpSpPr>
          <p:cNvPr id="66" name="Group 65">
            <a:extLst>
              <a:ext uri="{FF2B5EF4-FFF2-40B4-BE49-F238E27FC236}">
                <a16:creationId xmlns:a16="http://schemas.microsoft.com/office/drawing/2014/main" id="{E3921FD8-BDE1-A9E9-7B4A-E074B1254282}"/>
              </a:ext>
            </a:extLst>
          </p:cNvPr>
          <p:cNvGrpSpPr/>
          <p:nvPr/>
        </p:nvGrpSpPr>
        <p:grpSpPr>
          <a:xfrm>
            <a:off x="2272309" y="1861347"/>
            <a:ext cx="1068147" cy="986030"/>
            <a:chOff x="1319809" y="1914614"/>
            <a:chExt cx="1095162" cy="1021556"/>
          </a:xfrm>
        </p:grpSpPr>
        <p:sp>
          <p:nvSpPr>
            <p:cNvPr id="67" name="Arc 66">
              <a:extLst>
                <a:ext uri="{FF2B5EF4-FFF2-40B4-BE49-F238E27FC236}">
                  <a16:creationId xmlns:a16="http://schemas.microsoft.com/office/drawing/2014/main" id="{BB8CD935-D6AA-DC0B-FE02-080C58804559}"/>
                </a:ext>
              </a:extLst>
            </p:cNvPr>
            <p:cNvSpPr/>
            <p:nvPr/>
          </p:nvSpPr>
          <p:spPr>
            <a:xfrm rot="19009266">
              <a:off x="1319809" y="1914614"/>
              <a:ext cx="1095162" cy="1021556"/>
            </a:xfrm>
            <a:prstGeom prst="arc">
              <a:avLst/>
            </a:pr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dirty="0"/>
            </a:p>
          </p:txBody>
        </p:sp>
        <p:sp>
          <p:nvSpPr>
            <p:cNvPr id="68" name="Freeform: Shape 67">
              <a:extLst>
                <a:ext uri="{FF2B5EF4-FFF2-40B4-BE49-F238E27FC236}">
                  <a16:creationId xmlns:a16="http://schemas.microsoft.com/office/drawing/2014/main" id="{9BDDF96D-9797-F790-F00D-69B7F2FE9982}"/>
                </a:ext>
              </a:extLst>
            </p:cNvPr>
            <p:cNvSpPr/>
            <p:nvPr/>
          </p:nvSpPr>
          <p:spPr>
            <a:xfrm>
              <a:off x="2152992" y="1920056"/>
              <a:ext cx="195493" cy="175218"/>
            </a:xfrm>
            <a:custGeom>
              <a:avLst/>
              <a:gdLst>
                <a:gd name="connsiteX0" fmla="*/ 91440 w 195493"/>
                <a:gd name="connsiteY0" fmla="*/ 0 h 175218"/>
                <a:gd name="connsiteX1" fmla="*/ 193040 w 195493"/>
                <a:gd name="connsiteY1" fmla="*/ 162560 h 175218"/>
                <a:gd name="connsiteX2" fmla="*/ 0 w 195493"/>
                <a:gd name="connsiteY2" fmla="*/ 152400 h 175218"/>
              </a:gdLst>
              <a:ahLst/>
              <a:cxnLst>
                <a:cxn ang="0">
                  <a:pos x="connsiteX0" y="connsiteY0"/>
                </a:cxn>
                <a:cxn ang="0">
                  <a:pos x="connsiteX1" y="connsiteY1"/>
                </a:cxn>
                <a:cxn ang="0">
                  <a:pos x="connsiteX2" y="connsiteY2"/>
                </a:cxn>
              </a:cxnLst>
              <a:rect l="l" t="t" r="r" b="b"/>
              <a:pathLst>
                <a:path w="195493" h="175218">
                  <a:moveTo>
                    <a:pt x="91440" y="0"/>
                  </a:moveTo>
                  <a:cubicBezTo>
                    <a:pt x="149860" y="68580"/>
                    <a:pt x="208280" y="137160"/>
                    <a:pt x="193040" y="162560"/>
                  </a:cubicBezTo>
                  <a:cubicBezTo>
                    <a:pt x="177800" y="187960"/>
                    <a:pt x="88900" y="170180"/>
                    <a:pt x="0" y="152400"/>
                  </a:cubicBezTo>
                </a:path>
              </a:pathLst>
            </a:cu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grpSp>
      <p:sp>
        <p:nvSpPr>
          <p:cNvPr id="69" name="Arrow: Right 68">
            <a:extLst>
              <a:ext uri="{FF2B5EF4-FFF2-40B4-BE49-F238E27FC236}">
                <a16:creationId xmlns:a16="http://schemas.microsoft.com/office/drawing/2014/main" id="{FB23319A-DC8A-BAC0-4F7A-97A1751D3824}"/>
              </a:ext>
            </a:extLst>
          </p:cNvPr>
          <p:cNvSpPr/>
          <p:nvPr/>
        </p:nvSpPr>
        <p:spPr>
          <a:xfrm rot="16200000">
            <a:off x="6024137" y="2231259"/>
            <a:ext cx="707408" cy="173094"/>
          </a:xfrm>
          <a:prstGeom prst="rightArrow">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 name="Rectangle: Rounded Corners 6">
            <a:extLst>
              <a:ext uri="{FF2B5EF4-FFF2-40B4-BE49-F238E27FC236}">
                <a16:creationId xmlns:a16="http://schemas.microsoft.com/office/drawing/2014/main" id="{ABD3E350-85F3-FFA2-7F00-36A7B968B097}"/>
              </a:ext>
            </a:extLst>
          </p:cNvPr>
          <p:cNvSpPr/>
          <p:nvPr/>
        </p:nvSpPr>
        <p:spPr>
          <a:xfrm>
            <a:off x="3687899" y="2327382"/>
            <a:ext cx="3065586" cy="1622897"/>
          </a:xfrm>
          <a:prstGeom prst="roundRect">
            <a:avLst>
              <a:gd name="adj" fmla="val 10065"/>
            </a:avLst>
          </a:prstGeom>
          <a:solidFill>
            <a:schemeClr val="accent6">
              <a:lumMod val="20000"/>
              <a:lumOff val="80000"/>
              <a:alpha val="47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pic>
        <p:nvPicPr>
          <p:cNvPr id="74" name="Picture 73">
            <a:extLst>
              <a:ext uri="{FF2B5EF4-FFF2-40B4-BE49-F238E27FC236}">
                <a16:creationId xmlns:a16="http://schemas.microsoft.com/office/drawing/2014/main" id="{06DC3A95-F9C2-012F-7D29-A5EAD6531718}"/>
              </a:ext>
            </a:extLst>
          </p:cNvPr>
          <p:cNvPicPr>
            <a:picLocks noChangeAspect="1"/>
          </p:cNvPicPr>
          <p:nvPr/>
        </p:nvPicPr>
        <p:blipFill>
          <a:blip r:embed="rId4"/>
          <a:stretch>
            <a:fillRect/>
          </a:stretch>
        </p:blipFill>
        <p:spPr>
          <a:xfrm>
            <a:off x="7470393" y="1415273"/>
            <a:ext cx="4218765" cy="4241756"/>
          </a:xfrm>
          <a:prstGeom prst="rect">
            <a:avLst/>
          </a:prstGeom>
        </p:spPr>
      </p:pic>
      <p:sp>
        <p:nvSpPr>
          <p:cNvPr id="75" name="Oval 74">
            <a:extLst>
              <a:ext uri="{FF2B5EF4-FFF2-40B4-BE49-F238E27FC236}">
                <a16:creationId xmlns:a16="http://schemas.microsoft.com/office/drawing/2014/main" id="{E7918219-D8C7-81EB-F1E4-4498501BAE1C}"/>
              </a:ext>
            </a:extLst>
          </p:cNvPr>
          <p:cNvSpPr/>
          <p:nvPr/>
        </p:nvSpPr>
        <p:spPr>
          <a:xfrm>
            <a:off x="9123923" y="2939223"/>
            <a:ext cx="114370" cy="108585"/>
          </a:xfrm>
          <a:prstGeom prst="ellipse">
            <a:avLst/>
          </a:prstGeom>
          <a:solidFill>
            <a:srgbClr val="C00000"/>
          </a:solidFill>
          <a:l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6" name="Oval 75">
            <a:extLst>
              <a:ext uri="{FF2B5EF4-FFF2-40B4-BE49-F238E27FC236}">
                <a16:creationId xmlns:a16="http://schemas.microsoft.com/office/drawing/2014/main" id="{54F915B8-73D7-F8C6-61CD-B429BBB72DA8}"/>
              </a:ext>
            </a:extLst>
          </p:cNvPr>
          <p:cNvSpPr/>
          <p:nvPr/>
        </p:nvSpPr>
        <p:spPr>
          <a:xfrm>
            <a:off x="9123923" y="2730387"/>
            <a:ext cx="114370" cy="108585"/>
          </a:xfrm>
          <a:prstGeom prst="ellipse">
            <a:avLst/>
          </a:prstGeom>
          <a:solidFill>
            <a:srgbClr val="C00000"/>
          </a:solidFill>
          <a:l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77" name="Oval 76">
            <a:extLst>
              <a:ext uri="{FF2B5EF4-FFF2-40B4-BE49-F238E27FC236}">
                <a16:creationId xmlns:a16="http://schemas.microsoft.com/office/drawing/2014/main" id="{D49D6EE5-D3D2-BA3D-4E8F-F77F8528A8BB}"/>
              </a:ext>
            </a:extLst>
          </p:cNvPr>
          <p:cNvSpPr/>
          <p:nvPr/>
        </p:nvSpPr>
        <p:spPr>
          <a:xfrm>
            <a:off x="9116591" y="2223836"/>
            <a:ext cx="114370" cy="108585"/>
          </a:xfrm>
          <a:prstGeom prst="ellipse">
            <a:avLst/>
          </a:prstGeom>
          <a:solidFill>
            <a:srgbClr val="C00000"/>
          </a:solidFill>
          <a:l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cxnSp>
        <p:nvCxnSpPr>
          <p:cNvPr id="78" name="Straight Connector 77">
            <a:extLst>
              <a:ext uri="{FF2B5EF4-FFF2-40B4-BE49-F238E27FC236}">
                <a16:creationId xmlns:a16="http://schemas.microsoft.com/office/drawing/2014/main" id="{28B7699D-308A-081D-6311-DAB9C473E028}"/>
              </a:ext>
            </a:extLst>
          </p:cNvPr>
          <p:cNvCxnSpPr>
            <a:cxnSpLocks/>
          </p:cNvCxnSpPr>
          <p:nvPr/>
        </p:nvCxnSpPr>
        <p:spPr>
          <a:xfrm>
            <a:off x="8108324" y="2563051"/>
            <a:ext cx="1046367" cy="1"/>
          </a:xfrm>
          <a:prstGeom prst="line">
            <a:avLst/>
          </a:prstGeom>
          <a:ln w="19050">
            <a:solidFill>
              <a:srgbClr val="C0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FF3A5C64-05ED-3AEB-8186-771CEF5F9D80}"/>
              </a:ext>
            </a:extLst>
          </p:cNvPr>
          <p:cNvCxnSpPr>
            <a:cxnSpLocks/>
          </p:cNvCxnSpPr>
          <p:nvPr/>
        </p:nvCxnSpPr>
        <p:spPr>
          <a:xfrm>
            <a:off x="8119533" y="2980821"/>
            <a:ext cx="1111428" cy="12694"/>
          </a:xfrm>
          <a:prstGeom prst="line">
            <a:avLst/>
          </a:prstGeom>
          <a:ln w="19050">
            <a:solidFill>
              <a:srgbClr val="C0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C6862DB1-30C3-E90E-EAA9-6E57336286A5}"/>
              </a:ext>
            </a:extLst>
          </p:cNvPr>
          <p:cNvCxnSpPr>
            <a:cxnSpLocks/>
          </p:cNvCxnSpPr>
          <p:nvPr/>
        </p:nvCxnSpPr>
        <p:spPr>
          <a:xfrm>
            <a:off x="8119533" y="2278128"/>
            <a:ext cx="1086628" cy="6756"/>
          </a:xfrm>
          <a:prstGeom prst="line">
            <a:avLst/>
          </a:prstGeom>
          <a:ln w="19050">
            <a:solidFill>
              <a:srgbClr val="C00000"/>
            </a:solidFill>
            <a:prstDash val="dash"/>
          </a:ln>
          <a:effectLst/>
        </p:spPr>
        <p:style>
          <a:lnRef idx="2">
            <a:schemeClr val="accent1"/>
          </a:lnRef>
          <a:fillRef idx="0">
            <a:schemeClr val="accent1"/>
          </a:fillRef>
          <a:effectRef idx="1">
            <a:schemeClr val="accent1"/>
          </a:effectRef>
          <a:fontRef idx="minor">
            <a:schemeClr val="tx1"/>
          </a:fontRef>
        </p:style>
      </p:cxnSp>
      <p:sp>
        <p:nvSpPr>
          <p:cNvPr id="81" name="Oval 80">
            <a:extLst>
              <a:ext uri="{FF2B5EF4-FFF2-40B4-BE49-F238E27FC236}">
                <a16:creationId xmlns:a16="http://schemas.microsoft.com/office/drawing/2014/main" id="{B0FECF02-15F2-2CE0-D313-4346E504334B}"/>
              </a:ext>
            </a:extLst>
          </p:cNvPr>
          <p:cNvSpPr/>
          <p:nvPr/>
        </p:nvSpPr>
        <p:spPr>
          <a:xfrm>
            <a:off x="9114329" y="2508760"/>
            <a:ext cx="114370" cy="108585"/>
          </a:xfrm>
          <a:prstGeom prst="ellipse">
            <a:avLst/>
          </a:prstGeom>
          <a:solidFill>
            <a:srgbClr val="C00000"/>
          </a:solidFill>
          <a:ln>
            <a:solidFill>
              <a:srgbClr val="C0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cxnSp>
        <p:nvCxnSpPr>
          <p:cNvPr id="82" name="Straight Connector 81">
            <a:extLst>
              <a:ext uri="{FF2B5EF4-FFF2-40B4-BE49-F238E27FC236}">
                <a16:creationId xmlns:a16="http://schemas.microsoft.com/office/drawing/2014/main" id="{95AA9B7C-2505-99CE-FC01-DB8DA918B29C}"/>
              </a:ext>
            </a:extLst>
          </p:cNvPr>
          <p:cNvCxnSpPr>
            <a:cxnSpLocks/>
          </p:cNvCxnSpPr>
          <p:nvPr/>
        </p:nvCxnSpPr>
        <p:spPr>
          <a:xfrm>
            <a:off x="8119533" y="2759194"/>
            <a:ext cx="1051981" cy="13610"/>
          </a:xfrm>
          <a:prstGeom prst="line">
            <a:avLst/>
          </a:prstGeom>
          <a:ln w="19050">
            <a:solidFill>
              <a:srgbClr val="C0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546D956D-F2E0-6CA7-18BF-6819E92C5350}"/>
              </a:ext>
            </a:extLst>
          </p:cNvPr>
          <p:cNvCxnSpPr>
            <a:cxnSpLocks/>
            <a:stCxn id="77" idx="4"/>
            <a:endCxn id="81" idx="0"/>
          </p:cNvCxnSpPr>
          <p:nvPr/>
        </p:nvCxnSpPr>
        <p:spPr>
          <a:xfrm flipH="1">
            <a:off x="9171514" y="2332421"/>
            <a:ext cx="2262" cy="176339"/>
          </a:xfrm>
          <a:prstGeom prst="straightConnector1">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1455FDA-B4A6-4876-4B87-C9B7670D62EC}"/>
              </a:ext>
            </a:extLst>
          </p:cNvPr>
          <p:cNvCxnSpPr>
            <a:cxnSpLocks/>
            <a:endCxn id="76" idx="0"/>
          </p:cNvCxnSpPr>
          <p:nvPr/>
        </p:nvCxnSpPr>
        <p:spPr>
          <a:xfrm>
            <a:off x="9181108" y="2642373"/>
            <a:ext cx="0" cy="88014"/>
          </a:xfrm>
          <a:prstGeom prst="straightConnector1">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F97B219-2BB8-ADA9-1CBD-C8167555FFCB}"/>
              </a:ext>
            </a:extLst>
          </p:cNvPr>
          <p:cNvCxnSpPr>
            <a:cxnSpLocks/>
            <a:stCxn id="76" idx="4"/>
            <a:endCxn id="75" idx="0"/>
          </p:cNvCxnSpPr>
          <p:nvPr/>
        </p:nvCxnSpPr>
        <p:spPr>
          <a:xfrm>
            <a:off x="9181108" y="2838972"/>
            <a:ext cx="0" cy="100251"/>
          </a:xfrm>
          <a:prstGeom prst="straightConnector1">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829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indefinite" fill="remove" grpId="0" nodeType="clickEffect">
                                  <p:stCondLst>
                                    <p:cond delay="0"/>
                                  </p:stCondLst>
                                  <p:childTnLst>
                                    <p:animClr clrSpc="rgb" dir="cw">
                                      <p:cBhvr override="childStyle">
                                        <p:cTn id="6" dur="1500" autoRev="1" fill="remove"/>
                                        <p:tgtEl>
                                          <p:spTgt spid="7"/>
                                        </p:tgtEl>
                                        <p:attrNameLst>
                                          <p:attrName>style.color</p:attrName>
                                        </p:attrNameLst>
                                      </p:cBhvr>
                                      <p:to>
                                        <a:srgbClr val="FF6969"/>
                                      </p:to>
                                    </p:animClr>
                                    <p:animClr clrSpc="rgb" dir="cw">
                                      <p:cBhvr>
                                        <p:cTn id="7" dur="1500" autoRev="1" fill="remove"/>
                                        <p:tgtEl>
                                          <p:spTgt spid="7"/>
                                        </p:tgtEl>
                                        <p:attrNameLst>
                                          <p:attrName>fillcolor</p:attrName>
                                        </p:attrNameLst>
                                      </p:cBhvr>
                                      <p:to>
                                        <a:srgbClr val="FF6969"/>
                                      </p:to>
                                    </p:animClr>
                                    <p:set>
                                      <p:cBhvr>
                                        <p:cTn id="8" dur="1500" autoRev="1" fill="remove"/>
                                        <p:tgtEl>
                                          <p:spTgt spid="7"/>
                                        </p:tgtEl>
                                        <p:attrNameLst>
                                          <p:attrName>fill.type</p:attrName>
                                        </p:attrNameLst>
                                      </p:cBhvr>
                                      <p:to>
                                        <p:strVal val="solid"/>
                                      </p:to>
                                    </p:set>
                                    <p:set>
                                      <p:cBhvr>
                                        <p:cTn id="9" dur="1500" autoRev="1" fill="remove"/>
                                        <p:tgtEl>
                                          <p:spTgt spid="7"/>
                                        </p:tgtEl>
                                        <p:attrNameLst>
                                          <p:attrName>fill.on</p:attrName>
                                        </p:attrNameLst>
                                      </p:cBhvr>
                                      <p:to>
                                        <p:strVal val="true"/>
                                      </p:to>
                                    </p:set>
                                  </p:childTnLst>
                                </p:cTn>
                              </p:par>
                              <p:par>
                                <p:cTn id="10" presetID="6" presetClass="emph" presetSubtype="0" repeatCount="indefinite" autoRev="1" fill="hold" grpId="1" nodeType="withEffect">
                                  <p:stCondLst>
                                    <p:cond delay="0"/>
                                  </p:stCondLst>
                                  <p:childTnLst>
                                    <p:animScale>
                                      <p:cBhvr>
                                        <p:cTn id="11" dur="1500" fill="hold"/>
                                        <p:tgtEl>
                                          <p:spTgt spid="7"/>
                                        </p:tgtEl>
                                      </p:cBhvr>
                                      <p:by x="110000" y="110000"/>
                                    </p:animScale>
                                  </p:childTnLst>
                                </p:cTn>
                              </p:par>
                              <p:par>
                                <p:cTn id="12" presetID="10" presetClass="entr" presetSubtype="0" fill="hold"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fade">
                                      <p:cBhvr>
                                        <p:cTn id="14" dur="1000"/>
                                        <p:tgtEl>
                                          <p:spTgt spid="6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1000"/>
                                        <p:tgtEl>
                                          <p:spTgt spid="64"/>
                                        </p:tgtEl>
                                      </p:cBhvr>
                                    </p:animEffect>
                                  </p:childTnLst>
                                </p:cTn>
                              </p:par>
                              <p:par>
                                <p:cTn id="18" presetID="10" presetClass="entr" presetSubtype="0" fill="hold" nodeType="withEffect">
                                  <p:stCondLst>
                                    <p:cond delay="0"/>
                                  </p:stCondLst>
                                  <p:childTnLst>
                                    <p:set>
                                      <p:cBhvr>
                                        <p:cTn id="19" dur="1" fill="hold">
                                          <p:stCondLst>
                                            <p:cond delay="0"/>
                                          </p:stCondLst>
                                        </p:cTn>
                                        <p:tgtEl>
                                          <p:spTgt spid="83"/>
                                        </p:tgtEl>
                                        <p:attrNameLst>
                                          <p:attrName>style.visibility</p:attrName>
                                        </p:attrNameLst>
                                      </p:cBhvr>
                                      <p:to>
                                        <p:strVal val="visible"/>
                                      </p:to>
                                    </p:set>
                                    <p:animEffect transition="in" filter="fade">
                                      <p:cBhvr>
                                        <p:cTn id="20" dur="1000"/>
                                        <p:tgtEl>
                                          <p:spTgt spid="83"/>
                                        </p:tgtEl>
                                      </p:cBhvr>
                                    </p:animEffect>
                                  </p:childTnLst>
                                </p:cTn>
                              </p:par>
                              <p:par>
                                <p:cTn id="21" presetID="10" presetClass="entr" presetSubtype="0" fill="hold" nodeType="withEffect">
                                  <p:stCondLst>
                                    <p:cond delay="150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1000"/>
                                        <p:tgtEl>
                                          <p:spTgt spid="66"/>
                                        </p:tgtEl>
                                      </p:cBhvr>
                                    </p:animEffect>
                                  </p:childTnLst>
                                </p:cTn>
                              </p:par>
                              <p:par>
                                <p:cTn id="24" presetID="10" presetClass="entr" presetSubtype="0" fill="hold" grpId="0" nodeType="withEffect">
                                  <p:stCondLst>
                                    <p:cond delay="150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1000"/>
                                        <p:tgtEl>
                                          <p:spTgt spid="69"/>
                                        </p:tgtEl>
                                      </p:cBhvr>
                                    </p:animEffect>
                                  </p:childTnLst>
                                </p:cTn>
                              </p:par>
                              <p:par>
                                <p:cTn id="27" presetID="10" presetClass="entr" presetSubtype="0" fill="hold" nodeType="withEffect">
                                  <p:stCondLst>
                                    <p:cond delay="1500"/>
                                  </p:stCondLst>
                                  <p:childTnLst>
                                    <p:set>
                                      <p:cBhvr>
                                        <p:cTn id="28" dur="1" fill="hold">
                                          <p:stCondLst>
                                            <p:cond delay="0"/>
                                          </p:stCondLst>
                                        </p:cTn>
                                        <p:tgtEl>
                                          <p:spTgt spid="84"/>
                                        </p:tgtEl>
                                        <p:attrNameLst>
                                          <p:attrName>style.visibility</p:attrName>
                                        </p:attrNameLst>
                                      </p:cBhvr>
                                      <p:to>
                                        <p:strVal val="visible"/>
                                      </p:to>
                                    </p:set>
                                    <p:animEffect transition="in" filter="fade">
                                      <p:cBhvr>
                                        <p:cTn id="29" dur="1000"/>
                                        <p:tgtEl>
                                          <p:spTgt spid="84"/>
                                        </p:tgtEl>
                                      </p:cBhvr>
                                    </p:animEffect>
                                  </p:childTnLst>
                                </p:cTn>
                              </p:par>
                              <p:par>
                                <p:cTn id="30" presetID="10" presetClass="entr" presetSubtype="0" fill="hold" nodeType="withEffect">
                                  <p:stCondLst>
                                    <p:cond delay="150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1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9" grpId="0" animBg="1"/>
      <p:bldP spid="7" grpId="0" animBg="1"/>
      <p:bldP spid="7"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B7CD29-95D7-37A6-CE21-27BABBDFC687}"/>
              </a:ext>
            </a:extLst>
          </p:cNvPr>
          <p:cNvSpPr>
            <a:spLocks noGrp="1"/>
          </p:cNvSpPr>
          <p:nvPr>
            <p:ph idx="1"/>
          </p:nvPr>
        </p:nvSpPr>
        <p:spPr>
          <a:xfrm>
            <a:off x="355601" y="1705429"/>
            <a:ext cx="5557837" cy="4667408"/>
          </a:xfrm>
        </p:spPr>
        <p:txBody>
          <a:bodyPr/>
          <a:lstStyle/>
          <a:p>
            <a:r>
              <a:rPr lang="en-US" dirty="0"/>
              <a:t>Direct/PPS/Fast Charging</a:t>
            </a:r>
          </a:p>
        </p:txBody>
      </p:sp>
      <p:sp>
        <p:nvSpPr>
          <p:cNvPr id="3" name="Footer Placeholder 3">
            <a:extLst>
              <a:ext uri="{FF2B5EF4-FFF2-40B4-BE49-F238E27FC236}">
                <a16:creationId xmlns:a16="http://schemas.microsoft.com/office/drawing/2014/main" id="{338D34E0-36D4-DA25-8FE3-8113A9F68715}"/>
              </a:ext>
            </a:extLst>
          </p:cNvPr>
          <p:cNvSpPr>
            <a:spLocks noGrp="1"/>
          </p:cNvSpPr>
          <p:nvPr>
            <p:ph type="ftr" sz="quarter" idx="11"/>
          </p:nvPr>
        </p:nvSpPr>
        <p:spPr>
          <a:xfrm>
            <a:off x="342900" y="6616018"/>
            <a:ext cx="7545737" cy="251230"/>
          </a:xfrm>
        </p:spPr>
        <p:txBody>
          <a:bodyPr/>
          <a:lstStyle/>
          <a:p>
            <a:r>
              <a:rPr lang="en-US" dirty="0">
                <a:solidFill>
                  <a:schemeClr val="bg1"/>
                </a:solidFill>
              </a:rPr>
              <a:t>Analog Devices Confidential Information—Not for External Distribution. ©2024 Analog Devices, Inc. All Rights Reserved.</a:t>
            </a:r>
          </a:p>
        </p:txBody>
      </p:sp>
      <p:sp>
        <p:nvSpPr>
          <p:cNvPr id="7" name="Date Placeholder 5">
            <a:extLst>
              <a:ext uri="{FF2B5EF4-FFF2-40B4-BE49-F238E27FC236}">
                <a16:creationId xmlns:a16="http://schemas.microsoft.com/office/drawing/2014/main" id="{E275F7DA-C2BB-A22B-440B-7208A74E9204}"/>
              </a:ext>
            </a:extLst>
          </p:cNvPr>
          <p:cNvSpPr>
            <a:spLocks noGrp="1"/>
          </p:cNvSpPr>
          <p:nvPr>
            <p:ph type="dt" sz="half" idx="10"/>
          </p:nvPr>
        </p:nvSpPr>
        <p:spPr>
          <a:xfrm>
            <a:off x="7888637" y="6599019"/>
            <a:ext cx="2741264" cy="251229"/>
          </a:xfrm>
        </p:spPr>
        <p:txBody>
          <a:bodyPr/>
          <a:lstStyle/>
          <a:p>
            <a:r>
              <a:rPr lang="en-US"/>
              <a:t>FTC | Orlando, FL | November 4-8, 2024</a:t>
            </a:r>
            <a:endParaRPr lang="en-US" dirty="0"/>
          </a:p>
        </p:txBody>
      </p:sp>
    </p:spTree>
    <p:custDataLst>
      <p:tags r:id="rId1"/>
    </p:custDataLst>
    <p:extLst>
      <p:ext uri="{BB962C8B-B14F-4D97-AF65-F5344CB8AC3E}">
        <p14:creationId xmlns:p14="http://schemas.microsoft.com/office/powerpoint/2010/main" val="402802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a:t>What is Programmable Power Supply (PPS)?</a:t>
            </a:r>
            <a:endParaRPr lang="en-US" dirty="0"/>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19</a:t>
            </a:fld>
            <a:endParaRPr lang="en-US" dirty="0"/>
          </a:p>
        </p:txBody>
      </p:sp>
      <p:grpSp>
        <p:nvGrpSpPr>
          <p:cNvPr id="22" name="Group 21">
            <a:extLst>
              <a:ext uri="{FF2B5EF4-FFF2-40B4-BE49-F238E27FC236}">
                <a16:creationId xmlns:a16="http://schemas.microsoft.com/office/drawing/2014/main" id="{1B9C8A74-F81A-9B02-296C-128335F66D46}"/>
              </a:ext>
            </a:extLst>
          </p:cNvPr>
          <p:cNvGrpSpPr/>
          <p:nvPr/>
        </p:nvGrpSpPr>
        <p:grpSpPr>
          <a:xfrm>
            <a:off x="7061086" y="1097310"/>
            <a:ext cx="4220054" cy="1932789"/>
            <a:chOff x="7056665" y="1045081"/>
            <a:chExt cx="4724400" cy="2221359"/>
          </a:xfrm>
        </p:grpSpPr>
        <p:sp>
          <p:nvSpPr>
            <p:cNvPr id="8" name="Rectangle 7">
              <a:extLst>
                <a:ext uri="{FF2B5EF4-FFF2-40B4-BE49-F238E27FC236}">
                  <a16:creationId xmlns:a16="http://schemas.microsoft.com/office/drawing/2014/main" id="{22053376-A82F-1113-095A-F79DB045D39A}"/>
                </a:ext>
              </a:extLst>
            </p:cNvPr>
            <p:cNvSpPr/>
            <p:nvPr/>
          </p:nvSpPr>
          <p:spPr>
            <a:xfrm>
              <a:off x="10084345" y="1066800"/>
              <a:ext cx="1696720" cy="2199640"/>
            </a:xfrm>
            <a:prstGeom prst="rect">
              <a:avLst/>
            </a:prstGeom>
            <a:solidFill>
              <a:schemeClr val="accent1">
                <a:lumMod val="10000"/>
                <a:lumOff val="90000"/>
              </a:schemeClr>
            </a:solidFill>
            <a:ln w="1905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spcBef>
                  <a:spcPts val="600"/>
                </a:spcBef>
                <a:spcAft>
                  <a:spcPts val="800"/>
                </a:spcAft>
                <a:buClr>
                  <a:schemeClr val="accent1"/>
                </a:buClr>
                <a:buSzPct val="70000"/>
              </a:pPr>
              <a:r>
                <a:rPr lang="en-US" b="1" dirty="0">
                  <a:solidFill>
                    <a:srgbClr val="000000"/>
                  </a:solidFill>
                  <a:latin typeface="Barlow" pitchFamily="2" charset="77"/>
                  <a:cs typeface="Arial" panose="020B0604020202020204" pitchFamily="34" charset="0"/>
                </a:rPr>
                <a:t>Sink</a:t>
              </a:r>
            </a:p>
          </p:txBody>
        </p:sp>
        <p:sp>
          <p:nvSpPr>
            <p:cNvPr id="9" name="Rectangle 8">
              <a:extLst>
                <a:ext uri="{FF2B5EF4-FFF2-40B4-BE49-F238E27FC236}">
                  <a16:creationId xmlns:a16="http://schemas.microsoft.com/office/drawing/2014/main" id="{A5BF7967-9396-DCDB-5096-371F38EF121E}"/>
                </a:ext>
              </a:extLst>
            </p:cNvPr>
            <p:cNvSpPr/>
            <p:nvPr/>
          </p:nvSpPr>
          <p:spPr>
            <a:xfrm>
              <a:off x="7056665" y="1066800"/>
              <a:ext cx="1696720" cy="2199640"/>
            </a:xfrm>
            <a:prstGeom prst="rect">
              <a:avLst/>
            </a:prstGeom>
            <a:solidFill>
              <a:schemeClr val="bg1"/>
            </a:solidFill>
            <a:ln w="1905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spcBef>
                  <a:spcPts val="600"/>
                </a:spcBef>
                <a:spcAft>
                  <a:spcPts val="800"/>
                </a:spcAft>
                <a:buClr>
                  <a:schemeClr val="accent1"/>
                </a:buClr>
                <a:buSzPct val="70000"/>
              </a:pPr>
              <a:r>
                <a:rPr lang="en-US" b="1" dirty="0">
                  <a:solidFill>
                    <a:srgbClr val="000000"/>
                  </a:solidFill>
                  <a:latin typeface="Barlow" pitchFamily="2" charset="77"/>
                  <a:cs typeface="Arial" panose="020B0604020202020204" pitchFamily="34" charset="0"/>
                </a:rPr>
                <a:t>Source</a:t>
              </a:r>
            </a:p>
          </p:txBody>
        </p:sp>
        <p:cxnSp>
          <p:nvCxnSpPr>
            <p:cNvPr id="11" name="Straight Arrow Connector 10">
              <a:extLst>
                <a:ext uri="{FF2B5EF4-FFF2-40B4-BE49-F238E27FC236}">
                  <a16:creationId xmlns:a16="http://schemas.microsoft.com/office/drawing/2014/main" id="{EBE1D07D-577C-76A3-825C-7920387E25F8}"/>
                </a:ext>
              </a:extLst>
            </p:cNvPr>
            <p:cNvCxnSpPr>
              <a:cxnSpLocks/>
            </p:cNvCxnSpPr>
            <p:nvPr/>
          </p:nvCxnSpPr>
          <p:spPr>
            <a:xfrm>
              <a:off x="8753385" y="1351280"/>
              <a:ext cx="1330960" cy="0"/>
            </a:xfrm>
            <a:prstGeom prst="straightConnector1">
              <a:avLst/>
            </a:prstGeom>
            <a:ln w="19050">
              <a:solidFill>
                <a:schemeClr val="tx2">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45B509F-F8EE-A7FB-84D8-3392692D8C06}"/>
                </a:ext>
              </a:extLst>
            </p:cNvPr>
            <p:cNvSpPr txBox="1"/>
            <p:nvPr/>
          </p:nvSpPr>
          <p:spPr>
            <a:xfrm>
              <a:off x="9083418" y="1045081"/>
              <a:ext cx="914400" cy="914399"/>
            </a:xfrm>
            <a:prstGeom prst="rect">
              <a:avLst/>
            </a:prstGeom>
          </p:spPr>
          <p:txBody>
            <a:bodyPr vert="horz" wrap="none" lIns="0" tIns="0" rIns="0" bIns="0" rtlCol="0" anchor="t" anchorCtr="0">
              <a:normAutofit/>
            </a:bodyPr>
            <a:lstStyle/>
            <a:p>
              <a:pPr algn="l"/>
              <a:r>
                <a:rPr lang="en-US" sz="1600" b="1" dirty="0">
                  <a:solidFill>
                    <a:schemeClr val="tx2">
                      <a:lumMod val="50000"/>
                    </a:schemeClr>
                  </a:solidFill>
                </a:rPr>
                <a:t>VBUS</a:t>
              </a:r>
            </a:p>
          </p:txBody>
        </p:sp>
        <p:cxnSp>
          <p:nvCxnSpPr>
            <p:cNvPr id="16" name="Straight Arrow Connector 15">
              <a:extLst>
                <a:ext uri="{FF2B5EF4-FFF2-40B4-BE49-F238E27FC236}">
                  <a16:creationId xmlns:a16="http://schemas.microsoft.com/office/drawing/2014/main" id="{92D7C06A-14F8-F10C-356C-6792B5D9531B}"/>
                </a:ext>
              </a:extLst>
            </p:cNvPr>
            <p:cNvCxnSpPr>
              <a:cxnSpLocks/>
            </p:cNvCxnSpPr>
            <p:nvPr/>
          </p:nvCxnSpPr>
          <p:spPr>
            <a:xfrm>
              <a:off x="8753385" y="2166620"/>
              <a:ext cx="1330960" cy="0"/>
            </a:xfrm>
            <a:prstGeom prst="straightConnector1">
              <a:avLst/>
            </a:prstGeom>
            <a:ln w="19050">
              <a:solidFill>
                <a:srgbClr val="8A2683"/>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FF58FE8-38FB-4540-DAA7-92513EBABE2C}"/>
                </a:ext>
              </a:extLst>
            </p:cNvPr>
            <p:cNvCxnSpPr>
              <a:cxnSpLocks/>
            </p:cNvCxnSpPr>
            <p:nvPr/>
          </p:nvCxnSpPr>
          <p:spPr>
            <a:xfrm>
              <a:off x="8753385" y="2491740"/>
              <a:ext cx="1330960" cy="0"/>
            </a:xfrm>
            <a:prstGeom prst="straightConnector1">
              <a:avLst/>
            </a:prstGeom>
            <a:ln w="19050">
              <a:solidFill>
                <a:srgbClr val="8A2683"/>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A35E821-CEC1-6259-C7CB-480B59080CE8}"/>
                </a:ext>
              </a:extLst>
            </p:cNvPr>
            <p:cNvSpPr txBox="1"/>
            <p:nvPr/>
          </p:nvSpPr>
          <p:spPr>
            <a:xfrm>
              <a:off x="8996890" y="1808479"/>
              <a:ext cx="914400" cy="914399"/>
            </a:xfrm>
            <a:prstGeom prst="rect">
              <a:avLst/>
            </a:prstGeom>
          </p:spPr>
          <p:txBody>
            <a:bodyPr vert="horz" wrap="none" lIns="0" tIns="0" rIns="0" bIns="0" rtlCol="0" anchor="t" anchorCtr="0">
              <a:normAutofit/>
            </a:bodyPr>
            <a:lstStyle/>
            <a:p>
              <a:pPr algn="l"/>
              <a:r>
                <a:rPr lang="en-US" sz="1600" b="1" dirty="0">
                  <a:solidFill>
                    <a:srgbClr val="8A2683"/>
                  </a:solidFill>
                </a:rPr>
                <a:t>CC pins</a:t>
              </a:r>
            </a:p>
          </p:txBody>
        </p:sp>
      </p:grpSp>
      <p:grpSp>
        <p:nvGrpSpPr>
          <p:cNvPr id="36" name="Group 35">
            <a:extLst>
              <a:ext uri="{FF2B5EF4-FFF2-40B4-BE49-F238E27FC236}">
                <a16:creationId xmlns:a16="http://schemas.microsoft.com/office/drawing/2014/main" id="{7009A30F-7F0A-2B57-82CA-1947FEF581D8}"/>
              </a:ext>
            </a:extLst>
          </p:cNvPr>
          <p:cNvGrpSpPr/>
          <p:nvPr/>
        </p:nvGrpSpPr>
        <p:grpSpPr>
          <a:xfrm>
            <a:off x="6839929" y="3124992"/>
            <a:ext cx="4453105" cy="3195614"/>
            <a:chOff x="5929477" y="3120066"/>
            <a:chExt cx="4858266" cy="3345837"/>
          </a:xfrm>
        </p:grpSpPr>
        <p:grpSp>
          <p:nvGrpSpPr>
            <p:cNvPr id="33" name="Group 32">
              <a:extLst>
                <a:ext uri="{FF2B5EF4-FFF2-40B4-BE49-F238E27FC236}">
                  <a16:creationId xmlns:a16="http://schemas.microsoft.com/office/drawing/2014/main" id="{9BF3F6A1-779A-4F74-9D7A-C314FBF068C3}"/>
                </a:ext>
              </a:extLst>
            </p:cNvPr>
            <p:cNvGrpSpPr/>
            <p:nvPr/>
          </p:nvGrpSpPr>
          <p:grpSpPr>
            <a:xfrm>
              <a:off x="7047870" y="3120066"/>
              <a:ext cx="3739873" cy="3345837"/>
              <a:chOff x="7047870" y="3120066"/>
              <a:chExt cx="3739873" cy="3345837"/>
            </a:xfrm>
          </p:grpSpPr>
          <p:pic>
            <p:nvPicPr>
              <p:cNvPr id="10" name="Picture 9" descr="A graph showing a graph&#10;&#10;Description automatically generated with medium confidence">
                <a:extLst>
                  <a:ext uri="{FF2B5EF4-FFF2-40B4-BE49-F238E27FC236}">
                    <a16:creationId xmlns:a16="http://schemas.microsoft.com/office/drawing/2014/main" id="{D21CA8CE-D8A6-86E7-5194-790A82AD1C9E}"/>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7058756" y="3120066"/>
                <a:ext cx="3728987" cy="3345837"/>
              </a:xfrm>
              <a:prstGeom prst="rect">
                <a:avLst/>
              </a:prstGeom>
            </p:spPr>
          </p:pic>
          <p:sp>
            <p:nvSpPr>
              <p:cNvPr id="14" name="TextBox 13">
                <a:extLst>
                  <a:ext uri="{FF2B5EF4-FFF2-40B4-BE49-F238E27FC236}">
                    <a16:creationId xmlns:a16="http://schemas.microsoft.com/office/drawing/2014/main" id="{260FBED9-36AF-4EEA-1944-E0C8D6A10DF3}"/>
                  </a:ext>
                </a:extLst>
              </p:cNvPr>
              <p:cNvSpPr txBox="1"/>
              <p:nvPr/>
            </p:nvSpPr>
            <p:spPr>
              <a:xfrm>
                <a:off x="8533364" y="4335295"/>
                <a:ext cx="914400" cy="914400"/>
              </a:xfrm>
              <a:prstGeom prst="rect">
                <a:avLst/>
              </a:prstGeom>
            </p:spPr>
            <p:txBody>
              <a:bodyPr vert="horz" wrap="none" lIns="0" tIns="0" rIns="0" bIns="0" rtlCol="0" anchor="t" anchorCtr="0">
                <a:normAutofit/>
              </a:bodyPr>
              <a:lstStyle/>
              <a:p>
                <a:pPr algn="l"/>
                <a:r>
                  <a:rPr lang="en-US" sz="1400" b="1" dirty="0">
                    <a:solidFill>
                      <a:schemeClr val="tx2">
                        <a:lumMod val="50000"/>
                      </a:schemeClr>
                    </a:solidFill>
                  </a:rPr>
                  <a:t>VBUS</a:t>
                </a:r>
              </a:p>
            </p:txBody>
          </p:sp>
          <p:cxnSp>
            <p:nvCxnSpPr>
              <p:cNvPr id="24" name="Straight Connector 23">
                <a:extLst>
                  <a:ext uri="{FF2B5EF4-FFF2-40B4-BE49-F238E27FC236}">
                    <a16:creationId xmlns:a16="http://schemas.microsoft.com/office/drawing/2014/main" id="{6C34A1D3-F98F-F6E5-DEC2-551EC6228899}"/>
                  </a:ext>
                </a:extLst>
              </p:cNvPr>
              <p:cNvCxnSpPr/>
              <p:nvPr/>
            </p:nvCxnSpPr>
            <p:spPr>
              <a:xfrm flipV="1">
                <a:off x="7056665" y="3120066"/>
                <a:ext cx="0" cy="331883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2FD17B4-77FE-8CE0-FCF5-9E6FCB0DDE22}"/>
                  </a:ext>
                </a:extLst>
              </p:cNvPr>
              <p:cNvCxnSpPr/>
              <p:nvPr/>
            </p:nvCxnSpPr>
            <p:spPr>
              <a:xfrm flipV="1">
                <a:off x="10787743" y="3136183"/>
                <a:ext cx="0" cy="331883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FC6BED2-01A9-F1BE-AE7D-EE91E15E7D1E}"/>
                  </a:ext>
                </a:extLst>
              </p:cNvPr>
              <p:cNvCxnSpPr>
                <a:cxnSpLocks/>
              </p:cNvCxnSpPr>
              <p:nvPr/>
            </p:nvCxnSpPr>
            <p:spPr>
              <a:xfrm flipH="1" flipV="1">
                <a:off x="7056665" y="3120066"/>
                <a:ext cx="3728988" cy="27003"/>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B75A083-F373-6D5C-E223-8E8AAD434207}"/>
                  </a:ext>
                </a:extLst>
              </p:cNvPr>
              <p:cNvCxnSpPr>
                <a:cxnSpLocks/>
              </p:cNvCxnSpPr>
              <p:nvPr/>
            </p:nvCxnSpPr>
            <p:spPr>
              <a:xfrm flipH="1">
                <a:off x="7047870" y="6444131"/>
                <a:ext cx="3726897"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372B4F6-8A00-9C77-374F-65A104248BED}"/>
                  </a:ext>
                </a:extLst>
              </p:cNvPr>
              <p:cNvSpPr txBox="1"/>
              <p:nvPr/>
            </p:nvSpPr>
            <p:spPr>
              <a:xfrm>
                <a:off x="8533364" y="5981700"/>
                <a:ext cx="914400" cy="340190"/>
              </a:xfrm>
              <a:prstGeom prst="rect">
                <a:avLst/>
              </a:prstGeom>
            </p:spPr>
            <p:txBody>
              <a:bodyPr vert="horz" wrap="none" lIns="0" tIns="0" rIns="0" bIns="0" rtlCol="0" anchor="t" anchorCtr="0">
                <a:normAutofit/>
              </a:bodyPr>
              <a:lstStyle/>
              <a:p>
                <a:pPr algn="l"/>
                <a:r>
                  <a:rPr lang="en-US" sz="1400" b="1" dirty="0">
                    <a:solidFill>
                      <a:srgbClr val="8A2683"/>
                    </a:solidFill>
                  </a:rPr>
                  <a:t>CC PIN</a:t>
                </a:r>
              </a:p>
            </p:txBody>
          </p:sp>
        </p:grpSp>
        <p:sp>
          <p:nvSpPr>
            <p:cNvPr id="34" name="TextBox 33">
              <a:extLst>
                <a:ext uri="{FF2B5EF4-FFF2-40B4-BE49-F238E27FC236}">
                  <a16:creationId xmlns:a16="http://schemas.microsoft.com/office/drawing/2014/main" id="{C65C221B-9B2B-2EB7-CDBC-2ADB0D8FFEE0}"/>
                </a:ext>
              </a:extLst>
            </p:cNvPr>
            <p:cNvSpPr txBox="1"/>
            <p:nvPr/>
          </p:nvSpPr>
          <p:spPr>
            <a:xfrm>
              <a:off x="5929477" y="4213426"/>
              <a:ext cx="914399" cy="914400"/>
            </a:xfrm>
            <a:prstGeom prst="rect">
              <a:avLst/>
            </a:prstGeom>
          </p:spPr>
          <p:txBody>
            <a:bodyPr vert="horz" wrap="none" lIns="0" tIns="0" rIns="0" bIns="0" rtlCol="0" anchor="t" anchorCtr="0">
              <a:normAutofit/>
            </a:bodyPr>
            <a:lstStyle/>
            <a:p>
              <a:pPr algn="l"/>
              <a:r>
                <a:rPr lang="en-US" sz="1400" b="1" dirty="0">
                  <a:solidFill>
                    <a:schemeClr val="tx2">
                      <a:lumMod val="50000"/>
                    </a:schemeClr>
                  </a:solidFill>
                </a:rPr>
                <a:t>VBUS</a:t>
              </a:r>
            </a:p>
            <a:p>
              <a:pPr algn="l"/>
              <a:r>
                <a:rPr lang="en-US" sz="1400" b="1" dirty="0">
                  <a:solidFill>
                    <a:schemeClr val="tx2">
                      <a:lumMod val="50000"/>
                    </a:schemeClr>
                  </a:solidFill>
                </a:rPr>
                <a:t>50mV/DIV</a:t>
              </a:r>
            </a:p>
          </p:txBody>
        </p:sp>
        <p:sp>
          <p:nvSpPr>
            <p:cNvPr id="35" name="TextBox 34">
              <a:extLst>
                <a:ext uri="{FF2B5EF4-FFF2-40B4-BE49-F238E27FC236}">
                  <a16:creationId xmlns:a16="http://schemas.microsoft.com/office/drawing/2014/main" id="{C74CAD23-B671-C69E-8B89-5580D0E039C8}"/>
                </a:ext>
              </a:extLst>
            </p:cNvPr>
            <p:cNvSpPr txBox="1"/>
            <p:nvPr/>
          </p:nvSpPr>
          <p:spPr>
            <a:xfrm>
              <a:off x="6211671" y="6102161"/>
              <a:ext cx="914400" cy="340190"/>
            </a:xfrm>
            <a:prstGeom prst="rect">
              <a:avLst/>
            </a:prstGeom>
          </p:spPr>
          <p:txBody>
            <a:bodyPr vert="horz" wrap="none" lIns="0" tIns="0" rIns="0" bIns="0" rtlCol="0" anchor="t" anchorCtr="0">
              <a:normAutofit fontScale="92500" lnSpcReduction="20000"/>
            </a:bodyPr>
            <a:lstStyle/>
            <a:p>
              <a:pPr algn="l"/>
              <a:r>
                <a:rPr lang="en-US" sz="1400" b="1" dirty="0">
                  <a:solidFill>
                    <a:srgbClr val="8A2683"/>
                  </a:solidFill>
                </a:rPr>
                <a:t>CC PIN</a:t>
              </a:r>
            </a:p>
            <a:p>
              <a:pPr algn="l"/>
              <a:r>
                <a:rPr lang="en-US" sz="1400" b="1" dirty="0">
                  <a:solidFill>
                    <a:srgbClr val="8A2683"/>
                  </a:solidFill>
                </a:rPr>
                <a:t>5V/DIV</a:t>
              </a:r>
            </a:p>
          </p:txBody>
        </p:sp>
      </p:grpSp>
      <p:cxnSp>
        <p:nvCxnSpPr>
          <p:cNvPr id="39" name="Straight Arrow Connector 38">
            <a:extLst>
              <a:ext uri="{FF2B5EF4-FFF2-40B4-BE49-F238E27FC236}">
                <a16:creationId xmlns:a16="http://schemas.microsoft.com/office/drawing/2014/main" id="{05E38D2C-A5AB-58B4-8674-373E54BC62FB}"/>
              </a:ext>
            </a:extLst>
          </p:cNvPr>
          <p:cNvCxnSpPr/>
          <p:nvPr/>
        </p:nvCxnSpPr>
        <p:spPr>
          <a:xfrm flipV="1">
            <a:off x="1241778" y="1093496"/>
            <a:ext cx="0" cy="4843172"/>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A5B7624-C5EA-9E6E-30E2-D17CFB43F20E}"/>
              </a:ext>
            </a:extLst>
          </p:cNvPr>
          <p:cNvCxnSpPr>
            <a:cxnSpLocks/>
          </p:cNvCxnSpPr>
          <p:nvPr/>
        </p:nvCxnSpPr>
        <p:spPr>
          <a:xfrm>
            <a:off x="1241778" y="5941146"/>
            <a:ext cx="5012266" cy="0"/>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1A0ED087-C1F7-7B6A-18DB-14020508F54E}"/>
              </a:ext>
            </a:extLst>
          </p:cNvPr>
          <p:cNvCxnSpPr/>
          <p:nvPr/>
        </p:nvCxnSpPr>
        <p:spPr>
          <a:xfrm>
            <a:off x="1241778" y="5463821"/>
            <a:ext cx="4660547" cy="0"/>
          </a:xfrm>
          <a:prstGeom prst="line">
            <a:avLst/>
          </a:prstGeom>
          <a:ln w="19050">
            <a:solidFill>
              <a:schemeClr val="tx2">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37A07D3-ADE3-6E6B-53BB-C666863526AE}"/>
              </a:ext>
            </a:extLst>
          </p:cNvPr>
          <p:cNvCxnSpPr/>
          <p:nvPr/>
        </p:nvCxnSpPr>
        <p:spPr>
          <a:xfrm>
            <a:off x="1246258" y="1554011"/>
            <a:ext cx="4660547" cy="0"/>
          </a:xfrm>
          <a:prstGeom prst="line">
            <a:avLst/>
          </a:prstGeom>
          <a:ln w="19050">
            <a:solidFill>
              <a:schemeClr val="tx2">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14972F27-8EEF-4EDC-CE88-923FE947B376}"/>
              </a:ext>
            </a:extLst>
          </p:cNvPr>
          <p:cNvSpPr txBox="1"/>
          <p:nvPr/>
        </p:nvSpPr>
        <p:spPr>
          <a:xfrm>
            <a:off x="654102" y="5277479"/>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3.3 V</a:t>
            </a:r>
          </a:p>
        </p:txBody>
      </p:sp>
      <p:sp>
        <p:nvSpPr>
          <p:cNvPr id="49" name="TextBox 48">
            <a:extLst>
              <a:ext uri="{FF2B5EF4-FFF2-40B4-BE49-F238E27FC236}">
                <a16:creationId xmlns:a16="http://schemas.microsoft.com/office/drawing/2014/main" id="{FF88F2C8-F303-5E89-9756-3D69946CC4D4}"/>
              </a:ext>
            </a:extLst>
          </p:cNvPr>
          <p:cNvSpPr txBox="1"/>
          <p:nvPr/>
        </p:nvSpPr>
        <p:spPr>
          <a:xfrm>
            <a:off x="660821" y="1439676"/>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21 V</a:t>
            </a:r>
          </a:p>
        </p:txBody>
      </p:sp>
      <p:sp>
        <p:nvSpPr>
          <p:cNvPr id="50" name="TextBox 49">
            <a:extLst>
              <a:ext uri="{FF2B5EF4-FFF2-40B4-BE49-F238E27FC236}">
                <a16:creationId xmlns:a16="http://schemas.microsoft.com/office/drawing/2014/main" id="{5F135FB8-4B71-1292-E1C5-872780151F0E}"/>
              </a:ext>
            </a:extLst>
          </p:cNvPr>
          <p:cNvSpPr txBox="1"/>
          <p:nvPr/>
        </p:nvSpPr>
        <p:spPr>
          <a:xfrm>
            <a:off x="541540" y="3369822"/>
            <a:ext cx="583197" cy="394723"/>
          </a:xfrm>
          <a:prstGeom prst="rect">
            <a:avLst/>
          </a:prstGeom>
        </p:spPr>
        <p:txBody>
          <a:bodyPr vert="horz" wrap="none" lIns="0" tIns="0" rIns="0" bIns="0" rtlCol="0" anchor="t" anchorCtr="0">
            <a:normAutofit/>
          </a:bodyPr>
          <a:lstStyle/>
          <a:p>
            <a:pPr algn="l"/>
            <a:r>
              <a:rPr lang="en-US" b="1" dirty="0">
                <a:solidFill>
                  <a:schemeClr val="tx2">
                    <a:lumMod val="50000"/>
                  </a:schemeClr>
                </a:solidFill>
              </a:rPr>
              <a:t>20mV</a:t>
            </a:r>
          </a:p>
        </p:txBody>
      </p:sp>
      <p:cxnSp>
        <p:nvCxnSpPr>
          <p:cNvPr id="51" name="Straight Connector 50">
            <a:extLst>
              <a:ext uri="{FF2B5EF4-FFF2-40B4-BE49-F238E27FC236}">
                <a16:creationId xmlns:a16="http://schemas.microsoft.com/office/drawing/2014/main" id="{FA363C0D-4668-332E-4199-AB3FEBE69752}"/>
              </a:ext>
            </a:extLst>
          </p:cNvPr>
          <p:cNvCxnSpPr>
            <a:cxnSpLocks/>
          </p:cNvCxnSpPr>
          <p:nvPr/>
        </p:nvCxnSpPr>
        <p:spPr>
          <a:xfrm>
            <a:off x="1772356" y="1554011"/>
            <a:ext cx="0" cy="4387135"/>
          </a:xfrm>
          <a:prstGeom prst="line">
            <a:avLst/>
          </a:prstGeom>
          <a:ln w="19050">
            <a:solidFill>
              <a:schemeClr val="accent4"/>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E0848BE-D675-23B8-1FBC-4542DE81F318}"/>
              </a:ext>
            </a:extLst>
          </p:cNvPr>
          <p:cNvCxnSpPr>
            <a:cxnSpLocks/>
          </p:cNvCxnSpPr>
          <p:nvPr/>
        </p:nvCxnSpPr>
        <p:spPr>
          <a:xfrm>
            <a:off x="5401734" y="1542992"/>
            <a:ext cx="0" cy="4393676"/>
          </a:xfrm>
          <a:prstGeom prst="line">
            <a:avLst/>
          </a:prstGeom>
          <a:ln w="19050">
            <a:solidFill>
              <a:srgbClr val="00B050"/>
            </a:solidFill>
            <a:prstDash val="dash"/>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1294C1A-4101-AF5E-B9AA-4553E0C2124E}"/>
              </a:ext>
            </a:extLst>
          </p:cNvPr>
          <p:cNvSpPr txBox="1"/>
          <p:nvPr/>
        </p:nvSpPr>
        <p:spPr>
          <a:xfrm>
            <a:off x="1537243" y="5981729"/>
            <a:ext cx="583197" cy="394723"/>
          </a:xfrm>
          <a:prstGeom prst="rect">
            <a:avLst/>
          </a:prstGeom>
        </p:spPr>
        <p:txBody>
          <a:bodyPr vert="horz" wrap="none" lIns="0" tIns="0" rIns="0" bIns="0" rtlCol="0" anchor="t" anchorCtr="0">
            <a:normAutofit/>
          </a:bodyPr>
          <a:lstStyle/>
          <a:p>
            <a:pPr algn="l"/>
            <a:r>
              <a:rPr lang="en-US" b="1" dirty="0">
                <a:solidFill>
                  <a:srgbClr val="00B050"/>
                </a:solidFill>
              </a:rPr>
              <a:t>0.5A</a:t>
            </a:r>
          </a:p>
        </p:txBody>
      </p:sp>
      <p:sp>
        <p:nvSpPr>
          <p:cNvPr id="59" name="TextBox 58">
            <a:extLst>
              <a:ext uri="{FF2B5EF4-FFF2-40B4-BE49-F238E27FC236}">
                <a16:creationId xmlns:a16="http://schemas.microsoft.com/office/drawing/2014/main" id="{BE64D1F9-7D8E-4E49-BF5B-352F0ADBCFFA}"/>
              </a:ext>
            </a:extLst>
          </p:cNvPr>
          <p:cNvSpPr txBox="1"/>
          <p:nvPr/>
        </p:nvSpPr>
        <p:spPr>
          <a:xfrm>
            <a:off x="5198915" y="6041347"/>
            <a:ext cx="583197" cy="394723"/>
          </a:xfrm>
          <a:prstGeom prst="rect">
            <a:avLst/>
          </a:prstGeom>
        </p:spPr>
        <p:txBody>
          <a:bodyPr vert="horz" wrap="none" lIns="0" tIns="0" rIns="0" bIns="0" rtlCol="0" anchor="t" anchorCtr="0">
            <a:normAutofit/>
          </a:bodyPr>
          <a:lstStyle/>
          <a:p>
            <a:pPr algn="l"/>
            <a:r>
              <a:rPr lang="en-US" b="1" dirty="0">
                <a:solidFill>
                  <a:srgbClr val="00B050"/>
                </a:solidFill>
              </a:rPr>
              <a:t>5 A</a:t>
            </a:r>
          </a:p>
        </p:txBody>
      </p:sp>
      <p:sp>
        <p:nvSpPr>
          <p:cNvPr id="60" name="TextBox 59">
            <a:extLst>
              <a:ext uri="{FF2B5EF4-FFF2-40B4-BE49-F238E27FC236}">
                <a16:creationId xmlns:a16="http://schemas.microsoft.com/office/drawing/2014/main" id="{F833948B-351A-A83E-3EFC-654CCFC91081}"/>
              </a:ext>
            </a:extLst>
          </p:cNvPr>
          <p:cNvSpPr txBox="1"/>
          <p:nvPr/>
        </p:nvSpPr>
        <p:spPr>
          <a:xfrm>
            <a:off x="3188727" y="5987316"/>
            <a:ext cx="583197" cy="394723"/>
          </a:xfrm>
          <a:prstGeom prst="rect">
            <a:avLst/>
          </a:prstGeom>
        </p:spPr>
        <p:txBody>
          <a:bodyPr vert="horz" wrap="none" lIns="0" tIns="0" rIns="0" bIns="0" rtlCol="0" anchor="t" anchorCtr="0">
            <a:normAutofit/>
          </a:bodyPr>
          <a:lstStyle/>
          <a:p>
            <a:pPr algn="l"/>
            <a:r>
              <a:rPr lang="en-US" b="1" dirty="0">
                <a:solidFill>
                  <a:srgbClr val="00B050"/>
                </a:solidFill>
              </a:rPr>
              <a:t>50mA</a:t>
            </a:r>
          </a:p>
        </p:txBody>
      </p:sp>
      <p:sp>
        <p:nvSpPr>
          <p:cNvPr id="61" name="TextBox 60">
            <a:extLst>
              <a:ext uri="{FF2B5EF4-FFF2-40B4-BE49-F238E27FC236}">
                <a16:creationId xmlns:a16="http://schemas.microsoft.com/office/drawing/2014/main" id="{E7727D97-4383-8940-A66D-FBA344FD6450}"/>
              </a:ext>
            </a:extLst>
          </p:cNvPr>
          <p:cNvSpPr txBox="1"/>
          <p:nvPr/>
        </p:nvSpPr>
        <p:spPr>
          <a:xfrm rot="16200000">
            <a:off x="-98119" y="3630704"/>
            <a:ext cx="914400" cy="247878"/>
          </a:xfrm>
          <a:prstGeom prst="rect">
            <a:avLst/>
          </a:prstGeom>
        </p:spPr>
        <p:txBody>
          <a:bodyPr vert="horz" wrap="none" lIns="0" tIns="0" rIns="0" bIns="0" rtlCol="0" anchor="t" anchorCtr="0">
            <a:normAutofit lnSpcReduction="10000"/>
          </a:bodyPr>
          <a:lstStyle/>
          <a:p>
            <a:pPr algn="l"/>
            <a:r>
              <a:rPr lang="en-US" b="1" dirty="0">
                <a:solidFill>
                  <a:schemeClr val="tx2">
                    <a:lumMod val="50000"/>
                  </a:schemeClr>
                </a:solidFill>
              </a:rPr>
              <a:t>PPS VOLTAGE</a:t>
            </a:r>
          </a:p>
        </p:txBody>
      </p:sp>
      <p:sp>
        <p:nvSpPr>
          <p:cNvPr id="62" name="TextBox 61">
            <a:extLst>
              <a:ext uri="{FF2B5EF4-FFF2-40B4-BE49-F238E27FC236}">
                <a16:creationId xmlns:a16="http://schemas.microsoft.com/office/drawing/2014/main" id="{08633E94-F0A9-68DF-E606-DF481CE01818}"/>
              </a:ext>
            </a:extLst>
          </p:cNvPr>
          <p:cNvSpPr txBox="1"/>
          <p:nvPr/>
        </p:nvSpPr>
        <p:spPr>
          <a:xfrm>
            <a:off x="2752787" y="6311939"/>
            <a:ext cx="914400" cy="247878"/>
          </a:xfrm>
          <a:prstGeom prst="rect">
            <a:avLst/>
          </a:prstGeom>
        </p:spPr>
        <p:txBody>
          <a:bodyPr vert="horz" wrap="none" lIns="0" tIns="0" rIns="0" bIns="0" rtlCol="0" anchor="t" anchorCtr="0">
            <a:normAutofit lnSpcReduction="10000"/>
          </a:bodyPr>
          <a:lstStyle/>
          <a:p>
            <a:pPr algn="l"/>
            <a:r>
              <a:rPr lang="en-US" b="1" dirty="0">
                <a:solidFill>
                  <a:srgbClr val="00B050"/>
                </a:solidFill>
              </a:rPr>
              <a:t>PPS CURRENT</a:t>
            </a:r>
          </a:p>
        </p:txBody>
      </p:sp>
      <p:cxnSp>
        <p:nvCxnSpPr>
          <p:cNvPr id="74" name="Straight Connector 73">
            <a:extLst>
              <a:ext uri="{FF2B5EF4-FFF2-40B4-BE49-F238E27FC236}">
                <a16:creationId xmlns:a16="http://schemas.microsoft.com/office/drawing/2014/main" id="{E859FF0C-20BC-DC2A-6A3A-E387BFF64F7C}"/>
              </a:ext>
            </a:extLst>
          </p:cNvPr>
          <p:cNvCxnSpPr/>
          <p:nvPr/>
        </p:nvCxnSpPr>
        <p:spPr>
          <a:xfrm>
            <a:off x="1237299" y="5463821"/>
            <a:ext cx="4660547" cy="0"/>
          </a:xfrm>
          <a:prstGeom prst="line">
            <a:avLst/>
          </a:prstGeom>
          <a:ln w="19050">
            <a:solidFill>
              <a:schemeClr val="tx2">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A2155232-00BC-4F16-993C-EC2359EDD141}"/>
              </a:ext>
            </a:extLst>
          </p:cNvPr>
          <p:cNvCxnSpPr>
            <a:cxnSpLocks/>
          </p:cNvCxnSpPr>
          <p:nvPr/>
        </p:nvCxnSpPr>
        <p:spPr>
          <a:xfrm>
            <a:off x="1784044" y="1542897"/>
            <a:ext cx="0" cy="4393676"/>
          </a:xfrm>
          <a:prstGeom prst="line">
            <a:avLst/>
          </a:prstGeom>
          <a:ln w="19050">
            <a:solidFill>
              <a:srgbClr val="00B050"/>
            </a:solidFill>
            <a:prstDash val="dash"/>
          </a:ln>
          <a:effectLst/>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EC461E91-5130-48F9-FC1C-9ACBF63007B4}"/>
              </a:ext>
            </a:extLst>
          </p:cNvPr>
          <p:cNvSpPr txBox="1"/>
          <p:nvPr/>
        </p:nvSpPr>
        <p:spPr>
          <a:xfrm>
            <a:off x="8296750" y="6328568"/>
            <a:ext cx="583197" cy="394723"/>
          </a:xfrm>
          <a:prstGeom prst="rect">
            <a:avLst/>
          </a:prstGeom>
        </p:spPr>
        <p:txBody>
          <a:bodyPr vert="horz" wrap="none" lIns="0" tIns="0" rIns="0" bIns="0" rtlCol="0" anchor="t" anchorCtr="0">
            <a:normAutofit/>
          </a:bodyPr>
          <a:lstStyle/>
          <a:p>
            <a:pPr algn="l"/>
            <a:r>
              <a:rPr lang="en-US" dirty="0">
                <a:solidFill>
                  <a:schemeClr val="tx2">
                    <a:lumMod val="50000"/>
                  </a:schemeClr>
                </a:solidFill>
              </a:rPr>
              <a:t>MAX77958 PPS negotiation</a:t>
            </a:r>
          </a:p>
        </p:txBody>
      </p:sp>
    </p:spTree>
    <p:extLst>
      <p:ext uri="{BB962C8B-B14F-4D97-AF65-F5344CB8AC3E}">
        <p14:creationId xmlns:p14="http://schemas.microsoft.com/office/powerpoint/2010/main" val="2177463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1.25E-6 7.40741E-7 L 1.25E-6 -0.57014 " pathEditMode="relative" rAng="0" ptsTypes="AA">
                                      <p:cBhvr>
                                        <p:cTn id="6" dur="2000" fill="hold"/>
                                        <p:tgtEl>
                                          <p:spTgt spid="46"/>
                                        </p:tgtEl>
                                        <p:attrNameLst>
                                          <p:attrName>ppt_x</p:attrName>
                                          <p:attrName>ppt_y</p:attrName>
                                        </p:attrNameLst>
                                      </p:cBhvr>
                                      <p:rCtr x="0" y="-28519"/>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2.5E-6 3.7037E-6 L 0.29779 3.7037E-6 " pathEditMode="relative" rAng="0" ptsTypes="AA">
                                      <p:cBhvr>
                                        <p:cTn id="10" dur="2000" fill="hold"/>
                                        <p:tgtEl>
                                          <p:spTgt spid="51"/>
                                        </p:tgtEl>
                                        <p:attrNameLst>
                                          <p:attrName>ppt_x</p:attrName>
                                          <p:attrName>ppt_y</p:attrName>
                                        </p:attrNameLst>
                                      </p:cBhvr>
                                      <p:rCtr x="148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a:t>Direct Charging - Solving Heating Crisis </a:t>
            </a:r>
            <a:endParaRPr lang="en-US" dirty="0"/>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20</a:t>
            </a:fld>
            <a:endParaRPr lang="en-US" dirty="0"/>
          </a:p>
        </p:txBody>
      </p:sp>
      <p:grpSp>
        <p:nvGrpSpPr>
          <p:cNvPr id="200" name="Group 199">
            <a:extLst>
              <a:ext uri="{FF2B5EF4-FFF2-40B4-BE49-F238E27FC236}">
                <a16:creationId xmlns:a16="http://schemas.microsoft.com/office/drawing/2014/main" id="{A6F17443-BB52-2C63-3867-1AEF6BD70A19}"/>
              </a:ext>
            </a:extLst>
          </p:cNvPr>
          <p:cNvGrpSpPr/>
          <p:nvPr/>
        </p:nvGrpSpPr>
        <p:grpSpPr>
          <a:xfrm>
            <a:off x="7621105" y="1667196"/>
            <a:ext cx="4263768" cy="4118901"/>
            <a:chOff x="7169557" y="1667195"/>
            <a:chExt cx="4263768" cy="4027925"/>
          </a:xfrm>
        </p:grpSpPr>
        <p:grpSp>
          <p:nvGrpSpPr>
            <p:cNvPr id="199" name="Group 198">
              <a:extLst>
                <a:ext uri="{FF2B5EF4-FFF2-40B4-BE49-F238E27FC236}">
                  <a16:creationId xmlns:a16="http://schemas.microsoft.com/office/drawing/2014/main" id="{24FBD706-1C40-6277-8A02-93AD8172AB3F}"/>
                </a:ext>
              </a:extLst>
            </p:cNvPr>
            <p:cNvGrpSpPr/>
            <p:nvPr/>
          </p:nvGrpSpPr>
          <p:grpSpPr>
            <a:xfrm>
              <a:off x="7169557" y="1667195"/>
              <a:ext cx="4263768" cy="4027925"/>
              <a:chOff x="7169557" y="1667197"/>
              <a:chExt cx="4263768" cy="4027930"/>
            </a:xfrm>
          </p:grpSpPr>
          <p:sp>
            <p:nvSpPr>
              <p:cNvPr id="58" name="Rectangle 57">
                <a:extLst>
                  <a:ext uri="{FF2B5EF4-FFF2-40B4-BE49-F238E27FC236}">
                    <a16:creationId xmlns:a16="http://schemas.microsoft.com/office/drawing/2014/main" id="{92076903-4F23-345F-D458-69CD1345F645}"/>
                  </a:ext>
                </a:extLst>
              </p:cNvPr>
              <p:cNvSpPr/>
              <p:nvPr/>
            </p:nvSpPr>
            <p:spPr>
              <a:xfrm>
                <a:off x="7254732" y="1667197"/>
                <a:ext cx="4178593" cy="4027930"/>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60" name="Straight Connector 59">
                <a:extLst>
                  <a:ext uri="{FF2B5EF4-FFF2-40B4-BE49-F238E27FC236}">
                    <a16:creationId xmlns:a16="http://schemas.microsoft.com/office/drawing/2014/main" id="{3F113873-E04C-AC1F-467F-BC4837A97AC8}"/>
                  </a:ext>
                </a:extLst>
              </p:cNvPr>
              <p:cNvCxnSpPr>
                <a:cxnSpLocks/>
              </p:cNvCxnSpPr>
              <p:nvPr/>
            </p:nvCxnSpPr>
            <p:spPr>
              <a:xfrm flipH="1">
                <a:off x="7357727" y="3398896"/>
                <a:ext cx="1407351"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id="{D843A27D-680A-B0A4-31EE-0B503291EAAA}"/>
                  </a:ext>
                </a:extLst>
              </p:cNvPr>
              <p:cNvCxnSpPr>
                <a:cxnSpLocks/>
                <a:endCxn id="78" idx="6"/>
              </p:cNvCxnSpPr>
              <p:nvPr/>
            </p:nvCxnSpPr>
            <p:spPr>
              <a:xfrm flipH="1" flipV="1">
                <a:off x="7343470" y="3875969"/>
                <a:ext cx="877817" cy="762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a16="http://schemas.microsoft.com/office/drawing/2014/main" id="{450A692E-C89D-8D58-56EB-42AF82071FC2}"/>
                  </a:ext>
                </a:extLst>
              </p:cNvPr>
              <p:cNvCxnSpPr>
                <a:cxnSpLocks/>
                <a:endCxn id="77" idx="6"/>
              </p:cNvCxnSpPr>
              <p:nvPr/>
            </p:nvCxnSpPr>
            <p:spPr>
              <a:xfrm flipH="1" flipV="1">
                <a:off x="7340100" y="3686366"/>
                <a:ext cx="884103" cy="4754"/>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64" name="Rectangle 63">
                <a:extLst>
                  <a:ext uri="{FF2B5EF4-FFF2-40B4-BE49-F238E27FC236}">
                    <a16:creationId xmlns:a16="http://schemas.microsoft.com/office/drawing/2014/main" id="{CA1F5C9C-74D4-33FF-41F1-B79E55092C74}"/>
                  </a:ext>
                </a:extLst>
              </p:cNvPr>
              <p:cNvSpPr/>
              <p:nvPr/>
            </p:nvSpPr>
            <p:spPr>
              <a:xfrm>
                <a:off x="8746641" y="4569515"/>
                <a:ext cx="200766" cy="211540"/>
              </a:xfrm>
              <a:prstGeom prst="rect">
                <a:avLst/>
              </a:prstGeom>
              <a:solidFill>
                <a:schemeClr val="bg1"/>
              </a:solidFill>
              <a:ln w="28575">
                <a:solidFill>
                  <a:schemeClr val="bg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67" name="Rectangle: Rounded Corners 66">
                <a:extLst>
                  <a:ext uri="{FF2B5EF4-FFF2-40B4-BE49-F238E27FC236}">
                    <a16:creationId xmlns:a16="http://schemas.microsoft.com/office/drawing/2014/main" id="{AFD11055-E9AB-918B-7762-EC99298D170E}"/>
                  </a:ext>
                </a:extLst>
              </p:cNvPr>
              <p:cNvSpPr/>
              <p:nvPr/>
            </p:nvSpPr>
            <p:spPr>
              <a:xfrm>
                <a:off x="8220323" y="3536098"/>
                <a:ext cx="1055675" cy="596388"/>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MAX77958</a:t>
                </a:r>
              </a:p>
              <a:p>
                <a:pPr algn="ctr"/>
                <a:r>
                  <a:rPr lang="en-US" sz="600" b="1" dirty="0">
                    <a:solidFill>
                      <a:schemeClr val="tx1">
                        <a:lumMod val="85000"/>
                        <a:lumOff val="15000"/>
                      </a:schemeClr>
                    </a:solidFill>
                    <a:latin typeface="Barlow" panose="00000500000000000000" pitchFamily="2" charset="0"/>
                  </a:rPr>
                  <a:t>PD negotiator</a:t>
                </a:r>
              </a:p>
            </p:txBody>
          </p:sp>
          <p:sp>
            <p:nvSpPr>
              <p:cNvPr id="68" name="Rectangle: Rounded Corners 67">
                <a:extLst>
                  <a:ext uri="{FF2B5EF4-FFF2-40B4-BE49-F238E27FC236}">
                    <a16:creationId xmlns:a16="http://schemas.microsoft.com/office/drawing/2014/main" id="{2DB1EBA0-3635-00CA-2171-72C2BC43F052}"/>
                  </a:ext>
                </a:extLst>
              </p:cNvPr>
              <p:cNvSpPr/>
              <p:nvPr/>
            </p:nvSpPr>
            <p:spPr>
              <a:xfrm>
                <a:off x="9727033" y="3536098"/>
                <a:ext cx="1043107" cy="601611"/>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MAX77986</a:t>
                </a:r>
              </a:p>
              <a:p>
                <a:pPr algn="ctr"/>
                <a:r>
                  <a:rPr lang="en-US" sz="600" b="1" dirty="0">
                    <a:solidFill>
                      <a:schemeClr val="tx1">
                        <a:lumMod val="85000"/>
                        <a:lumOff val="15000"/>
                      </a:schemeClr>
                    </a:solidFill>
                    <a:latin typeface="Barlow" panose="00000500000000000000" pitchFamily="2" charset="0"/>
                  </a:rPr>
                  <a:t>Buck Charger</a:t>
                </a:r>
              </a:p>
            </p:txBody>
          </p:sp>
          <p:sp>
            <p:nvSpPr>
              <p:cNvPr id="69" name="TextBox 68">
                <a:extLst>
                  <a:ext uri="{FF2B5EF4-FFF2-40B4-BE49-F238E27FC236}">
                    <a16:creationId xmlns:a16="http://schemas.microsoft.com/office/drawing/2014/main" id="{D9960E24-3E02-F8DF-BF2B-25F1026BCB7B}"/>
                  </a:ext>
                </a:extLst>
              </p:cNvPr>
              <p:cNvSpPr txBox="1"/>
              <p:nvPr/>
            </p:nvSpPr>
            <p:spPr>
              <a:xfrm rot="16200000">
                <a:off x="9067789" y="3693810"/>
                <a:ext cx="308253" cy="20590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M</a:t>
                </a:r>
              </a:p>
            </p:txBody>
          </p:sp>
          <p:sp>
            <p:nvSpPr>
              <p:cNvPr id="70" name="Rectangle: Rounded Corners 69">
                <a:extLst>
                  <a:ext uri="{FF2B5EF4-FFF2-40B4-BE49-F238E27FC236}">
                    <a16:creationId xmlns:a16="http://schemas.microsoft.com/office/drawing/2014/main" id="{78658604-45AD-57AB-0D52-B190DBA1A3DD}"/>
                  </a:ext>
                </a:extLst>
              </p:cNvPr>
              <p:cNvSpPr/>
              <p:nvPr/>
            </p:nvSpPr>
            <p:spPr>
              <a:xfrm>
                <a:off x="8215228" y="4469337"/>
                <a:ext cx="1031847"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600" b="1" dirty="0">
                    <a:solidFill>
                      <a:schemeClr val="tx1">
                        <a:lumMod val="85000"/>
                        <a:lumOff val="15000"/>
                      </a:schemeClr>
                    </a:solidFill>
                    <a:latin typeface="Barlow" panose="00000500000000000000" pitchFamily="2" charset="0"/>
                  </a:rPr>
                  <a:t>MCU</a:t>
                </a:r>
              </a:p>
            </p:txBody>
          </p:sp>
          <p:grpSp>
            <p:nvGrpSpPr>
              <p:cNvPr id="71" name="Group 70">
                <a:extLst>
                  <a:ext uri="{FF2B5EF4-FFF2-40B4-BE49-F238E27FC236}">
                    <a16:creationId xmlns:a16="http://schemas.microsoft.com/office/drawing/2014/main" id="{190EF09B-F397-7995-9110-67FC8A3725C8}"/>
                  </a:ext>
                </a:extLst>
              </p:cNvPr>
              <p:cNvGrpSpPr/>
              <p:nvPr/>
            </p:nvGrpSpPr>
            <p:grpSpPr>
              <a:xfrm>
                <a:off x="11080679" y="5138284"/>
                <a:ext cx="174123" cy="65512"/>
                <a:chOff x="8643839" y="3430799"/>
                <a:chExt cx="290244" cy="111833"/>
              </a:xfrm>
            </p:grpSpPr>
            <p:cxnSp>
              <p:nvCxnSpPr>
                <p:cNvPr id="99" name="Straight Connector 98">
                  <a:extLst>
                    <a:ext uri="{FF2B5EF4-FFF2-40B4-BE49-F238E27FC236}">
                      <a16:creationId xmlns:a16="http://schemas.microsoft.com/office/drawing/2014/main" id="{B0B2B54C-852C-52B9-DA0F-3E26DF17C799}"/>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00" name="Straight Connector 99">
                  <a:extLst>
                    <a:ext uri="{FF2B5EF4-FFF2-40B4-BE49-F238E27FC236}">
                      <a16:creationId xmlns:a16="http://schemas.microsoft.com/office/drawing/2014/main" id="{5B335A13-7C2B-A7F7-9495-9B0DF685F155}"/>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01" name="Straight Connector 100">
                  <a:extLst>
                    <a:ext uri="{FF2B5EF4-FFF2-40B4-BE49-F238E27FC236}">
                      <a16:creationId xmlns:a16="http://schemas.microsoft.com/office/drawing/2014/main" id="{AB0D6535-1DE8-40E9-2228-9FB7445DDB21}"/>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72" name="TextBox 71">
                <a:extLst>
                  <a:ext uri="{FF2B5EF4-FFF2-40B4-BE49-F238E27FC236}">
                    <a16:creationId xmlns:a16="http://schemas.microsoft.com/office/drawing/2014/main" id="{059D4076-C132-86B4-6536-96DCCF6CB568}"/>
                  </a:ext>
                </a:extLst>
              </p:cNvPr>
              <p:cNvSpPr txBox="1"/>
              <p:nvPr/>
            </p:nvSpPr>
            <p:spPr>
              <a:xfrm>
                <a:off x="8607237" y="3994554"/>
                <a:ext cx="315683" cy="201055"/>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73" name="Connector: Elbow 72">
                <a:extLst>
                  <a:ext uri="{FF2B5EF4-FFF2-40B4-BE49-F238E27FC236}">
                    <a16:creationId xmlns:a16="http://schemas.microsoft.com/office/drawing/2014/main" id="{FF2EB8BB-CEED-50C7-5CD1-0DCB82E777AD}"/>
                  </a:ext>
                </a:extLst>
              </p:cNvPr>
              <p:cNvCxnSpPr>
                <a:cxnSpLocks/>
              </p:cNvCxnSpPr>
              <p:nvPr/>
            </p:nvCxnSpPr>
            <p:spPr>
              <a:xfrm rot="16200000" flipH="1">
                <a:off x="9489064" y="2790606"/>
                <a:ext cx="2809" cy="1493794"/>
              </a:xfrm>
              <a:prstGeom prst="bentConnector3">
                <a:avLst>
                  <a:gd name="adj1" fmla="val -4870673"/>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74" name="Straight Connector 73">
                <a:extLst>
                  <a:ext uri="{FF2B5EF4-FFF2-40B4-BE49-F238E27FC236}">
                    <a16:creationId xmlns:a16="http://schemas.microsoft.com/office/drawing/2014/main" id="{423A7EF9-53B4-0BCA-7659-A4996961168D}"/>
                  </a:ext>
                </a:extLst>
              </p:cNvPr>
              <p:cNvCxnSpPr>
                <a:cxnSpLocks/>
              </p:cNvCxnSpPr>
              <p:nvPr/>
            </p:nvCxnSpPr>
            <p:spPr>
              <a:xfrm flipH="1">
                <a:off x="7428456" y="4013890"/>
                <a:ext cx="22391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75" name="Straight Connector 74">
                <a:extLst>
                  <a:ext uri="{FF2B5EF4-FFF2-40B4-BE49-F238E27FC236}">
                    <a16:creationId xmlns:a16="http://schemas.microsoft.com/office/drawing/2014/main" id="{692A3EC7-2799-710C-12C2-73F13D820680}"/>
                  </a:ext>
                </a:extLst>
              </p:cNvPr>
              <p:cNvCxnSpPr>
                <a:cxnSpLocks/>
              </p:cNvCxnSpPr>
              <p:nvPr/>
            </p:nvCxnSpPr>
            <p:spPr>
              <a:xfrm>
                <a:off x="7652368" y="4013890"/>
                <a:ext cx="0" cy="18995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79" name="TextBox 78">
                <a:extLst>
                  <a:ext uri="{FF2B5EF4-FFF2-40B4-BE49-F238E27FC236}">
                    <a16:creationId xmlns:a16="http://schemas.microsoft.com/office/drawing/2014/main" id="{4A520E13-7A87-BF98-D5BD-37EAAC2C4003}"/>
                  </a:ext>
                </a:extLst>
              </p:cNvPr>
              <p:cNvSpPr txBox="1"/>
              <p:nvPr/>
            </p:nvSpPr>
            <p:spPr>
              <a:xfrm>
                <a:off x="7415148" y="3238976"/>
                <a:ext cx="40588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VBUS</a:t>
                </a:r>
              </a:p>
            </p:txBody>
          </p:sp>
          <p:sp>
            <p:nvSpPr>
              <p:cNvPr id="80" name="TextBox 79">
                <a:extLst>
                  <a:ext uri="{FF2B5EF4-FFF2-40B4-BE49-F238E27FC236}">
                    <a16:creationId xmlns:a16="http://schemas.microsoft.com/office/drawing/2014/main" id="{3380E29F-81BF-9A55-716C-57B820A69792}"/>
                  </a:ext>
                </a:extLst>
              </p:cNvPr>
              <p:cNvSpPr txBox="1"/>
              <p:nvPr/>
            </p:nvSpPr>
            <p:spPr>
              <a:xfrm>
                <a:off x="7404879" y="3515118"/>
                <a:ext cx="32573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CC1</a:t>
                </a:r>
              </a:p>
            </p:txBody>
          </p:sp>
          <p:sp>
            <p:nvSpPr>
              <p:cNvPr id="81" name="TextBox 80">
                <a:extLst>
                  <a:ext uri="{FF2B5EF4-FFF2-40B4-BE49-F238E27FC236}">
                    <a16:creationId xmlns:a16="http://schemas.microsoft.com/office/drawing/2014/main" id="{D8C8AD0F-1718-02C1-66C4-7578FD35B2D8}"/>
                  </a:ext>
                </a:extLst>
              </p:cNvPr>
              <p:cNvSpPr txBox="1"/>
              <p:nvPr/>
            </p:nvSpPr>
            <p:spPr>
              <a:xfrm>
                <a:off x="7395379" y="3697456"/>
                <a:ext cx="343364"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CC2</a:t>
                </a:r>
              </a:p>
            </p:txBody>
          </p:sp>
          <p:cxnSp>
            <p:nvCxnSpPr>
              <p:cNvPr id="83" name="Connector: Elbow 82">
                <a:extLst>
                  <a:ext uri="{FF2B5EF4-FFF2-40B4-BE49-F238E27FC236}">
                    <a16:creationId xmlns:a16="http://schemas.microsoft.com/office/drawing/2014/main" id="{BF37A536-0C97-2459-132B-68ED0A83B3CF}"/>
                  </a:ext>
                </a:extLst>
              </p:cNvPr>
              <p:cNvCxnSpPr>
                <a:cxnSpLocks/>
              </p:cNvCxnSpPr>
              <p:nvPr/>
            </p:nvCxnSpPr>
            <p:spPr>
              <a:xfrm>
                <a:off x="10769016" y="3846327"/>
                <a:ext cx="396787" cy="693340"/>
              </a:xfrm>
              <a:prstGeom prst="bentConnector2">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E5CA61C0-D6D7-C6AF-62A1-62D06FDB524A}"/>
                  </a:ext>
                </a:extLst>
              </p:cNvPr>
              <p:cNvCxnSpPr>
                <a:cxnSpLocks/>
              </p:cNvCxnSpPr>
              <p:nvPr/>
            </p:nvCxnSpPr>
            <p:spPr>
              <a:xfrm>
                <a:off x="11167317" y="4525492"/>
                <a:ext cx="0" cy="612796"/>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85" name="Arrow: Left-Right 84">
                <a:extLst>
                  <a:ext uri="{FF2B5EF4-FFF2-40B4-BE49-F238E27FC236}">
                    <a16:creationId xmlns:a16="http://schemas.microsoft.com/office/drawing/2014/main" id="{1BDAA882-EF99-E1A1-2AC5-552DB90ECD32}"/>
                  </a:ext>
                </a:extLst>
              </p:cNvPr>
              <p:cNvSpPr/>
              <p:nvPr/>
            </p:nvSpPr>
            <p:spPr>
              <a:xfrm>
                <a:off x="9298175" y="3747027"/>
                <a:ext cx="406681" cy="154401"/>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86" name="Arrow: Left-Right 85">
                <a:extLst>
                  <a:ext uri="{FF2B5EF4-FFF2-40B4-BE49-F238E27FC236}">
                    <a16:creationId xmlns:a16="http://schemas.microsoft.com/office/drawing/2014/main" id="{4D985557-830A-04F8-C3CE-C0231A1439F8}"/>
                  </a:ext>
                </a:extLst>
              </p:cNvPr>
              <p:cNvSpPr/>
              <p:nvPr/>
            </p:nvSpPr>
            <p:spPr>
              <a:xfrm rot="5400000">
                <a:off x="8549986" y="4233526"/>
                <a:ext cx="331271" cy="144867"/>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88" name="TextBox 87">
                <a:extLst>
                  <a:ext uri="{FF2B5EF4-FFF2-40B4-BE49-F238E27FC236}">
                    <a16:creationId xmlns:a16="http://schemas.microsoft.com/office/drawing/2014/main" id="{1836448C-2075-52EA-41D7-51523C0C40D5}"/>
                  </a:ext>
                </a:extLst>
              </p:cNvPr>
              <p:cNvSpPr txBox="1"/>
              <p:nvPr/>
            </p:nvSpPr>
            <p:spPr>
              <a:xfrm>
                <a:off x="9364388" y="3734647"/>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sp>
            <p:nvSpPr>
              <p:cNvPr id="90" name="TextBox 89">
                <a:extLst>
                  <a:ext uri="{FF2B5EF4-FFF2-40B4-BE49-F238E27FC236}">
                    <a16:creationId xmlns:a16="http://schemas.microsoft.com/office/drawing/2014/main" id="{1D82E54E-A4DE-CC9B-41E2-2558A060445B}"/>
                  </a:ext>
                </a:extLst>
              </p:cNvPr>
              <p:cNvSpPr txBox="1"/>
              <p:nvPr/>
            </p:nvSpPr>
            <p:spPr>
              <a:xfrm rot="16200000">
                <a:off x="8556438" y="4205932"/>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grpSp>
            <p:nvGrpSpPr>
              <p:cNvPr id="91" name="Group 90">
                <a:extLst>
                  <a:ext uri="{FF2B5EF4-FFF2-40B4-BE49-F238E27FC236}">
                    <a16:creationId xmlns:a16="http://schemas.microsoft.com/office/drawing/2014/main" id="{F6601D87-5332-B538-7B9A-628AA6B2639D}"/>
                  </a:ext>
                </a:extLst>
              </p:cNvPr>
              <p:cNvGrpSpPr/>
              <p:nvPr/>
            </p:nvGrpSpPr>
            <p:grpSpPr>
              <a:xfrm>
                <a:off x="7564186" y="4203840"/>
                <a:ext cx="174123" cy="65512"/>
                <a:chOff x="8643839" y="3430799"/>
                <a:chExt cx="290244" cy="111833"/>
              </a:xfrm>
            </p:grpSpPr>
            <p:cxnSp>
              <p:nvCxnSpPr>
                <p:cNvPr id="96" name="Straight Connector 95">
                  <a:extLst>
                    <a:ext uri="{FF2B5EF4-FFF2-40B4-BE49-F238E27FC236}">
                      <a16:creationId xmlns:a16="http://schemas.microsoft.com/office/drawing/2014/main" id="{21595D80-D1D8-23FC-E865-9BF3F3A62BCA}"/>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97" name="Straight Connector 96">
                  <a:extLst>
                    <a:ext uri="{FF2B5EF4-FFF2-40B4-BE49-F238E27FC236}">
                      <a16:creationId xmlns:a16="http://schemas.microsoft.com/office/drawing/2014/main" id="{009A3C4C-79D5-91C6-1CBF-76B779F84D44}"/>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982BF63D-7A61-C919-B306-C7ED16187471}"/>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pic>
            <p:nvPicPr>
              <p:cNvPr id="92" name="Picture 91">
                <a:extLst>
                  <a:ext uri="{FF2B5EF4-FFF2-40B4-BE49-F238E27FC236}">
                    <a16:creationId xmlns:a16="http://schemas.microsoft.com/office/drawing/2014/main" id="{34998C35-D4B7-884B-4BAF-CA67477EBA11}"/>
                  </a:ext>
                </a:extLst>
              </p:cNvPr>
              <p:cNvPicPr>
                <a:picLocks noChangeAspect="1"/>
              </p:cNvPicPr>
              <p:nvPr/>
            </p:nvPicPr>
            <p:blipFill>
              <a:blip r:embed="rId3"/>
              <a:stretch>
                <a:fillRect/>
              </a:stretch>
            </p:blipFill>
            <p:spPr>
              <a:xfrm>
                <a:off x="10979444" y="4611345"/>
                <a:ext cx="375136" cy="356208"/>
              </a:xfrm>
              <a:prstGeom prst="rect">
                <a:avLst/>
              </a:prstGeom>
            </p:spPr>
          </p:pic>
          <p:sp>
            <p:nvSpPr>
              <p:cNvPr id="102" name="Arrow: Left-Up 101">
                <a:extLst>
                  <a:ext uri="{FF2B5EF4-FFF2-40B4-BE49-F238E27FC236}">
                    <a16:creationId xmlns:a16="http://schemas.microsoft.com/office/drawing/2014/main" id="{446F1BBD-8051-BDC4-9184-0E90161790C1}"/>
                  </a:ext>
                </a:extLst>
              </p:cNvPr>
              <p:cNvSpPr/>
              <p:nvPr/>
            </p:nvSpPr>
            <p:spPr>
              <a:xfrm flipH="1">
                <a:off x="7876516" y="3303153"/>
                <a:ext cx="340034" cy="1507976"/>
              </a:xfrm>
              <a:prstGeom prst="leftUp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03" name="TextBox 102">
                <a:extLst>
                  <a:ext uri="{FF2B5EF4-FFF2-40B4-BE49-F238E27FC236}">
                    <a16:creationId xmlns:a16="http://schemas.microsoft.com/office/drawing/2014/main" id="{BA607E0D-13E6-21CB-416E-BBD11406BE27}"/>
                  </a:ext>
                </a:extLst>
              </p:cNvPr>
              <p:cNvSpPr txBox="1"/>
              <p:nvPr/>
            </p:nvSpPr>
            <p:spPr>
              <a:xfrm rot="16200000">
                <a:off x="7807363" y="4290698"/>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pic>
            <p:nvPicPr>
              <p:cNvPr id="117" name="Picture 116" descr="A screenshot of a computer&#10;&#10;Description automatically generated">
                <a:extLst>
                  <a:ext uri="{FF2B5EF4-FFF2-40B4-BE49-F238E27FC236}">
                    <a16:creationId xmlns:a16="http://schemas.microsoft.com/office/drawing/2014/main" id="{6B5F95FF-D2D7-AA02-5F77-58D7DB778A56}"/>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7313220" y="1763387"/>
                <a:ext cx="3866363" cy="2246462"/>
              </a:xfrm>
              <a:prstGeom prst="rect">
                <a:avLst/>
              </a:prstGeom>
            </p:spPr>
          </p:pic>
          <p:grpSp>
            <p:nvGrpSpPr>
              <p:cNvPr id="118" name="Group 117">
                <a:extLst>
                  <a:ext uri="{FF2B5EF4-FFF2-40B4-BE49-F238E27FC236}">
                    <a16:creationId xmlns:a16="http://schemas.microsoft.com/office/drawing/2014/main" id="{E848DEE7-07B8-B801-F283-4991E5409F89}"/>
                  </a:ext>
                </a:extLst>
              </p:cNvPr>
              <p:cNvGrpSpPr/>
              <p:nvPr/>
            </p:nvGrpSpPr>
            <p:grpSpPr>
              <a:xfrm>
                <a:off x="7169557" y="3247059"/>
                <a:ext cx="259035" cy="885426"/>
                <a:chOff x="6498615" y="3069590"/>
                <a:chExt cx="303099" cy="1091099"/>
              </a:xfrm>
            </p:grpSpPr>
            <p:sp>
              <p:nvSpPr>
                <p:cNvPr id="63" name="Rectangle: Rounded Corners 62">
                  <a:extLst>
                    <a:ext uri="{FF2B5EF4-FFF2-40B4-BE49-F238E27FC236}">
                      <a16:creationId xmlns:a16="http://schemas.microsoft.com/office/drawing/2014/main" id="{42204514-8689-18C4-6F1B-372B49377E2F}"/>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6" name="Oval 75">
                  <a:extLst>
                    <a:ext uri="{FF2B5EF4-FFF2-40B4-BE49-F238E27FC236}">
                      <a16:creationId xmlns:a16="http://schemas.microsoft.com/office/drawing/2014/main" id="{F8AD257D-01E2-2175-4610-73C24502A226}"/>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77" name="Oval 76">
                  <a:extLst>
                    <a:ext uri="{FF2B5EF4-FFF2-40B4-BE49-F238E27FC236}">
                      <a16:creationId xmlns:a16="http://schemas.microsoft.com/office/drawing/2014/main" id="{BC70FF8A-AEFA-0140-A5AA-93DCAE81181C}"/>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78" name="Oval 77">
                  <a:extLst>
                    <a:ext uri="{FF2B5EF4-FFF2-40B4-BE49-F238E27FC236}">
                      <a16:creationId xmlns:a16="http://schemas.microsoft.com/office/drawing/2014/main" id="{D69F47D6-56A5-C3ED-8CAE-3FC3F3FB702E}"/>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grpSp>
        <p:sp>
          <p:nvSpPr>
            <p:cNvPr id="119" name="TextBox 118">
              <a:extLst>
                <a:ext uri="{FF2B5EF4-FFF2-40B4-BE49-F238E27FC236}">
                  <a16:creationId xmlns:a16="http://schemas.microsoft.com/office/drawing/2014/main" id="{3A540F9C-0F22-907B-FCB5-78E8C7C7D70A}"/>
                </a:ext>
              </a:extLst>
            </p:cNvPr>
            <p:cNvSpPr txBox="1"/>
            <p:nvPr/>
          </p:nvSpPr>
          <p:spPr>
            <a:xfrm>
              <a:off x="10588711" y="5389195"/>
              <a:ext cx="781465" cy="293983"/>
            </a:xfrm>
            <a:prstGeom prst="rect">
              <a:avLst/>
            </a:prstGeom>
          </p:spPr>
          <p:txBody>
            <a:bodyPr vert="horz" wrap="none" lIns="0" tIns="0" rIns="0" bIns="0" rtlCol="0" anchor="t" anchorCtr="0">
              <a:normAutofit/>
            </a:bodyPr>
            <a:lstStyle/>
            <a:p>
              <a:pPr algn="l"/>
              <a:r>
                <a:rPr lang="en-US" sz="1400" b="1" dirty="0">
                  <a:solidFill>
                    <a:schemeClr val="accent2">
                      <a:lumMod val="75000"/>
                    </a:schemeClr>
                  </a:solidFill>
                </a:rPr>
                <a:t>Sink side </a:t>
              </a:r>
            </a:p>
          </p:txBody>
        </p:sp>
      </p:grpSp>
      <p:grpSp>
        <p:nvGrpSpPr>
          <p:cNvPr id="202" name="Group 201">
            <a:extLst>
              <a:ext uri="{FF2B5EF4-FFF2-40B4-BE49-F238E27FC236}">
                <a16:creationId xmlns:a16="http://schemas.microsoft.com/office/drawing/2014/main" id="{B863718E-6A75-A6BE-E650-C667CD6BCD65}"/>
              </a:ext>
            </a:extLst>
          </p:cNvPr>
          <p:cNvGrpSpPr/>
          <p:nvPr/>
        </p:nvGrpSpPr>
        <p:grpSpPr>
          <a:xfrm>
            <a:off x="5880369" y="3498226"/>
            <a:ext cx="1646884" cy="212777"/>
            <a:chOff x="4911362" y="644220"/>
            <a:chExt cx="2166817" cy="204546"/>
          </a:xfrm>
        </p:grpSpPr>
        <p:pic>
          <p:nvPicPr>
            <p:cNvPr id="203" name="Picture 202">
              <a:extLst>
                <a:ext uri="{FF2B5EF4-FFF2-40B4-BE49-F238E27FC236}">
                  <a16:creationId xmlns:a16="http://schemas.microsoft.com/office/drawing/2014/main" id="{B78B0FE0-6D35-EA89-7815-DF346EBCE06C}"/>
                </a:ext>
              </a:extLst>
            </p:cNvPr>
            <p:cNvPicPr>
              <a:picLocks noChangeAspect="1"/>
            </p:cNvPicPr>
            <p:nvPr/>
          </p:nvPicPr>
          <p:blipFill rotWithShape="1">
            <a:blip r:embed="rId5">
              <a:clrChange>
                <a:clrFrom>
                  <a:srgbClr val="FFFFFF"/>
                </a:clrFrom>
                <a:clrTo>
                  <a:srgbClr val="FFFFFF">
                    <a:alpha val="0"/>
                  </a:srgbClr>
                </a:clrTo>
              </a:clrChange>
            </a:blip>
            <a:srcRect b="4496"/>
            <a:stretch/>
          </p:blipFill>
          <p:spPr>
            <a:xfrm rot="16200000">
              <a:off x="5363587" y="191995"/>
              <a:ext cx="204545" cy="1108996"/>
            </a:xfrm>
            <a:prstGeom prst="rect">
              <a:avLst/>
            </a:prstGeom>
          </p:spPr>
        </p:pic>
        <p:pic>
          <p:nvPicPr>
            <p:cNvPr id="204" name="Picture 203">
              <a:extLst>
                <a:ext uri="{FF2B5EF4-FFF2-40B4-BE49-F238E27FC236}">
                  <a16:creationId xmlns:a16="http://schemas.microsoft.com/office/drawing/2014/main" id="{CD5F4449-EEB6-F26D-28AD-79FA35C86F8B}"/>
                </a:ext>
              </a:extLst>
            </p:cNvPr>
            <p:cNvPicPr>
              <a:picLocks noChangeAspect="1"/>
            </p:cNvPicPr>
            <p:nvPr/>
          </p:nvPicPr>
          <p:blipFill rotWithShape="1">
            <a:blip r:embed="rId5">
              <a:clrChange>
                <a:clrFrom>
                  <a:srgbClr val="FFFFFF"/>
                </a:clrFrom>
                <a:clrTo>
                  <a:srgbClr val="FFFFFF">
                    <a:alpha val="0"/>
                  </a:srgbClr>
                </a:clrTo>
              </a:clrChange>
            </a:blip>
            <a:srcRect b="4496"/>
            <a:stretch/>
          </p:blipFill>
          <p:spPr>
            <a:xfrm rot="16200000" flipV="1">
              <a:off x="6421409" y="191996"/>
              <a:ext cx="204545" cy="1108995"/>
            </a:xfrm>
            <a:prstGeom prst="rect">
              <a:avLst/>
            </a:prstGeom>
          </p:spPr>
        </p:pic>
      </p:grpSp>
      <p:grpSp>
        <p:nvGrpSpPr>
          <p:cNvPr id="211" name="Group 210">
            <a:extLst>
              <a:ext uri="{FF2B5EF4-FFF2-40B4-BE49-F238E27FC236}">
                <a16:creationId xmlns:a16="http://schemas.microsoft.com/office/drawing/2014/main" id="{F37ABB60-B27F-CAA3-82D5-8D01227219BB}"/>
              </a:ext>
            </a:extLst>
          </p:cNvPr>
          <p:cNvGrpSpPr/>
          <p:nvPr/>
        </p:nvGrpSpPr>
        <p:grpSpPr>
          <a:xfrm>
            <a:off x="292371" y="1667196"/>
            <a:ext cx="5720967" cy="4560313"/>
            <a:chOff x="288215" y="1667196"/>
            <a:chExt cx="5720967" cy="4560313"/>
          </a:xfrm>
        </p:grpSpPr>
        <p:sp>
          <p:nvSpPr>
            <p:cNvPr id="186" name="Rectangle 185">
              <a:extLst>
                <a:ext uri="{FF2B5EF4-FFF2-40B4-BE49-F238E27FC236}">
                  <a16:creationId xmlns:a16="http://schemas.microsoft.com/office/drawing/2014/main" id="{1DAD7143-B502-ECC0-9619-918A477DD9BF}"/>
                </a:ext>
              </a:extLst>
            </p:cNvPr>
            <p:cNvSpPr/>
            <p:nvPr/>
          </p:nvSpPr>
          <p:spPr>
            <a:xfrm>
              <a:off x="305206" y="1667196"/>
              <a:ext cx="5406919" cy="4118902"/>
            </a:xfrm>
            <a:prstGeom prst="rect">
              <a:avLst/>
            </a:prstGeom>
            <a:solidFill>
              <a:schemeClr val="bg2">
                <a:lumMod val="20000"/>
                <a:lumOff val="80000"/>
              </a:schemeClr>
            </a:solidFill>
            <a:ln>
              <a:solidFill>
                <a:schemeClr val="accent1"/>
              </a:solidFill>
              <a:miter lim="800000"/>
            </a:ln>
            <a:effectLst>
              <a:outerShdw blurRad="50800" dist="38100" dir="13500000" algn="br"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183" name="Straight Connector 182">
              <a:extLst>
                <a:ext uri="{FF2B5EF4-FFF2-40B4-BE49-F238E27FC236}">
                  <a16:creationId xmlns:a16="http://schemas.microsoft.com/office/drawing/2014/main" id="{E242D756-4D1D-2416-536D-A30B2064E300}"/>
                </a:ext>
              </a:extLst>
            </p:cNvPr>
            <p:cNvCxnSpPr>
              <a:cxnSpLocks/>
            </p:cNvCxnSpPr>
            <p:nvPr/>
          </p:nvCxnSpPr>
          <p:spPr>
            <a:xfrm>
              <a:off x="5357716" y="4062280"/>
              <a:ext cx="888" cy="311706"/>
            </a:xfrm>
            <a:prstGeom prst="line">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66" name="Picture 165" descr="A screenshot of a computer&#10;&#10;Description automatically generated">
              <a:extLst>
                <a:ext uri="{FF2B5EF4-FFF2-40B4-BE49-F238E27FC236}">
                  <a16:creationId xmlns:a16="http://schemas.microsoft.com/office/drawing/2014/main" id="{4F8E93BC-9F4A-A3B4-2D10-567DC7BD8908}"/>
                </a:ext>
              </a:extLst>
            </p:cNvPr>
            <p:cNvPicPr>
              <a:picLocks noChangeAspect="1"/>
            </p:cNvPicPr>
            <p:nvPr/>
          </p:nvPicPr>
          <p:blipFill rotWithShape="1">
            <a:blip r:embed="rId6" cstate="screen">
              <a:extLst>
                <a:ext uri="{28A0092B-C50C-407E-A947-70E740481C1C}">
                  <a14:useLocalDpi xmlns:a14="http://schemas.microsoft.com/office/drawing/2010/main" val="0"/>
                </a:ext>
              </a:extLst>
            </a:blip>
            <a:srcRect/>
            <a:stretch/>
          </p:blipFill>
          <p:spPr>
            <a:xfrm>
              <a:off x="288215" y="1675308"/>
              <a:ext cx="5707884" cy="2090638"/>
            </a:xfrm>
            <a:prstGeom prst="rect">
              <a:avLst/>
            </a:prstGeom>
          </p:spPr>
        </p:pic>
        <p:sp>
          <p:nvSpPr>
            <p:cNvPr id="153" name="Arrow: Left-Right 152">
              <a:extLst>
                <a:ext uri="{FF2B5EF4-FFF2-40B4-BE49-F238E27FC236}">
                  <a16:creationId xmlns:a16="http://schemas.microsoft.com/office/drawing/2014/main" id="{5D36C9D2-6DB2-7692-0BC9-A23FC97ED2F3}"/>
                </a:ext>
              </a:extLst>
            </p:cNvPr>
            <p:cNvSpPr/>
            <p:nvPr/>
          </p:nvSpPr>
          <p:spPr>
            <a:xfrm rot="5400000">
              <a:off x="3463982" y="4173811"/>
              <a:ext cx="401739" cy="171858"/>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35" name="Rectangle: Rounded Corners 134">
              <a:extLst>
                <a:ext uri="{FF2B5EF4-FFF2-40B4-BE49-F238E27FC236}">
                  <a16:creationId xmlns:a16="http://schemas.microsoft.com/office/drawing/2014/main" id="{C7F3021E-F2C0-FCED-C322-D677C304819D}"/>
                </a:ext>
              </a:extLst>
            </p:cNvPr>
            <p:cNvSpPr/>
            <p:nvPr/>
          </p:nvSpPr>
          <p:spPr>
            <a:xfrm>
              <a:off x="2531086" y="3303249"/>
              <a:ext cx="1556905" cy="750882"/>
            </a:xfrm>
            <a:prstGeom prst="roundRect">
              <a:avLst>
                <a:gd name="adj" fmla="val 11327"/>
              </a:avLst>
            </a:prstGeom>
            <a:solidFill>
              <a:srgbClr val="2BC5B6"/>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MAX25432</a:t>
              </a:r>
            </a:p>
            <a:p>
              <a:pPr algn="ctr"/>
              <a:r>
                <a:rPr lang="en-US" sz="1200" b="1" dirty="0">
                  <a:solidFill>
                    <a:schemeClr val="tx1">
                      <a:lumMod val="85000"/>
                      <a:lumOff val="15000"/>
                    </a:schemeClr>
                  </a:solidFill>
                  <a:latin typeface="Barlow" panose="00000500000000000000" pitchFamily="2" charset="0"/>
                </a:rPr>
                <a:t>TCPC</a:t>
              </a:r>
              <a:endParaRPr lang="en-US" sz="600" b="1" dirty="0">
                <a:solidFill>
                  <a:schemeClr val="tx1">
                    <a:lumMod val="85000"/>
                    <a:lumOff val="15000"/>
                  </a:schemeClr>
                </a:solidFill>
                <a:latin typeface="Barlow" panose="00000500000000000000" pitchFamily="2" charset="0"/>
              </a:endParaRPr>
            </a:p>
          </p:txBody>
        </p:sp>
        <p:sp>
          <p:nvSpPr>
            <p:cNvPr id="139" name="Rectangle: Rounded Corners 138">
              <a:extLst>
                <a:ext uri="{FF2B5EF4-FFF2-40B4-BE49-F238E27FC236}">
                  <a16:creationId xmlns:a16="http://schemas.microsoft.com/office/drawing/2014/main" id="{DAB91F9D-CB72-E40C-7A22-DB34BD95E1E2}"/>
                </a:ext>
              </a:extLst>
            </p:cNvPr>
            <p:cNvSpPr/>
            <p:nvPr/>
          </p:nvSpPr>
          <p:spPr>
            <a:xfrm>
              <a:off x="2531085" y="4483130"/>
              <a:ext cx="1556905"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1000" b="1" dirty="0">
                  <a:solidFill>
                    <a:schemeClr val="tx1">
                      <a:lumMod val="85000"/>
                      <a:lumOff val="15000"/>
                    </a:schemeClr>
                  </a:solidFill>
                  <a:latin typeface="Barlow" panose="00000500000000000000" pitchFamily="2" charset="0"/>
                </a:rPr>
                <a:t>TCPM</a:t>
              </a:r>
              <a:endParaRPr lang="en-US" sz="600" b="1" dirty="0">
                <a:solidFill>
                  <a:schemeClr val="tx1">
                    <a:lumMod val="85000"/>
                    <a:lumOff val="15000"/>
                  </a:schemeClr>
                </a:solidFill>
                <a:latin typeface="Barlow" panose="00000500000000000000" pitchFamily="2" charset="0"/>
              </a:endParaRPr>
            </a:p>
          </p:txBody>
        </p:sp>
        <p:sp>
          <p:nvSpPr>
            <p:cNvPr id="152" name="TextBox 151">
              <a:extLst>
                <a:ext uri="{FF2B5EF4-FFF2-40B4-BE49-F238E27FC236}">
                  <a16:creationId xmlns:a16="http://schemas.microsoft.com/office/drawing/2014/main" id="{421FACBD-025A-7714-77C9-6385DE37CBD2}"/>
                </a:ext>
              </a:extLst>
            </p:cNvPr>
            <p:cNvSpPr txBox="1"/>
            <p:nvPr/>
          </p:nvSpPr>
          <p:spPr>
            <a:xfrm rot="16200000">
              <a:off x="3492850" y="4139223"/>
              <a:ext cx="344002" cy="200055"/>
            </a:xfrm>
            <a:prstGeom prst="rect">
              <a:avLst/>
            </a:prstGeom>
            <a:noFill/>
            <a:scene3d>
              <a:camera prst="orthographicFront"/>
              <a:lightRig rig="threePt" dir="t"/>
            </a:scene3d>
            <a:sp3d>
              <a:bevelT w="165100" prst="coolSlant"/>
            </a:sp3d>
          </p:spPr>
          <p:txBody>
            <a:bodyPr wrap="square" rtlCol="0">
              <a:spAutoFit/>
            </a:bodyPr>
            <a:lstStyle/>
            <a:p>
              <a:r>
                <a:rPr lang="en-US" sz="700" b="1" dirty="0">
                  <a:latin typeface="Barlow" panose="00000500000000000000" pitchFamily="2" charset="0"/>
                </a:rPr>
                <a:t>I2C</a:t>
              </a:r>
            </a:p>
          </p:txBody>
        </p:sp>
        <p:sp>
          <p:nvSpPr>
            <p:cNvPr id="156" name="Arrow: Right 155">
              <a:extLst>
                <a:ext uri="{FF2B5EF4-FFF2-40B4-BE49-F238E27FC236}">
                  <a16:creationId xmlns:a16="http://schemas.microsoft.com/office/drawing/2014/main" id="{29F80122-E8C4-AAC9-6531-65543DC3644C}"/>
                </a:ext>
              </a:extLst>
            </p:cNvPr>
            <p:cNvSpPr/>
            <p:nvPr/>
          </p:nvSpPr>
          <p:spPr>
            <a:xfrm rot="5400000">
              <a:off x="3063810" y="4150742"/>
              <a:ext cx="401737" cy="208520"/>
            </a:xfrm>
            <a:prstGeom prst="right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58" name="TextBox 157">
              <a:extLst>
                <a:ext uri="{FF2B5EF4-FFF2-40B4-BE49-F238E27FC236}">
                  <a16:creationId xmlns:a16="http://schemas.microsoft.com/office/drawing/2014/main" id="{D3E514AD-C3E0-4495-5230-E14E65C352F9}"/>
                </a:ext>
              </a:extLst>
            </p:cNvPr>
            <p:cNvSpPr txBox="1"/>
            <p:nvPr/>
          </p:nvSpPr>
          <p:spPr>
            <a:xfrm rot="16200000">
              <a:off x="3037727" y="4118221"/>
              <a:ext cx="45717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ALERT</a:t>
              </a:r>
            </a:p>
          </p:txBody>
        </p:sp>
        <p:sp>
          <p:nvSpPr>
            <p:cNvPr id="159" name="Arrow: Right 158">
              <a:extLst>
                <a:ext uri="{FF2B5EF4-FFF2-40B4-BE49-F238E27FC236}">
                  <a16:creationId xmlns:a16="http://schemas.microsoft.com/office/drawing/2014/main" id="{D6EFC1C0-8A63-7690-621B-20EAA480E954}"/>
                </a:ext>
              </a:extLst>
            </p:cNvPr>
            <p:cNvSpPr/>
            <p:nvPr/>
          </p:nvSpPr>
          <p:spPr>
            <a:xfrm rot="5400000">
              <a:off x="2678076" y="4150743"/>
              <a:ext cx="401737" cy="208520"/>
            </a:xfrm>
            <a:prstGeom prst="right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60" name="TextBox 159">
              <a:extLst>
                <a:ext uri="{FF2B5EF4-FFF2-40B4-BE49-F238E27FC236}">
                  <a16:creationId xmlns:a16="http://schemas.microsoft.com/office/drawing/2014/main" id="{A8BA489D-2A27-8D86-E716-07D2BAC7394D}"/>
                </a:ext>
              </a:extLst>
            </p:cNvPr>
            <p:cNvSpPr txBox="1"/>
            <p:nvPr/>
          </p:nvSpPr>
          <p:spPr>
            <a:xfrm rot="16200000">
              <a:off x="2633804" y="4127530"/>
              <a:ext cx="479618"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POWER</a:t>
              </a:r>
            </a:p>
          </p:txBody>
        </p:sp>
        <p:grpSp>
          <p:nvGrpSpPr>
            <p:cNvPr id="168" name="Group 167">
              <a:extLst>
                <a:ext uri="{FF2B5EF4-FFF2-40B4-BE49-F238E27FC236}">
                  <a16:creationId xmlns:a16="http://schemas.microsoft.com/office/drawing/2014/main" id="{4BC7C36B-9067-AAA4-58AD-4F8C21F7D271}"/>
                </a:ext>
              </a:extLst>
            </p:cNvPr>
            <p:cNvGrpSpPr/>
            <p:nvPr/>
          </p:nvGrpSpPr>
          <p:grpSpPr>
            <a:xfrm>
              <a:off x="5567748" y="3291064"/>
              <a:ext cx="259035" cy="885426"/>
              <a:chOff x="6498615" y="3069590"/>
              <a:chExt cx="303099" cy="1091099"/>
            </a:xfrm>
          </p:grpSpPr>
          <p:sp>
            <p:nvSpPr>
              <p:cNvPr id="169" name="Rectangle: Rounded Corners 168">
                <a:extLst>
                  <a:ext uri="{FF2B5EF4-FFF2-40B4-BE49-F238E27FC236}">
                    <a16:creationId xmlns:a16="http://schemas.microsoft.com/office/drawing/2014/main" id="{895FA029-A134-040B-53F0-7AA62806DFA1}"/>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0" name="Oval 169">
                <a:extLst>
                  <a:ext uri="{FF2B5EF4-FFF2-40B4-BE49-F238E27FC236}">
                    <a16:creationId xmlns:a16="http://schemas.microsoft.com/office/drawing/2014/main" id="{74685BDF-02CD-433D-B8A0-BEB06D36E244}"/>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171" name="Oval 170">
                <a:extLst>
                  <a:ext uri="{FF2B5EF4-FFF2-40B4-BE49-F238E27FC236}">
                    <a16:creationId xmlns:a16="http://schemas.microsoft.com/office/drawing/2014/main" id="{4C9E99AB-DD79-F47E-8FA2-970AA23F6260}"/>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172" name="Oval 171">
                <a:extLst>
                  <a:ext uri="{FF2B5EF4-FFF2-40B4-BE49-F238E27FC236}">
                    <a16:creationId xmlns:a16="http://schemas.microsoft.com/office/drawing/2014/main" id="{8CDB93E2-1139-49AE-4C73-5ADC7669989C}"/>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cxnSp>
          <p:nvCxnSpPr>
            <p:cNvPr id="174" name="Connector: Elbow 173">
              <a:extLst>
                <a:ext uri="{FF2B5EF4-FFF2-40B4-BE49-F238E27FC236}">
                  <a16:creationId xmlns:a16="http://schemas.microsoft.com/office/drawing/2014/main" id="{ABBB2A01-7A0D-BC05-2674-D0A9656476AE}"/>
                </a:ext>
              </a:extLst>
            </p:cNvPr>
            <p:cNvCxnSpPr>
              <a:cxnSpLocks/>
              <a:endCxn id="169" idx="1"/>
            </p:cNvCxnSpPr>
            <p:nvPr/>
          </p:nvCxnSpPr>
          <p:spPr>
            <a:xfrm>
              <a:off x="4078110" y="3474612"/>
              <a:ext cx="1489638" cy="259165"/>
            </a:xfrm>
            <a:prstGeom prst="bentConnector3">
              <a:avLst>
                <a:gd name="adj1" fmla="val 50000"/>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78" name="Group 177">
              <a:extLst>
                <a:ext uri="{FF2B5EF4-FFF2-40B4-BE49-F238E27FC236}">
                  <a16:creationId xmlns:a16="http://schemas.microsoft.com/office/drawing/2014/main" id="{872B31A6-BB00-E644-37F8-31BC0B51B10A}"/>
                </a:ext>
              </a:extLst>
            </p:cNvPr>
            <p:cNvGrpSpPr/>
            <p:nvPr/>
          </p:nvGrpSpPr>
          <p:grpSpPr>
            <a:xfrm>
              <a:off x="5272268" y="4374557"/>
              <a:ext cx="174123" cy="65512"/>
              <a:chOff x="8643839" y="3430799"/>
              <a:chExt cx="290244" cy="111833"/>
            </a:xfrm>
          </p:grpSpPr>
          <p:cxnSp>
            <p:nvCxnSpPr>
              <p:cNvPr id="179" name="Straight Connector 178">
                <a:extLst>
                  <a:ext uri="{FF2B5EF4-FFF2-40B4-BE49-F238E27FC236}">
                    <a16:creationId xmlns:a16="http://schemas.microsoft.com/office/drawing/2014/main" id="{7A45C264-1BAB-5CC8-9E18-79ACA49DBB4B}"/>
                  </a:ext>
                </a:extLst>
              </p:cNvPr>
              <p:cNvCxnSpPr>
                <a:cxnSpLocks/>
              </p:cNvCxnSpPr>
              <p:nvPr/>
            </p:nvCxnSpPr>
            <p:spPr>
              <a:xfrm>
                <a:off x="8643839" y="3430799"/>
                <a:ext cx="290244"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80" name="Straight Connector 179">
                <a:extLst>
                  <a:ext uri="{FF2B5EF4-FFF2-40B4-BE49-F238E27FC236}">
                    <a16:creationId xmlns:a16="http://schemas.microsoft.com/office/drawing/2014/main" id="{10D3D247-38A5-FCA8-2674-8258EF2E360F}"/>
                  </a:ext>
                </a:extLst>
              </p:cNvPr>
              <p:cNvCxnSpPr>
                <a:cxnSpLocks/>
              </p:cNvCxnSpPr>
              <p:nvPr/>
            </p:nvCxnSpPr>
            <p:spPr>
              <a:xfrm>
                <a:off x="8668272" y="3487691"/>
                <a:ext cx="229642"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81" name="Straight Connector 180">
                <a:extLst>
                  <a:ext uri="{FF2B5EF4-FFF2-40B4-BE49-F238E27FC236}">
                    <a16:creationId xmlns:a16="http://schemas.microsoft.com/office/drawing/2014/main" id="{3C10D983-BCE9-9234-AB8F-306AB6A52440}"/>
                  </a:ext>
                </a:extLst>
              </p:cNvPr>
              <p:cNvCxnSpPr>
                <a:cxnSpLocks/>
              </p:cNvCxnSpPr>
              <p:nvPr/>
            </p:nvCxnSpPr>
            <p:spPr>
              <a:xfrm>
                <a:off x="8738716" y="3542632"/>
                <a:ext cx="93173"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187" name="TextBox 186">
              <a:extLst>
                <a:ext uri="{FF2B5EF4-FFF2-40B4-BE49-F238E27FC236}">
                  <a16:creationId xmlns:a16="http://schemas.microsoft.com/office/drawing/2014/main" id="{2929F32D-5195-D6B4-A6C4-25FF249B95B6}"/>
                </a:ext>
              </a:extLst>
            </p:cNvPr>
            <p:cNvSpPr txBox="1"/>
            <p:nvPr/>
          </p:nvSpPr>
          <p:spPr>
            <a:xfrm>
              <a:off x="423371" y="5485474"/>
              <a:ext cx="781465" cy="742035"/>
            </a:xfrm>
            <a:prstGeom prst="rect">
              <a:avLst/>
            </a:prstGeom>
          </p:spPr>
          <p:txBody>
            <a:bodyPr vert="horz" wrap="none" lIns="0" tIns="0" rIns="0" bIns="0" rtlCol="0" anchor="t" anchorCtr="0">
              <a:normAutofit/>
            </a:bodyPr>
            <a:lstStyle/>
            <a:p>
              <a:pPr algn="l"/>
              <a:r>
                <a:rPr lang="en-US" sz="1400" b="1" dirty="0"/>
                <a:t>Source Side (PPS Capable)</a:t>
              </a:r>
            </a:p>
          </p:txBody>
        </p:sp>
        <p:cxnSp>
          <p:nvCxnSpPr>
            <p:cNvPr id="190" name="Straight Connector 189">
              <a:extLst>
                <a:ext uri="{FF2B5EF4-FFF2-40B4-BE49-F238E27FC236}">
                  <a16:creationId xmlns:a16="http://schemas.microsoft.com/office/drawing/2014/main" id="{255E81B3-3321-9519-AF8A-4899907BE386}"/>
                </a:ext>
              </a:extLst>
            </p:cNvPr>
            <p:cNvCxnSpPr>
              <a:cxnSpLocks/>
            </p:cNvCxnSpPr>
            <p:nvPr/>
          </p:nvCxnSpPr>
          <p:spPr>
            <a:xfrm flipH="1">
              <a:off x="5355024" y="4065009"/>
              <a:ext cx="19858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06" name="Connector: Elbow 205">
              <a:extLst>
                <a:ext uri="{FF2B5EF4-FFF2-40B4-BE49-F238E27FC236}">
                  <a16:creationId xmlns:a16="http://schemas.microsoft.com/office/drawing/2014/main" id="{DB4E4B9C-531B-BA4D-9366-036C9576B9B3}"/>
                </a:ext>
              </a:extLst>
            </p:cNvPr>
            <p:cNvCxnSpPr>
              <a:cxnSpLocks/>
            </p:cNvCxnSpPr>
            <p:nvPr/>
          </p:nvCxnSpPr>
          <p:spPr>
            <a:xfrm>
              <a:off x="4073261" y="3637111"/>
              <a:ext cx="1489638" cy="259165"/>
            </a:xfrm>
            <a:prstGeom prst="bentConnector3">
              <a:avLst>
                <a:gd name="adj1" fmla="val 39992"/>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08" name="TextBox 207">
              <a:extLst>
                <a:ext uri="{FF2B5EF4-FFF2-40B4-BE49-F238E27FC236}">
                  <a16:creationId xmlns:a16="http://schemas.microsoft.com/office/drawing/2014/main" id="{CC3B5136-1862-D3FF-7A30-7A7E1F71F601}"/>
                </a:ext>
              </a:extLst>
            </p:cNvPr>
            <p:cNvSpPr txBox="1"/>
            <p:nvPr/>
          </p:nvSpPr>
          <p:spPr>
            <a:xfrm>
              <a:off x="5102389" y="3546972"/>
              <a:ext cx="344002"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CC1</a:t>
              </a:r>
            </a:p>
          </p:txBody>
        </p:sp>
        <p:sp>
          <p:nvSpPr>
            <p:cNvPr id="209" name="TextBox 208">
              <a:extLst>
                <a:ext uri="{FF2B5EF4-FFF2-40B4-BE49-F238E27FC236}">
                  <a16:creationId xmlns:a16="http://schemas.microsoft.com/office/drawing/2014/main" id="{04CB79C4-11B1-78A9-FFEC-61F2B254EBA9}"/>
                </a:ext>
              </a:extLst>
            </p:cNvPr>
            <p:cNvSpPr txBox="1"/>
            <p:nvPr/>
          </p:nvSpPr>
          <p:spPr>
            <a:xfrm>
              <a:off x="5107228" y="3719918"/>
              <a:ext cx="403020"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CC2</a:t>
              </a:r>
            </a:p>
          </p:txBody>
        </p:sp>
        <p:sp>
          <p:nvSpPr>
            <p:cNvPr id="210" name="TextBox 209">
              <a:extLst>
                <a:ext uri="{FF2B5EF4-FFF2-40B4-BE49-F238E27FC236}">
                  <a16:creationId xmlns:a16="http://schemas.microsoft.com/office/drawing/2014/main" id="{C17DF8A0-EBEF-F977-2E44-5D0FFCFB2B32}"/>
                </a:ext>
              </a:extLst>
            </p:cNvPr>
            <p:cNvSpPr txBox="1"/>
            <p:nvPr/>
          </p:nvSpPr>
          <p:spPr>
            <a:xfrm>
              <a:off x="5233339" y="3087709"/>
              <a:ext cx="775843"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VBUS</a:t>
              </a:r>
            </a:p>
          </p:txBody>
        </p:sp>
      </p:grpSp>
      <p:sp>
        <p:nvSpPr>
          <p:cNvPr id="3" name="TextBox 2">
            <a:extLst>
              <a:ext uri="{FF2B5EF4-FFF2-40B4-BE49-F238E27FC236}">
                <a16:creationId xmlns:a16="http://schemas.microsoft.com/office/drawing/2014/main" id="{9F627378-5D47-0753-CF4C-387454C618BB}"/>
              </a:ext>
            </a:extLst>
          </p:cNvPr>
          <p:cNvSpPr txBox="1"/>
          <p:nvPr/>
        </p:nvSpPr>
        <p:spPr>
          <a:xfrm>
            <a:off x="4133515" y="2872999"/>
            <a:ext cx="1203194" cy="386986"/>
          </a:xfrm>
          <a:prstGeom prst="rect">
            <a:avLst/>
          </a:prstGeom>
        </p:spPr>
        <p:txBody>
          <a:bodyPr vert="horz" wrap="none" lIns="0" tIns="0" rIns="0" bIns="0" rtlCol="0" anchor="t" anchorCtr="0">
            <a:normAutofit/>
          </a:bodyPr>
          <a:lstStyle/>
          <a:p>
            <a:pPr algn="l"/>
            <a:r>
              <a:rPr lang="en-US" sz="1400" b="1" dirty="0"/>
              <a:t>APDO: 3.3V - 21.0V</a:t>
            </a:r>
          </a:p>
        </p:txBody>
      </p:sp>
      <p:sp>
        <p:nvSpPr>
          <p:cNvPr id="7" name="TextBox 6">
            <a:extLst>
              <a:ext uri="{FF2B5EF4-FFF2-40B4-BE49-F238E27FC236}">
                <a16:creationId xmlns:a16="http://schemas.microsoft.com/office/drawing/2014/main" id="{6954379E-9175-E6CD-C637-09F69517E0A2}"/>
              </a:ext>
            </a:extLst>
          </p:cNvPr>
          <p:cNvSpPr txBox="1"/>
          <p:nvPr/>
        </p:nvSpPr>
        <p:spPr>
          <a:xfrm>
            <a:off x="11104753" y="4812721"/>
            <a:ext cx="1203194" cy="386986"/>
          </a:xfrm>
          <a:prstGeom prst="rect">
            <a:avLst/>
          </a:prstGeom>
        </p:spPr>
        <p:txBody>
          <a:bodyPr vert="horz" wrap="none" lIns="0" tIns="0" rIns="0" bIns="0" rtlCol="0" anchor="t" anchorCtr="0">
            <a:normAutofit/>
          </a:bodyPr>
          <a:lstStyle/>
          <a:p>
            <a:pPr algn="l"/>
            <a:r>
              <a:rPr lang="en-US" sz="1400" b="1" dirty="0"/>
              <a:t>3.6V</a:t>
            </a:r>
          </a:p>
        </p:txBody>
      </p:sp>
      <p:sp>
        <p:nvSpPr>
          <p:cNvPr id="8" name="TextBox 7">
            <a:extLst>
              <a:ext uri="{FF2B5EF4-FFF2-40B4-BE49-F238E27FC236}">
                <a16:creationId xmlns:a16="http://schemas.microsoft.com/office/drawing/2014/main" id="{259946A5-C008-F296-C54B-A8D30C571063}"/>
              </a:ext>
            </a:extLst>
          </p:cNvPr>
          <p:cNvSpPr txBox="1"/>
          <p:nvPr/>
        </p:nvSpPr>
        <p:spPr>
          <a:xfrm>
            <a:off x="7294887" y="3068182"/>
            <a:ext cx="412732" cy="386986"/>
          </a:xfrm>
          <a:prstGeom prst="rect">
            <a:avLst/>
          </a:prstGeom>
        </p:spPr>
        <p:txBody>
          <a:bodyPr vert="horz" wrap="none" lIns="0" tIns="0" rIns="0" bIns="0" rtlCol="0" anchor="t" anchorCtr="0">
            <a:normAutofit/>
          </a:bodyPr>
          <a:lstStyle/>
          <a:p>
            <a:pPr algn="l"/>
            <a:r>
              <a:rPr lang="en-US" sz="1400" b="1" dirty="0"/>
              <a:t>3.6V</a:t>
            </a:r>
          </a:p>
        </p:txBody>
      </p:sp>
      <p:sp>
        <p:nvSpPr>
          <p:cNvPr id="9" name="TextBox 8">
            <a:extLst>
              <a:ext uri="{FF2B5EF4-FFF2-40B4-BE49-F238E27FC236}">
                <a16:creationId xmlns:a16="http://schemas.microsoft.com/office/drawing/2014/main" id="{54171AD7-579B-4F3A-8989-89718C64D05C}"/>
              </a:ext>
            </a:extLst>
          </p:cNvPr>
          <p:cNvSpPr txBox="1"/>
          <p:nvPr/>
        </p:nvSpPr>
        <p:spPr>
          <a:xfrm>
            <a:off x="769883" y="2527171"/>
            <a:ext cx="401587" cy="386986"/>
          </a:xfrm>
          <a:prstGeom prst="rect">
            <a:avLst/>
          </a:prstGeom>
        </p:spPr>
        <p:txBody>
          <a:bodyPr vert="horz" wrap="none" lIns="0" tIns="0" rIns="0" bIns="0" rtlCol="0" anchor="t" anchorCtr="0">
            <a:normAutofit/>
          </a:bodyPr>
          <a:lstStyle/>
          <a:p>
            <a:pPr algn="l"/>
            <a:r>
              <a:rPr lang="en-US" sz="1400" b="1" dirty="0"/>
              <a:t>14V</a:t>
            </a:r>
          </a:p>
        </p:txBody>
      </p:sp>
      <p:sp>
        <p:nvSpPr>
          <p:cNvPr id="10" name="Arrow: Down 9">
            <a:extLst>
              <a:ext uri="{FF2B5EF4-FFF2-40B4-BE49-F238E27FC236}">
                <a16:creationId xmlns:a16="http://schemas.microsoft.com/office/drawing/2014/main" id="{27703554-9E5B-3852-617E-B4D684FD28B7}"/>
              </a:ext>
            </a:extLst>
          </p:cNvPr>
          <p:cNvSpPr/>
          <p:nvPr/>
        </p:nvSpPr>
        <p:spPr>
          <a:xfrm rot="10800000">
            <a:off x="7408224" y="2696464"/>
            <a:ext cx="125337" cy="391245"/>
          </a:xfrm>
          <a:prstGeom prst="downArrow">
            <a:avLst/>
          </a:prstGeom>
          <a:solidFill>
            <a:schemeClr val="accent1">
              <a:lumMod val="75000"/>
              <a:lumOff val="2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2" name="Arrow: Bent 11">
            <a:extLst>
              <a:ext uri="{FF2B5EF4-FFF2-40B4-BE49-F238E27FC236}">
                <a16:creationId xmlns:a16="http://schemas.microsoft.com/office/drawing/2014/main" id="{DB7725D6-078D-06D9-C557-F34E7E0D5876}"/>
              </a:ext>
            </a:extLst>
          </p:cNvPr>
          <p:cNvSpPr/>
          <p:nvPr/>
        </p:nvSpPr>
        <p:spPr>
          <a:xfrm rot="5400000">
            <a:off x="10800804" y="2108560"/>
            <a:ext cx="607897" cy="616238"/>
          </a:xfrm>
          <a:prstGeom prst="bentArrow">
            <a:avLst>
              <a:gd name="adj1" fmla="val 9567"/>
              <a:gd name="adj2" fmla="val 10118"/>
              <a:gd name="adj3" fmla="val 13845"/>
              <a:gd name="adj4" fmla="val 19117"/>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3" name="TextBox 12">
            <a:extLst>
              <a:ext uri="{FF2B5EF4-FFF2-40B4-BE49-F238E27FC236}">
                <a16:creationId xmlns:a16="http://schemas.microsoft.com/office/drawing/2014/main" id="{D04C6D3E-CD91-E9DD-6BA4-017A525EDF6B}"/>
              </a:ext>
            </a:extLst>
          </p:cNvPr>
          <p:cNvSpPr txBox="1"/>
          <p:nvPr/>
        </p:nvSpPr>
        <p:spPr>
          <a:xfrm>
            <a:off x="6492207" y="3285554"/>
            <a:ext cx="308005" cy="386986"/>
          </a:xfrm>
          <a:prstGeom prst="rect">
            <a:avLst/>
          </a:prstGeom>
        </p:spPr>
        <p:txBody>
          <a:bodyPr vert="horz" wrap="none" lIns="0" tIns="0" rIns="0" bIns="0" rtlCol="0" anchor="t" anchorCtr="0">
            <a:normAutofit/>
          </a:bodyPr>
          <a:lstStyle/>
          <a:p>
            <a:pPr algn="l"/>
            <a:r>
              <a:rPr lang="en-US" sz="1400" b="1" dirty="0"/>
              <a:t>3A</a:t>
            </a:r>
          </a:p>
        </p:txBody>
      </p:sp>
      <p:pic>
        <p:nvPicPr>
          <p:cNvPr id="17" name="Picture 16">
            <a:extLst>
              <a:ext uri="{FF2B5EF4-FFF2-40B4-BE49-F238E27FC236}">
                <a16:creationId xmlns:a16="http://schemas.microsoft.com/office/drawing/2014/main" id="{0F7C99AE-D40C-6230-FB87-B39BFD74A011}"/>
              </a:ext>
            </a:extLst>
          </p:cNvPr>
          <p:cNvPicPr>
            <a:picLocks noChangeAspect="1"/>
          </p:cNvPicPr>
          <p:nvPr/>
        </p:nvPicPr>
        <p:blipFill>
          <a:blip r:embed="rId7"/>
          <a:stretch>
            <a:fillRect/>
          </a:stretch>
        </p:blipFill>
        <p:spPr>
          <a:xfrm>
            <a:off x="6327625" y="2812038"/>
            <a:ext cx="501594" cy="482359"/>
          </a:xfrm>
          <a:prstGeom prst="rect">
            <a:avLst/>
          </a:prstGeom>
        </p:spPr>
      </p:pic>
      <p:sp>
        <p:nvSpPr>
          <p:cNvPr id="18" name="Arrow: Left-Right 17">
            <a:extLst>
              <a:ext uri="{FF2B5EF4-FFF2-40B4-BE49-F238E27FC236}">
                <a16:creationId xmlns:a16="http://schemas.microsoft.com/office/drawing/2014/main" id="{862F56AD-AB97-EBCB-DEB5-4A8F53671727}"/>
              </a:ext>
            </a:extLst>
          </p:cNvPr>
          <p:cNvSpPr/>
          <p:nvPr/>
        </p:nvSpPr>
        <p:spPr>
          <a:xfrm>
            <a:off x="5718336" y="3745618"/>
            <a:ext cx="2003330" cy="185230"/>
          </a:xfrm>
          <a:prstGeom prst="leftRightArrow">
            <a:avLst/>
          </a:prstGeom>
          <a:solidFill>
            <a:schemeClr val="accent5">
              <a:lumMod val="40000"/>
              <a:lumOff val="6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1" name="TextBox 10">
            <a:extLst>
              <a:ext uri="{FF2B5EF4-FFF2-40B4-BE49-F238E27FC236}">
                <a16:creationId xmlns:a16="http://schemas.microsoft.com/office/drawing/2014/main" id="{FFD39490-2CCF-3601-6BB6-BA25468C5456}"/>
              </a:ext>
            </a:extLst>
          </p:cNvPr>
          <p:cNvSpPr txBox="1"/>
          <p:nvPr/>
        </p:nvSpPr>
        <p:spPr>
          <a:xfrm>
            <a:off x="3430398" y="5966035"/>
            <a:ext cx="6507932" cy="379617"/>
          </a:xfrm>
          <a:prstGeom prst="rect">
            <a:avLst/>
          </a:prstGeom>
        </p:spPr>
        <p:txBody>
          <a:bodyPr vert="horz" wrap="none" lIns="0" tIns="0" rIns="0" bIns="0" rtlCol="0" anchor="t" anchorCtr="0">
            <a:normAutofit/>
          </a:bodyPr>
          <a:lstStyle/>
          <a:p>
            <a:pPr algn="l"/>
            <a:r>
              <a:rPr lang="en-US" dirty="0"/>
              <a:t>For a battery voltage of 4.2V, peak charging power for 3A = 12.6 W</a:t>
            </a:r>
          </a:p>
        </p:txBody>
      </p:sp>
      <p:sp>
        <p:nvSpPr>
          <p:cNvPr id="14" name="TextBox 13">
            <a:extLst>
              <a:ext uri="{FF2B5EF4-FFF2-40B4-BE49-F238E27FC236}">
                <a16:creationId xmlns:a16="http://schemas.microsoft.com/office/drawing/2014/main" id="{CB47FE6E-1FB9-00A3-1273-9F1C08B5681E}"/>
              </a:ext>
            </a:extLst>
          </p:cNvPr>
          <p:cNvSpPr txBox="1"/>
          <p:nvPr/>
        </p:nvSpPr>
        <p:spPr>
          <a:xfrm>
            <a:off x="8453783" y="3127754"/>
            <a:ext cx="914400" cy="184845"/>
          </a:xfrm>
          <a:prstGeom prst="rect">
            <a:avLst/>
          </a:prstGeom>
        </p:spPr>
        <p:txBody>
          <a:bodyPr vert="horz" wrap="none" lIns="0" tIns="0" rIns="0" bIns="0" rtlCol="0" anchor="t" anchorCtr="0">
            <a:normAutofit/>
          </a:bodyPr>
          <a:lstStyle/>
          <a:p>
            <a:pPr algn="l"/>
            <a:r>
              <a:rPr lang="en-US" sz="700" b="1" dirty="0"/>
              <a:t>Fuel Gauge +Protector</a:t>
            </a:r>
          </a:p>
        </p:txBody>
      </p:sp>
      <p:sp>
        <p:nvSpPr>
          <p:cNvPr id="15" name="TextBox 14">
            <a:extLst>
              <a:ext uri="{FF2B5EF4-FFF2-40B4-BE49-F238E27FC236}">
                <a16:creationId xmlns:a16="http://schemas.microsoft.com/office/drawing/2014/main" id="{E2680C69-1137-2F76-8C36-451E581F9A32}"/>
              </a:ext>
            </a:extLst>
          </p:cNvPr>
          <p:cNvSpPr txBox="1"/>
          <p:nvPr/>
        </p:nvSpPr>
        <p:spPr>
          <a:xfrm>
            <a:off x="8708337" y="2163667"/>
            <a:ext cx="329528" cy="255727"/>
          </a:xfrm>
          <a:prstGeom prst="rect">
            <a:avLst/>
          </a:prstGeom>
        </p:spPr>
        <p:txBody>
          <a:bodyPr vert="horz" wrap="none" lIns="0" tIns="0" rIns="0" bIns="0" rtlCol="0" anchor="t" anchorCtr="0">
            <a:normAutofit/>
          </a:bodyPr>
          <a:lstStyle/>
          <a:p>
            <a:pPr algn="l"/>
            <a:r>
              <a:rPr lang="en-US" sz="1200" b="1" dirty="0"/>
              <a:t>OFF</a:t>
            </a:r>
          </a:p>
        </p:txBody>
      </p:sp>
      <p:sp>
        <p:nvSpPr>
          <p:cNvPr id="16" name="TextBox 15">
            <a:extLst>
              <a:ext uri="{FF2B5EF4-FFF2-40B4-BE49-F238E27FC236}">
                <a16:creationId xmlns:a16="http://schemas.microsoft.com/office/drawing/2014/main" id="{9C145F26-A8BA-ADBD-7325-5E5587784256}"/>
              </a:ext>
            </a:extLst>
          </p:cNvPr>
          <p:cNvSpPr txBox="1"/>
          <p:nvPr/>
        </p:nvSpPr>
        <p:spPr>
          <a:xfrm>
            <a:off x="8734884" y="2162463"/>
            <a:ext cx="329528" cy="255727"/>
          </a:xfrm>
          <a:prstGeom prst="rect">
            <a:avLst/>
          </a:prstGeom>
        </p:spPr>
        <p:txBody>
          <a:bodyPr vert="horz" wrap="none" lIns="0" tIns="0" rIns="0" bIns="0" rtlCol="0" anchor="t" anchorCtr="0">
            <a:normAutofit/>
          </a:bodyPr>
          <a:lstStyle/>
          <a:p>
            <a:pPr algn="l"/>
            <a:r>
              <a:rPr lang="en-US" sz="1200" b="1" dirty="0"/>
              <a:t>ON</a:t>
            </a:r>
          </a:p>
        </p:txBody>
      </p:sp>
      <p:sp>
        <p:nvSpPr>
          <p:cNvPr id="19" name="Thought Bubble: Cloud 18">
            <a:extLst>
              <a:ext uri="{FF2B5EF4-FFF2-40B4-BE49-F238E27FC236}">
                <a16:creationId xmlns:a16="http://schemas.microsoft.com/office/drawing/2014/main" id="{0C146A93-6B77-00DB-A822-25D00F36D861}"/>
              </a:ext>
            </a:extLst>
          </p:cNvPr>
          <p:cNvSpPr/>
          <p:nvPr/>
        </p:nvSpPr>
        <p:spPr>
          <a:xfrm flipH="1">
            <a:off x="9203107" y="814785"/>
            <a:ext cx="2300673" cy="1347678"/>
          </a:xfrm>
          <a:prstGeom prst="cloudCallout">
            <a:avLst>
              <a:gd name="adj1" fmla="val 37407"/>
              <a:gd name="adj2" fmla="val 75756"/>
            </a:avLst>
          </a:prstGeom>
          <a:solidFill>
            <a:schemeClr val="bg2">
              <a:lumMod val="20000"/>
              <a:lumOff val="8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r>
              <a:rPr lang="en-US" dirty="0">
                <a:solidFill>
                  <a:srgbClr val="000000"/>
                </a:solidFill>
                <a:latin typeface="Barlow" pitchFamily="2" charset="77"/>
                <a:cs typeface="Arial" panose="020B0604020202020204" pitchFamily="34" charset="0"/>
              </a:rPr>
              <a:t>Is there any alternative?</a:t>
            </a:r>
          </a:p>
        </p:txBody>
      </p:sp>
      <p:sp>
        <p:nvSpPr>
          <p:cNvPr id="20" name="TextBox 19">
            <a:extLst>
              <a:ext uri="{FF2B5EF4-FFF2-40B4-BE49-F238E27FC236}">
                <a16:creationId xmlns:a16="http://schemas.microsoft.com/office/drawing/2014/main" id="{3BF2EEB3-EA2F-F1EE-7CEA-494EB8561E95}"/>
              </a:ext>
            </a:extLst>
          </p:cNvPr>
          <p:cNvSpPr txBox="1"/>
          <p:nvPr/>
        </p:nvSpPr>
        <p:spPr>
          <a:xfrm>
            <a:off x="10994515" y="2193289"/>
            <a:ext cx="308005" cy="286410"/>
          </a:xfrm>
          <a:prstGeom prst="rect">
            <a:avLst/>
          </a:prstGeom>
        </p:spPr>
        <p:txBody>
          <a:bodyPr vert="horz" wrap="none" lIns="0" tIns="0" rIns="0" bIns="0" rtlCol="0" anchor="t" anchorCtr="0">
            <a:normAutofit/>
          </a:bodyPr>
          <a:lstStyle/>
          <a:p>
            <a:pPr algn="l"/>
            <a:r>
              <a:rPr lang="en-US" sz="1400" b="1" dirty="0"/>
              <a:t>3A</a:t>
            </a:r>
          </a:p>
        </p:txBody>
      </p:sp>
      <p:sp>
        <p:nvSpPr>
          <p:cNvPr id="21" name="TextBox 20">
            <a:extLst>
              <a:ext uri="{FF2B5EF4-FFF2-40B4-BE49-F238E27FC236}">
                <a16:creationId xmlns:a16="http://schemas.microsoft.com/office/drawing/2014/main" id="{5FCEF80F-30F0-301A-ECA9-38AA9E792E1A}"/>
              </a:ext>
            </a:extLst>
          </p:cNvPr>
          <p:cNvSpPr txBox="1"/>
          <p:nvPr/>
        </p:nvSpPr>
        <p:spPr>
          <a:xfrm>
            <a:off x="6191570" y="3893218"/>
            <a:ext cx="914400" cy="914400"/>
          </a:xfrm>
          <a:prstGeom prst="rect">
            <a:avLst/>
          </a:prstGeom>
        </p:spPr>
        <p:txBody>
          <a:bodyPr vert="horz" wrap="none" lIns="0" tIns="0" rIns="0" bIns="0" rtlCol="0" anchor="t" anchorCtr="0">
            <a:normAutofit/>
          </a:bodyPr>
          <a:lstStyle/>
          <a:p>
            <a:pPr algn="l"/>
            <a:r>
              <a:rPr lang="en-US" b="1" dirty="0">
                <a:solidFill>
                  <a:schemeClr val="accent5">
                    <a:lumMod val="75000"/>
                  </a:schemeClr>
                </a:solidFill>
              </a:rPr>
              <a:t>CC Comm.</a:t>
            </a:r>
          </a:p>
        </p:txBody>
      </p:sp>
    </p:spTree>
    <p:extLst>
      <p:ext uri="{BB962C8B-B14F-4D97-AF65-F5344CB8AC3E}">
        <p14:creationId xmlns:p14="http://schemas.microsoft.com/office/powerpoint/2010/main" val="293543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xit" presetSubtype="0" fill="hold" grpId="0" nodeType="withEffect">
                                  <p:stCondLst>
                                    <p:cond delay="0"/>
                                  </p:stCondLst>
                                  <p:childTnLst>
                                    <p:animEffect transition="out" filter="fade">
                                      <p:cBhvr>
                                        <p:cTn id="14" dur="500"/>
                                        <p:tgtEl>
                                          <p:spTgt spid="15"/>
                                        </p:tgtEl>
                                      </p:cBhvr>
                                    </p:animEffect>
                                    <p:set>
                                      <p:cBhvr>
                                        <p:cTn id="15" dur="1" fill="hold">
                                          <p:stCondLst>
                                            <p:cond delay="499"/>
                                          </p:stCondLst>
                                        </p:cTn>
                                        <p:tgtEl>
                                          <p:spTgt spid="15"/>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1"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1"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26" presetClass="emph" presetSubtype="0" repeatCount="indefinite" fill="hold" grpId="0" nodeType="withEffect">
                                  <p:stCondLst>
                                    <p:cond delay="0"/>
                                  </p:stCondLst>
                                  <p:endCondLst>
                                    <p:cond evt="onNext" delay="0">
                                      <p:tgtEl>
                                        <p:sldTgt/>
                                      </p:tgtEl>
                                    </p:cond>
                                  </p:endCondLst>
                                  <p:childTnLst>
                                    <p:animEffect transition="out" filter="fade">
                                      <p:cBhvr>
                                        <p:cTn id="26" dur="500" tmFilter="0, 0; .2, .5; .8, .5; 1, 0"/>
                                        <p:tgtEl>
                                          <p:spTgt spid="18"/>
                                        </p:tgtEl>
                                      </p:cBhvr>
                                    </p:animEffect>
                                    <p:animScale>
                                      <p:cBhvr>
                                        <p:cTn id="27" dur="250" autoRev="1" fill="hold"/>
                                        <p:tgtEl>
                                          <p:spTgt spid="18"/>
                                        </p:tgtEl>
                                      </p:cBhvr>
                                      <p:by x="105000" y="105000"/>
                                    </p:animScale>
                                  </p:childTnLst>
                                </p:cTn>
                              </p:par>
                              <p:par>
                                <p:cTn id="28" presetID="6" presetClass="emph" presetSubtype="0" repeatCount="indefinite" fill="hold" grpId="0" nodeType="withEffect">
                                  <p:stCondLst>
                                    <p:cond delay="0"/>
                                  </p:stCondLst>
                                  <p:endCondLst>
                                    <p:cond evt="onNext" delay="0">
                                      <p:tgtEl>
                                        <p:sldTgt/>
                                      </p:tgtEl>
                                    </p:cond>
                                  </p:endCondLst>
                                  <p:childTnLst>
                                    <p:animScale>
                                      <p:cBhvr>
                                        <p:cTn id="29" dur="2000" fill="hold"/>
                                        <p:tgtEl>
                                          <p:spTgt spid="10"/>
                                        </p:tgtEl>
                                      </p:cBhvr>
                                      <p:by x="150000" y="150000"/>
                                    </p:animScale>
                                  </p:childTnLst>
                                </p:cTn>
                              </p:par>
                              <p:par>
                                <p:cTn id="30" presetID="6" presetClass="emph" presetSubtype="0" repeatCount="indefinite" fill="hold" grpId="0" nodeType="withEffect">
                                  <p:stCondLst>
                                    <p:cond delay="0"/>
                                  </p:stCondLst>
                                  <p:endCondLst>
                                    <p:cond evt="onNext" delay="0">
                                      <p:tgtEl>
                                        <p:sldTgt/>
                                      </p:tgtEl>
                                    </p:cond>
                                  </p:endCondLst>
                                  <p:childTnLst>
                                    <p:animScale>
                                      <p:cBhvr>
                                        <p:cTn id="31" dur="2000" fill="hold"/>
                                        <p:tgtEl>
                                          <p:spTgt spid="12"/>
                                        </p:tgtEl>
                                      </p:cBhvr>
                                      <p:by x="150000" y="150000"/>
                                    </p:animScale>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26" presetClass="emph" presetSubtype="0" repeatCount="indefinite" fill="hold" nodeType="withEffect">
                                  <p:stCondLst>
                                    <p:cond delay="0"/>
                                  </p:stCondLst>
                                  <p:childTnLst>
                                    <p:animEffect transition="out" filter="fade">
                                      <p:cBhvr>
                                        <p:cTn id="46" dur="1000" tmFilter="0, 0; .2, .5; .8, .5; 1, 0"/>
                                        <p:tgtEl>
                                          <p:spTgt spid="17"/>
                                        </p:tgtEl>
                                      </p:cBhvr>
                                    </p:animEffect>
                                    <p:animScale>
                                      <p:cBhvr>
                                        <p:cTn id="47" dur="500" autoRev="1" fill="hold"/>
                                        <p:tgtEl>
                                          <p:spTgt spid="17"/>
                                        </p:tgtEl>
                                      </p:cBhvr>
                                      <p:by x="105000" y="105000"/>
                                    </p:animScale>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0" grpId="1" animBg="1"/>
      <p:bldP spid="12" grpId="0" animBg="1"/>
      <p:bldP spid="12" grpId="1" animBg="1"/>
      <p:bldP spid="13" grpId="0"/>
      <p:bldP spid="18" grpId="0" animBg="1"/>
      <p:bldP spid="18" grpId="1" animBg="1"/>
      <p:bldP spid="15" grpId="0"/>
      <p:bldP spid="16" grpId="0"/>
      <p:bldP spid="19" grpId="0" animBg="1"/>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10080000" cy="450000"/>
          </a:xfrm>
        </p:spPr>
        <p:txBody>
          <a:bodyPr/>
          <a:lstStyle/>
          <a:p>
            <a:r>
              <a:rPr lang="en-US" dirty="0"/>
              <a:t>Switched Capacitor Converter (SCC) for higher power </a:t>
            </a:r>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21</a:t>
            </a:fld>
            <a:endParaRPr lang="en-US" dirty="0"/>
          </a:p>
        </p:txBody>
      </p:sp>
      <p:grpSp>
        <p:nvGrpSpPr>
          <p:cNvPr id="202" name="Group 201">
            <a:extLst>
              <a:ext uri="{FF2B5EF4-FFF2-40B4-BE49-F238E27FC236}">
                <a16:creationId xmlns:a16="http://schemas.microsoft.com/office/drawing/2014/main" id="{B863718E-6A75-A6BE-E650-C667CD6BCD65}"/>
              </a:ext>
            </a:extLst>
          </p:cNvPr>
          <p:cNvGrpSpPr/>
          <p:nvPr/>
        </p:nvGrpSpPr>
        <p:grpSpPr>
          <a:xfrm>
            <a:off x="5896238" y="3479108"/>
            <a:ext cx="1646884" cy="212777"/>
            <a:chOff x="4911362" y="644220"/>
            <a:chExt cx="2166817" cy="204546"/>
          </a:xfrm>
        </p:grpSpPr>
        <p:pic>
          <p:nvPicPr>
            <p:cNvPr id="203" name="Picture 202">
              <a:extLst>
                <a:ext uri="{FF2B5EF4-FFF2-40B4-BE49-F238E27FC236}">
                  <a16:creationId xmlns:a16="http://schemas.microsoft.com/office/drawing/2014/main" id="{B78B0FE0-6D35-EA89-7815-DF346EBCE06C}"/>
                </a:ext>
              </a:extLst>
            </p:cNvPr>
            <p:cNvPicPr>
              <a:picLocks noChangeAspect="1"/>
            </p:cNvPicPr>
            <p:nvPr/>
          </p:nvPicPr>
          <p:blipFill rotWithShape="1">
            <a:blip r:embed="rId3">
              <a:clrChange>
                <a:clrFrom>
                  <a:srgbClr val="FFFFFF"/>
                </a:clrFrom>
                <a:clrTo>
                  <a:srgbClr val="FFFFFF">
                    <a:alpha val="0"/>
                  </a:srgbClr>
                </a:clrTo>
              </a:clrChange>
            </a:blip>
            <a:srcRect b="4496"/>
            <a:stretch/>
          </p:blipFill>
          <p:spPr>
            <a:xfrm rot="16200000">
              <a:off x="5363587" y="191995"/>
              <a:ext cx="204545" cy="1108996"/>
            </a:xfrm>
            <a:prstGeom prst="rect">
              <a:avLst/>
            </a:prstGeom>
          </p:spPr>
        </p:pic>
        <p:pic>
          <p:nvPicPr>
            <p:cNvPr id="204" name="Picture 203">
              <a:extLst>
                <a:ext uri="{FF2B5EF4-FFF2-40B4-BE49-F238E27FC236}">
                  <a16:creationId xmlns:a16="http://schemas.microsoft.com/office/drawing/2014/main" id="{CD5F4449-EEB6-F26D-28AD-79FA35C86F8B}"/>
                </a:ext>
              </a:extLst>
            </p:cNvPr>
            <p:cNvPicPr>
              <a:picLocks noChangeAspect="1"/>
            </p:cNvPicPr>
            <p:nvPr/>
          </p:nvPicPr>
          <p:blipFill rotWithShape="1">
            <a:blip r:embed="rId3">
              <a:clrChange>
                <a:clrFrom>
                  <a:srgbClr val="FFFFFF"/>
                </a:clrFrom>
                <a:clrTo>
                  <a:srgbClr val="FFFFFF">
                    <a:alpha val="0"/>
                  </a:srgbClr>
                </a:clrTo>
              </a:clrChange>
            </a:blip>
            <a:srcRect b="4496"/>
            <a:stretch/>
          </p:blipFill>
          <p:spPr>
            <a:xfrm rot="16200000" flipV="1">
              <a:off x="6421409" y="191996"/>
              <a:ext cx="204545" cy="1108995"/>
            </a:xfrm>
            <a:prstGeom prst="rect">
              <a:avLst/>
            </a:prstGeom>
          </p:spPr>
        </p:pic>
      </p:grpSp>
      <p:grpSp>
        <p:nvGrpSpPr>
          <p:cNvPr id="211" name="Group 210">
            <a:extLst>
              <a:ext uri="{FF2B5EF4-FFF2-40B4-BE49-F238E27FC236}">
                <a16:creationId xmlns:a16="http://schemas.microsoft.com/office/drawing/2014/main" id="{F37ABB60-B27F-CAA3-82D5-8D01227219BB}"/>
              </a:ext>
            </a:extLst>
          </p:cNvPr>
          <p:cNvGrpSpPr/>
          <p:nvPr/>
        </p:nvGrpSpPr>
        <p:grpSpPr>
          <a:xfrm>
            <a:off x="288215" y="1246054"/>
            <a:ext cx="5720967" cy="4961502"/>
            <a:chOff x="288215" y="1246054"/>
            <a:chExt cx="5720967" cy="4961502"/>
          </a:xfrm>
        </p:grpSpPr>
        <p:sp>
          <p:nvSpPr>
            <p:cNvPr id="186" name="Rectangle 185">
              <a:extLst>
                <a:ext uri="{FF2B5EF4-FFF2-40B4-BE49-F238E27FC236}">
                  <a16:creationId xmlns:a16="http://schemas.microsoft.com/office/drawing/2014/main" id="{1DAD7143-B502-ECC0-9619-918A477DD9BF}"/>
                </a:ext>
              </a:extLst>
            </p:cNvPr>
            <p:cNvSpPr/>
            <p:nvPr/>
          </p:nvSpPr>
          <p:spPr>
            <a:xfrm>
              <a:off x="305206" y="1246054"/>
              <a:ext cx="5406919" cy="4540044"/>
            </a:xfrm>
            <a:prstGeom prst="rect">
              <a:avLst/>
            </a:prstGeom>
            <a:solidFill>
              <a:schemeClr val="bg2">
                <a:lumMod val="20000"/>
                <a:lumOff val="80000"/>
              </a:schemeClr>
            </a:solidFill>
            <a:ln>
              <a:solidFill>
                <a:schemeClr val="accent1"/>
              </a:solidFill>
              <a:miter lim="800000"/>
            </a:ln>
            <a:effectLst>
              <a:outerShdw blurRad="50800" dist="38100" dir="13500000" algn="br"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183" name="Straight Connector 182">
              <a:extLst>
                <a:ext uri="{FF2B5EF4-FFF2-40B4-BE49-F238E27FC236}">
                  <a16:creationId xmlns:a16="http://schemas.microsoft.com/office/drawing/2014/main" id="{E242D756-4D1D-2416-536D-A30B2064E300}"/>
                </a:ext>
              </a:extLst>
            </p:cNvPr>
            <p:cNvCxnSpPr>
              <a:cxnSpLocks/>
            </p:cNvCxnSpPr>
            <p:nvPr/>
          </p:nvCxnSpPr>
          <p:spPr>
            <a:xfrm>
              <a:off x="5357716" y="4062280"/>
              <a:ext cx="888" cy="311706"/>
            </a:xfrm>
            <a:prstGeom prst="line">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66" name="Picture 165" descr="A screenshot of a computer&#10;&#10;Description automatically generated">
              <a:extLst>
                <a:ext uri="{FF2B5EF4-FFF2-40B4-BE49-F238E27FC236}">
                  <a16:creationId xmlns:a16="http://schemas.microsoft.com/office/drawing/2014/main" id="{4F8E93BC-9F4A-A3B4-2D10-567DC7BD8908}"/>
                </a:ext>
              </a:extLst>
            </p:cNvPr>
            <p:cNvPicPr>
              <a:picLocks noChangeAspect="1"/>
            </p:cNvPicPr>
            <p:nvPr/>
          </p:nvPicPr>
          <p:blipFill rotWithShape="1">
            <a:blip r:embed="rId4" cstate="screen">
              <a:extLst>
                <a:ext uri="{28A0092B-C50C-407E-A947-70E740481C1C}">
                  <a14:useLocalDpi xmlns:a14="http://schemas.microsoft.com/office/drawing/2010/main" val="0"/>
                </a:ext>
              </a:extLst>
            </a:blip>
            <a:srcRect/>
            <a:stretch/>
          </p:blipFill>
          <p:spPr>
            <a:xfrm>
              <a:off x="288215" y="1675308"/>
              <a:ext cx="5707884" cy="2090638"/>
            </a:xfrm>
            <a:prstGeom prst="rect">
              <a:avLst/>
            </a:prstGeom>
          </p:spPr>
        </p:pic>
        <p:sp>
          <p:nvSpPr>
            <p:cNvPr id="153" name="Arrow: Left-Right 152">
              <a:extLst>
                <a:ext uri="{FF2B5EF4-FFF2-40B4-BE49-F238E27FC236}">
                  <a16:creationId xmlns:a16="http://schemas.microsoft.com/office/drawing/2014/main" id="{5D36C9D2-6DB2-7692-0BC9-A23FC97ED2F3}"/>
                </a:ext>
              </a:extLst>
            </p:cNvPr>
            <p:cNvSpPr/>
            <p:nvPr/>
          </p:nvSpPr>
          <p:spPr>
            <a:xfrm rot="5400000">
              <a:off x="3463982" y="4173811"/>
              <a:ext cx="401739" cy="171858"/>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35" name="Rectangle: Rounded Corners 134">
              <a:extLst>
                <a:ext uri="{FF2B5EF4-FFF2-40B4-BE49-F238E27FC236}">
                  <a16:creationId xmlns:a16="http://schemas.microsoft.com/office/drawing/2014/main" id="{C7F3021E-F2C0-FCED-C322-D677C304819D}"/>
                </a:ext>
              </a:extLst>
            </p:cNvPr>
            <p:cNvSpPr/>
            <p:nvPr/>
          </p:nvSpPr>
          <p:spPr>
            <a:xfrm>
              <a:off x="2531086" y="3303249"/>
              <a:ext cx="1556905" cy="750882"/>
            </a:xfrm>
            <a:prstGeom prst="roundRect">
              <a:avLst>
                <a:gd name="adj" fmla="val 11327"/>
              </a:avLst>
            </a:prstGeom>
            <a:solidFill>
              <a:srgbClr val="2BC5B6"/>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MAX25432</a:t>
              </a:r>
            </a:p>
            <a:p>
              <a:pPr algn="ctr"/>
              <a:r>
                <a:rPr lang="en-US" sz="1200" b="1" dirty="0">
                  <a:solidFill>
                    <a:schemeClr val="tx1">
                      <a:lumMod val="85000"/>
                      <a:lumOff val="15000"/>
                    </a:schemeClr>
                  </a:solidFill>
                  <a:latin typeface="Barlow" panose="00000500000000000000" pitchFamily="2" charset="0"/>
                </a:rPr>
                <a:t>TCPC</a:t>
              </a:r>
              <a:endParaRPr lang="en-US" sz="600" b="1" dirty="0">
                <a:solidFill>
                  <a:schemeClr val="tx1">
                    <a:lumMod val="85000"/>
                    <a:lumOff val="15000"/>
                  </a:schemeClr>
                </a:solidFill>
                <a:latin typeface="Barlow" panose="00000500000000000000" pitchFamily="2" charset="0"/>
              </a:endParaRPr>
            </a:p>
          </p:txBody>
        </p:sp>
        <p:sp>
          <p:nvSpPr>
            <p:cNvPr id="139" name="Rectangle: Rounded Corners 138">
              <a:extLst>
                <a:ext uri="{FF2B5EF4-FFF2-40B4-BE49-F238E27FC236}">
                  <a16:creationId xmlns:a16="http://schemas.microsoft.com/office/drawing/2014/main" id="{DAB91F9D-CB72-E40C-7A22-DB34BD95E1E2}"/>
                </a:ext>
              </a:extLst>
            </p:cNvPr>
            <p:cNvSpPr/>
            <p:nvPr/>
          </p:nvSpPr>
          <p:spPr>
            <a:xfrm>
              <a:off x="2531085" y="4483130"/>
              <a:ext cx="1556905"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1000" b="1" dirty="0">
                  <a:solidFill>
                    <a:schemeClr val="tx1">
                      <a:lumMod val="85000"/>
                      <a:lumOff val="15000"/>
                    </a:schemeClr>
                  </a:solidFill>
                  <a:latin typeface="Barlow" panose="00000500000000000000" pitchFamily="2" charset="0"/>
                </a:rPr>
                <a:t>TCPM</a:t>
              </a:r>
              <a:endParaRPr lang="en-US" sz="600" b="1" dirty="0">
                <a:solidFill>
                  <a:schemeClr val="tx1">
                    <a:lumMod val="85000"/>
                    <a:lumOff val="15000"/>
                  </a:schemeClr>
                </a:solidFill>
                <a:latin typeface="Barlow" panose="00000500000000000000" pitchFamily="2" charset="0"/>
              </a:endParaRPr>
            </a:p>
          </p:txBody>
        </p:sp>
        <p:sp>
          <p:nvSpPr>
            <p:cNvPr id="152" name="TextBox 151">
              <a:extLst>
                <a:ext uri="{FF2B5EF4-FFF2-40B4-BE49-F238E27FC236}">
                  <a16:creationId xmlns:a16="http://schemas.microsoft.com/office/drawing/2014/main" id="{421FACBD-025A-7714-77C9-6385DE37CBD2}"/>
                </a:ext>
              </a:extLst>
            </p:cNvPr>
            <p:cNvSpPr txBox="1"/>
            <p:nvPr/>
          </p:nvSpPr>
          <p:spPr>
            <a:xfrm rot="16200000">
              <a:off x="3492850" y="4139223"/>
              <a:ext cx="344002" cy="200055"/>
            </a:xfrm>
            <a:prstGeom prst="rect">
              <a:avLst/>
            </a:prstGeom>
            <a:noFill/>
            <a:scene3d>
              <a:camera prst="orthographicFront"/>
              <a:lightRig rig="threePt" dir="t"/>
            </a:scene3d>
            <a:sp3d>
              <a:bevelT w="165100" prst="coolSlant"/>
            </a:sp3d>
          </p:spPr>
          <p:txBody>
            <a:bodyPr wrap="square" rtlCol="0">
              <a:spAutoFit/>
            </a:bodyPr>
            <a:lstStyle/>
            <a:p>
              <a:r>
                <a:rPr lang="en-US" sz="700" b="1" dirty="0">
                  <a:latin typeface="Barlow" panose="00000500000000000000" pitchFamily="2" charset="0"/>
                </a:rPr>
                <a:t>I2C</a:t>
              </a:r>
            </a:p>
          </p:txBody>
        </p:sp>
        <p:sp>
          <p:nvSpPr>
            <p:cNvPr id="156" name="Arrow: Right 155">
              <a:extLst>
                <a:ext uri="{FF2B5EF4-FFF2-40B4-BE49-F238E27FC236}">
                  <a16:creationId xmlns:a16="http://schemas.microsoft.com/office/drawing/2014/main" id="{29F80122-E8C4-AAC9-6531-65543DC3644C}"/>
                </a:ext>
              </a:extLst>
            </p:cNvPr>
            <p:cNvSpPr/>
            <p:nvPr/>
          </p:nvSpPr>
          <p:spPr>
            <a:xfrm rot="5400000">
              <a:off x="3063810" y="4150742"/>
              <a:ext cx="401737" cy="208520"/>
            </a:xfrm>
            <a:prstGeom prst="right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58" name="TextBox 157">
              <a:extLst>
                <a:ext uri="{FF2B5EF4-FFF2-40B4-BE49-F238E27FC236}">
                  <a16:creationId xmlns:a16="http://schemas.microsoft.com/office/drawing/2014/main" id="{D3E514AD-C3E0-4495-5230-E14E65C352F9}"/>
                </a:ext>
              </a:extLst>
            </p:cNvPr>
            <p:cNvSpPr txBox="1"/>
            <p:nvPr/>
          </p:nvSpPr>
          <p:spPr>
            <a:xfrm rot="16200000">
              <a:off x="3037727" y="4118221"/>
              <a:ext cx="45717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ALERT</a:t>
              </a:r>
            </a:p>
          </p:txBody>
        </p:sp>
        <p:sp>
          <p:nvSpPr>
            <p:cNvPr id="159" name="Arrow: Right 158">
              <a:extLst>
                <a:ext uri="{FF2B5EF4-FFF2-40B4-BE49-F238E27FC236}">
                  <a16:creationId xmlns:a16="http://schemas.microsoft.com/office/drawing/2014/main" id="{D6EFC1C0-8A63-7690-621B-20EAA480E954}"/>
                </a:ext>
              </a:extLst>
            </p:cNvPr>
            <p:cNvSpPr/>
            <p:nvPr/>
          </p:nvSpPr>
          <p:spPr>
            <a:xfrm rot="5400000">
              <a:off x="2678076" y="4150743"/>
              <a:ext cx="401737" cy="208520"/>
            </a:xfrm>
            <a:prstGeom prst="right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60" name="TextBox 159">
              <a:extLst>
                <a:ext uri="{FF2B5EF4-FFF2-40B4-BE49-F238E27FC236}">
                  <a16:creationId xmlns:a16="http://schemas.microsoft.com/office/drawing/2014/main" id="{A8BA489D-2A27-8D86-E716-07D2BAC7394D}"/>
                </a:ext>
              </a:extLst>
            </p:cNvPr>
            <p:cNvSpPr txBox="1"/>
            <p:nvPr/>
          </p:nvSpPr>
          <p:spPr>
            <a:xfrm rot="16200000">
              <a:off x="2633804" y="4127530"/>
              <a:ext cx="479618"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POWER</a:t>
              </a:r>
            </a:p>
          </p:txBody>
        </p:sp>
        <p:grpSp>
          <p:nvGrpSpPr>
            <p:cNvPr id="168" name="Group 167">
              <a:extLst>
                <a:ext uri="{FF2B5EF4-FFF2-40B4-BE49-F238E27FC236}">
                  <a16:creationId xmlns:a16="http://schemas.microsoft.com/office/drawing/2014/main" id="{4BC7C36B-9067-AAA4-58AD-4F8C21F7D271}"/>
                </a:ext>
              </a:extLst>
            </p:cNvPr>
            <p:cNvGrpSpPr/>
            <p:nvPr/>
          </p:nvGrpSpPr>
          <p:grpSpPr>
            <a:xfrm>
              <a:off x="5567748" y="3291064"/>
              <a:ext cx="259035" cy="885426"/>
              <a:chOff x="6498615" y="3069590"/>
              <a:chExt cx="303099" cy="1091099"/>
            </a:xfrm>
          </p:grpSpPr>
          <p:sp>
            <p:nvSpPr>
              <p:cNvPr id="169" name="Rectangle: Rounded Corners 168">
                <a:extLst>
                  <a:ext uri="{FF2B5EF4-FFF2-40B4-BE49-F238E27FC236}">
                    <a16:creationId xmlns:a16="http://schemas.microsoft.com/office/drawing/2014/main" id="{895FA029-A134-040B-53F0-7AA62806DFA1}"/>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0" name="Oval 169">
                <a:extLst>
                  <a:ext uri="{FF2B5EF4-FFF2-40B4-BE49-F238E27FC236}">
                    <a16:creationId xmlns:a16="http://schemas.microsoft.com/office/drawing/2014/main" id="{74685BDF-02CD-433D-B8A0-BEB06D36E244}"/>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171" name="Oval 170">
                <a:extLst>
                  <a:ext uri="{FF2B5EF4-FFF2-40B4-BE49-F238E27FC236}">
                    <a16:creationId xmlns:a16="http://schemas.microsoft.com/office/drawing/2014/main" id="{4C9E99AB-DD79-F47E-8FA2-970AA23F6260}"/>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172" name="Oval 171">
                <a:extLst>
                  <a:ext uri="{FF2B5EF4-FFF2-40B4-BE49-F238E27FC236}">
                    <a16:creationId xmlns:a16="http://schemas.microsoft.com/office/drawing/2014/main" id="{8CDB93E2-1139-49AE-4C73-5ADC7669989C}"/>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cxnSp>
          <p:nvCxnSpPr>
            <p:cNvPr id="174" name="Connector: Elbow 173">
              <a:extLst>
                <a:ext uri="{FF2B5EF4-FFF2-40B4-BE49-F238E27FC236}">
                  <a16:creationId xmlns:a16="http://schemas.microsoft.com/office/drawing/2014/main" id="{ABBB2A01-7A0D-BC05-2674-D0A9656476AE}"/>
                </a:ext>
              </a:extLst>
            </p:cNvPr>
            <p:cNvCxnSpPr>
              <a:cxnSpLocks/>
              <a:endCxn id="169" idx="1"/>
            </p:cNvCxnSpPr>
            <p:nvPr/>
          </p:nvCxnSpPr>
          <p:spPr>
            <a:xfrm>
              <a:off x="4078110" y="3474612"/>
              <a:ext cx="1489638" cy="259165"/>
            </a:xfrm>
            <a:prstGeom prst="bentConnector3">
              <a:avLst>
                <a:gd name="adj1" fmla="val 50000"/>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78" name="Group 177">
              <a:extLst>
                <a:ext uri="{FF2B5EF4-FFF2-40B4-BE49-F238E27FC236}">
                  <a16:creationId xmlns:a16="http://schemas.microsoft.com/office/drawing/2014/main" id="{872B31A6-BB00-E644-37F8-31BC0B51B10A}"/>
                </a:ext>
              </a:extLst>
            </p:cNvPr>
            <p:cNvGrpSpPr/>
            <p:nvPr/>
          </p:nvGrpSpPr>
          <p:grpSpPr>
            <a:xfrm>
              <a:off x="5272268" y="4374557"/>
              <a:ext cx="174123" cy="65512"/>
              <a:chOff x="8643839" y="3430799"/>
              <a:chExt cx="290244" cy="111833"/>
            </a:xfrm>
          </p:grpSpPr>
          <p:cxnSp>
            <p:nvCxnSpPr>
              <p:cNvPr id="179" name="Straight Connector 178">
                <a:extLst>
                  <a:ext uri="{FF2B5EF4-FFF2-40B4-BE49-F238E27FC236}">
                    <a16:creationId xmlns:a16="http://schemas.microsoft.com/office/drawing/2014/main" id="{7A45C264-1BAB-5CC8-9E18-79ACA49DBB4B}"/>
                  </a:ext>
                </a:extLst>
              </p:cNvPr>
              <p:cNvCxnSpPr>
                <a:cxnSpLocks/>
              </p:cNvCxnSpPr>
              <p:nvPr/>
            </p:nvCxnSpPr>
            <p:spPr>
              <a:xfrm>
                <a:off x="8643839" y="3430799"/>
                <a:ext cx="290244"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80" name="Straight Connector 179">
                <a:extLst>
                  <a:ext uri="{FF2B5EF4-FFF2-40B4-BE49-F238E27FC236}">
                    <a16:creationId xmlns:a16="http://schemas.microsoft.com/office/drawing/2014/main" id="{10D3D247-38A5-FCA8-2674-8258EF2E360F}"/>
                  </a:ext>
                </a:extLst>
              </p:cNvPr>
              <p:cNvCxnSpPr>
                <a:cxnSpLocks/>
              </p:cNvCxnSpPr>
              <p:nvPr/>
            </p:nvCxnSpPr>
            <p:spPr>
              <a:xfrm>
                <a:off x="8668272" y="3487691"/>
                <a:ext cx="229642"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81" name="Straight Connector 180">
                <a:extLst>
                  <a:ext uri="{FF2B5EF4-FFF2-40B4-BE49-F238E27FC236}">
                    <a16:creationId xmlns:a16="http://schemas.microsoft.com/office/drawing/2014/main" id="{3C10D983-BCE9-9234-AB8F-306AB6A52440}"/>
                  </a:ext>
                </a:extLst>
              </p:cNvPr>
              <p:cNvCxnSpPr>
                <a:cxnSpLocks/>
              </p:cNvCxnSpPr>
              <p:nvPr/>
            </p:nvCxnSpPr>
            <p:spPr>
              <a:xfrm>
                <a:off x="8738716" y="3542632"/>
                <a:ext cx="93173" cy="0"/>
              </a:xfrm>
              <a:prstGeom prst="line">
                <a:avLst/>
              </a:prstGeom>
              <a:ln w="1524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187" name="TextBox 186">
              <a:extLst>
                <a:ext uri="{FF2B5EF4-FFF2-40B4-BE49-F238E27FC236}">
                  <a16:creationId xmlns:a16="http://schemas.microsoft.com/office/drawing/2014/main" id="{2929F32D-5195-D6B4-A6C4-25FF249B95B6}"/>
                </a:ext>
              </a:extLst>
            </p:cNvPr>
            <p:cNvSpPr txBox="1"/>
            <p:nvPr/>
          </p:nvSpPr>
          <p:spPr>
            <a:xfrm>
              <a:off x="423371" y="5465521"/>
              <a:ext cx="781465" cy="742035"/>
            </a:xfrm>
            <a:prstGeom prst="rect">
              <a:avLst/>
            </a:prstGeom>
          </p:spPr>
          <p:txBody>
            <a:bodyPr vert="horz" wrap="none" lIns="0" tIns="0" rIns="0" bIns="0" rtlCol="0" anchor="t" anchorCtr="0">
              <a:normAutofit/>
            </a:bodyPr>
            <a:lstStyle/>
            <a:p>
              <a:pPr algn="l"/>
              <a:r>
                <a:rPr lang="en-US" sz="1400" b="1" dirty="0"/>
                <a:t>Source Side</a:t>
              </a:r>
            </a:p>
          </p:txBody>
        </p:sp>
        <p:cxnSp>
          <p:nvCxnSpPr>
            <p:cNvPr id="190" name="Straight Connector 189">
              <a:extLst>
                <a:ext uri="{FF2B5EF4-FFF2-40B4-BE49-F238E27FC236}">
                  <a16:creationId xmlns:a16="http://schemas.microsoft.com/office/drawing/2014/main" id="{255E81B3-3321-9519-AF8A-4899907BE386}"/>
                </a:ext>
              </a:extLst>
            </p:cNvPr>
            <p:cNvCxnSpPr>
              <a:cxnSpLocks/>
            </p:cNvCxnSpPr>
            <p:nvPr/>
          </p:nvCxnSpPr>
          <p:spPr>
            <a:xfrm flipH="1">
              <a:off x="5355024" y="4065009"/>
              <a:ext cx="19858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206" name="Connector: Elbow 205">
              <a:extLst>
                <a:ext uri="{FF2B5EF4-FFF2-40B4-BE49-F238E27FC236}">
                  <a16:creationId xmlns:a16="http://schemas.microsoft.com/office/drawing/2014/main" id="{DB4E4B9C-531B-BA4D-9366-036C9576B9B3}"/>
                </a:ext>
              </a:extLst>
            </p:cNvPr>
            <p:cNvCxnSpPr>
              <a:cxnSpLocks/>
            </p:cNvCxnSpPr>
            <p:nvPr/>
          </p:nvCxnSpPr>
          <p:spPr>
            <a:xfrm>
              <a:off x="4073261" y="3637111"/>
              <a:ext cx="1489638" cy="259165"/>
            </a:xfrm>
            <a:prstGeom prst="bentConnector3">
              <a:avLst>
                <a:gd name="adj1" fmla="val 39992"/>
              </a:avLst>
            </a:prstGeom>
            <a:ln w="1524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08" name="TextBox 207">
              <a:extLst>
                <a:ext uri="{FF2B5EF4-FFF2-40B4-BE49-F238E27FC236}">
                  <a16:creationId xmlns:a16="http://schemas.microsoft.com/office/drawing/2014/main" id="{CC3B5136-1862-D3FF-7A30-7A7E1F71F601}"/>
                </a:ext>
              </a:extLst>
            </p:cNvPr>
            <p:cNvSpPr txBox="1"/>
            <p:nvPr/>
          </p:nvSpPr>
          <p:spPr>
            <a:xfrm>
              <a:off x="5102389" y="3546972"/>
              <a:ext cx="344002"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CC1</a:t>
              </a:r>
            </a:p>
          </p:txBody>
        </p:sp>
        <p:sp>
          <p:nvSpPr>
            <p:cNvPr id="209" name="TextBox 208">
              <a:extLst>
                <a:ext uri="{FF2B5EF4-FFF2-40B4-BE49-F238E27FC236}">
                  <a16:creationId xmlns:a16="http://schemas.microsoft.com/office/drawing/2014/main" id="{04CB79C4-11B1-78A9-FFEC-61F2B254EBA9}"/>
                </a:ext>
              </a:extLst>
            </p:cNvPr>
            <p:cNvSpPr txBox="1"/>
            <p:nvPr/>
          </p:nvSpPr>
          <p:spPr>
            <a:xfrm>
              <a:off x="5107228" y="3719918"/>
              <a:ext cx="403020"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CC2</a:t>
              </a:r>
            </a:p>
          </p:txBody>
        </p:sp>
        <p:sp>
          <p:nvSpPr>
            <p:cNvPr id="210" name="TextBox 209">
              <a:extLst>
                <a:ext uri="{FF2B5EF4-FFF2-40B4-BE49-F238E27FC236}">
                  <a16:creationId xmlns:a16="http://schemas.microsoft.com/office/drawing/2014/main" id="{C17DF8A0-EBEF-F977-2E44-5D0FFCFB2B32}"/>
                </a:ext>
              </a:extLst>
            </p:cNvPr>
            <p:cNvSpPr txBox="1"/>
            <p:nvPr/>
          </p:nvSpPr>
          <p:spPr>
            <a:xfrm>
              <a:off x="5233339" y="3087709"/>
              <a:ext cx="775843"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VBUS</a:t>
              </a:r>
            </a:p>
          </p:txBody>
        </p:sp>
      </p:grpSp>
      <p:sp>
        <p:nvSpPr>
          <p:cNvPr id="58" name="Rectangle 57">
            <a:extLst>
              <a:ext uri="{FF2B5EF4-FFF2-40B4-BE49-F238E27FC236}">
                <a16:creationId xmlns:a16="http://schemas.microsoft.com/office/drawing/2014/main" id="{92076903-4F23-345F-D458-69CD1345F645}"/>
              </a:ext>
            </a:extLst>
          </p:cNvPr>
          <p:cNvSpPr/>
          <p:nvPr/>
        </p:nvSpPr>
        <p:spPr>
          <a:xfrm>
            <a:off x="7706280" y="1246054"/>
            <a:ext cx="4178593" cy="4540044"/>
          </a:xfrm>
          <a:prstGeom prst="rect">
            <a:avLst/>
          </a:prstGeom>
          <a:solidFill>
            <a:schemeClr val="tx2">
              <a:lumMod val="20000"/>
              <a:lumOff val="8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7" name="Rectangle 16">
            <a:extLst>
              <a:ext uri="{FF2B5EF4-FFF2-40B4-BE49-F238E27FC236}">
                <a16:creationId xmlns:a16="http://schemas.microsoft.com/office/drawing/2014/main" id="{0EE3F248-2B19-2ED6-3153-F442EEAAA29C}"/>
              </a:ext>
            </a:extLst>
          </p:cNvPr>
          <p:cNvSpPr/>
          <p:nvPr/>
        </p:nvSpPr>
        <p:spPr>
          <a:xfrm>
            <a:off x="8328063" y="1428005"/>
            <a:ext cx="2855997" cy="1795912"/>
          </a:xfrm>
          <a:prstGeom prst="rect">
            <a:avLst/>
          </a:prstGeom>
          <a:solidFill>
            <a:schemeClr val="tx2">
              <a:lumMod val="40000"/>
              <a:lumOff val="60000"/>
            </a:schemeClr>
          </a:solidFill>
          <a:ln>
            <a:solidFill>
              <a:schemeClr val="accent1"/>
            </a:solidFill>
            <a:miter lim="800000"/>
          </a:ln>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cxnSp>
        <p:nvCxnSpPr>
          <p:cNvPr id="60" name="Straight Connector 59">
            <a:extLst>
              <a:ext uri="{FF2B5EF4-FFF2-40B4-BE49-F238E27FC236}">
                <a16:creationId xmlns:a16="http://schemas.microsoft.com/office/drawing/2014/main" id="{3F113873-E04C-AC1F-467F-BC4837A97AC8}"/>
              </a:ext>
            </a:extLst>
          </p:cNvPr>
          <p:cNvCxnSpPr>
            <a:cxnSpLocks/>
          </p:cNvCxnSpPr>
          <p:nvPr/>
        </p:nvCxnSpPr>
        <p:spPr>
          <a:xfrm flipH="1">
            <a:off x="7809275" y="3447022"/>
            <a:ext cx="1407351"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id="{D843A27D-680A-B0A4-31EE-0B503291EAAA}"/>
              </a:ext>
            </a:extLst>
          </p:cNvPr>
          <p:cNvCxnSpPr>
            <a:cxnSpLocks/>
            <a:endCxn id="78" idx="6"/>
          </p:cNvCxnSpPr>
          <p:nvPr/>
        </p:nvCxnSpPr>
        <p:spPr>
          <a:xfrm flipH="1" flipV="1">
            <a:off x="7795018" y="3924095"/>
            <a:ext cx="877817" cy="762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a16="http://schemas.microsoft.com/office/drawing/2014/main" id="{450A692E-C89D-8D58-56EB-42AF82071FC2}"/>
              </a:ext>
            </a:extLst>
          </p:cNvPr>
          <p:cNvCxnSpPr>
            <a:cxnSpLocks/>
            <a:endCxn id="77" idx="6"/>
          </p:cNvCxnSpPr>
          <p:nvPr/>
        </p:nvCxnSpPr>
        <p:spPr>
          <a:xfrm flipH="1" flipV="1">
            <a:off x="7791648" y="3734492"/>
            <a:ext cx="884103" cy="4754"/>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64" name="Rectangle 63">
            <a:extLst>
              <a:ext uri="{FF2B5EF4-FFF2-40B4-BE49-F238E27FC236}">
                <a16:creationId xmlns:a16="http://schemas.microsoft.com/office/drawing/2014/main" id="{CA1F5C9C-74D4-33FF-41F1-B79E55092C74}"/>
              </a:ext>
            </a:extLst>
          </p:cNvPr>
          <p:cNvSpPr/>
          <p:nvPr/>
        </p:nvSpPr>
        <p:spPr>
          <a:xfrm>
            <a:off x="9198189" y="4617641"/>
            <a:ext cx="200766" cy="211540"/>
          </a:xfrm>
          <a:prstGeom prst="rect">
            <a:avLst/>
          </a:prstGeom>
          <a:solidFill>
            <a:schemeClr val="bg1"/>
          </a:solidFill>
          <a:ln w="28575">
            <a:solidFill>
              <a:schemeClr val="bg1"/>
            </a:solidFill>
            <a:miter lim="800000"/>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67" name="Rectangle: Rounded Corners 66">
            <a:extLst>
              <a:ext uri="{FF2B5EF4-FFF2-40B4-BE49-F238E27FC236}">
                <a16:creationId xmlns:a16="http://schemas.microsoft.com/office/drawing/2014/main" id="{AFD11055-E9AB-918B-7762-EC99298D170E}"/>
              </a:ext>
            </a:extLst>
          </p:cNvPr>
          <p:cNvSpPr/>
          <p:nvPr/>
        </p:nvSpPr>
        <p:spPr>
          <a:xfrm>
            <a:off x="8671871" y="3584224"/>
            <a:ext cx="1055675" cy="596388"/>
          </a:xfrm>
          <a:prstGeom prst="roundRect">
            <a:avLst>
              <a:gd name="adj" fmla="val 13965"/>
            </a:avLst>
          </a:prstGeom>
          <a:solidFill>
            <a:schemeClr val="accent3">
              <a:lumMod val="40000"/>
              <a:lumOff val="60000"/>
            </a:schemeClr>
          </a:solidFill>
          <a:ln w="12700">
            <a:solidFill>
              <a:schemeClr val="tx1"/>
            </a:solidFill>
          </a:ln>
          <a:scene3d>
            <a:camera prst="orthographicFront"/>
            <a:lightRig rig="threePt" dir="t"/>
          </a:scene3d>
          <a:sp3d>
            <a:bevelT w="10795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MAX77958</a:t>
            </a:r>
          </a:p>
          <a:p>
            <a:pPr algn="ctr"/>
            <a:r>
              <a:rPr lang="en-US" sz="800" b="1" dirty="0">
                <a:solidFill>
                  <a:schemeClr val="tx1">
                    <a:lumMod val="85000"/>
                    <a:lumOff val="15000"/>
                  </a:schemeClr>
                </a:solidFill>
                <a:latin typeface="Barlow" panose="00000500000000000000" pitchFamily="2" charset="0"/>
              </a:rPr>
              <a:t>PD negotiator</a:t>
            </a:r>
          </a:p>
        </p:txBody>
      </p:sp>
      <p:sp>
        <p:nvSpPr>
          <p:cNvPr id="68" name="Rectangle: Rounded Corners 67">
            <a:extLst>
              <a:ext uri="{FF2B5EF4-FFF2-40B4-BE49-F238E27FC236}">
                <a16:creationId xmlns:a16="http://schemas.microsoft.com/office/drawing/2014/main" id="{2DB1EBA0-3635-00CA-2171-72C2BC43F052}"/>
              </a:ext>
            </a:extLst>
          </p:cNvPr>
          <p:cNvSpPr/>
          <p:nvPr/>
        </p:nvSpPr>
        <p:spPr>
          <a:xfrm>
            <a:off x="10178581" y="3584224"/>
            <a:ext cx="1043107" cy="601611"/>
          </a:xfrm>
          <a:prstGeom prst="roundRect">
            <a:avLst>
              <a:gd name="adj" fmla="val 1258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MAX77986</a:t>
            </a:r>
          </a:p>
          <a:p>
            <a:pPr algn="ctr"/>
            <a:r>
              <a:rPr lang="en-US" sz="800" b="1" dirty="0">
                <a:solidFill>
                  <a:schemeClr val="tx1">
                    <a:lumMod val="85000"/>
                    <a:lumOff val="15000"/>
                  </a:schemeClr>
                </a:solidFill>
                <a:latin typeface="Barlow" panose="00000500000000000000" pitchFamily="2" charset="0"/>
              </a:rPr>
              <a:t>Buck Charger</a:t>
            </a:r>
          </a:p>
        </p:txBody>
      </p:sp>
      <p:sp>
        <p:nvSpPr>
          <p:cNvPr id="69" name="TextBox 68">
            <a:extLst>
              <a:ext uri="{FF2B5EF4-FFF2-40B4-BE49-F238E27FC236}">
                <a16:creationId xmlns:a16="http://schemas.microsoft.com/office/drawing/2014/main" id="{D9960E24-3E02-F8DF-BF2B-25F1026BCB7B}"/>
              </a:ext>
            </a:extLst>
          </p:cNvPr>
          <p:cNvSpPr txBox="1"/>
          <p:nvPr/>
        </p:nvSpPr>
        <p:spPr>
          <a:xfrm rot="16200000">
            <a:off x="9519337" y="3741936"/>
            <a:ext cx="308253" cy="205901"/>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M</a:t>
            </a:r>
          </a:p>
        </p:txBody>
      </p:sp>
      <p:sp>
        <p:nvSpPr>
          <p:cNvPr id="70" name="Rectangle: Rounded Corners 69">
            <a:extLst>
              <a:ext uri="{FF2B5EF4-FFF2-40B4-BE49-F238E27FC236}">
                <a16:creationId xmlns:a16="http://schemas.microsoft.com/office/drawing/2014/main" id="{78658604-45AD-57AB-0D52-B190DBA1A3DD}"/>
              </a:ext>
            </a:extLst>
          </p:cNvPr>
          <p:cNvSpPr/>
          <p:nvPr/>
        </p:nvSpPr>
        <p:spPr>
          <a:xfrm>
            <a:off x="8666776" y="4517463"/>
            <a:ext cx="1031847" cy="601611"/>
          </a:xfrm>
          <a:prstGeom prst="roundRect">
            <a:avLst>
              <a:gd name="adj" fmla="val 11327"/>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b="1" dirty="0">
                <a:solidFill>
                  <a:schemeClr val="tx1">
                    <a:lumMod val="85000"/>
                    <a:lumOff val="15000"/>
                  </a:schemeClr>
                </a:solidFill>
                <a:latin typeface="Barlow" panose="00000500000000000000" pitchFamily="2" charset="0"/>
              </a:rPr>
              <a:t>MAX32660</a:t>
            </a:r>
          </a:p>
          <a:p>
            <a:pPr algn="ctr"/>
            <a:r>
              <a:rPr lang="en-US" sz="800" b="1" dirty="0">
                <a:solidFill>
                  <a:schemeClr val="tx1">
                    <a:lumMod val="85000"/>
                    <a:lumOff val="15000"/>
                  </a:schemeClr>
                </a:solidFill>
                <a:latin typeface="Barlow" panose="00000500000000000000" pitchFamily="2" charset="0"/>
              </a:rPr>
              <a:t>MCU</a:t>
            </a:r>
          </a:p>
        </p:txBody>
      </p:sp>
      <p:grpSp>
        <p:nvGrpSpPr>
          <p:cNvPr id="71" name="Group 70">
            <a:extLst>
              <a:ext uri="{FF2B5EF4-FFF2-40B4-BE49-F238E27FC236}">
                <a16:creationId xmlns:a16="http://schemas.microsoft.com/office/drawing/2014/main" id="{190EF09B-F397-7995-9110-67FC8A3725C8}"/>
              </a:ext>
            </a:extLst>
          </p:cNvPr>
          <p:cNvGrpSpPr/>
          <p:nvPr/>
        </p:nvGrpSpPr>
        <p:grpSpPr>
          <a:xfrm>
            <a:off x="11532227" y="5186410"/>
            <a:ext cx="174123" cy="65512"/>
            <a:chOff x="8643839" y="3430799"/>
            <a:chExt cx="290244" cy="111833"/>
          </a:xfrm>
        </p:grpSpPr>
        <p:cxnSp>
          <p:nvCxnSpPr>
            <p:cNvPr id="99" name="Straight Connector 98">
              <a:extLst>
                <a:ext uri="{FF2B5EF4-FFF2-40B4-BE49-F238E27FC236}">
                  <a16:creationId xmlns:a16="http://schemas.microsoft.com/office/drawing/2014/main" id="{B0B2B54C-852C-52B9-DA0F-3E26DF17C799}"/>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00" name="Straight Connector 99">
              <a:extLst>
                <a:ext uri="{FF2B5EF4-FFF2-40B4-BE49-F238E27FC236}">
                  <a16:creationId xmlns:a16="http://schemas.microsoft.com/office/drawing/2014/main" id="{5B335A13-7C2B-A7F7-9495-9B0DF685F155}"/>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01" name="Straight Connector 100">
              <a:extLst>
                <a:ext uri="{FF2B5EF4-FFF2-40B4-BE49-F238E27FC236}">
                  <a16:creationId xmlns:a16="http://schemas.microsoft.com/office/drawing/2014/main" id="{AB0D6535-1DE8-40E9-2228-9FB7445DDB21}"/>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sp>
        <p:nvSpPr>
          <p:cNvPr id="72" name="TextBox 71">
            <a:extLst>
              <a:ext uri="{FF2B5EF4-FFF2-40B4-BE49-F238E27FC236}">
                <a16:creationId xmlns:a16="http://schemas.microsoft.com/office/drawing/2014/main" id="{059D4076-C132-86B4-6536-96DCCF6CB568}"/>
              </a:ext>
            </a:extLst>
          </p:cNvPr>
          <p:cNvSpPr txBox="1"/>
          <p:nvPr/>
        </p:nvSpPr>
        <p:spPr>
          <a:xfrm>
            <a:off x="9058785" y="4042680"/>
            <a:ext cx="315683" cy="201055"/>
          </a:xfrm>
          <a:prstGeom prst="rect">
            <a:avLst/>
          </a:prstGeom>
          <a:noFill/>
          <a:ln w="28575">
            <a:noFill/>
          </a:ln>
          <a:scene3d>
            <a:camera prst="orthographicFront"/>
            <a:lightRig rig="threePt" dir="t"/>
          </a:scene3d>
          <a:sp3d>
            <a:bevelT w="165100" prst="coolSlant"/>
          </a:sp3d>
        </p:spPr>
        <p:txBody>
          <a:bodyPr wrap="none" lIns="0" tIns="0" rIns="0" bIns="0" rtlCol="0">
            <a:noAutofit/>
          </a:bodyPr>
          <a:lstStyle/>
          <a:p>
            <a:pPr defTabSz="699374">
              <a:spcBef>
                <a:spcPts val="1530"/>
              </a:spcBef>
              <a:buClr>
                <a:srgbClr val="1E4056"/>
              </a:buClr>
              <a:buSzPct val="75000"/>
            </a:pPr>
            <a:r>
              <a:rPr lang="en-US" sz="600" dirty="0">
                <a:ln w="0"/>
                <a:effectLst>
                  <a:outerShdw blurRad="38100" dist="19050" dir="2700000" algn="tl" rotWithShape="0">
                    <a:schemeClr val="dk1">
                      <a:alpha val="40000"/>
                    </a:schemeClr>
                  </a:outerShdw>
                </a:effectLst>
                <a:latin typeface="Barlow" panose="00000500000000000000" pitchFamily="2" charset="0"/>
              </a:rPr>
              <a:t>I2C S</a:t>
            </a:r>
          </a:p>
        </p:txBody>
      </p:sp>
      <p:cxnSp>
        <p:nvCxnSpPr>
          <p:cNvPr id="73" name="Connector: Elbow 72">
            <a:extLst>
              <a:ext uri="{FF2B5EF4-FFF2-40B4-BE49-F238E27FC236}">
                <a16:creationId xmlns:a16="http://schemas.microsoft.com/office/drawing/2014/main" id="{FF2EB8BB-CEED-50C7-5CD1-0DCB82E777AD}"/>
              </a:ext>
            </a:extLst>
          </p:cNvPr>
          <p:cNvCxnSpPr>
            <a:cxnSpLocks/>
          </p:cNvCxnSpPr>
          <p:nvPr/>
        </p:nvCxnSpPr>
        <p:spPr>
          <a:xfrm rot="16200000" flipH="1">
            <a:off x="9940612" y="2838732"/>
            <a:ext cx="2809" cy="1493794"/>
          </a:xfrm>
          <a:prstGeom prst="bentConnector3">
            <a:avLst>
              <a:gd name="adj1" fmla="val -4870673"/>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74" name="Straight Connector 73">
            <a:extLst>
              <a:ext uri="{FF2B5EF4-FFF2-40B4-BE49-F238E27FC236}">
                <a16:creationId xmlns:a16="http://schemas.microsoft.com/office/drawing/2014/main" id="{423A7EF9-53B4-0BCA-7659-A4996961168D}"/>
              </a:ext>
            </a:extLst>
          </p:cNvPr>
          <p:cNvCxnSpPr>
            <a:cxnSpLocks/>
          </p:cNvCxnSpPr>
          <p:nvPr/>
        </p:nvCxnSpPr>
        <p:spPr>
          <a:xfrm flipH="1">
            <a:off x="7880004" y="4062016"/>
            <a:ext cx="22391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75" name="Straight Connector 74">
            <a:extLst>
              <a:ext uri="{FF2B5EF4-FFF2-40B4-BE49-F238E27FC236}">
                <a16:creationId xmlns:a16="http://schemas.microsoft.com/office/drawing/2014/main" id="{692A3EC7-2799-710C-12C2-73F13D820680}"/>
              </a:ext>
            </a:extLst>
          </p:cNvPr>
          <p:cNvCxnSpPr>
            <a:cxnSpLocks/>
          </p:cNvCxnSpPr>
          <p:nvPr/>
        </p:nvCxnSpPr>
        <p:spPr>
          <a:xfrm>
            <a:off x="8103916" y="4062016"/>
            <a:ext cx="0" cy="18995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79" name="TextBox 78">
            <a:extLst>
              <a:ext uri="{FF2B5EF4-FFF2-40B4-BE49-F238E27FC236}">
                <a16:creationId xmlns:a16="http://schemas.microsoft.com/office/drawing/2014/main" id="{4A520E13-7A87-BF98-D5BD-37EAAC2C4003}"/>
              </a:ext>
            </a:extLst>
          </p:cNvPr>
          <p:cNvSpPr txBox="1"/>
          <p:nvPr/>
        </p:nvSpPr>
        <p:spPr>
          <a:xfrm>
            <a:off x="7866696" y="3287102"/>
            <a:ext cx="40588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VBUS</a:t>
            </a:r>
          </a:p>
        </p:txBody>
      </p:sp>
      <p:sp>
        <p:nvSpPr>
          <p:cNvPr id="80" name="TextBox 79">
            <a:extLst>
              <a:ext uri="{FF2B5EF4-FFF2-40B4-BE49-F238E27FC236}">
                <a16:creationId xmlns:a16="http://schemas.microsoft.com/office/drawing/2014/main" id="{3380E29F-81BF-9A55-716C-57B820A69792}"/>
              </a:ext>
            </a:extLst>
          </p:cNvPr>
          <p:cNvSpPr txBox="1"/>
          <p:nvPr/>
        </p:nvSpPr>
        <p:spPr>
          <a:xfrm>
            <a:off x="7856427" y="3563244"/>
            <a:ext cx="325730"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CC1</a:t>
            </a:r>
          </a:p>
        </p:txBody>
      </p:sp>
      <p:sp>
        <p:nvSpPr>
          <p:cNvPr id="81" name="TextBox 80">
            <a:extLst>
              <a:ext uri="{FF2B5EF4-FFF2-40B4-BE49-F238E27FC236}">
                <a16:creationId xmlns:a16="http://schemas.microsoft.com/office/drawing/2014/main" id="{D8C8AD0F-1718-02C1-66C4-7578FD35B2D8}"/>
              </a:ext>
            </a:extLst>
          </p:cNvPr>
          <p:cNvSpPr txBox="1"/>
          <p:nvPr/>
        </p:nvSpPr>
        <p:spPr>
          <a:xfrm>
            <a:off x="7846927" y="3745582"/>
            <a:ext cx="343364" cy="200055"/>
          </a:xfrm>
          <a:prstGeom prst="rect">
            <a:avLst/>
          </a:prstGeom>
          <a:noFill/>
          <a:ln w="28575">
            <a:noFill/>
          </a:ln>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CC2</a:t>
            </a:r>
          </a:p>
        </p:txBody>
      </p:sp>
      <p:cxnSp>
        <p:nvCxnSpPr>
          <p:cNvPr id="83" name="Connector: Elbow 82">
            <a:extLst>
              <a:ext uri="{FF2B5EF4-FFF2-40B4-BE49-F238E27FC236}">
                <a16:creationId xmlns:a16="http://schemas.microsoft.com/office/drawing/2014/main" id="{BF37A536-0C97-2459-132B-68ED0A83B3CF}"/>
              </a:ext>
            </a:extLst>
          </p:cNvPr>
          <p:cNvCxnSpPr>
            <a:cxnSpLocks/>
          </p:cNvCxnSpPr>
          <p:nvPr/>
        </p:nvCxnSpPr>
        <p:spPr>
          <a:xfrm>
            <a:off x="11220564" y="3894453"/>
            <a:ext cx="396787" cy="693340"/>
          </a:xfrm>
          <a:prstGeom prst="bentConnector2">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E5CA61C0-D6D7-C6AF-62A1-62D06FDB524A}"/>
              </a:ext>
            </a:extLst>
          </p:cNvPr>
          <p:cNvCxnSpPr>
            <a:cxnSpLocks/>
          </p:cNvCxnSpPr>
          <p:nvPr/>
        </p:nvCxnSpPr>
        <p:spPr>
          <a:xfrm>
            <a:off x="11618865" y="4573618"/>
            <a:ext cx="0" cy="612796"/>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85" name="Arrow: Left-Right 84">
            <a:extLst>
              <a:ext uri="{FF2B5EF4-FFF2-40B4-BE49-F238E27FC236}">
                <a16:creationId xmlns:a16="http://schemas.microsoft.com/office/drawing/2014/main" id="{1BDAA882-EF99-E1A1-2AC5-552DB90ECD32}"/>
              </a:ext>
            </a:extLst>
          </p:cNvPr>
          <p:cNvSpPr/>
          <p:nvPr/>
        </p:nvSpPr>
        <p:spPr>
          <a:xfrm>
            <a:off x="9749723" y="3795153"/>
            <a:ext cx="406681" cy="154401"/>
          </a:xfrm>
          <a:prstGeom prst="leftRightArrow">
            <a:avLst>
              <a:gd name="adj1" fmla="val 62815"/>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86" name="Arrow: Left-Right 85">
            <a:extLst>
              <a:ext uri="{FF2B5EF4-FFF2-40B4-BE49-F238E27FC236}">
                <a16:creationId xmlns:a16="http://schemas.microsoft.com/office/drawing/2014/main" id="{4D985557-830A-04F8-C3CE-C0231A1439F8}"/>
              </a:ext>
            </a:extLst>
          </p:cNvPr>
          <p:cNvSpPr/>
          <p:nvPr/>
        </p:nvSpPr>
        <p:spPr>
          <a:xfrm rot="5400000">
            <a:off x="9001534" y="4281652"/>
            <a:ext cx="331271" cy="144867"/>
          </a:xfrm>
          <a:prstGeom prst="leftRightArrow">
            <a:avLst>
              <a:gd name="adj1" fmla="val 64387"/>
              <a:gd name="adj2" fmla="val 57191"/>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88" name="TextBox 87">
            <a:extLst>
              <a:ext uri="{FF2B5EF4-FFF2-40B4-BE49-F238E27FC236}">
                <a16:creationId xmlns:a16="http://schemas.microsoft.com/office/drawing/2014/main" id="{1836448C-2075-52EA-41D7-51523C0C40D5}"/>
              </a:ext>
            </a:extLst>
          </p:cNvPr>
          <p:cNvSpPr txBox="1"/>
          <p:nvPr/>
        </p:nvSpPr>
        <p:spPr>
          <a:xfrm>
            <a:off x="9804336" y="3769613"/>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sp>
        <p:nvSpPr>
          <p:cNvPr id="90" name="TextBox 89">
            <a:extLst>
              <a:ext uri="{FF2B5EF4-FFF2-40B4-BE49-F238E27FC236}">
                <a16:creationId xmlns:a16="http://schemas.microsoft.com/office/drawing/2014/main" id="{1D82E54E-A4DE-CC9B-41E2-2558A060445B}"/>
              </a:ext>
            </a:extLst>
          </p:cNvPr>
          <p:cNvSpPr txBox="1"/>
          <p:nvPr/>
        </p:nvSpPr>
        <p:spPr>
          <a:xfrm rot="16200000">
            <a:off x="9007986" y="4254058"/>
            <a:ext cx="312906"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I2C</a:t>
            </a:r>
          </a:p>
        </p:txBody>
      </p:sp>
      <p:grpSp>
        <p:nvGrpSpPr>
          <p:cNvPr id="91" name="Group 90">
            <a:extLst>
              <a:ext uri="{FF2B5EF4-FFF2-40B4-BE49-F238E27FC236}">
                <a16:creationId xmlns:a16="http://schemas.microsoft.com/office/drawing/2014/main" id="{F6601D87-5332-B538-7B9A-628AA6B2639D}"/>
              </a:ext>
            </a:extLst>
          </p:cNvPr>
          <p:cNvGrpSpPr/>
          <p:nvPr/>
        </p:nvGrpSpPr>
        <p:grpSpPr>
          <a:xfrm>
            <a:off x="8015734" y="4251966"/>
            <a:ext cx="174123" cy="65512"/>
            <a:chOff x="8643839" y="3430799"/>
            <a:chExt cx="290244" cy="111833"/>
          </a:xfrm>
        </p:grpSpPr>
        <p:cxnSp>
          <p:nvCxnSpPr>
            <p:cNvPr id="96" name="Straight Connector 95">
              <a:extLst>
                <a:ext uri="{FF2B5EF4-FFF2-40B4-BE49-F238E27FC236}">
                  <a16:creationId xmlns:a16="http://schemas.microsoft.com/office/drawing/2014/main" id="{21595D80-D1D8-23FC-E865-9BF3F3A62BCA}"/>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97" name="Straight Connector 96">
              <a:extLst>
                <a:ext uri="{FF2B5EF4-FFF2-40B4-BE49-F238E27FC236}">
                  <a16:creationId xmlns:a16="http://schemas.microsoft.com/office/drawing/2014/main" id="{009A3C4C-79D5-91C6-1CBF-76B779F84D44}"/>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982BF63D-7A61-C919-B306-C7ED16187471}"/>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pic>
        <p:nvPicPr>
          <p:cNvPr id="92" name="Picture 91">
            <a:extLst>
              <a:ext uri="{FF2B5EF4-FFF2-40B4-BE49-F238E27FC236}">
                <a16:creationId xmlns:a16="http://schemas.microsoft.com/office/drawing/2014/main" id="{34998C35-D4B7-884B-4BAF-CA67477EBA11}"/>
              </a:ext>
            </a:extLst>
          </p:cNvPr>
          <p:cNvPicPr>
            <a:picLocks noChangeAspect="1"/>
          </p:cNvPicPr>
          <p:nvPr/>
        </p:nvPicPr>
        <p:blipFill>
          <a:blip r:embed="rId5"/>
          <a:stretch>
            <a:fillRect/>
          </a:stretch>
        </p:blipFill>
        <p:spPr>
          <a:xfrm>
            <a:off x="11430992" y="4659471"/>
            <a:ext cx="375136" cy="356208"/>
          </a:xfrm>
          <a:prstGeom prst="rect">
            <a:avLst/>
          </a:prstGeom>
        </p:spPr>
      </p:pic>
      <p:sp>
        <p:nvSpPr>
          <p:cNvPr id="102" name="Arrow: Left-Up 101">
            <a:extLst>
              <a:ext uri="{FF2B5EF4-FFF2-40B4-BE49-F238E27FC236}">
                <a16:creationId xmlns:a16="http://schemas.microsoft.com/office/drawing/2014/main" id="{446F1BBD-8051-BDC4-9184-0E90161790C1}"/>
              </a:ext>
            </a:extLst>
          </p:cNvPr>
          <p:cNvSpPr/>
          <p:nvPr/>
        </p:nvSpPr>
        <p:spPr>
          <a:xfrm flipH="1">
            <a:off x="8328064" y="3219823"/>
            <a:ext cx="328010" cy="1639432"/>
          </a:xfrm>
          <a:prstGeom prst="leftUpArrow">
            <a:avLst/>
          </a:prstGeom>
          <a:solidFill>
            <a:schemeClr val="accent5">
              <a:lumMod val="60000"/>
              <a:lumOff val="4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1600" dirty="0" err="1">
              <a:solidFill>
                <a:srgbClr val="000000"/>
              </a:solidFill>
              <a:latin typeface="Barlow" pitchFamily="2" charset="77"/>
              <a:cs typeface="Arial" panose="020B0604020202020204" pitchFamily="34" charset="0"/>
            </a:endParaRPr>
          </a:p>
        </p:txBody>
      </p:sp>
      <p:sp>
        <p:nvSpPr>
          <p:cNvPr id="103" name="TextBox 102">
            <a:extLst>
              <a:ext uri="{FF2B5EF4-FFF2-40B4-BE49-F238E27FC236}">
                <a16:creationId xmlns:a16="http://schemas.microsoft.com/office/drawing/2014/main" id="{BA607E0D-13E6-21CB-416E-BBD11406BE27}"/>
              </a:ext>
            </a:extLst>
          </p:cNvPr>
          <p:cNvSpPr txBox="1"/>
          <p:nvPr/>
        </p:nvSpPr>
        <p:spPr>
          <a:xfrm rot="16200000">
            <a:off x="8238073" y="3013744"/>
            <a:ext cx="354584" cy="200055"/>
          </a:xfrm>
          <a:prstGeom prst="rect">
            <a:avLst/>
          </a:prstGeom>
          <a:noFill/>
          <a:scene3d>
            <a:camera prst="orthographicFront"/>
            <a:lightRig rig="threePt" dir="t"/>
          </a:scene3d>
          <a:sp3d>
            <a:bevelT w="165100" prst="coolSlant"/>
          </a:sp3d>
        </p:spPr>
        <p:txBody>
          <a:bodyPr wrap="none" rtlCol="0">
            <a:spAutoFit/>
          </a:bodyPr>
          <a:lstStyle/>
          <a:p>
            <a:r>
              <a:rPr lang="en-US" sz="700" b="1" dirty="0">
                <a:latin typeface="Barlow" panose="00000500000000000000" pitchFamily="2" charset="0"/>
              </a:rPr>
              <a:t>RUN</a:t>
            </a:r>
          </a:p>
        </p:txBody>
      </p:sp>
      <p:grpSp>
        <p:nvGrpSpPr>
          <p:cNvPr id="118" name="Group 117">
            <a:extLst>
              <a:ext uri="{FF2B5EF4-FFF2-40B4-BE49-F238E27FC236}">
                <a16:creationId xmlns:a16="http://schemas.microsoft.com/office/drawing/2014/main" id="{E848DEE7-07B8-B801-F283-4991E5409F89}"/>
              </a:ext>
            </a:extLst>
          </p:cNvPr>
          <p:cNvGrpSpPr/>
          <p:nvPr/>
        </p:nvGrpSpPr>
        <p:grpSpPr>
          <a:xfrm>
            <a:off x="7621105" y="3295185"/>
            <a:ext cx="259035" cy="885426"/>
            <a:chOff x="6498615" y="3069590"/>
            <a:chExt cx="303099" cy="1091099"/>
          </a:xfrm>
        </p:grpSpPr>
        <p:sp>
          <p:nvSpPr>
            <p:cNvPr id="63" name="Rectangle: Rounded Corners 62">
              <a:extLst>
                <a:ext uri="{FF2B5EF4-FFF2-40B4-BE49-F238E27FC236}">
                  <a16:creationId xmlns:a16="http://schemas.microsoft.com/office/drawing/2014/main" id="{42204514-8689-18C4-6F1B-372B49377E2F}"/>
                </a:ext>
              </a:extLst>
            </p:cNvPr>
            <p:cNvSpPr/>
            <p:nvPr/>
          </p:nvSpPr>
          <p:spPr>
            <a:xfrm>
              <a:off x="6498615" y="3069590"/>
              <a:ext cx="303099" cy="1091099"/>
            </a:xfrm>
            <a:prstGeom prst="roundRect">
              <a:avLst>
                <a:gd name="adj" fmla="val 50000"/>
              </a:avLst>
            </a:prstGeom>
            <a:solidFill>
              <a:schemeClr val="bg1">
                <a:lumMod val="85000"/>
              </a:schemeClr>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6" name="Oval 75">
              <a:extLst>
                <a:ext uri="{FF2B5EF4-FFF2-40B4-BE49-F238E27FC236}">
                  <a16:creationId xmlns:a16="http://schemas.microsoft.com/office/drawing/2014/main" id="{F8AD257D-01E2-2175-4610-73C24502A226}"/>
                </a:ext>
              </a:extLst>
            </p:cNvPr>
            <p:cNvSpPr/>
            <p:nvPr/>
          </p:nvSpPr>
          <p:spPr>
            <a:xfrm>
              <a:off x="6597935" y="3208163"/>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latin typeface="Barlow" panose="00000500000000000000" pitchFamily="2" charset="0"/>
              </a:endParaRPr>
            </a:p>
          </p:txBody>
        </p:sp>
        <p:sp>
          <p:nvSpPr>
            <p:cNvPr id="77" name="Oval 76">
              <a:extLst>
                <a:ext uri="{FF2B5EF4-FFF2-40B4-BE49-F238E27FC236}">
                  <a16:creationId xmlns:a16="http://schemas.microsoft.com/office/drawing/2014/main" id="{BC70FF8A-AEFA-0140-A5AA-93DCAE81181C}"/>
                </a:ext>
              </a:extLst>
            </p:cNvPr>
            <p:cNvSpPr/>
            <p:nvPr/>
          </p:nvSpPr>
          <p:spPr>
            <a:xfrm>
              <a:off x="6592543" y="3555960"/>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sp>
          <p:nvSpPr>
            <p:cNvPr id="78" name="Oval 77">
              <a:extLst>
                <a:ext uri="{FF2B5EF4-FFF2-40B4-BE49-F238E27FC236}">
                  <a16:creationId xmlns:a16="http://schemas.microsoft.com/office/drawing/2014/main" id="{D69F47D6-56A5-C3ED-8CAE-3FC3F3FB702E}"/>
                </a:ext>
              </a:extLst>
            </p:cNvPr>
            <p:cNvSpPr/>
            <p:nvPr/>
          </p:nvSpPr>
          <p:spPr>
            <a:xfrm>
              <a:off x="6596486" y="3789606"/>
              <a:ext cx="105626" cy="109962"/>
            </a:xfrm>
            <a:prstGeom prst="ellipse">
              <a:avLst/>
            </a:prstGeom>
            <a:solidFill>
              <a:schemeClr val="bg1"/>
            </a:solidFill>
            <a:ln w="12700">
              <a:solidFill>
                <a:schemeClr val="tx1"/>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Barlow" panose="00000500000000000000" pitchFamily="2" charset="0"/>
              </a:endParaRPr>
            </a:p>
          </p:txBody>
        </p:sp>
      </p:grpSp>
      <p:sp>
        <p:nvSpPr>
          <p:cNvPr id="119" name="TextBox 118">
            <a:extLst>
              <a:ext uri="{FF2B5EF4-FFF2-40B4-BE49-F238E27FC236}">
                <a16:creationId xmlns:a16="http://schemas.microsoft.com/office/drawing/2014/main" id="{3A540F9C-0F22-907B-FCB5-78E8C7C7D70A}"/>
              </a:ext>
            </a:extLst>
          </p:cNvPr>
          <p:cNvSpPr txBox="1"/>
          <p:nvPr/>
        </p:nvSpPr>
        <p:spPr>
          <a:xfrm>
            <a:off x="11040259" y="5485631"/>
            <a:ext cx="781465" cy="293983"/>
          </a:xfrm>
          <a:prstGeom prst="rect">
            <a:avLst/>
          </a:prstGeom>
        </p:spPr>
        <p:txBody>
          <a:bodyPr vert="horz" wrap="none" lIns="0" tIns="0" rIns="0" bIns="0" rtlCol="0" anchor="t" anchorCtr="0">
            <a:normAutofit/>
          </a:bodyPr>
          <a:lstStyle/>
          <a:p>
            <a:pPr algn="l"/>
            <a:r>
              <a:rPr lang="en-US" sz="1400" b="1" dirty="0">
                <a:solidFill>
                  <a:schemeClr val="accent2">
                    <a:lumMod val="75000"/>
                  </a:schemeClr>
                </a:solidFill>
              </a:rPr>
              <a:t>Sink side</a:t>
            </a:r>
          </a:p>
        </p:txBody>
      </p:sp>
      <p:sp>
        <p:nvSpPr>
          <p:cNvPr id="7" name="TextBox 6">
            <a:extLst>
              <a:ext uri="{FF2B5EF4-FFF2-40B4-BE49-F238E27FC236}">
                <a16:creationId xmlns:a16="http://schemas.microsoft.com/office/drawing/2014/main" id="{5E1F013F-1E85-41BC-47EA-4DDBDA17DC0F}"/>
              </a:ext>
            </a:extLst>
          </p:cNvPr>
          <p:cNvSpPr txBox="1"/>
          <p:nvPr/>
        </p:nvSpPr>
        <p:spPr>
          <a:xfrm>
            <a:off x="10475124" y="2805518"/>
            <a:ext cx="914400" cy="914400"/>
          </a:xfrm>
          <a:prstGeom prst="rect">
            <a:avLst/>
          </a:prstGeom>
        </p:spPr>
        <p:txBody>
          <a:bodyPr vert="horz" wrap="none" lIns="0" tIns="0" rIns="0" bIns="0" rtlCol="0" anchor="t" anchorCtr="0">
            <a:normAutofit/>
          </a:bodyPr>
          <a:lstStyle/>
          <a:p>
            <a:pPr algn="l"/>
            <a:r>
              <a:rPr lang="en-US" sz="1200" b="1" dirty="0"/>
              <a:t>LTC7825</a:t>
            </a:r>
          </a:p>
          <a:p>
            <a:pPr algn="l"/>
            <a:r>
              <a:rPr lang="en-US" sz="1200" b="1" dirty="0"/>
              <a:t>    </a:t>
            </a:r>
            <a:r>
              <a:rPr lang="en-US" sz="1000" b="1" dirty="0"/>
              <a:t>(S.C.C.)</a:t>
            </a:r>
            <a:endParaRPr lang="en-US" sz="1200" b="1" dirty="0"/>
          </a:p>
        </p:txBody>
      </p:sp>
      <p:pic>
        <p:nvPicPr>
          <p:cNvPr id="14" name="Picture 13" descr="A group of circles with arrows&#10;&#10;Description automatically generated">
            <a:extLst>
              <a:ext uri="{FF2B5EF4-FFF2-40B4-BE49-F238E27FC236}">
                <a16:creationId xmlns:a16="http://schemas.microsoft.com/office/drawing/2014/main" id="{23EB1628-81FC-66CE-04E8-4B3411C8CCE2}"/>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8003337" y="1495657"/>
            <a:ext cx="3095549" cy="1724166"/>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95755AC-2D2B-CEAC-E144-0B0B722ED14D}"/>
                  </a:ext>
                </a:extLst>
              </p:cNvPr>
              <p:cNvSpPr txBox="1"/>
              <p:nvPr/>
            </p:nvSpPr>
            <p:spPr>
              <a:xfrm>
                <a:off x="8666776" y="2310823"/>
                <a:ext cx="490262" cy="225831"/>
              </a:xfrm>
              <a:prstGeom prst="rect">
                <a:avLst/>
              </a:prstGeom>
              <a:noFill/>
              <a:ln w="28575">
                <a:noFill/>
              </a:ln>
              <a:scene3d>
                <a:camera prst="orthographicFront"/>
                <a:lightRig rig="threePt" dir="t"/>
              </a:scene3d>
              <a:sp3d>
                <a:bevelT w="165100" prst="coolSlan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800" b="1" i="1" dirty="0" smtClean="0">
                              <a:latin typeface="Cambria Math" panose="02040503050406030204" pitchFamily="18" charset="0"/>
                            </a:rPr>
                          </m:ctrlPr>
                        </m:sSubPr>
                        <m:e>
                          <m:r>
                            <m:rPr>
                              <m:nor/>
                            </m:rPr>
                            <a:rPr lang="en-US" sz="800" b="1" i="0" dirty="0" smtClean="0"/>
                            <m:t>C</m:t>
                          </m:r>
                        </m:e>
                        <m:sub>
                          <m:r>
                            <m:rPr>
                              <m:nor/>
                            </m:rPr>
                            <a:rPr lang="en-US" sz="800" b="1" i="0" dirty="0" smtClean="0"/>
                            <m:t>HIGH</m:t>
                          </m:r>
                        </m:sub>
                      </m:sSub>
                    </m:oMath>
                  </m:oMathPara>
                </a14:m>
                <a:endParaRPr lang="en-US" sz="800" b="1" dirty="0"/>
              </a:p>
            </p:txBody>
          </p:sp>
        </mc:Choice>
        <mc:Fallback xmlns="">
          <p:sp>
            <p:nvSpPr>
              <p:cNvPr id="19" name="TextBox 18">
                <a:extLst>
                  <a:ext uri="{FF2B5EF4-FFF2-40B4-BE49-F238E27FC236}">
                    <a16:creationId xmlns:a16="http://schemas.microsoft.com/office/drawing/2014/main" id="{095755AC-2D2B-CEAC-E144-0B0B722ED14D}"/>
                  </a:ext>
                </a:extLst>
              </p:cNvPr>
              <p:cNvSpPr txBox="1">
                <a:spLocks noRot="1" noChangeAspect="1" noMove="1" noResize="1" noEditPoints="1" noAdjustHandles="1" noChangeArrowheads="1" noChangeShapeType="1" noTextEdit="1"/>
              </p:cNvSpPr>
              <p:nvPr/>
            </p:nvSpPr>
            <p:spPr>
              <a:xfrm>
                <a:off x="8666776" y="2310823"/>
                <a:ext cx="490262" cy="225831"/>
              </a:xfrm>
              <a:prstGeom prst="rect">
                <a:avLst/>
              </a:prstGeom>
              <a:blipFill>
                <a:blip r:embed="rId7"/>
                <a:stretch>
                  <a:fillRect/>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0138F13-763A-4504-87E2-87708A44F099}"/>
                  </a:ext>
                </a:extLst>
              </p:cNvPr>
              <p:cNvSpPr txBox="1"/>
              <p:nvPr/>
            </p:nvSpPr>
            <p:spPr>
              <a:xfrm>
                <a:off x="10362468" y="2310822"/>
                <a:ext cx="482248" cy="225511"/>
              </a:xfrm>
              <a:prstGeom prst="rect">
                <a:avLst/>
              </a:prstGeom>
              <a:noFill/>
              <a:ln w="28575">
                <a:noFill/>
              </a:ln>
              <a:scene3d>
                <a:camera prst="orthographicFront"/>
                <a:lightRig rig="threePt" dir="t"/>
              </a:scene3d>
              <a:sp3d>
                <a:bevelT w="165100" prst="coolSlan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800" b="1" i="1" dirty="0" smtClean="0">
                              <a:latin typeface="Cambria Math" panose="02040503050406030204" pitchFamily="18" charset="0"/>
                            </a:rPr>
                          </m:ctrlPr>
                        </m:sSubPr>
                        <m:e>
                          <m:r>
                            <m:rPr>
                              <m:nor/>
                            </m:rPr>
                            <a:rPr lang="en-US" sz="800" b="1" i="0" dirty="0" smtClean="0"/>
                            <m:t>C</m:t>
                          </m:r>
                        </m:e>
                        <m:sub>
                          <m:r>
                            <m:rPr>
                              <m:nor/>
                            </m:rPr>
                            <a:rPr lang="en-US" sz="800" b="1" i="0" dirty="0" smtClean="0"/>
                            <m:t>LOW</m:t>
                          </m:r>
                        </m:sub>
                      </m:sSub>
                    </m:oMath>
                  </m:oMathPara>
                </a14:m>
                <a:endParaRPr lang="en-US" sz="800" b="1" dirty="0"/>
              </a:p>
            </p:txBody>
          </p:sp>
        </mc:Choice>
        <mc:Fallback xmlns="">
          <p:sp>
            <p:nvSpPr>
              <p:cNvPr id="20" name="TextBox 19">
                <a:extLst>
                  <a:ext uri="{FF2B5EF4-FFF2-40B4-BE49-F238E27FC236}">
                    <a16:creationId xmlns:a16="http://schemas.microsoft.com/office/drawing/2014/main" id="{60138F13-763A-4504-87E2-87708A44F099}"/>
                  </a:ext>
                </a:extLst>
              </p:cNvPr>
              <p:cNvSpPr txBox="1">
                <a:spLocks noRot="1" noChangeAspect="1" noMove="1" noResize="1" noEditPoints="1" noAdjustHandles="1" noChangeArrowheads="1" noChangeShapeType="1" noTextEdit="1"/>
              </p:cNvSpPr>
              <p:nvPr/>
            </p:nvSpPr>
            <p:spPr>
              <a:xfrm>
                <a:off x="10362468" y="2310822"/>
                <a:ext cx="482248" cy="225511"/>
              </a:xfrm>
              <a:prstGeom prst="rect">
                <a:avLst/>
              </a:prstGeom>
              <a:blipFill>
                <a:blip r:embed="rId8"/>
                <a:stretch>
                  <a:fillRect/>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0FC8836-E43D-C9C9-4B7B-56B621724210}"/>
                  </a:ext>
                </a:extLst>
              </p:cNvPr>
              <p:cNvSpPr txBox="1"/>
              <p:nvPr/>
            </p:nvSpPr>
            <p:spPr>
              <a:xfrm>
                <a:off x="9508599" y="1711043"/>
                <a:ext cx="445378" cy="223587"/>
              </a:xfrm>
              <a:prstGeom prst="rect">
                <a:avLst/>
              </a:prstGeom>
              <a:noFill/>
              <a:ln w="28575">
                <a:noFill/>
              </a:ln>
              <a:scene3d>
                <a:camera prst="orthographicFront"/>
                <a:lightRig rig="threePt" dir="t"/>
              </a:scene3d>
              <a:sp3d>
                <a:bevelT w="165100" prst="coolSlan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800" b="1" i="1" dirty="0" smtClean="0">
                              <a:latin typeface="Cambria Math" panose="02040503050406030204" pitchFamily="18" charset="0"/>
                            </a:rPr>
                          </m:ctrlPr>
                        </m:sSubPr>
                        <m:e>
                          <m:r>
                            <m:rPr>
                              <m:nor/>
                            </m:rPr>
                            <a:rPr lang="en-US" sz="800" b="1" i="0" dirty="0" smtClean="0"/>
                            <m:t>C</m:t>
                          </m:r>
                        </m:e>
                        <m:sub>
                          <m:r>
                            <m:rPr>
                              <m:nor/>
                            </m:rPr>
                            <a:rPr lang="en-US" sz="800" b="1" i="0" dirty="0" smtClean="0"/>
                            <m:t>FLY</m:t>
                          </m:r>
                        </m:sub>
                      </m:sSub>
                    </m:oMath>
                  </m:oMathPara>
                </a14:m>
                <a:endParaRPr lang="en-US" sz="800" b="1" dirty="0"/>
              </a:p>
            </p:txBody>
          </p:sp>
        </mc:Choice>
        <mc:Fallback xmlns="">
          <p:sp>
            <p:nvSpPr>
              <p:cNvPr id="21" name="TextBox 20">
                <a:extLst>
                  <a:ext uri="{FF2B5EF4-FFF2-40B4-BE49-F238E27FC236}">
                    <a16:creationId xmlns:a16="http://schemas.microsoft.com/office/drawing/2014/main" id="{C0FC8836-E43D-C9C9-4B7B-56B621724210}"/>
                  </a:ext>
                </a:extLst>
              </p:cNvPr>
              <p:cNvSpPr txBox="1">
                <a:spLocks noRot="1" noChangeAspect="1" noMove="1" noResize="1" noEditPoints="1" noAdjustHandles="1" noChangeArrowheads="1" noChangeShapeType="1" noTextEdit="1"/>
              </p:cNvSpPr>
              <p:nvPr/>
            </p:nvSpPr>
            <p:spPr>
              <a:xfrm>
                <a:off x="9508599" y="1711043"/>
                <a:ext cx="445378" cy="223587"/>
              </a:xfrm>
              <a:prstGeom prst="rect">
                <a:avLst/>
              </a:prstGeom>
              <a:blipFill>
                <a:blip r:embed="rId9"/>
                <a:stretch>
                  <a:fillRect/>
                </a:stretch>
              </a:blipFill>
              <a:ln w="28575">
                <a:noFill/>
              </a:ln>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6AF87310-05BF-E023-EE71-CC09F958ACBD}"/>
              </a:ext>
            </a:extLst>
          </p:cNvPr>
          <p:cNvCxnSpPr>
            <a:cxnSpLocks/>
          </p:cNvCxnSpPr>
          <p:nvPr/>
        </p:nvCxnSpPr>
        <p:spPr>
          <a:xfrm rot="16200000" flipH="1">
            <a:off x="9936723" y="2969952"/>
            <a:ext cx="1478498" cy="1896853"/>
          </a:xfrm>
          <a:prstGeom prst="bentConnector3">
            <a:avLst>
              <a:gd name="adj1" fmla="val 9854"/>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3EA54D7D-E47A-5D74-AE67-B25E0320C5DB}"/>
              </a:ext>
            </a:extLst>
          </p:cNvPr>
          <p:cNvCxnSpPr>
            <a:cxnSpLocks/>
            <a:endCxn id="76" idx="0"/>
          </p:cNvCxnSpPr>
          <p:nvPr/>
        </p:nvCxnSpPr>
        <p:spPr>
          <a:xfrm rot="10800000" flipV="1">
            <a:off x="7751121" y="2136389"/>
            <a:ext cx="703832" cy="1271247"/>
          </a:xfrm>
          <a:prstGeom prst="bentConnector2">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686085B3-50C4-626C-FEF8-01CC9E5B59A2}"/>
              </a:ext>
            </a:extLst>
          </p:cNvPr>
          <p:cNvGrpSpPr/>
          <p:nvPr/>
        </p:nvGrpSpPr>
        <p:grpSpPr>
          <a:xfrm>
            <a:off x="11399982" y="2486520"/>
            <a:ext cx="174123" cy="65512"/>
            <a:chOff x="8643839" y="3430799"/>
            <a:chExt cx="290244" cy="111833"/>
          </a:xfrm>
        </p:grpSpPr>
        <p:cxnSp>
          <p:nvCxnSpPr>
            <p:cNvPr id="38" name="Straight Connector 37">
              <a:extLst>
                <a:ext uri="{FF2B5EF4-FFF2-40B4-BE49-F238E27FC236}">
                  <a16:creationId xmlns:a16="http://schemas.microsoft.com/office/drawing/2014/main" id="{7F3B0129-28DE-A4FF-AEE4-634B5A6DA9F8}"/>
                </a:ext>
              </a:extLst>
            </p:cNvPr>
            <p:cNvCxnSpPr>
              <a:cxnSpLocks/>
            </p:cNvCxnSpPr>
            <p:nvPr/>
          </p:nvCxnSpPr>
          <p:spPr>
            <a:xfrm>
              <a:off x="8643839" y="3430799"/>
              <a:ext cx="290244"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AEFFFAEB-BC24-7A08-F9F8-DBAF94B5C539}"/>
                </a:ext>
              </a:extLst>
            </p:cNvPr>
            <p:cNvCxnSpPr>
              <a:cxnSpLocks/>
            </p:cNvCxnSpPr>
            <p:nvPr/>
          </p:nvCxnSpPr>
          <p:spPr>
            <a:xfrm>
              <a:off x="8668272" y="3487691"/>
              <a:ext cx="229642"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4ADACF96-EBE7-543A-70F8-0932C6203DC6}"/>
                </a:ext>
              </a:extLst>
            </p:cNvPr>
            <p:cNvCxnSpPr>
              <a:cxnSpLocks/>
            </p:cNvCxnSpPr>
            <p:nvPr/>
          </p:nvCxnSpPr>
          <p:spPr>
            <a:xfrm>
              <a:off x="8738716" y="3542632"/>
              <a:ext cx="93173" cy="0"/>
            </a:xfrm>
            <a:prstGeom prst="line">
              <a:avLst/>
            </a:prstGeom>
            <a:ln w="12700"/>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grpSp>
      <p:cxnSp>
        <p:nvCxnSpPr>
          <p:cNvPr id="43" name="Connector: Elbow 42">
            <a:extLst>
              <a:ext uri="{FF2B5EF4-FFF2-40B4-BE49-F238E27FC236}">
                <a16:creationId xmlns:a16="http://schemas.microsoft.com/office/drawing/2014/main" id="{20B2091D-CAE4-E066-57AC-5C9C3BCCFE3E}"/>
              </a:ext>
            </a:extLst>
          </p:cNvPr>
          <p:cNvCxnSpPr>
            <a:cxnSpLocks/>
          </p:cNvCxnSpPr>
          <p:nvPr/>
        </p:nvCxnSpPr>
        <p:spPr>
          <a:xfrm>
            <a:off x="11067694" y="2145092"/>
            <a:ext cx="422726" cy="341428"/>
          </a:xfrm>
          <a:prstGeom prst="bentConnector2">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0186C37-6161-293B-0ECD-E5C72A02B7B0}"/>
              </a:ext>
            </a:extLst>
          </p:cNvPr>
          <p:cNvSpPr txBox="1"/>
          <p:nvPr/>
        </p:nvSpPr>
        <p:spPr>
          <a:xfrm>
            <a:off x="4133515" y="2872999"/>
            <a:ext cx="1203194" cy="386986"/>
          </a:xfrm>
          <a:prstGeom prst="rect">
            <a:avLst/>
          </a:prstGeom>
        </p:spPr>
        <p:txBody>
          <a:bodyPr vert="horz" wrap="none" lIns="0" tIns="0" rIns="0" bIns="0" rtlCol="0" anchor="t" anchorCtr="0">
            <a:normAutofit/>
          </a:bodyPr>
          <a:lstStyle/>
          <a:p>
            <a:pPr algn="l"/>
            <a:r>
              <a:rPr lang="en-US" sz="1400" b="1" dirty="0"/>
              <a:t>APDO: 3.3V - 21.0V</a:t>
            </a:r>
          </a:p>
        </p:txBody>
      </p:sp>
      <p:sp>
        <p:nvSpPr>
          <p:cNvPr id="8" name="TextBox 7">
            <a:extLst>
              <a:ext uri="{FF2B5EF4-FFF2-40B4-BE49-F238E27FC236}">
                <a16:creationId xmlns:a16="http://schemas.microsoft.com/office/drawing/2014/main" id="{127BE536-087E-30E0-9455-8F0666335C53}"/>
              </a:ext>
            </a:extLst>
          </p:cNvPr>
          <p:cNvSpPr txBox="1"/>
          <p:nvPr/>
        </p:nvSpPr>
        <p:spPr>
          <a:xfrm>
            <a:off x="11221026" y="4354428"/>
            <a:ext cx="459543" cy="386986"/>
          </a:xfrm>
          <a:prstGeom prst="rect">
            <a:avLst/>
          </a:prstGeom>
        </p:spPr>
        <p:txBody>
          <a:bodyPr vert="horz" wrap="none" lIns="0" tIns="0" rIns="0" bIns="0" rtlCol="0" anchor="t" anchorCtr="0">
            <a:normAutofit/>
          </a:bodyPr>
          <a:lstStyle/>
          <a:p>
            <a:pPr algn="l"/>
            <a:r>
              <a:rPr lang="en-US" sz="1400" b="1" dirty="0"/>
              <a:t>3.6V</a:t>
            </a:r>
          </a:p>
        </p:txBody>
      </p:sp>
      <p:sp>
        <p:nvSpPr>
          <p:cNvPr id="9" name="TextBox 8">
            <a:extLst>
              <a:ext uri="{FF2B5EF4-FFF2-40B4-BE49-F238E27FC236}">
                <a16:creationId xmlns:a16="http://schemas.microsoft.com/office/drawing/2014/main" id="{FDE29F8E-05DA-2B55-BF1A-BE78A9548AE6}"/>
              </a:ext>
            </a:extLst>
          </p:cNvPr>
          <p:cNvSpPr txBox="1"/>
          <p:nvPr/>
        </p:nvSpPr>
        <p:spPr>
          <a:xfrm>
            <a:off x="7245423" y="3070173"/>
            <a:ext cx="412732" cy="386986"/>
          </a:xfrm>
          <a:prstGeom prst="rect">
            <a:avLst/>
          </a:prstGeom>
        </p:spPr>
        <p:txBody>
          <a:bodyPr vert="horz" wrap="none" lIns="0" tIns="0" rIns="0" bIns="0" rtlCol="0" anchor="t" anchorCtr="0">
            <a:normAutofit/>
          </a:bodyPr>
          <a:lstStyle/>
          <a:p>
            <a:pPr algn="l"/>
            <a:r>
              <a:rPr lang="en-US" sz="1400" b="1" dirty="0"/>
              <a:t>7.2V</a:t>
            </a:r>
          </a:p>
        </p:txBody>
      </p:sp>
      <p:sp>
        <p:nvSpPr>
          <p:cNvPr id="10" name="Arrow: Down 9">
            <a:extLst>
              <a:ext uri="{FF2B5EF4-FFF2-40B4-BE49-F238E27FC236}">
                <a16:creationId xmlns:a16="http://schemas.microsoft.com/office/drawing/2014/main" id="{B80C2284-4759-4B1B-94C5-868B2BD2C954}"/>
              </a:ext>
            </a:extLst>
          </p:cNvPr>
          <p:cNvSpPr/>
          <p:nvPr/>
        </p:nvSpPr>
        <p:spPr>
          <a:xfrm rot="10800000">
            <a:off x="7349352" y="2639008"/>
            <a:ext cx="125337" cy="391245"/>
          </a:xfrm>
          <a:prstGeom prst="downArrow">
            <a:avLst/>
          </a:prstGeom>
          <a:solidFill>
            <a:schemeClr val="accent1">
              <a:lumMod val="75000"/>
              <a:lumOff val="2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1" name="Arrow: Bent 10">
            <a:extLst>
              <a:ext uri="{FF2B5EF4-FFF2-40B4-BE49-F238E27FC236}">
                <a16:creationId xmlns:a16="http://schemas.microsoft.com/office/drawing/2014/main" id="{E5853CB8-06D6-1729-9CCE-640A342ADC10}"/>
              </a:ext>
            </a:extLst>
          </p:cNvPr>
          <p:cNvSpPr/>
          <p:nvPr/>
        </p:nvSpPr>
        <p:spPr>
          <a:xfrm rot="5400000">
            <a:off x="10962037" y="3403467"/>
            <a:ext cx="607897" cy="616238"/>
          </a:xfrm>
          <a:prstGeom prst="bentArrow">
            <a:avLst>
              <a:gd name="adj1" fmla="val 9567"/>
              <a:gd name="adj2" fmla="val 10118"/>
              <a:gd name="adj3" fmla="val 13845"/>
              <a:gd name="adj4" fmla="val 19117"/>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2" name="TextBox 11">
            <a:extLst>
              <a:ext uri="{FF2B5EF4-FFF2-40B4-BE49-F238E27FC236}">
                <a16:creationId xmlns:a16="http://schemas.microsoft.com/office/drawing/2014/main" id="{19572571-F60D-1D51-5C02-615ED3F3EB5B}"/>
              </a:ext>
            </a:extLst>
          </p:cNvPr>
          <p:cNvSpPr txBox="1"/>
          <p:nvPr/>
        </p:nvSpPr>
        <p:spPr>
          <a:xfrm>
            <a:off x="10349558" y="2996023"/>
            <a:ext cx="372012" cy="205020"/>
          </a:xfrm>
          <a:prstGeom prst="rect">
            <a:avLst/>
          </a:prstGeom>
        </p:spPr>
        <p:txBody>
          <a:bodyPr vert="horz" wrap="none" lIns="0" tIns="0" rIns="0" bIns="0" rtlCol="0" anchor="t" anchorCtr="0">
            <a:normAutofit/>
          </a:bodyPr>
          <a:lstStyle/>
          <a:p>
            <a:pPr algn="l"/>
            <a:r>
              <a:rPr lang="en-US" sz="1200" b="1" dirty="0"/>
              <a:t>2:1</a:t>
            </a:r>
          </a:p>
        </p:txBody>
      </p:sp>
      <p:sp>
        <p:nvSpPr>
          <p:cNvPr id="13" name="Arrow: Left-Right 12">
            <a:extLst>
              <a:ext uri="{FF2B5EF4-FFF2-40B4-BE49-F238E27FC236}">
                <a16:creationId xmlns:a16="http://schemas.microsoft.com/office/drawing/2014/main" id="{A0F500C2-12A3-8365-00E5-1E62B725EBA0}"/>
              </a:ext>
            </a:extLst>
          </p:cNvPr>
          <p:cNvSpPr/>
          <p:nvPr/>
        </p:nvSpPr>
        <p:spPr>
          <a:xfrm>
            <a:off x="5718336" y="3735420"/>
            <a:ext cx="2003330" cy="185230"/>
          </a:xfrm>
          <a:prstGeom prst="leftRightArrow">
            <a:avLst/>
          </a:prstGeom>
          <a:solidFill>
            <a:schemeClr val="accent5">
              <a:lumMod val="40000"/>
              <a:lumOff val="60000"/>
            </a:schemeClr>
          </a:solidFill>
          <a:ln>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5" name="TextBox 14">
            <a:extLst>
              <a:ext uri="{FF2B5EF4-FFF2-40B4-BE49-F238E27FC236}">
                <a16:creationId xmlns:a16="http://schemas.microsoft.com/office/drawing/2014/main" id="{AE4BEB60-EE22-CF68-4EBA-122A7DB07C55}"/>
              </a:ext>
            </a:extLst>
          </p:cNvPr>
          <p:cNvSpPr txBox="1"/>
          <p:nvPr/>
        </p:nvSpPr>
        <p:spPr>
          <a:xfrm>
            <a:off x="3620910" y="6011611"/>
            <a:ext cx="6854214" cy="356355"/>
          </a:xfrm>
          <a:prstGeom prst="rect">
            <a:avLst/>
          </a:prstGeom>
        </p:spPr>
        <p:txBody>
          <a:bodyPr vert="horz" wrap="none" lIns="0" tIns="0" rIns="0" bIns="0" rtlCol="0" anchor="t" anchorCtr="0">
            <a:normAutofit/>
          </a:bodyPr>
          <a:lstStyle/>
          <a:p>
            <a:pPr algn="l"/>
            <a:r>
              <a:rPr lang="en-US" dirty="0"/>
              <a:t>For a battery voltage of 4.2V, peak charging power for 6A = 25.2 W</a:t>
            </a:r>
          </a:p>
        </p:txBody>
      </p:sp>
      <p:cxnSp>
        <p:nvCxnSpPr>
          <p:cNvPr id="16" name="Straight Connector 15">
            <a:extLst>
              <a:ext uri="{FF2B5EF4-FFF2-40B4-BE49-F238E27FC236}">
                <a16:creationId xmlns:a16="http://schemas.microsoft.com/office/drawing/2014/main" id="{E6EB552E-3C10-D101-9E3C-25D48A58B183}"/>
              </a:ext>
            </a:extLst>
          </p:cNvPr>
          <p:cNvCxnSpPr>
            <a:cxnSpLocks/>
          </p:cNvCxnSpPr>
          <p:nvPr/>
        </p:nvCxnSpPr>
        <p:spPr>
          <a:xfrm>
            <a:off x="11213775" y="4634066"/>
            <a:ext cx="401730" cy="0"/>
          </a:xfrm>
          <a:prstGeom prst="line">
            <a:avLst/>
          </a:prstGeom>
          <a:ln w="12700">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41D9538E-46B5-7A37-8133-6C8450033A4F}"/>
              </a:ext>
            </a:extLst>
          </p:cNvPr>
          <p:cNvCxnSpPr>
            <a:cxnSpLocks/>
          </p:cNvCxnSpPr>
          <p:nvPr/>
        </p:nvCxnSpPr>
        <p:spPr>
          <a:xfrm>
            <a:off x="11217135" y="5067852"/>
            <a:ext cx="401730" cy="0"/>
          </a:xfrm>
          <a:prstGeom prst="line">
            <a:avLst/>
          </a:prstGeom>
          <a:ln w="12700">
            <a:solidFill>
              <a:schemeClr val="dk1"/>
            </a:solidFill>
            <a:prstDash val="dash"/>
          </a:ln>
          <a:scene3d>
            <a:camera prst="orthographicFront"/>
            <a:lightRig rig="threePt" dir="t"/>
          </a:scene3d>
          <a:sp3d>
            <a:bevelT w="165100" prst="coolSlant"/>
          </a:sp3d>
        </p:spPr>
        <p:style>
          <a:lnRef idx="3">
            <a:schemeClr val="dk1"/>
          </a:lnRef>
          <a:fillRef idx="0">
            <a:schemeClr val="dk1"/>
          </a:fillRef>
          <a:effectRef idx="2">
            <a:schemeClr val="dk1"/>
          </a:effectRef>
          <a:fontRef idx="minor">
            <a:schemeClr val="tx1"/>
          </a:fontRef>
        </p:style>
      </p:cxnSp>
      <p:sp>
        <p:nvSpPr>
          <p:cNvPr id="22" name="Rectangle: Rounded Corners 21">
            <a:extLst>
              <a:ext uri="{FF2B5EF4-FFF2-40B4-BE49-F238E27FC236}">
                <a16:creationId xmlns:a16="http://schemas.microsoft.com/office/drawing/2014/main" id="{D9C39AC8-966F-A8DB-BA5E-871FB340DB5A}"/>
              </a:ext>
            </a:extLst>
          </p:cNvPr>
          <p:cNvSpPr/>
          <p:nvPr/>
        </p:nvSpPr>
        <p:spPr>
          <a:xfrm>
            <a:off x="10126641" y="4558395"/>
            <a:ext cx="1073750" cy="617865"/>
          </a:xfrm>
          <a:prstGeom prst="roundRect">
            <a:avLst>
              <a:gd name="adj" fmla="val 10016"/>
            </a:avLst>
          </a:prstGeom>
          <a:solidFill>
            <a:schemeClr val="accent3">
              <a:lumMod val="40000"/>
              <a:lumOff val="60000"/>
            </a:schemeClr>
          </a:solidFill>
          <a:ln w="12700">
            <a:solidFill>
              <a:schemeClr val="tx1"/>
            </a:solidFill>
          </a:ln>
          <a:scene3d>
            <a:camera prst="orthographicFront"/>
            <a:lightRig rig="threePt" dir="t"/>
          </a:scene3d>
          <a:sp3d>
            <a:bevelT w="165100" prst="coolSlant"/>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b="1" dirty="0">
                <a:solidFill>
                  <a:schemeClr val="tx1">
                    <a:lumMod val="85000"/>
                    <a:lumOff val="15000"/>
                  </a:schemeClr>
                </a:solidFill>
                <a:latin typeface="Barlow" panose="00000500000000000000" pitchFamily="2" charset="0"/>
              </a:rPr>
              <a:t>MAX17260/2</a:t>
            </a:r>
          </a:p>
          <a:p>
            <a:pPr algn="ctr"/>
            <a:r>
              <a:rPr lang="en-US" sz="800" b="1" dirty="0">
                <a:solidFill>
                  <a:schemeClr val="tx1">
                    <a:lumMod val="85000"/>
                    <a:lumOff val="15000"/>
                  </a:schemeClr>
                </a:solidFill>
                <a:latin typeface="Barlow" panose="00000500000000000000" pitchFamily="2" charset="0"/>
              </a:rPr>
              <a:t>Fuel Gauge</a:t>
            </a:r>
          </a:p>
        </p:txBody>
      </p:sp>
      <p:sp>
        <p:nvSpPr>
          <p:cNvPr id="23" name="Arrow: Left-Right 22">
            <a:extLst>
              <a:ext uri="{FF2B5EF4-FFF2-40B4-BE49-F238E27FC236}">
                <a16:creationId xmlns:a16="http://schemas.microsoft.com/office/drawing/2014/main" id="{3D60F134-14A6-F646-967F-4E71243A4497}"/>
              </a:ext>
            </a:extLst>
          </p:cNvPr>
          <p:cNvSpPr/>
          <p:nvPr/>
        </p:nvSpPr>
        <p:spPr>
          <a:xfrm>
            <a:off x="9714048" y="4784233"/>
            <a:ext cx="407543" cy="140530"/>
          </a:xfrm>
          <a:prstGeom prst="leftRightArrow">
            <a:avLst>
              <a:gd name="adj1" fmla="val 64384"/>
              <a:gd name="adj2" fmla="val 50000"/>
            </a:avLst>
          </a:prstGeom>
          <a:solidFill>
            <a:schemeClr val="accent5">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24" name="TextBox 23">
            <a:extLst>
              <a:ext uri="{FF2B5EF4-FFF2-40B4-BE49-F238E27FC236}">
                <a16:creationId xmlns:a16="http://schemas.microsoft.com/office/drawing/2014/main" id="{40E75DCC-1DDD-C966-81CA-1D71E4702D59}"/>
              </a:ext>
            </a:extLst>
          </p:cNvPr>
          <p:cNvSpPr txBox="1"/>
          <p:nvPr/>
        </p:nvSpPr>
        <p:spPr>
          <a:xfrm>
            <a:off x="9764822" y="4744583"/>
            <a:ext cx="484281" cy="215444"/>
          </a:xfrm>
          <a:prstGeom prst="rect">
            <a:avLst/>
          </a:prstGeom>
          <a:noFill/>
          <a:scene3d>
            <a:camera prst="orthographicFront"/>
            <a:lightRig rig="threePt" dir="t"/>
          </a:scene3d>
          <a:sp3d>
            <a:bevelT w="165100" prst="coolSlant"/>
          </a:sp3d>
        </p:spPr>
        <p:txBody>
          <a:bodyPr wrap="square" rtlCol="0">
            <a:spAutoFit/>
          </a:bodyPr>
          <a:lstStyle/>
          <a:p>
            <a:r>
              <a:rPr lang="en-US" sz="800" b="1" dirty="0">
                <a:latin typeface="Barlow" panose="00000500000000000000" pitchFamily="2" charset="0"/>
              </a:rPr>
              <a:t>I2C</a:t>
            </a:r>
          </a:p>
        </p:txBody>
      </p:sp>
      <p:sp>
        <p:nvSpPr>
          <p:cNvPr id="25" name="TextBox 24">
            <a:extLst>
              <a:ext uri="{FF2B5EF4-FFF2-40B4-BE49-F238E27FC236}">
                <a16:creationId xmlns:a16="http://schemas.microsoft.com/office/drawing/2014/main" id="{293A8CD6-057B-AE04-E6E0-8F106040A446}"/>
              </a:ext>
            </a:extLst>
          </p:cNvPr>
          <p:cNvSpPr txBox="1"/>
          <p:nvPr/>
        </p:nvSpPr>
        <p:spPr>
          <a:xfrm>
            <a:off x="9288136" y="2872999"/>
            <a:ext cx="329528" cy="255727"/>
          </a:xfrm>
          <a:prstGeom prst="rect">
            <a:avLst/>
          </a:prstGeom>
        </p:spPr>
        <p:txBody>
          <a:bodyPr vert="horz" wrap="none" lIns="0" tIns="0" rIns="0" bIns="0" rtlCol="0" anchor="t" anchorCtr="0">
            <a:normAutofit/>
          </a:bodyPr>
          <a:lstStyle/>
          <a:p>
            <a:pPr algn="l"/>
            <a:r>
              <a:rPr lang="en-US" sz="1200" b="1" dirty="0"/>
              <a:t>OFF</a:t>
            </a:r>
          </a:p>
        </p:txBody>
      </p:sp>
      <p:sp>
        <p:nvSpPr>
          <p:cNvPr id="26" name="TextBox 25">
            <a:extLst>
              <a:ext uri="{FF2B5EF4-FFF2-40B4-BE49-F238E27FC236}">
                <a16:creationId xmlns:a16="http://schemas.microsoft.com/office/drawing/2014/main" id="{1299C4C6-F5D3-C72A-1A4F-E5FC91EBA479}"/>
              </a:ext>
            </a:extLst>
          </p:cNvPr>
          <p:cNvSpPr txBox="1"/>
          <p:nvPr/>
        </p:nvSpPr>
        <p:spPr>
          <a:xfrm>
            <a:off x="9329704" y="2862782"/>
            <a:ext cx="329528" cy="255727"/>
          </a:xfrm>
          <a:prstGeom prst="rect">
            <a:avLst/>
          </a:prstGeom>
        </p:spPr>
        <p:txBody>
          <a:bodyPr vert="horz" wrap="none" lIns="0" tIns="0" rIns="0" bIns="0" rtlCol="0" anchor="t" anchorCtr="0">
            <a:normAutofit/>
          </a:bodyPr>
          <a:lstStyle/>
          <a:p>
            <a:pPr algn="l"/>
            <a:r>
              <a:rPr lang="en-US" sz="1200" b="1" dirty="0"/>
              <a:t>ON</a:t>
            </a:r>
          </a:p>
        </p:txBody>
      </p:sp>
      <p:sp>
        <p:nvSpPr>
          <p:cNvPr id="27" name="Arrow: Down 26">
            <a:extLst>
              <a:ext uri="{FF2B5EF4-FFF2-40B4-BE49-F238E27FC236}">
                <a16:creationId xmlns:a16="http://schemas.microsoft.com/office/drawing/2014/main" id="{BAAB98D0-D5F3-7D67-3336-A905E9DA7189}"/>
              </a:ext>
            </a:extLst>
          </p:cNvPr>
          <p:cNvSpPr/>
          <p:nvPr/>
        </p:nvSpPr>
        <p:spPr>
          <a:xfrm rot="10800000">
            <a:off x="5399079" y="2486520"/>
            <a:ext cx="125337" cy="391245"/>
          </a:xfrm>
          <a:prstGeom prst="downArrow">
            <a:avLst/>
          </a:prstGeom>
          <a:solidFill>
            <a:schemeClr val="accent1">
              <a:lumMod val="75000"/>
              <a:lumOff val="2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28" name="TextBox 27">
            <a:extLst>
              <a:ext uri="{FF2B5EF4-FFF2-40B4-BE49-F238E27FC236}">
                <a16:creationId xmlns:a16="http://schemas.microsoft.com/office/drawing/2014/main" id="{BA4F2804-8BE9-3D5B-755A-D38FB30338FE}"/>
              </a:ext>
            </a:extLst>
          </p:cNvPr>
          <p:cNvSpPr txBox="1"/>
          <p:nvPr/>
        </p:nvSpPr>
        <p:spPr>
          <a:xfrm>
            <a:off x="11356996" y="3087709"/>
            <a:ext cx="459543" cy="386986"/>
          </a:xfrm>
          <a:prstGeom prst="rect">
            <a:avLst/>
          </a:prstGeom>
        </p:spPr>
        <p:txBody>
          <a:bodyPr vert="horz" wrap="none" lIns="0" tIns="0" rIns="0" bIns="0" rtlCol="0" anchor="t" anchorCtr="0">
            <a:normAutofit/>
          </a:bodyPr>
          <a:lstStyle/>
          <a:p>
            <a:pPr algn="l"/>
            <a:r>
              <a:rPr lang="en-US" sz="1400" b="1" dirty="0"/>
              <a:t>6A</a:t>
            </a:r>
          </a:p>
        </p:txBody>
      </p:sp>
      <p:sp>
        <p:nvSpPr>
          <p:cNvPr id="29" name="TextBox 28">
            <a:extLst>
              <a:ext uri="{FF2B5EF4-FFF2-40B4-BE49-F238E27FC236}">
                <a16:creationId xmlns:a16="http://schemas.microsoft.com/office/drawing/2014/main" id="{744E0BCF-B25F-3CF4-C9FD-23ED058768D4}"/>
              </a:ext>
            </a:extLst>
          </p:cNvPr>
          <p:cNvSpPr txBox="1"/>
          <p:nvPr/>
        </p:nvSpPr>
        <p:spPr>
          <a:xfrm>
            <a:off x="6227734" y="3903908"/>
            <a:ext cx="1028859" cy="358748"/>
          </a:xfrm>
          <a:prstGeom prst="rect">
            <a:avLst/>
          </a:prstGeom>
        </p:spPr>
        <p:txBody>
          <a:bodyPr vert="horz" wrap="none" lIns="0" tIns="0" rIns="0" bIns="0" rtlCol="0" anchor="t" anchorCtr="0">
            <a:normAutofit/>
          </a:bodyPr>
          <a:lstStyle/>
          <a:p>
            <a:pPr algn="l"/>
            <a:r>
              <a:rPr lang="en-US" b="1" dirty="0">
                <a:solidFill>
                  <a:schemeClr val="accent5">
                    <a:lumMod val="75000"/>
                  </a:schemeClr>
                </a:solidFill>
              </a:rPr>
              <a:t>CC Comm.</a:t>
            </a:r>
          </a:p>
        </p:txBody>
      </p:sp>
    </p:spTree>
    <p:extLst>
      <p:ext uri="{BB962C8B-B14F-4D97-AF65-F5344CB8AC3E}">
        <p14:creationId xmlns:p14="http://schemas.microsoft.com/office/powerpoint/2010/main" val="4139676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1"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26" presetClass="emph" presetSubtype="0" repeatCount="indefinite" fill="hold" grpId="0" nodeType="withEffect">
                                  <p:stCondLst>
                                    <p:cond delay="0"/>
                                  </p:stCondLst>
                                  <p:endCondLst>
                                    <p:cond evt="onNext" delay="0">
                                      <p:tgtEl>
                                        <p:sldTgt/>
                                      </p:tgtEl>
                                    </p:cond>
                                  </p:endCondLst>
                                  <p:childTnLst>
                                    <p:animEffect transition="out" filter="fade">
                                      <p:cBhvr>
                                        <p:cTn id="17" dur="500" tmFilter="0, 0; .2, .5; .8, .5; 1, 0"/>
                                        <p:tgtEl>
                                          <p:spTgt spid="13"/>
                                        </p:tgtEl>
                                      </p:cBhvr>
                                    </p:animEffect>
                                    <p:animScale>
                                      <p:cBhvr>
                                        <p:cTn id="18" dur="250" autoRev="1" fill="hold"/>
                                        <p:tgtEl>
                                          <p:spTgt spid="13"/>
                                        </p:tgtEl>
                                      </p:cBhvr>
                                      <p:by x="105000" y="105000"/>
                                    </p:animScale>
                                  </p:childTnLst>
                                </p:cTn>
                              </p:par>
                              <p:par>
                                <p:cTn id="19" presetID="6" presetClass="emph" presetSubtype="0" repeatCount="indefinite" fill="hold" grpId="0" nodeType="withEffect">
                                  <p:stCondLst>
                                    <p:cond delay="0"/>
                                  </p:stCondLst>
                                  <p:endCondLst>
                                    <p:cond evt="onNext" delay="0">
                                      <p:tgtEl>
                                        <p:sldTgt/>
                                      </p:tgtEl>
                                    </p:cond>
                                  </p:endCondLst>
                                  <p:childTnLst>
                                    <p:animScale>
                                      <p:cBhvr>
                                        <p:cTn id="20" dur="2000" fill="hold"/>
                                        <p:tgtEl>
                                          <p:spTgt spid="10"/>
                                        </p:tgtEl>
                                      </p:cBhvr>
                                      <p:by x="150000" y="150000"/>
                                    </p:animScale>
                                  </p:childTnLst>
                                </p:cTn>
                              </p:par>
                              <p:par>
                                <p:cTn id="21" presetID="10" presetClass="entr" presetSubtype="0" fill="hold" grpId="1"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6" presetClass="emph" presetSubtype="0" repeatCount="indefinite" fill="hold" grpId="0" nodeType="withEffect">
                                  <p:stCondLst>
                                    <p:cond delay="0"/>
                                  </p:stCondLst>
                                  <p:endCondLst>
                                    <p:cond evt="onNext" delay="0">
                                      <p:tgtEl>
                                        <p:sldTgt/>
                                      </p:tgtEl>
                                    </p:cond>
                                  </p:endCondLst>
                                  <p:childTnLst>
                                    <p:animScale>
                                      <p:cBhvr>
                                        <p:cTn id="25" dur="2000" fill="hold"/>
                                        <p:tgtEl>
                                          <p:spTgt spid="11"/>
                                        </p:tgtEl>
                                      </p:cBhvr>
                                      <p:by x="150000" y="150000"/>
                                    </p:animScale>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xit" presetSubtype="0" fill="hold" grpId="0" nodeType="withEffect">
                                  <p:stCondLst>
                                    <p:cond delay="0"/>
                                  </p:stCondLst>
                                  <p:childTnLst>
                                    <p:animEffect transition="out" filter="fade">
                                      <p:cBhvr>
                                        <p:cTn id="30" dur="500"/>
                                        <p:tgtEl>
                                          <p:spTgt spid="25"/>
                                        </p:tgtEl>
                                      </p:cBhvr>
                                    </p:animEffect>
                                    <p:set>
                                      <p:cBhvr>
                                        <p:cTn id="31" dur="1" fill="hold">
                                          <p:stCondLst>
                                            <p:cond delay="499"/>
                                          </p:stCondLst>
                                        </p:cTn>
                                        <p:tgtEl>
                                          <p:spTgt spid="25"/>
                                        </p:tgtEl>
                                        <p:attrNameLst>
                                          <p:attrName>style.visibility</p:attrName>
                                        </p:attrNameLst>
                                      </p:cBhvr>
                                      <p:to>
                                        <p:strVal val="hidden"/>
                                      </p:to>
                                    </p:set>
                                  </p:childTnLst>
                                </p:cTn>
                              </p:par>
                              <p:par>
                                <p:cTn id="32" presetID="10" presetClass="entr" presetSubtype="0" fill="hold" grpId="1"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6" presetClass="emph" presetSubtype="0" repeatCount="indefinite" fill="hold" grpId="0" nodeType="withEffect">
                                  <p:stCondLst>
                                    <p:cond delay="0"/>
                                  </p:stCondLst>
                                  <p:endCondLst>
                                    <p:cond evt="onNext" delay="0">
                                      <p:tgtEl>
                                        <p:sldTgt/>
                                      </p:tgtEl>
                                    </p:cond>
                                  </p:endCondLst>
                                  <p:childTnLst>
                                    <p:animScale>
                                      <p:cBhvr>
                                        <p:cTn id="36" dur="2000" fill="hold"/>
                                        <p:tgtEl>
                                          <p:spTgt spid="27"/>
                                        </p:tgtEl>
                                      </p:cBhvr>
                                      <p:by x="150000" y="150000"/>
                                    </p:animScale>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0" grpId="1" animBg="1"/>
      <p:bldP spid="11" grpId="0" animBg="1"/>
      <p:bldP spid="11" grpId="1" animBg="1"/>
      <p:bldP spid="13" grpId="0" animBg="1"/>
      <p:bldP spid="13" grpId="1" animBg="1"/>
      <p:bldP spid="25" grpId="0"/>
      <p:bldP spid="26" grpId="0"/>
      <p:bldP spid="27" grpId="0" animBg="1"/>
      <p:bldP spid="27" grpId="1" animBg="1"/>
      <p:bldP spid="28" grpId="0"/>
      <p:bldP spid="2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22C7-2036-274C-D378-D79D21CAE87B}"/>
              </a:ext>
            </a:extLst>
          </p:cNvPr>
          <p:cNvSpPr>
            <a:spLocks noGrp="1"/>
          </p:cNvSpPr>
          <p:nvPr>
            <p:ph type="title"/>
          </p:nvPr>
        </p:nvSpPr>
        <p:spPr>
          <a:xfrm>
            <a:off x="417600" y="640080"/>
            <a:ext cx="5678400" cy="450000"/>
          </a:xfrm>
        </p:spPr>
        <p:txBody>
          <a:bodyPr/>
          <a:lstStyle/>
          <a:p>
            <a:r>
              <a:rPr lang="en-US" dirty="0"/>
              <a:t>USB PPS FAST CHARGING S/M</a:t>
            </a:r>
          </a:p>
        </p:txBody>
      </p:sp>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22</a:t>
            </a:fld>
            <a:endParaRPr lang="en-US" dirty="0"/>
          </a:p>
        </p:txBody>
      </p:sp>
      <p:cxnSp>
        <p:nvCxnSpPr>
          <p:cNvPr id="13" name="Straight Arrow Connector 12">
            <a:extLst>
              <a:ext uri="{FF2B5EF4-FFF2-40B4-BE49-F238E27FC236}">
                <a16:creationId xmlns:a16="http://schemas.microsoft.com/office/drawing/2014/main" id="{EEFF3E5C-1DC9-09B6-DED6-633757B1F0E3}"/>
              </a:ext>
            </a:extLst>
          </p:cNvPr>
          <p:cNvCxnSpPr>
            <a:cxnSpLocks/>
            <a:stCxn id="32" idx="2"/>
            <a:endCxn id="17" idx="0"/>
          </p:cNvCxnSpPr>
          <p:nvPr/>
        </p:nvCxnSpPr>
        <p:spPr>
          <a:xfrm>
            <a:off x="3037650" y="4399408"/>
            <a:ext cx="4854" cy="306607"/>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2CE4CCFC-0CEE-AAED-37AE-F4BA98BCB745}"/>
              </a:ext>
            </a:extLst>
          </p:cNvPr>
          <p:cNvCxnSpPr>
            <a:cxnSpLocks/>
            <a:stCxn id="25" idx="2"/>
            <a:endCxn id="14" idx="0"/>
          </p:cNvCxnSpPr>
          <p:nvPr/>
        </p:nvCxnSpPr>
        <p:spPr>
          <a:xfrm>
            <a:off x="5127866" y="4444680"/>
            <a:ext cx="9401" cy="568046"/>
          </a:xfrm>
          <a:prstGeom prst="straightConnector1">
            <a:avLst/>
          </a:prstGeom>
          <a:ln w="12700">
            <a:headEnd type="none" w="med" len="sm"/>
            <a:tailEnd type="triangle" w="med" len="med"/>
          </a:ln>
        </p:spPr>
        <p:style>
          <a:lnRef idx="3">
            <a:schemeClr val="dk1"/>
          </a:lnRef>
          <a:fillRef idx="0">
            <a:schemeClr val="dk1"/>
          </a:fillRef>
          <a:effectRef idx="2">
            <a:schemeClr val="dk1"/>
          </a:effectRef>
          <a:fontRef idx="minor">
            <a:schemeClr val="tx1"/>
          </a:fontRef>
        </p:style>
      </p:cxnSp>
      <p:sp>
        <p:nvSpPr>
          <p:cNvPr id="16" name="Rectangle 15">
            <a:extLst>
              <a:ext uri="{FF2B5EF4-FFF2-40B4-BE49-F238E27FC236}">
                <a16:creationId xmlns:a16="http://schemas.microsoft.com/office/drawing/2014/main" id="{2FF8F455-C1AD-30DC-4460-B43158232B5A}"/>
              </a:ext>
            </a:extLst>
          </p:cNvPr>
          <p:cNvSpPr/>
          <p:nvPr/>
        </p:nvSpPr>
        <p:spPr>
          <a:xfrm>
            <a:off x="2152142" y="5389703"/>
            <a:ext cx="1790568" cy="342931"/>
          </a:xfrm>
          <a:prstGeom prst="rect">
            <a:avLst/>
          </a:prstGeom>
          <a:solidFill>
            <a:srgbClr val="A9D18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SINK SELECTS AND REQUEST FOR A SPECIFIC PDO </a:t>
            </a:r>
          </a:p>
        </p:txBody>
      </p:sp>
      <p:sp>
        <p:nvSpPr>
          <p:cNvPr id="17" name="Rectangle 16">
            <a:extLst>
              <a:ext uri="{FF2B5EF4-FFF2-40B4-BE49-F238E27FC236}">
                <a16:creationId xmlns:a16="http://schemas.microsoft.com/office/drawing/2014/main" id="{217924ED-E740-75B7-6DE6-243693C6884F}"/>
              </a:ext>
            </a:extLst>
          </p:cNvPr>
          <p:cNvSpPr/>
          <p:nvPr/>
        </p:nvSpPr>
        <p:spPr>
          <a:xfrm>
            <a:off x="2142367" y="4706014"/>
            <a:ext cx="1800274" cy="342931"/>
          </a:xfrm>
          <a:prstGeom prst="rect">
            <a:avLst/>
          </a:prstGeom>
          <a:solidFill>
            <a:srgbClr val="A9D18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ADVERISES ITS SOURCE PDOs</a:t>
            </a:r>
          </a:p>
        </p:txBody>
      </p:sp>
      <p:cxnSp>
        <p:nvCxnSpPr>
          <p:cNvPr id="18" name="Straight Arrow Connector 17">
            <a:extLst>
              <a:ext uri="{FF2B5EF4-FFF2-40B4-BE49-F238E27FC236}">
                <a16:creationId xmlns:a16="http://schemas.microsoft.com/office/drawing/2014/main" id="{0691533D-4D19-8BC8-A5EB-C91674A5955C}"/>
              </a:ext>
            </a:extLst>
          </p:cNvPr>
          <p:cNvCxnSpPr>
            <a:cxnSpLocks/>
            <a:stCxn id="17" idx="2"/>
            <a:endCxn id="16" idx="0"/>
          </p:cNvCxnSpPr>
          <p:nvPr/>
        </p:nvCxnSpPr>
        <p:spPr>
          <a:xfrm>
            <a:off x="3042504" y="5048946"/>
            <a:ext cx="4922" cy="340757"/>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4302A485-58A5-F76A-16AF-1D3ACDED8530}"/>
              </a:ext>
            </a:extLst>
          </p:cNvPr>
          <p:cNvSpPr/>
          <p:nvPr/>
        </p:nvSpPr>
        <p:spPr>
          <a:xfrm>
            <a:off x="2152142" y="5963500"/>
            <a:ext cx="1800892" cy="554635"/>
          </a:xfrm>
          <a:prstGeom prst="rect">
            <a:avLst/>
          </a:prstGeom>
          <a:solidFill>
            <a:srgbClr val="A9D18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ACCEPTS THE PDO AND </a:t>
            </a:r>
          </a:p>
          <a:p>
            <a:pPr algn="ctr"/>
            <a:r>
              <a:rPr lang="en-US" sz="800" b="1" dirty="0">
                <a:solidFill>
                  <a:schemeClr val="tx1"/>
                </a:solidFill>
                <a:latin typeface="Barlow" panose="00000500000000000000" pitchFamily="2" charset="0"/>
              </a:rPr>
              <a:t>CONFIGURES THE CHARGER FOR</a:t>
            </a:r>
          </a:p>
          <a:p>
            <a:pPr algn="ctr"/>
            <a:r>
              <a:rPr lang="en-US" sz="800" b="1" dirty="0">
                <a:solidFill>
                  <a:schemeClr val="tx1"/>
                </a:solidFill>
                <a:latin typeface="Barlow" panose="00000500000000000000" pitchFamily="2" charset="0"/>
              </a:rPr>
              <a:t>REQUIRED OTG VOLTAGE AND CURRENT</a:t>
            </a:r>
          </a:p>
        </p:txBody>
      </p:sp>
      <p:cxnSp>
        <p:nvCxnSpPr>
          <p:cNvPr id="20" name="Straight Arrow Connector 19">
            <a:extLst>
              <a:ext uri="{FF2B5EF4-FFF2-40B4-BE49-F238E27FC236}">
                <a16:creationId xmlns:a16="http://schemas.microsoft.com/office/drawing/2014/main" id="{8F23AC62-672C-76C1-96A5-B1F8B04744FE}"/>
              </a:ext>
            </a:extLst>
          </p:cNvPr>
          <p:cNvCxnSpPr>
            <a:cxnSpLocks/>
            <a:stCxn id="16" idx="2"/>
            <a:endCxn id="19" idx="0"/>
          </p:cNvCxnSpPr>
          <p:nvPr/>
        </p:nvCxnSpPr>
        <p:spPr>
          <a:xfrm>
            <a:off x="3047426" y="5732634"/>
            <a:ext cx="5162" cy="230866"/>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92AFDFB4-0A2E-94B4-93C3-C20280772BCC}"/>
              </a:ext>
            </a:extLst>
          </p:cNvPr>
          <p:cNvCxnSpPr>
            <a:cxnSpLocks/>
            <a:stCxn id="36" idx="2"/>
            <a:endCxn id="47" idx="0"/>
          </p:cNvCxnSpPr>
          <p:nvPr/>
        </p:nvCxnSpPr>
        <p:spPr>
          <a:xfrm>
            <a:off x="3024606" y="2131196"/>
            <a:ext cx="2489" cy="175972"/>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61E1806A-0998-9963-C07C-A2563E9B353C}"/>
              </a:ext>
            </a:extLst>
          </p:cNvPr>
          <p:cNvCxnSpPr>
            <a:cxnSpLocks/>
            <a:stCxn id="47" idx="2"/>
            <a:endCxn id="24" idx="0"/>
          </p:cNvCxnSpPr>
          <p:nvPr/>
        </p:nvCxnSpPr>
        <p:spPr>
          <a:xfrm>
            <a:off x="3027095" y="2841993"/>
            <a:ext cx="11211" cy="330409"/>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23" name="Rectangle 22">
            <a:extLst>
              <a:ext uri="{FF2B5EF4-FFF2-40B4-BE49-F238E27FC236}">
                <a16:creationId xmlns:a16="http://schemas.microsoft.com/office/drawing/2014/main" id="{E3846730-AD79-28C7-DB07-DF11ADBC893A}"/>
              </a:ext>
            </a:extLst>
          </p:cNvPr>
          <p:cNvSpPr/>
          <p:nvPr/>
        </p:nvSpPr>
        <p:spPr>
          <a:xfrm>
            <a:off x="375471" y="3344661"/>
            <a:ext cx="1458998" cy="262786"/>
          </a:xfrm>
          <a:prstGeom prst="rect">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cs typeface="Angsana New" panose="02020603050405020304" pitchFamily="18" charset="-34"/>
              </a:rPr>
              <a:t>CHARGER DISABLED</a:t>
            </a:r>
            <a:endParaRPr lang="en-US" sz="800" dirty="0"/>
          </a:p>
        </p:txBody>
      </p:sp>
      <p:sp>
        <p:nvSpPr>
          <p:cNvPr id="24" name="Rectangle 23">
            <a:extLst>
              <a:ext uri="{FF2B5EF4-FFF2-40B4-BE49-F238E27FC236}">
                <a16:creationId xmlns:a16="http://schemas.microsoft.com/office/drawing/2014/main" id="{BD02AEFB-7681-914C-48B9-8F06CA13B63F}"/>
              </a:ext>
            </a:extLst>
          </p:cNvPr>
          <p:cNvSpPr/>
          <p:nvPr/>
        </p:nvSpPr>
        <p:spPr>
          <a:xfrm>
            <a:off x="2142367" y="3172402"/>
            <a:ext cx="1791877" cy="555041"/>
          </a:xfrm>
          <a:prstGeom prst="rect">
            <a:avLst/>
          </a:prstGeom>
          <a:solidFill>
            <a:srgbClr val="A9D18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cs typeface="Angsana New" panose="02020603050405020304" pitchFamily="18" charset="-34"/>
              </a:rPr>
              <a:t>MAX77958 WRITES MAX77986 REGISTERS CHG_CNFG_11 [6:0] = 0x00 &amp; CHG_CNFG_10 [5:0] = 0x19 FOR OTG OUTPUT OF 5V/3A </a:t>
            </a:r>
            <a:endParaRPr lang="en-US" sz="800" dirty="0"/>
          </a:p>
        </p:txBody>
      </p:sp>
      <p:sp>
        <p:nvSpPr>
          <p:cNvPr id="25" name="Rectangle 24">
            <a:extLst>
              <a:ext uri="{FF2B5EF4-FFF2-40B4-BE49-F238E27FC236}">
                <a16:creationId xmlns:a16="http://schemas.microsoft.com/office/drawing/2014/main" id="{FBA6F49D-DD47-9B0F-A454-9A0C122AA33B}"/>
              </a:ext>
            </a:extLst>
          </p:cNvPr>
          <p:cNvSpPr/>
          <p:nvPr/>
        </p:nvSpPr>
        <p:spPr>
          <a:xfrm>
            <a:off x="4232583" y="3953941"/>
            <a:ext cx="1790566" cy="490739"/>
          </a:xfrm>
          <a:prstGeom prst="rect">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COMMANDS MAX77958 TO </a:t>
            </a:r>
          </a:p>
          <a:p>
            <a:pPr algn="ctr"/>
            <a:r>
              <a:rPr lang="en-US" sz="800" b="1" dirty="0">
                <a:solidFill>
                  <a:schemeClr val="tx1"/>
                </a:solidFill>
                <a:latin typeface="Barlow" panose="00000500000000000000" pitchFamily="2" charset="0"/>
              </a:rPr>
              <a:t>WRITE MAX77986’s</a:t>
            </a:r>
          </a:p>
          <a:p>
            <a:pPr algn="ctr"/>
            <a:r>
              <a:rPr lang="en-US" sz="800" b="1" dirty="0">
                <a:solidFill>
                  <a:schemeClr val="tx1"/>
                </a:solidFill>
                <a:latin typeface="Barlow" panose="00000500000000000000" pitchFamily="2" charset="0"/>
              </a:rPr>
              <a:t> CHG_CNFG_00 [3:0] = 0b0101 TO ENABLE CHARGING MODE</a:t>
            </a:r>
          </a:p>
        </p:txBody>
      </p:sp>
      <p:sp>
        <p:nvSpPr>
          <p:cNvPr id="26" name="Rectangle 25">
            <a:extLst>
              <a:ext uri="{FF2B5EF4-FFF2-40B4-BE49-F238E27FC236}">
                <a16:creationId xmlns:a16="http://schemas.microsoft.com/office/drawing/2014/main" id="{BCE14B56-0520-C91E-F7C8-71D06AE82759}"/>
              </a:ext>
            </a:extLst>
          </p:cNvPr>
          <p:cNvSpPr/>
          <p:nvPr/>
        </p:nvSpPr>
        <p:spPr>
          <a:xfrm>
            <a:off x="4232581" y="3260331"/>
            <a:ext cx="1791877" cy="461439"/>
          </a:xfrm>
          <a:prstGeom prst="rect">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READS CC_STATUS0 [5:4] AND CONFIGURES MAX77986 INPUT CURRENT LIMIT</a:t>
            </a:r>
          </a:p>
        </p:txBody>
      </p:sp>
      <p:sp>
        <p:nvSpPr>
          <p:cNvPr id="27" name="TextBox 26">
            <a:extLst>
              <a:ext uri="{FF2B5EF4-FFF2-40B4-BE49-F238E27FC236}">
                <a16:creationId xmlns:a16="http://schemas.microsoft.com/office/drawing/2014/main" id="{FBC3BAF7-2DCA-F995-FE2C-7BC0418406C3}"/>
              </a:ext>
            </a:extLst>
          </p:cNvPr>
          <p:cNvSpPr txBox="1"/>
          <p:nvPr/>
        </p:nvSpPr>
        <p:spPr>
          <a:xfrm>
            <a:off x="3721657" y="2359326"/>
            <a:ext cx="1814920" cy="215444"/>
          </a:xfrm>
          <a:prstGeom prst="rect">
            <a:avLst/>
          </a:prstGeom>
          <a:noFill/>
          <a:ln w="12700">
            <a:solidFill>
              <a:schemeClr val="bg1"/>
            </a:solidFill>
          </a:ln>
        </p:spPr>
        <p:txBody>
          <a:bodyPr wrap="none" rtlCol="0">
            <a:spAutoFit/>
          </a:bodyPr>
          <a:lstStyle/>
          <a:p>
            <a:r>
              <a:rPr lang="en-US" sz="800" b="1" dirty="0">
                <a:latin typeface="Barlow" panose="00000500000000000000" pitchFamily="2" charset="0"/>
              </a:rPr>
              <a:t>CCIStat = SINK (SOURCE DETECTED)</a:t>
            </a:r>
          </a:p>
        </p:txBody>
      </p:sp>
      <p:sp>
        <p:nvSpPr>
          <p:cNvPr id="28" name="TextBox 27">
            <a:extLst>
              <a:ext uri="{FF2B5EF4-FFF2-40B4-BE49-F238E27FC236}">
                <a16:creationId xmlns:a16="http://schemas.microsoft.com/office/drawing/2014/main" id="{32EAE30A-A7F3-A1FE-C634-60D360C7DDD5}"/>
              </a:ext>
            </a:extLst>
          </p:cNvPr>
          <p:cNvSpPr txBox="1"/>
          <p:nvPr/>
        </p:nvSpPr>
        <p:spPr>
          <a:xfrm>
            <a:off x="1027278" y="2372019"/>
            <a:ext cx="1380506" cy="215444"/>
          </a:xfrm>
          <a:prstGeom prst="rect">
            <a:avLst/>
          </a:prstGeom>
          <a:noFill/>
          <a:ln w="12700">
            <a:solidFill>
              <a:schemeClr val="bg1"/>
            </a:solidFill>
          </a:ln>
        </p:spPr>
        <p:txBody>
          <a:bodyPr wrap="none" rtlCol="0">
            <a:spAutoFit/>
          </a:bodyPr>
          <a:lstStyle/>
          <a:p>
            <a:r>
              <a:rPr lang="en-US" sz="800" b="1" dirty="0">
                <a:latin typeface="Barlow" panose="00000500000000000000" pitchFamily="2" charset="0"/>
              </a:rPr>
              <a:t>CCIStat = NO CONNECTION</a:t>
            </a:r>
          </a:p>
        </p:txBody>
      </p:sp>
      <p:cxnSp>
        <p:nvCxnSpPr>
          <p:cNvPr id="29" name="Connector: Elbow 28">
            <a:extLst>
              <a:ext uri="{FF2B5EF4-FFF2-40B4-BE49-F238E27FC236}">
                <a16:creationId xmlns:a16="http://schemas.microsoft.com/office/drawing/2014/main" id="{9AF36F6E-CEEF-5D38-7A2F-DF9D98812604}"/>
              </a:ext>
            </a:extLst>
          </p:cNvPr>
          <p:cNvCxnSpPr>
            <a:cxnSpLocks/>
            <a:stCxn id="47" idx="1"/>
            <a:endCxn id="23" idx="0"/>
          </p:cNvCxnSpPr>
          <p:nvPr/>
        </p:nvCxnSpPr>
        <p:spPr>
          <a:xfrm rot="10800000" flipV="1">
            <a:off x="1104971" y="2574581"/>
            <a:ext cx="1149823" cy="770080"/>
          </a:xfrm>
          <a:prstGeom prst="bentConnector2">
            <a:avLst/>
          </a:prstGeom>
          <a:ln w="12700">
            <a:tailEnd type="triangle" w="med" len="med"/>
          </a:ln>
        </p:spPr>
        <p:style>
          <a:lnRef idx="3">
            <a:schemeClr val="dk1"/>
          </a:lnRef>
          <a:fillRef idx="0">
            <a:schemeClr val="dk1"/>
          </a:fillRef>
          <a:effectRef idx="2">
            <a:schemeClr val="dk1"/>
          </a:effectRef>
          <a:fontRef idx="minor">
            <a:schemeClr val="tx1"/>
          </a:fontRef>
        </p:style>
      </p:cxnSp>
      <p:cxnSp>
        <p:nvCxnSpPr>
          <p:cNvPr id="30" name="Connector: Elbow 29">
            <a:extLst>
              <a:ext uri="{FF2B5EF4-FFF2-40B4-BE49-F238E27FC236}">
                <a16:creationId xmlns:a16="http://schemas.microsoft.com/office/drawing/2014/main" id="{154A6205-EC21-805C-6B58-48F0305B8199}"/>
              </a:ext>
            </a:extLst>
          </p:cNvPr>
          <p:cNvCxnSpPr>
            <a:cxnSpLocks/>
            <a:stCxn id="47" idx="3"/>
            <a:endCxn id="26" idx="0"/>
          </p:cNvCxnSpPr>
          <p:nvPr/>
        </p:nvCxnSpPr>
        <p:spPr>
          <a:xfrm>
            <a:off x="3799396" y="2574581"/>
            <a:ext cx="1329124" cy="685750"/>
          </a:xfrm>
          <a:prstGeom prst="bentConnector2">
            <a:avLst/>
          </a:prstGeom>
          <a:ln w="12700">
            <a:tailEnd type="triangle" w="med" len="med"/>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94089B64-C612-3A96-8FEB-6ACAB927D906}"/>
              </a:ext>
            </a:extLst>
          </p:cNvPr>
          <p:cNvCxnSpPr>
            <a:cxnSpLocks/>
            <a:stCxn id="26" idx="2"/>
            <a:endCxn id="25" idx="0"/>
          </p:cNvCxnSpPr>
          <p:nvPr/>
        </p:nvCxnSpPr>
        <p:spPr>
          <a:xfrm flipH="1">
            <a:off x="5127866" y="3721768"/>
            <a:ext cx="655" cy="232173"/>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32" name="Rectangle 31">
            <a:extLst>
              <a:ext uri="{FF2B5EF4-FFF2-40B4-BE49-F238E27FC236}">
                <a16:creationId xmlns:a16="http://schemas.microsoft.com/office/drawing/2014/main" id="{697B1902-7EE4-DA3D-6662-20FA0F703267}"/>
              </a:ext>
            </a:extLst>
          </p:cNvPr>
          <p:cNvSpPr/>
          <p:nvPr/>
        </p:nvSpPr>
        <p:spPr>
          <a:xfrm>
            <a:off x="2142367" y="4002327"/>
            <a:ext cx="1790566" cy="397081"/>
          </a:xfrm>
          <a:prstGeom prst="rect">
            <a:avLst/>
          </a:prstGeom>
          <a:solidFill>
            <a:srgbClr val="A9D18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WRITES MAX77986 REGISTER CHG_CNFG_00 [3:0] = 0b1010 TO ENABLE OTG MODE</a:t>
            </a:r>
          </a:p>
        </p:txBody>
      </p:sp>
      <p:cxnSp>
        <p:nvCxnSpPr>
          <p:cNvPr id="33" name="Straight Arrow Connector 32">
            <a:extLst>
              <a:ext uri="{FF2B5EF4-FFF2-40B4-BE49-F238E27FC236}">
                <a16:creationId xmlns:a16="http://schemas.microsoft.com/office/drawing/2014/main" id="{7A59E7E5-6555-5EFE-4A56-34A256F6A0E3}"/>
              </a:ext>
            </a:extLst>
          </p:cNvPr>
          <p:cNvCxnSpPr>
            <a:cxnSpLocks/>
            <a:stCxn id="24" idx="2"/>
            <a:endCxn id="32" idx="0"/>
          </p:cNvCxnSpPr>
          <p:nvPr/>
        </p:nvCxnSpPr>
        <p:spPr>
          <a:xfrm flipH="1">
            <a:off x="3037650" y="3727443"/>
            <a:ext cx="656" cy="274884"/>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34" name="Rectangle: Rounded Corners 33">
            <a:extLst>
              <a:ext uri="{FF2B5EF4-FFF2-40B4-BE49-F238E27FC236}">
                <a16:creationId xmlns:a16="http://schemas.microsoft.com/office/drawing/2014/main" id="{91E06073-22B5-545B-C03A-9497365D2B35}"/>
              </a:ext>
            </a:extLst>
          </p:cNvPr>
          <p:cNvSpPr/>
          <p:nvPr/>
        </p:nvSpPr>
        <p:spPr>
          <a:xfrm>
            <a:off x="277695" y="1219000"/>
            <a:ext cx="1327440" cy="303096"/>
          </a:xfrm>
          <a:prstGeom prst="roundRect">
            <a:avLst>
              <a:gd name="adj" fmla="val 50000"/>
            </a:avLst>
          </a:prstGeom>
          <a:solidFill>
            <a:srgbClr val="F4B18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CONNECTION DETECTED</a:t>
            </a:r>
          </a:p>
        </p:txBody>
      </p:sp>
      <p:sp>
        <p:nvSpPr>
          <p:cNvPr id="35" name="Rectangle 34">
            <a:extLst>
              <a:ext uri="{FF2B5EF4-FFF2-40B4-BE49-F238E27FC236}">
                <a16:creationId xmlns:a16="http://schemas.microsoft.com/office/drawing/2014/main" id="{5DC95983-61E4-82D8-E269-04F2CE1EF129}"/>
              </a:ext>
            </a:extLst>
          </p:cNvPr>
          <p:cNvSpPr/>
          <p:nvPr/>
        </p:nvSpPr>
        <p:spPr>
          <a:xfrm>
            <a:off x="2178301" y="1242504"/>
            <a:ext cx="1686409" cy="268371"/>
          </a:xfrm>
          <a:prstGeom prst="rect">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 INTERRUPTS THE MCU TO READ CCSTATUS0 REGISTER</a:t>
            </a:r>
          </a:p>
        </p:txBody>
      </p:sp>
      <p:sp>
        <p:nvSpPr>
          <p:cNvPr id="36" name="Rectangle 35">
            <a:extLst>
              <a:ext uri="{FF2B5EF4-FFF2-40B4-BE49-F238E27FC236}">
                <a16:creationId xmlns:a16="http://schemas.microsoft.com/office/drawing/2014/main" id="{70071E19-55AC-622F-527A-5A5B023601FC}"/>
              </a:ext>
            </a:extLst>
          </p:cNvPr>
          <p:cNvSpPr/>
          <p:nvPr/>
        </p:nvSpPr>
        <p:spPr>
          <a:xfrm>
            <a:off x="2181401" y="1755103"/>
            <a:ext cx="1686409" cy="376093"/>
          </a:xfrm>
          <a:prstGeom prst="rect">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READS MAX77958 INTERRUPT REGISTERS FOR CLEARING INTERRUPT</a:t>
            </a:r>
          </a:p>
        </p:txBody>
      </p:sp>
      <p:sp>
        <p:nvSpPr>
          <p:cNvPr id="37" name="TextBox 36">
            <a:extLst>
              <a:ext uri="{FF2B5EF4-FFF2-40B4-BE49-F238E27FC236}">
                <a16:creationId xmlns:a16="http://schemas.microsoft.com/office/drawing/2014/main" id="{E73BDD76-D237-6A29-CE2A-B54A0867C550}"/>
              </a:ext>
            </a:extLst>
          </p:cNvPr>
          <p:cNvSpPr txBox="1"/>
          <p:nvPr/>
        </p:nvSpPr>
        <p:spPr>
          <a:xfrm>
            <a:off x="2181400" y="2876004"/>
            <a:ext cx="1835759" cy="215444"/>
          </a:xfrm>
          <a:prstGeom prst="rect">
            <a:avLst/>
          </a:prstGeom>
          <a:solidFill>
            <a:schemeClr val="bg1"/>
          </a:solidFill>
          <a:ln w="12700">
            <a:noFill/>
          </a:ln>
        </p:spPr>
        <p:txBody>
          <a:bodyPr wrap="none" rtlCol="0">
            <a:spAutoFit/>
          </a:bodyPr>
          <a:lstStyle/>
          <a:p>
            <a:r>
              <a:rPr lang="en-US" sz="800" b="1" dirty="0">
                <a:latin typeface="Barlow" panose="00000500000000000000" pitchFamily="2" charset="0"/>
              </a:rPr>
              <a:t>CCIStat =  SOURCE (SINK DETECTED)</a:t>
            </a:r>
          </a:p>
        </p:txBody>
      </p:sp>
      <p:cxnSp>
        <p:nvCxnSpPr>
          <p:cNvPr id="38" name="Straight Arrow Connector 37">
            <a:extLst>
              <a:ext uri="{FF2B5EF4-FFF2-40B4-BE49-F238E27FC236}">
                <a16:creationId xmlns:a16="http://schemas.microsoft.com/office/drawing/2014/main" id="{8A155D69-B90C-A297-767F-644866B8312C}"/>
              </a:ext>
            </a:extLst>
          </p:cNvPr>
          <p:cNvCxnSpPr>
            <a:cxnSpLocks/>
            <a:stCxn id="34" idx="3"/>
            <a:endCxn id="35" idx="1"/>
          </p:cNvCxnSpPr>
          <p:nvPr/>
        </p:nvCxnSpPr>
        <p:spPr>
          <a:xfrm>
            <a:off x="1605135" y="1370548"/>
            <a:ext cx="573166" cy="6142"/>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5F1C43D2-E620-9C0F-8F59-3C225D84D954}"/>
              </a:ext>
            </a:extLst>
          </p:cNvPr>
          <p:cNvCxnSpPr>
            <a:cxnSpLocks/>
            <a:stCxn id="35" idx="2"/>
            <a:endCxn id="36" idx="0"/>
          </p:cNvCxnSpPr>
          <p:nvPr/>
        </p:nvCxnSpPr>
        <p:spPr>
          <a:xfrm>
            <a:off x="3021506" y="1510875"/>
            <a:ext cx="3100" cy="244228"/>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sp>
        <p:nvSpPr>
          <p:cNvPr id="41" name="Rectangle 40">
            <a:extLst>
              <a:ext uri="{FF2B5EF4-FFF2-40B4-BE49-F238E27FC236}">
                <a16:creationId xmlns:a16="http://schemas.microsoft.com/office/drawing/2014/main" id="{882303AC-562A-C2AE-5575-48DC0D0833C5}"/>
              </a:ext>
            </a:extLst>
          </p:cNvPr>
          <p:cNvSpPr/>
          <p:nvPr/>
        </p:nvSpPr>
        <p:spPr>
          <a:xfrm>
            <a:off x="8257004" y="1219000"/>
            <a:ext cx="1801592" cy="572606"/>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USING ONLY MCU PROGRAMMING</a:t>
            </a:r>
          </a:p>
        </p:txBody>
      </p:sp>
      <p:sp>
        <p:nvSpPr>
          <p:cNvPr id="42" name="Rectangle 41">
            <a:extLst>
              <a:ext uri="{FF2B5EF4-FFF2-40B4-BE49-F238E27FC236}">
                <a16:creationId xmlns:a16="http://schemas.microsoft.com/office/drawing/2014/main" id="{65F90BC3-484D-B65C-A50F-605A09CD9659}"/>
              </a:ext>
            </a:extLst>
          </p:cNvPr>
          <p:cNvSpPr/>
          <p:nvPr/>
        </p:nvSpPr>
        <p:spPr>
          <a:xfrm>
            <a:off x="6287645" y="1219000"/>
            <a:ext cx="1779773" cy="572606"/>
          </a:xfrm>
          <a:prstGeom prst="rect">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USER CAN EITHER USE MAX77958’s MTP OR MCU PROGRAMMING BASED ON PREFERENCE</a:t>
            </a:r>
          </a:p>
        </p:txBody>
      </p:sp>
      <p:sp>
        <p:nvSpPr>
          <p:cNvPr id="43" name="Rectangle 42">
            <a:extLst>
              <a:ext uri="{FF2B5EF4-FFF2-40B4-BE49-F238E27FC236}">
                <a16:creationId xmlns:a16="http://schemas.microsoft.com/office/drawing/2014/main" id="{9CB7CC0D-B318-91E6-A5AC-BB89307660E2}"/>
              </a:ext>
            </a:extLst>
          </p:cNvPr>
          <p:cNvSpPr/>
          <p:nvPr/>
        </p:nvSpPr>
        <p:spPr>
          <a:xfrm>
            <a:off x="10205344" y="1219000"/>
            <a:ext cx="1779773" cy="572606"/>
          </a:xfrm>
          <a:prstGeom prst="rect">
            <a:avLst/>
          </a:prstGeom>
          <a:solidFill>
            <a:srgbClr val="A9D18E"/>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MAX77958’s MTP CONFIGURED USING CUSTOMIZATION SCRIPT AND PROGRAMMED TO MTP BY MCU/GUI</a:t>
            </a:r>
          </a:p>
        </p:txBody>
      </p:sp>
      <p:sp>
        <p:nvSpPr>
          <p:cNvPr id="45" name="Rectangle 44">
            <a:extLst>
              <a:ext uri="{FF2B5EF4-FFF2-40B4-BE49-F238E27FC236}">
                <a16:creationId xmlns:a16="http://schemas.microsoft.com/office/drawing/2014/main" id="{080A7731-8AF0-5960-7B3A-B0D1DE605715}"/>
              </a:ext>
            </a:extLst>
          </p:cNvPr>
          <p:cNvSpPr/>
          <p:nvPr/>
        </p:nvSpPr>
        <p:spPr>
          <a:xfrm>
            <a:off x="4219593" y="4531979"/>
            <a:ext cx="1800274" cy="306606"/>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SOURCE SENT ITS CAPABILITIES IN THE FORM OF PDOs</a:t>
            </a:r>
          </a:p>
        </p:txBody>
      </p:sp>
      <p:sp>
        <p:nvSpPr>
          <p:cNvPr id="46" name="Rectangle 45">
            <a:extLst>
              <a:ext uri="{FF2B5EF4-FFF2-40B4-BE49-F238E27FC236}">
                <a16:creationId xmlns:a16="http://schemas.microsoft.com/office/drawing/2014/main" id="{8430540C-9D6E-D5F4-1B8C-799A684322A9}"/>
              </a:ext>
            </a:extLst>
          </p:cNvPr>
          <p:cNvSpPr/>
          <p:nvPr/>
        </p:nvSpPr>
        <p:spPr>
          <a:xfrm>
            <a:off x="4231273" y="2761437"/>
            <a:ext cx="1791877" cy="268389"/>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SOURCE RAISES THE VBUS TO 5V</a:t>
            </a:r>
          </a:p>
        </p:txBody>
      </p:sp>
      <p:sp>
        <p:nvSpPr>
          <p:cNvPr id="47" name="Flowchart: Decision 46">
            <a:extLst>
              <a:ext uri="{FF2B5EF4-FFF2-40B4-BE49-F238E27FC236}">
                <a16:creationId xmlns:a16="http://schemas.microsoft.com/office/drawing/2014/main" id="{369B994F-A0D0-7206-EA1B-2454BC1B6DB5}"/>
              </a:ext>
            </a:extLst>
          </p:cNvPr>
          <p:cNvSpPr/>
          <p:nvPr/>
        </p:nvSpPr>
        <p:spPr>
          <a:xfrm>
            <a:off x="2254793" y="2307168"/>
            <a:ext cx="1544603" cy="534825"/>
          </a:xfrm>
          <a:prstGeom prst="flowChartDecision">
            <a:avLst/>
          </a:prstGeom>
          <a:solidFill>
            <a:srgbClr val="F4B18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cs typeface="Angsana New" panose="02020603050405020304" pitchFamily="18" charset="-34"/>
              </a:rPr>
              <a:t>MCU READ CCSTATUS0 [2:0]</a:t>
            </a:r>
          </a:p>
        </p:txBody>
      </p:sp>
      <p:cxnSp>
        <p:nvCxnSpPr>
          <p:cNvPr id="10" name="Connector: Elbow 9">
            <a:extLst>
              <a:ext uri="{FF2B5EF4-FFF2-40B4-BE49-F238E27FC236}">
                <a16:creationId xmlns:a16="http://schemas.microsoft.com/office/drawing/2014/main" id="{422B55EF-4396-83AC-55CA-8469E21A4E8B}"/>
              </a:ext>
            </a:extLst>
          </p:cNvPr>
          <p:cNvCxnSpPr>
            <a:cxnSpLocks/>
            <a:stCxn id="44" idx="2"/>
            <a:endCxn id="55" idx="0"/>
          </p:cNvCxnSpPr>
          <p:nvPr/>
        </p:nvCxnSpPr>
        <p:spPr>
          <a:xfrm rot="5400000" flipH="1" flipV="1">
            <a:off x="5330881" y="2288361"/>
            <a:ext cx="4010843" cy="4387746"/>
          </a:xfrm>
          <a:prstGeom prst="bentConnector5">
            <a:avLst>
              <a:gd name="adj1" fmla="val -1900"/>
              <a:gd name="adj2" fmla="val 40640"/>
              <a:gd name="adj3" fmla="val 105700"/>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05241337-C7C8-1BCA-E906-B07DFB69558D}"/>
              </a:ext>
            </a:extLst>
          </p:cNvPr>
          <p:cNvSpPr/>
          <p:nvPr/>
        </p:nvSpPr>
        <p:spPr>
          <a:xfrm>
            <a:off x="6076618" y="3260331"/>
            <a:ext cx="155311" cy="1201321"/>
          </a:xfrm>
          <a:prstGeom prst="rightBrace">
            <a:avLst>
              <a:gd name="adj1" fmla="val 40889"/>
              <a:gd name="adj2" fmla="val 50000"/>
            </a:avLst>
          </a:prstGeom>
          <a:ln w="190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2000"/>
          </a:p>
        </p:txBody>
      </p:sp>
      <p:sp>
        <p:nvSpPr>
          <p:cNvPr id="48" name="TextBox 47">
            <a:extLst>
              <a:ext uri="{FF2B5EF4-FFF2-40B4-BE49-F238E27FC236}">
                <a16:creationId xmlns:a16="http://schemas.microsoft.com/office/drawing/2014/main" id="{8D0DFCEA-EBAD-900A-2F26-D7EC5F5D2E2B}"/>
              </a:ext>
            </a:extLst>
          </p:cNvPr>
          <p:cNvSpPr txBox="1"/>
          <p:nvPr/>
        </p:nvSpPr>
        <p:spPr>
          <a:xfrm rot="16200000">
            <a:off x="5763041" y="3695462"/>
            <a:ext cx="1260968" cy="284784"/>
          </a:xfrm>
          <a:prstGeom prst="rect">
            <a:avLst/>
          </a:prstGeom>
        </p:spPr>
        <p:txBody>
          <a:bodyPr vert="horz" wrap="none" lIns="0" tIns="0" rIns="0" bIns="0" rtlCol="0" anchor="t" anchorCtr="0">
            <a:normAutofit/>
          </a:bodyPr>
          <a:lstStyle/>
          <a:p>
            <a:pPr algn="l"/>
            <a:r>
              <a:rPr lang="en-US" sz="1400" b="1" dirty="0">
                <a:solidFill>
                  <a:schemeClr val="tx2"/>
                </a:solidFill>
              </a:rPr>
              <a:t>Slow Charging</a:t>
            </a:r>
          </a:p>
        </p:txBody>
      </p:sp>
      <p:grpSp>
        <p:nvGrpSpPr>
          <p:cNvPr id="7" name="Group 6">
            <a:extLst>
              <a:ext uri="{FF2B5EF4-FFF2-40B4-BE49-F238E27FC236}">
                <a16:creationId xmlns:a16="http://schemas.microsoft.com/office/drawing/2014/main" id="{3ACC7282-CB46-AB52-BE09-B6ECB7E9AC5C}"/>
              </a:ext>
            </a:extLst>
          </p:cNvPr>
          <p:cNvGrpSpPr/>
          <p:nvPr/>
        </p:nvGrpSpPr>
        <p:grpSpPr>
          <a:xfrm>
            <a:off x="4238164" y="5012726"/>
            <a:ext cx="2592375" cy="1474929"/>
            <a:chOff x="4238164" y="5012726"/>
            <a:chExt cx="2592375" cy="1474929"/>
          </a:xfrm>
        </p:grpSpPr>
        <p:sp>
          <p:nvSpPr>
            <p:cNvPr id="14" name="Rectangle 13">
              <a:extLst>
                <a:ext uri="{FF2B5EF4-FFF2-40B4-BE49-F238E27FC236}">
                  <a16:creationId xmlns:a16="http://schemas.microsoft.com/office/drawing/2014/main" id="{1FBCED96-7C7C-8ABF-DED3-82867F8B6C0F}"/>
                </a:ext>
              </a:extLst>
            </p:cNvPr>
            <p:cNvSpPr/>
            <p:nvPr/>
          </p:nvSpPr>
          <p:spPr>
            <a:xfrm>
              <a:off x="4238164" y="5012726"/>
              <a:ext cx="1798205" cy="340758"/>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CHECKS AND SORTS OUT THE AVAILABLE  APDOs</a:t>
              </a:r>
            </a:p>
          </p:txBody>
        </p:sp>
        <p:sp>
          <p:nvSpPr>
            <p:cNvPr id="44" name="Rectangle 43">
              <a:extLst>
                <a:ext uri="{FF2B5EF4-FFF2-40B4-BE49-F238E27FC236}">
                  <a16:creationId xmlns:a16="http://schemas.microsoft.com/office/drawing/2014/main" id="{26F404CD-F73E-1863-AAF7-7A4053F63FDD}"/>
                </a:ext>
              </a:extLst>
            </p:cNvPr>
            <p:cNvSpPr/>
            <p:nvPr/>
          </p:nvSpPr>
          <p:spPr>
            <a:xfrm>
              <a:off x="4241634" y="6074069"/>
              <a:ext cx="1801592" cy="413586"/>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INSTRUCTS MAX77958 TO ENABLE PPS MODE</a:t>
              </a:r>
            </a:p>
          </p:txBody>
        </p:sp>
        <p:cxnSp>
          <p:nvCxnSpPr>
            <p:cNvPr id="9" name="Straight Arrow Connector 8">
              <a:extLst>
                <a:ext uri="{FF2B5EF4-FFF2-40B4-BE49-F238E27FC236}">
                  <a16:creationId xmlns:a16="http://schemas.microsoft.com/office/drawing/2014/main" id="{1C0F06DA-5B41-81B4-CC6A-47E7373283AC}"/>
                </a:ext>
              </a:extLst>
            </p:cNvPr>
            <p:cNvCxnSpPr>
              <a:cxnSpLocks/>
              <a:stCxn id="14" idx="2"/>
              <a:endCxn id="69" idx="0"/>
            </p:cNvCxnSpPr>
            <p:nvPr/>
          </p:nvCxnSpPr>
          <p:spPr>
            <a:xfrm>
              <a:off x="5137267" y="5353484"/>
              <a:ext cx="10293" cy="131900"/>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65" name="Rectangle 64">
              <a:extLst>
                <a:ext uri="{FF2B5EF4-FFF2-40B4-BE49-F238E27FC236}">
                  <a16:creationId xmlns:a16="http://schemas.microsoft.com/office/drawing/2014/main" id="{D760E460-F797-C9F9-BB7B-4376AAE3EEE0}"/>
                </a:ext>
              </a:extLst>
            </p:cNvPr>
            <p:cNvSpPr/>
            <p:nvPr/>
          </p:nvSpPr>
          <p:spPr>
            <a:xfrm>
              <a:off x="5110446" y="5901258"/>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YES</a:t>
              </a:r>
            </a:p>
          </p:txBody>
        </p:sp>
        <p:cxnSp>
          <p:nvCxnSpPr>
            <p:cNvPr id="66" name="Straight Arrow Connector 65">
              <a:extLst>
                <a:ext uri="{FF2B5EF4-FFF2-40B4-BE49-F238E27FC236}">
                  <a16:creationId xmlns:a16="http://schemas.microsoft.com/office/drawing/2014/main" id="{41C7B669-095C-4F1F-807C-E99C11C5C833}"/>
                </a:ext>
              </a:extLst>
            </p:cNvPr>
            <p:cNvCxnSpPr>
              <a:cxnSpLocks/>
              <a:stCxn id="69" idx="3"/>
              <a:endCxn id="83" idx="1"/>
            </p:cNvCxnSpPr>
            <p:nvPr/>
          </p:nvCxnSpPr>
          <p:spPr>
            <a:xfrm flipV="1">
              <a:off x="5694008" y="5694471"/>
              <a:ext cx="343896" cy="79"/>
            </a:xfrm>
            <a:prstGeom prst="straightConnector1">
              <a:avLst/>
            </a:prstGeom>
            <a:ln w="12700">
              <a:headEnd type="none" w="med" len="sm"/>
              <a:tailEnd type="triangle" w="med" len="med"/>
            </a:ln>
          </p:spPr>
          <p:style>
            <a:lnRef idx="3">
              <a:schemeClr val="dk1"/>
            </a:lnRef>
            <a:fillRef idx="0">
              <a:schemeClr val="dk1"/>
            </a:fillRef>
            <a:effectRef idx="2">
              <a:schemeClr val="dk1"/>
            </a:effectRef>
            <a:fontRef idx="minor">
              <a:schemeClr val="tx1"/>
            </a:fontRef>
          </p:style>
        </p:cxnSp>
        <p:grpSp>
          <p:nvGrpSpPr>
            <p:cNvPr id="107" name="Group 106">
              <a:extLst>
                <a:ext uri="{FF2B5EF4-FFF2-40B4-BE49-F238E27FC236}">
                  <a16:creationId xmlns:a16="http://schemas.microsoft.com/office/drawing/2014/main" id="{9E36759C-A891-51D9-2903-9CBE0E4AB415}"/>
                </a:ext>
              </a:extLst>
            </p:cNvPr>
            <p:cNvGrpSpPr/>
            <p:nvPr/>
          </p:nvGrpSpPr>
          <p:grpSpPr>
            <a:xfrm>
              <a:off x="4601111" y="5485384"/>
              <a:ext cx="1120903" cy="418332"/>
              <a:chOff x="4964547" y="5575050"/>
              <a:chExt cx="937832" cy="347723"/>
            </a:xfrm>
          </p:grpSpPr>
          <p:sp>
            <p:nvSpPr>
              <p:cNvPr id="69" name="Flowchart: Decision 68">
                <a:extLst>
                  <a:ext uri="{FF2B5EF4-FFF2-40B4-BE49-F238E27FC236}">
                    <a16:creationId xmlns:a16="http://schemas.microsoft.com/office/drawing/2014/main" id="{7C5178C1-0A22-F44F-43E3-E8195C9E5354}"/>
                  </a:ext>
                </a:extLst>
              </p:cNvPr>
              <p:cNvSpPr/>
              <p:nvPr/>
            </p:nvSpPr>
            <p:spPr>
              <a:xfrm>
                <a:off x="4964547" y="5575050"/>
                <a:ext cx="914400" cy="347723"/>
              </a:xfrm>
              <a:prstGeom prst="flowChartDecision">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2000" dirty="0" err="1">
                  <a:solidFill>
                    <a:srgbClr val="000000"/>
                  </a:solidFill>
                  <a:latin typeface="Barlow" pitchFamily="2" charset="77"/>
                  <a:cs typeface="Arial" panose="020B0604020202020204" pitchFamily="34" charset="0"/>
                </a:endParaRPr>
              </a:p>
            </p:txBody>
          </p:sp>
          <p:sp>
            <p:nvSpPr>
              <p:cNvPr id="64" name="Rectangle 63">
                <a:extLst>
                  <a:ext uri="{FF2B5EF4-FFF2-40B4-BE49-F238E27FC236}">
                    <a16:creationId xmlns:a16="http://schemas.microsoft.com/office/drawing/2014/main" id="{0B983875-4C88-DCF2-6CC6-DB7CCFB3F6B4}"/>
                  </a:ext>
                </a:extLst>
              </p:cNvPr>
              <p:cNvSpPr/>
              <p:nvPr/>
            </p:nvSpPr>
            <p:spPr>
              <a:xfrm>
                <a:off x="4987979" y="5675973"/>
                <a:ext cx="914400" cy="19613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AVAILABLE APDOs?</a:t>
                </a:r>
              </a:p>
            </p:txBody>
          </p:sp>
        </p:grpSp>
        <p:cxnSp>
          <p:nvCxnSpPr>
            <p:cNvPr id="77" name="Straight Arrow Connector 76">
              <a:extLst>
                <a:ext uri="{FF2B5EF4-FFF2-40B4-BE49-F238E27FC236}">
                  <a16:creationId xmlns:a16="http://schemas.microsoft.com/office/drawing/2014/main" id="{8922C565-BD96-395F-1335-4EE603E2AF22}"/>
                </a:ext>
              </a:extLst>
            </p:cNvPr>
            <p:cNvCxnSpPr>
              <a:cxnSpLocks/>
              <a:stCxn id="69" idx="2"/>
              <a:endCxn id="44" idx="0"/>
            </p:cNvCxnSpPr>
            <p:nvPr/>
          </p:nvCxnSpPr>
          <p:spPr>
            <a:xfrm flipH="1">
              <a:off x="5142430" y="5903716"/>
              <a:ext cx="5130" cy="170353"/>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80" name="Rectangle 79">
              <a:extLst>
                <a:ext uri="{FF2B5EF4-FFF2-40B4-BE49-F238E27FC236}">
                  <a16:creationId xmlns:a16="http://schemas.microsoft.com/office/drawing/2014/main" id="{008874E8-8647-9E6D-27F6-DDE647839BE6}"/>
                </a:ext>
              </a:extLst>
            </p:cNvPr>
            <p:cNvSpPr/>
            <p:nvPr/>
          </p:nvSpPr>
          <p:spPr>
            <a:xfrm>
              <a:off x="5647250" y="5540074"/>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NO</a:t>
              </a:r>
            </a:p>
          </p:txBody>
        </p:sp>
        <p:sp>
          <p:nvSpPr>
            <p:cNvPr id="83" name="Rectangle 82">
              <a:extLst>
                <a:ext uri="{FF2B5EF4-FFF2-40B4-BE49-F238E27FC236}">
                  <a16:creationId xmlns:a16="http://schemas.microsoft.com/office/drawing/2014/main" id="{F98F1EA3-EC23-5526-B011-48B47F7E19B1}"/>
                </a:ext>
              </a:extLst>
            </p:cNvPr>
            <p:cNvSpPr/>
            <p:nvPr/>
          </p:nvSpPr>
          <p:spPr>
            <a:xfrm>
              <a:off x="6037904" y="5527128"/>
              <a:ext cx="792635" cy="334686"/>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PD CHARGING</a:t>
              </a:r>
            </a:p>
          </p:txBody>
        </p:sp>
      </p:grpSp>
      <p:grpSp>
        <p:nvGrpSpPr>
          <p:cNvPr id="3" name="Group 2">
            <a:extLst>
              <a:ext uri="{FF2B5EF4-FFF2-40B4-BE49-F238E27FC236}">
                <a16:creationId xmlns:a16="http://schemas.microsoft.com/office/drawing/2014/main" id="{055B1810-EF7D-9B54-BFD2-EE7557E60947}"/>
              </a:ext>
            </a:extLst>
          </p:cNvPr>
          <p:cNvGrpSpPr/>
          <p:nvPr/>
        </p:nvGrpSpPr>
        <p:grpSpPr>
          <a:xfrm>
            <a:off x="6975169" y="2476812"/>
            <a:ext cx="5091228" cy="3465177"/>
            <a:chOff x="6975169" y="2476812"/>
            <a:chExt cx="5091228" cy="3465177"/>
          </a:xfrm>
        </p:grpSpPr>
        <p:sp>
          <p:nvSpPr>
            <p:cNvPr id="40" name="Rectangle 39">
              <a:extLst>
                <a:ext uri="{FF2B5EF4-FFF2-40B4-BE49-F238E27FC236}">
                  <a16:creationId xmlns:a16="http://schemas.microsoft.com/office/drawing/2014/main" id="{EC7A8026-A96A-23E7-CA79-551A505F0BC4}"/>
                </a:ext>
              </a:extLst>
            </p:cNvPr>
            <p:cNvSpPr/>
            <p:nvPr/>
          </p:nvSpPr>
          <p:spPr>
            <a:xfrm>
              <a:off x="7011192" y="3786449"/>
              <a:ext cx="5055205" cy="1499415"/>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a:p>
              <a:pPr algn="ctr"/>
              <a:endParaRPr lang="en-US" sz="800" b="1" dirty="0">
                <a:solidFill>
                  <a:schemeClr val="tx1"/>
                </a:solidFill>
                <a:latin typeface="Barlow" panose="00000500000000000000" pitchFamily="2" charset="0"/>
              </a:endParaRPr>
            </a:p>
          </p:txBody>
        </p:sp>
        <p:cxnSp>
          <p:nvCxnSpPr>
            <p:cNvPr id="11" name="Straight Arrow Connector 10">
              <a:extLst>
                <a:ext uri="{FF2B5EF4-FFF2-40B4-BE49-F238E27FC236}">
                  <a16:creationId xmlns:a16="http://schemas.microsoft.com/office/drawing/2014/main" id="{D8B6A23F-422F-5EE6-187C-218D43A6548A}"/>
                </a:ext>
              </a:extLst>
            </p:cNvPr>
            <p:cNvCxnSpPr>
              <a:cxnSpLocks/>
              <a:stCxn id="40" idx="2"/>
              <a:endCxn id="12" idx="0"/>
            </p:cNvCxnSpPr>
            <p:nvPr/>
          </p:nvCxnSpPr>
          <p:spPr>
            <a:xfrm>
              <a:off x="9538795" y="5285864"/>
              <a:ext cx="5453" cy="343358"/>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12" name="Rectangle 11">
              <a:extLst>
                <a:ext uri="{FF2B5EF4-FFF2-40B4-BE49-F238E27FC236}">
                  <a16:creationId xmlns:a16="http://schemas.microsoft.com/office/drawing/2014/main" id="{B44871AC-50E7-4F43-5702-F74F97BD0109}"/>
                </a:ext>
              </a:extLst>
            </p:cNvPr>
            <p:cNvSpPr/>
            <p:nvPr/>
          </p:nvSpPr>
          <p:spPr>
            <a:xfrm>
              <a:off x="8633225" y="5629222"/>
              <a:ext cx="1822045" cy="31276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CHARGING DONE</a:t>
              </a:r>
            </a:p>
          </p:txBody>
        </p:sp>
        <p:sp>
          <p:nvSpPr>
            <p:cNvPr id="55" name="Rectangle 54">
              <a:extLst>
                <a:ext uri="{FF2B5EF4-FFF2-40B4-BE49-F238E27FC236}">
                  <a16:creationId xmlns:a16="http://schemas.microsoft.com/office/drawing/2014/main" id="{ED48F996-31D0-D65F-D20D-1AE869DC25EC}"/>
                </a:ext>
              </a:extLst>
            </p:cNvPr>
            <p:cNvSpPr/>
            <p:nvPr/>
          </p:nvSpPr>
          <p:spPr>
            <a:xfrm>
              <a:off x="8620791" y="2476812"/>
              <a:ext cx="1818769" cy="380106"/>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READS THE BATT VOLTAGE AND CURRENT</a:t>
              </a:r>
            </a:p>
          </p:txBody>
        </p:sp>
        <p:cxnSp>
          <p:nvCxnSpPr>
            <p:cNvPr id="57" name="Straight Arrow Connector 56">
              <a:extLst>
                <a:ext uri="{FF2B5EF4-FFF2-40B4-BE49-F238E27FC236}">
                  <a16:creationId xmlns:a16="http://schemas.microsoft.com/office/drawing/2014/main" id="{0AF8DED2-B2CA-E3B2-AFD8-152959A3A92D}"/>
                </a:ext>
              </a:extLst>
            </p:cNvPr>
            <p:cNvCxnSpPr>
              <a:cxnSpLocks/>
              <a:stCxn id="55" idx="2"/>
              <a:endCxn id="56" idx="0"/>
            </p:cNvCxnSpPr>
            <p:nvPr/>
          </p:nvCxnSpPr>
          <p:spPr>
            <a:xfrm>
              <a:off x="9530176" y="2856918"/>
              <a:ext cx="2638" cy="202741"/>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56" name="Rectangle 55">
              <a:extLst>
                <a:ext uri="{FF2B5EF4-FFF2-40B4-BE49-F238E27FC236}">
                  <a16:creationId xmlns:a16="http://schemas.microsoft.com/office/drawing/2014/main" id="{FCC44535-A769-FBCB-4EE6-E11A448A3A26}"/>
                </a:ext>
              </a:extLst>
            </p:cNvPr>
            <p:cNvSpPr/>
            <p:nvPr/>
          </p:nvSpPr>
          <p:spPr>
            <a:xfrm>
              <a:off x="8623429" y="3059659"/>
              <a:ext cx="1818769" cy="380106"/>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MCU REQUESTS MAX77958 TO PULL VBUS TO VBATT AND ENABLE SCC</a:t>
              </a:r>
            </a:p>
          </p:txBody>
        </p:sp>
        <p:cxnSp>
          <p:nvCxnSpPr>
            <p:cNvPr id="102" name="Straight Arrow Connector 101">
              <a:extLst>
                <a:ext uri="{FF2B5EF4-FFF2-40B4-BE49-F238E27FC236}">
                  <a16:creationId xmlns:a16="http://schemas.microsoft.com/office/drawing/2014/main" id="{5B6AE098-E846-011B-5817-5131C4BDDA4A}"/>
                </a:ext>
              </a:extLst>
            </p:cNvPr>
            <p:cNvCxnSpPr>
              <a:cxnSpLocks/>
              <a:stCxn id="56" idx="2"/>
              <a:endCxn id="40" idx="0"/>
            </p:cNvCxnSpPr>
            <p:nvPr/>
          </p:nvCxnSpPr>
          <p:spPr>
            <a:xfrm>
              <a:off x="9532814" y="3439765"/>
              <a:ext cx="5981" cy="346684"/>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grpSp>
          <p:nvGrpSpPr>
            <p:cNvPr id="108" name="Group 107">
              <a:extLst>
                <a:ext uri="{FF2B5EF4-FFF2-40B4-BE49-F238E27FC236}">
                  <a16:creationId xmlns:a16="http://schemas.microsoft.com/office/drawing/2014/main" id="{3FE5DC1C-1D3B-073E-5531-344564F6FD24}"/>
                </a:ext>
              </a:extLst>
            </p:cNvPr>
            <p:cNvGrpSpPr/>
            <p:nvPr/>
          </p:nvGrpSpPr>
          <p:grpSpPr>
            <a:xfrm>
              <a:off x="7146154" y="3885675"/>
              <a:ext cx="1023130" cy="448462"/>
              <a:chOff x="4964547" y="5575050"/>
              <a:chExt cx="920732" cy="448462"/>
            </a:xfrm>
          </p:grpSpPr>
          <p:sp>
            <p:nvSpPr>
              <p:cNvPr id="109" name="Flowchart: Decision 108">
                <a:extLst>
                  <a:ext uri="{FF2B5EF4-FFF2-40B4-BE49-F238E27FC236}">
                    <a16:creationId xmlns:a16="http://schemas.microsoft.com/office/drawing/2014/main" id="{3A5B4368-09E5-AB8C-57C6-9E31A0AE74FA}"/>
                  </a:ext>
                </a:extLst>
              </p:cNvPr>
              <p:cNvSpPr/>
              <p:nvPr/>
            </p:nvSpPr>
            <p:spPr>
              <a:xfrm>
                <a:off x="4964547" y="5575050"/>
                <a:ext cx="914400" cy="448462"/>
              </a:xfrm>
              <a:prstGeom prst="flowChartDecision">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2000" dirty="0" err="1">
                  <a:solidFill>
                    <a:srgbClr val="000000"/>
                  </a:solidFill>
                  <a:latin typeface="Barlow" pitchFamily="2" charset="77"/>
                  <a:cs typeface="Arial" panose="020B0604020202020204" pitchFamily="34" charset="0"/>
                </a:endParaRPr>
              </a:p>
            </p:txBody>
          </p:sp>
          <p:sp>
            <p:nvSpPr>
              <p:cNvPr id="110" name="Rectangle 109">
                <a:extLst>
                  <a:ext uri="{FF2B5EF4-FFF2-40B4-BE49-F238E27FC236}">
                    <a16:creationId xmlns:a16="http://schemas.microsoft.com/office/drawing/2014/main" id="{0AC4D23E-7417-7A18-5BE1-F59083E6F8EC}"/>
                  </a:ext>
                </a:extLst>
              </p:cNvPr>
              <p:cNvSpPr/>
              <p:nvPr/>
            </p:nvSpPr>
            <p:spPr>
              <a:xfrm>
                <a:off x="4970879" y="5707410"/>
                <a:ext cx="914400" cy="19613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IF VBATT &lt; </a:t>
                </a:r>
              </a:p>
              <a:p>
                <a:pPr algn="ctr"/>
                <a:r>
                  <a:rPr lang="en-US" sz="800" b="1" dirty="0">
                    <a:solidFill>
                      <a:schemeClr val="tx1"/>
                    </a:solidFill>
                    <a:latin typeface="Barlow" panose="00000500000000000000" pitchFamily="2" charset="0"/>
                  </a:rPr>
                  <a:t>VPRECHG </a:t>
                </a:r>
              </a:p>
            </p:txBody>
          </p:sp>
        </p:grpSp>
        <p:grpSp>
          <p:nvGrpSpPr>
            <p:cNvPr id="111" name="Group 110">
              <a:extLst>
                <a:ext uri="{FF2B5EF4-FFF2-40B4-BE49-F238E27FC236}">
                  <a16:creationId xmlns:a16="http://schemas.microsoft.com/office/drawing/2014/main" id="{874F60F1-F7B1-64ED-0A3B-9ACF6C41FE8A}"/>
                </a:ext>
              </a:extLst>
            </p:cNvPr>
            <p:cNvGrpSpPr/>
            <p:nvPr/>
          </p:nvGrpSpPr>
          <p:grpSpPr>
            <a:xfrm>
              <a:off x="8415330" y="3885204"/>
              <a:ext cx="1042132" cy="448462"/>
              <a:chOff x="4964547" y="5575050"/>
              <a:chExt cx="937832" cy="347723"/>
            </a:xfrm>
          </p:grpSpPr>
          <p:sp>
            <p:nvSpPr>
              <p:cNvPr id="112" name="Flowchart: Decision 111">
                <a:extLst>
                  <a:ext uri="{FF2B5EF4-FFF2-40B4-BE49-F238E27FC236}">
                    <a16:creationId xmlns:a16="http://schemas.microsoft.com/office/drawing/2014/main" id="{FFFDD46B-F64F-4089-4B29-1BE22B2840D4}"/>
                  </a:ext>
                </a:extLst>
              </p:cNvPr>
              <p:cNvSpPr/>
              <p:nvPr/>
            </p:nvSpPr>
            <p:spPr>
              <a:xfrm>
                <a:off x="4964547" y="5575050"/>
                <a:ext cx="914400" cy="347723"/>
              </a:xfrm>
              <a:prstGeom prst="flowChartDecision">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2000" dirty="0" err="1">
                  <a:solidFill>
                    <a:srgbClr val="000000"/>
                  </a:solidFill>
                  <a:latin typeface="Barlow" pitchFamily="2" charset="77"/>
                  <a:cs typeface="Arial" panose="020B0604020202020204" pitchFamily="34" charset="0"/>
                </a:endParaRPr>
              </a:p>
            </p:txBody>
          </p:sp>
          <p:sp>
            <p:nvSpPr>
              <p:cNvPr id="113" name="Rectangle 112">
                <a:extLst>
                  <a:ext uri="{FF2B5EF4-FFF2-40B4-BE49-F238E27FC236}">
                    <a16:creationId xmlns:a16="http://schemas.microsoft.com/office/drawing/2014/main" id="{C6DD89C0-0AAC-C1C4-FE42-0F12A4841689}"/>
                  </a:ext>
                </a:extLst>
              </p:cNvPr>
              <p:cNvSpPr/>
              <p:nvPr/>
            </p:nvSpPr>
            <p:spPr>
              <a:xfrm>
                <a:off x="4987979" y="5666136"/>
                <a:ext cx="914400" cy="19613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IF VBATT &lt; </a:t>
                </a:r>
              </a:p>
              <a:p>
                <a:pPr algn="ctr"/>
                <a:r>
                  <a:rPr lang="en-US" sz="800" b="1" dirty="0">
                    <a:solidFill>
                      <a:schemeClr val="tx1"/>
                    </a:solidFill>
                    <a:latin typeface="Barlow" panose="00000500000000000000" pitchFamily="2" charset="0"/>
                  </a:rPr>
                  <a:t>VTRKLE </a:t>
                </a:r>
              </a:p>
            </p:txBody>
          </p:sp>
        </p:grpSp>
        <p:grpSp>
          <p:nvGrpSpPr>
            <p:cNvPr id="114" name="Group 113">
              <a:extLst>
                <a:ext uri="{FF2B5EF4-FFF2-40B4-BE49-F238E27FC236}">
                  <a16:creationId xmlns:a16="http://schemas.microsoft.com/office/drawing/2014/main" id="{BDAF5648-E326-3769-385A-19024DB67650}"/>
                </a:ext>
              </a:extLst>
            </p:cNvPr>
            <p:cNvGrpSpPr/>
            <p:nvPr/>
          </p:nvGrpSpPr>
          <p:grpSpPr>
            <a:xfrm>
              <a:off x="9694975" y="3880236"/>
              <a:ext cx="1042132" cy="453958"/>
              <a:chOff x="4964547" y="5575050"/>
              <a:chExt cx="937832" cy="347723"/>
            </a:xfrm>
          </p:grpSpPr>
          <p:sp>
            <p:nvSpPr>
              <p:cNvPr id="115" name="Flowchart: Decision 114">
                <a:extLst>
                  <a:ext uri="{FF2B5EF4-FFF2-40B4-BE49-F238E27FC236}">
                    <a16:creationId xmlns:a16="http://schemas.microsoft.com/office/drawing/2014/main" id="{2CBF9183-E1A4-02A5-DCFE-0CA69B1B0656}"/>
                  </a:ext>
                </a:extLst>
              </p:cNvPr>
              <p:cNvSpPr/>
              <p:nvPr/>
            </p:nvSpPr>
            <p:spPr>
              <a:xfrm>
                <a:off x="4964547" y="5575050"/>
                <a:ext cx="914400" cy="347723"/>
              </a:xfrm>
              <a:prstGeom prst="flowChartDecision">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2000" dirty="0" err="1">
                  <a:solidFill>
                    <a:srgbClr val="000000"/>
                  </a:solidFill>
                  <a:latin typeface="Barlow" pitchFamily="2" charset="77"/>
                  <a:cs typeface="Arial" panose="020B0604020202020204" pitchFamily="34" charset="0"/>
                </a:endParaRPr>
              </a:p>
            </p:txBody>
          </p:sp>
          <p:sp>
            <p:nvSpPr>
              <p:cNvPr id="116" name="Rectangle 115">
                <a:extLst>
                  <a:ext uri="{FF2B5EF4-FFF2-40B4-BE49-F238E27FC236}">
                    <a16:creationId xmlns:a16="http://schemas.microsoft.com/office/drawing/2014/main" id="{E4D16D94-E827-5A96-BF0A-6C06245EFB58}"/>
                  </a:ext>
                </a:extLst>
              </p:cNvPr>
              <p:cNvSpPr/>
              <p:nvPr/>
            </p:nvSpPr>
            <p:spPr>
              <a:xfrm>
                <a:off x="4987979" y="5675973"/>
                <a:ext cx="914400" cy="19613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IF VBATT &lt; </a:t>
                </a:r>
              </a:p>
              <a:p>
                <a:pPr algn="ctr"/>
                <a:r>
                  <a:rPr lang="en-US" sz="800" b="1" dirty="0">
                    <a:solidFill>
                      <a:schemeClr val="tx1"/>
                    </a:solidFill>
                    <a:latin typeface="Barlow" panose="00000500000000000000" pitchFamily="2" charset="0"/>
                  </a:rPr>
                  <a:t>VTERM</a:t>
                </a:r>
              </a:p>
            </p:txBody>
          </p:sp>
        </p:grpSp>
        <p:grpSp>
          <p:nvGrpSpPr>
            <p:cNvPr id="131" name="Group 130">
              <a:extLst>
                <a:ext uri="{FF2B5EF4-FFF2-40B4-BE49-F238E27FC236}">
                  <a16:creationId xmlns:a16="http://schemas.microsoft.com/office/drawing/2014/main" id="{EAAFCE8E-9DD8-8D9E-67B6-6391837A4714}"/>
                </a:ext>
              </a:extLst>
            </p:cNvPr>
            <p:cNvGrpSpPr/>
            <p:nvPr/>
          </p:nvGrpSpPr>
          <p:grpSpPr>
            <a:xfrm>
              <a:off x="10942985" y="3880179"/>
              <a:ext cx="1042132" cy="453958"/>
              <a:chOff x="4964547" y="5575050"/>
              <a:chExt cx="937832" cy="347723"/>
            </a:xfrm>
          </p:grpSpPr>
          <p:sp>
            <p:nvSpPr>
              <p:cNvPr id="132" name="Flowchart: Decision 131">
                <a:extLst>
                  <a:ext uri="{FF2B5EF4-FFF2-40B4-BE49-F238E27FC236}">
                    <a16:creationId xmlns:a16="http://schemas.microsoft.com/office/drawing/2014/main" id="{D29DFD0E-9CE6-163B-5ABD-AD8CE0A59E18}"/>
                  </a:ext>
                </a:extLst>
              </p:cNvPr>
              <p:cNvSpPr/>
              <p:nvPr/>
            </p:nvSpPr>
            <p:spPr>
              <a:xfrm>
                <a:off x="4964547" y="5575050"/>
                <a:ext cx="914400" cy="347723"/>
              </a:xfrm>
              <a:prstGeom prst="flowChartDecision">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sz="2000" dirty="0" err="1">
                  <a:solidFill>
                    <a:srgbClr val="000000"/>
                  </a:solidFill>
                  <a:latin typeface="Barlow" pitchFamily="2" charset="77"/>
                  <a:cs typeface="Arial" panose="020B0604020202020204" pitchFamily="34" charset="0"/>
                </a:endParaRPr>
              </a:p>
            </p:txBody>
          </p:sp>
          <p:sp>
            <p:nvSpPr>
              <p:cNvPr id="133" name="Rectangle 132">
                <a:extLst>
                  <a:ext uri="{FF2B5EF4-FFF2-40B4-BE49-F238E27FC236}">
                    <a16:creationId xmlns:a16="http://schemas.microsoft.com/office/drawing/2014/main" id="{28186B9A-3017-EA46-D3FE-F5C8E342E406}"/>
                  </a:ext>
                </a:extLst>
              </p:cNvPr>
              <p:cNvSpPr/>
              <p:nvPr/>
            </p:nvSpPr>
            <p:spPr>
              <a:xfrm>
                <a:off x="4987979" y="5675973"/>
                <a:ext cx="914400" cy="19613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IF VBATT = </a:t>
                </a:r>
              </a:p>
              <a:p>
                <a:pPr algn="ctr"/>
                <a:r>
                  <a:rPr lang="en-US" sz="800" b="1" dirty="0">
                    <a:solidFill>
                      <a:schemeClr val="tx1"/>
                    </a:solidFill>
                    <a:latin typeface="Barlow" panose="00000500000000000000" pitchFamily="2" charset="0"/>
                  </a:rPr>
                  <a:t>VTERM</a:t>
                </a:r>
              </a:p>
            </p:txBody>
          </p:sp>
        </p:grpSp>
        <p:sp>
          <p:nvSpPr>
            <p:cNvPr id="134" name="Rectangle 133">
              <a:extLst>
                <a:ext uri="{FF2B5EF4-FFF2-40B4-BE49-F238E27FC236}">
                  <a16:creationId xmlns:a16="http://schemas.microsoft.com/office/drawing/2014/main" id="{0DCB2A2D-4C48-BC64-7D39-1CE5EE4DA3D8}"/>
                </a:ext>
              </a:extLst>
            </p:cNvPr>
            <p:cNvSpPr/>
            <p:nvPr/>
          </p:nvSpPr>
          <p:spPr>
            <a:xfrm>
              <a:off x="7157039" y="4572319"/>
              <a:ext cx="992303" cy="336395"/>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PRECHARGING</a:t>
              </a:r>
            </a:p>
          </p:txBody>
        </p:sp>
        <p:sp>
          <p:nvSpPr>
            <p:cNvPr id="135" name="Rectangle 134">
              <a:extLst>
                <a:ext uri="{FF2B5EF4-FFF2-40B4-BE49-F238E27FC236}">
                  <a16:creationId xmlns:a16="http://schemas.microsoft.com/office/drawing/2014/main" id="{A279BA70-1E58-FCB5-64E4-B77C2B58A5EA}"/>
                </a:ext>
              </a:extLst>
            </p:cNvPr>
            <p:cNvSpPr/>
            <p:nvPr/>
          </p:nvSpPr>
          <p:spPr>
            <a:xfrm>
              <a:off x="8415330" y="4572319"/>
              <a:ext cx="1016094" cy="336395"/>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TRICKLE CHARGING</a:t>
              </a:r>
            </a:p>
          </p:txBody>
        </p:sp>
        <p:sp>
          <p:nvSpPr>
            <p:cNvPr id="136" name="Rectangle 135">
              <a:extLst>
                <a:ext uri="{FF2B5EF4-FFF2-40B4-BE49-F238E27FC236}">
                  <a16:creationId xmlns:a16="http://schemas.microsoft.com/office/drawing/2014/main" id="{C056791E-7017-1B57-8861-3468CC55B45D}"/>
                </a:ext>
              </a:extLst>
            </p:cNvPr>
            <p:cNvSpPr/>
            <p:nvPr/>
          </p:nvSpPr>
          <p:spPr>
            <a:xfrm>
              <a:off x="9694975" y="4562478"/>
              <a:ext cx="1016094" cy="336395"/>
            </a:xfrm>
            <a:prstGeom prst="rect">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Barlow" panose="00000500000000000000" pitchFamily="2" charset="0"/>
                </a:rPr>
                <a:t>FAST CHARGING</a:t>
              </a:r>
            </a:p>
          </p:txBody>
        </p:sp>
        <p:sp>
          <p:nvSpPr>
            <p:cNvPr id="137" name="Rectangle 136">
              <a:extLst>
                <a:ext uri="{FF2B5EF4-FFF2-40B4-BE49-F238E27FC236}">
                  <a16:creationId xmlns:a16="http://schemas.microsoft.com/office/drawing/2014/main" id="{9AE98D4B-A1A4-6394-D3A9-572FC4D2A7A9}"/>
                </a:ext>
              </a:extLst>
            </p:cNvPr>
            <p:cNvSpPr/>
            <p:nvPr/>
          </p:nvSpPr>
          <p:spPr>
            <a:xfrm>
              <a:off x="11009663" y="4566280"/>
              <a:ext cx="901449" cy="336395"/>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CV CHARGING</a:t>
              </a:r>
            </a:p>
          </p:txBody>
        </p:sp>
        <p:cxnSp>
          <p:nvCxnSpPr>
            <p:cNvPr id="139" name="Straight Arrow Connector 138">
              <a:extLst>
                <a:ext uri="{FF2B5EF4-FFF2-40B4-BE49-F238E27FC236}">
                  <a16:creationId xmlns:a16="http://schemas.microsoft.com/office/drawing/2014/main" id="{10A4B9F0-C8C7-D562-CCB7-EC1ECCAFCF85}"/>
                </a:ext>
              </a:extLst>
            </p:cNvPr>
            <p:cNvCxnSpPr>
              <a:cxnSpLocks/>
              <a:stCxn id="109" idx="2"/>
              <a:endCxn id="134" idx="0"/>
            </p:cNvCxnSpPr>
            <p:nvPr/>
          </p:nvCxnSpPr>
          <p:spPr>
            <a:xfrm flipH="1">
              <a:off x="7653191" y="4334137"/>
              <a:ext cx="1010" cy="238182"/>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43" name="Straight Arrow Connector 142">
              <a:extLst>
                <a:ext uri="{FF2B5EF4-FFF2-40B4-BE49-F238E27FC236}">
                  <a16:creationId xmlns:a16="http://schemas.microsoft.com/office/drawing/2014/main" id="{63AD74E4-860B-C94A-1023-BFA656115099}"/>
                </a:ext>
              </a:extLst>
            </p:cNvPr>
            <p:cNvCxnSpPr>
              <a:cxnSpLocks/>
              <a:stCxn id="109" idx="3"/>
              <a:endCxn id="112" idx="1"/>
            </p:cNvCxnSpPr>
            <p:nvPr/>
          </p:nvCxnSpPr>
          <p:spPr>
            <a:xfrm flipV="1">
              <a:off x="8162248" y="4109435"/>
              <a:ext cx="253082" cy="471"/>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46" name="Straight Arrow Connector 145">
              <a:extLst>
                <a:ext uri="{FF2B5EF4-FFF2-40B4-BE49-F238E27FC236}">
                  <a16:creationId xmlns:a16="http://schemas.microsoft.com/office/drawing/2014/main" id="{322E0E67-9026-CB3E-9269-E975A1DEBCDF}"/>
                </a:ext>
              </a:extLst>
            </p:cNvPr>
            <p:cNvCxnSpPr>
              <a:cxnSpLocks/>
              <a:stCxn id="112" idx="3"/>
              <a:endCxn id="115" idx="1"/>
            </p:cNvCxnSpPr>
            <p:nvPr/>
          </p:nvCxnSpPr>
          <p:spPr>
            <a:xfrm flipV="1">
              <a:off x="9431424" y="4107215"/>
              <a:ext cx="263551" cy="2220"/>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51" name="Straight Arrow Connector 150">
              <a:extLst>
                <a:ext uri="{FF2B5EF4-FFF2-40B4-BE49-F238E27FC236}">
                  <a16:creationId xmlns:a16="http://schemas.microsoft.com/office/drawing/2014/main" id="{57F0CCEC-3E1E-759F-7FE4-9C3BD9DD664B}"/>
                </a:ext>
              </a:extLst>
            </p:cNvPr>
            <p:cNvCxnSpPr>
              <a:cxnSpLocks/>
              <a:stCxn id="115" idx="3"/>
              <a:endCxn id="132" idx="1"/>
            </p:cNvCxnSpPr>
            <p:nvPr/>
          </p:nvCxnSpPr>
          <p:spPr>
            <a:xfrm flipV="1">
              <a:off x="10711069" y="4107158"/>
              <a:ext cx="231916" cy="57"/>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57" name="Straight Arrow Connector 156">
              <a:extLst>
                <a:ext uri="{FF2B5EF4-FFF2-40B4-BE49-F238E27FC236}">
                  <a16:creationId xmlns:a16="http://schemas.microsoft.com/office/drawing/2014/main" id="{E16A7DDF-CDA9-DFAB-A224-D4D1DED2D7D0}"/>
                </a:ext>
              </a:extLst>
            </p:cNvPr>
            <p:cNvCxnSpPr>
              <a:cxnSpLocks/>
              <a:stCxn id="112" idx="2"/>
              <a:endCxn id="135" idx="0"/>
            </p:cNvCxnSpPr>
            <p:nvPr/>
          </p:nvCxnSpPr>
          <p:spPr>
            <a:xfrm>
              <a:off x="8923377" y="4333666"/>
              <a:ext cx="0" cy="238653"/>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61" name="Straight Arrow Connector 160">
              <a:extLst>
                <a:ext uri="{FF2B5EF4-FFF2-40B4-BE49-F238E27FC236}">
                  <a16:creationId xmlns:a16="http://schemas.microsoft.com/office/drawing/2014/main" id="{58C1F3C1-AFDB-8883-6D0C-E2A4A36A5814}"/>
                </a:ext>
              </a:extLst>
            </p:cNvPr>
            <p:cNvCxnSpPr>
              <a:cxnSpLocks/>
              <a:stCxn id="115" idx="2"/>
              <a:endCxn id="136" idx="0"/>
            </p:cNvCxnSpPr>
            <p:nvPr/>
          </p:nvCxnSpPr>
          <p:spPr>
            <a:xfrm>
              <a:off x="10203022" y="4334194"/>
              <a:ext cx="0" cy="228284"/>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cxnSp>
          <p:nvCxnSpPr>
            <p:cNvPr id="164" name="Straight Arrow Connector 163">
              <a:extLst>
                <a:ext uri="{FF2B5EF4-FFF2-40B4-BE49-F238E27FC236}">
                  <a16:creationId xmlns:a16="http://schemas.microsoft.com/office/drawing/2014/main" id="{EC90BE8C-9342-80A7-7C22-E16A2748B337}"/>
                </a:ext>
              </a:extLst>
            </p:cNvPr>
            <p:cNvCxnSpPr>
              <a:cxnSpLocks/>
              <a:stCxn id="132" idx="2"/>
              <a:endCxn id="137" idx="0"/>
            </p:cNvCxnSpPr>
            <p:nvPr/>
          </p:nvCxnSpPr>
          <p:spPr>
            <a:xfrm>
              <a:off x="11451032" y="4334137"/>
              <a:ext cx="9356" cy="232143"/>
            </a:xfrm>
            <a:prstGeom prst="straightConnector1">
              <a:avLst/>
            </a:prstGeom>
            <a:ln w="12700">
              <a:headEnd type="none"/>
              <a:tailEnd type="triangle" w="med" len="med"/>
            </a:ln>
          </p:spPr>
          <p:style>
            <a:lnRef idx="3">
              <a:schemeClr val="dk1"/>
            </a:lnRef>
            <a:fillRef idx="0">
              <a:schemeClr val="dk1"/>
            </a:fillRef>
            <a:effectRef idx="2">
              <a:schemeClr val="dk1"/>
            </a:effectRef>
            <a:fontRef idx="minor">
              <a:schemeClr val="tx1"/>
            </a:fontRef>
          </p:style>
        </p:cxnSp>
        <p:sp>
          <p:nvSpPr>
            <p:cNvPr id="173" name="Rectangle 172">
              <a:extLst>
                <a:ext uri="{FF2B5EF4-FFF2-40B4-BE49-F238E27FC236}">
                  <a16:creationId xmlns:a16="http://schemas.microsoft.com/office/drawing/2014/main" id="{C9373933-F2BA-E51A-FC74-AEC2FC2D9CA0}"/>
                </a:ext>
              </a:extLst>
            </p:cNvPr>
            <p:cNvSpPr/>
            <p:nvPr/>
          </p:nvSpPr>
          <p:spPr>
            <a:xfrm>
              <a:off x="7607663" y="4333666"/>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YES</a:t>
              </a:r>
            </a:p>
          </p:txBody>
        </p:sp>
        <p:sp>
          <p:nvSpPr>
            <p:cNvPr id="174" name="Rectangle 173">
              <a:extLst>
                <a:ext uri="{FF2B5EF4-FFF2-40B4-BE49-F238E27FC236}">
                  <a16:creationId xmlns:a16="http://schemas.microsoft.com/office/drawing/2014/main" id="{09EB168C-63FB-0064-6469-2F44C246DE9B}"/>
                </a:ext>
              </a:extLst>
            </p:cNvPr>
            <p:cNvSpPr/>
            <p:nvPr/>
          </p:nvSpPr>
          <p:spPr>
            <a:xfrm>
              <a:off x="8874676" y="4344365"/>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YES</a:t>
              </a:r>
            </a:p>
          </p:txBody>
        </p:sp>
        <p:sp>
          <p:nvSpPr>
            <p:cNvPr id="175" name="Rectangle 174">
              <a:extLst>
                <a:ext uri="{FF2B5EF4-FFF2-40B4-BE49-F238E27FC236}">
                  <a16:creationId xmlns:a16="http://schemas.microsoft.com/office/drawing/2014/main" id="{68FBF63D-36FC-0211-203F-A8D8F8FAF2E4}"/>
                </a:ext>
              </a:extLst>
            </p:cNvPr>
            <p:cNvSpPr/>
            <p:nvPr/>
          </p:nvSpPr>
          <p:spPr>
            <a:xfrm>
              <a:off x="10171312" y="4334194"/>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YES</a:t>
              </a:r>
            </a:p>
          </p:txBody>
        </p:sp>
        <p:sp>
          <p:nvSpPr>
            <p:cNvPr id="176" name="Rectangle 175">
              <a:extLst>
                <a:ext uri="{FF2B5EF4-FFF2-40B4-BE49-F238E27FC236}">
                  <a16:creationId xmlns:a16="http://schemas.microsoft.com/office/drawing/2014/main" id="{46B3461C-5CB8-8661-5971-7A2603A36BD8}"/>
                </a:ext>
              </a:extLst>
            </p:cNvPr>
            <p:cNvSpPr/>
            <p:nvPr/>
          </p:nvSpPr>
          <p:spPr>
            <a:xfrm>
              <a:off x="11398939" y="4344365"/>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YES</a:t>
              </a:r>
            </a:p>
          </p:txBody>
        </p:sp>
        <p:sp>
          <p:nvSpPr>
            <p:cNvPr id="177" name="Rectangle 176">
              <a:extLst>
                <a:ext uri="{FF2B5EF4-FFF2-40B4-BE49-F238E27FC236}">
                  <a16:creationId xmlns:a16="http://schemas.microsoft.com/office/drawing/2014/main" id="{F5DA3BE7-B173-8E4B-C87D-C9B19CAF4B26}"/>
                </a:ext>
              </a:extLst>
            </p:cNvPr>
            <p:cNvSpPr/>
            <p:nvPr/>
          </p:nvSpPr>
          <p:spPr>
            <a:xfrm>
              <a:off x="8076268" y="3907742"/>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NO</a:t>
              </a:r>
            </a:p>
          </p:txBody>
        </p:sp>
        <p:sp>
          <p:nvSpPr>
            <p:cNvPr id="178" name="Rectangle 177">
              <a:extLst>
                <a:ext uri="{FF2B5EF4-FFF2-40B4-BE49-F238E27FC236}">
                  <a16:creationId xmlns:a16="http://schemas.microsoft.com/office/drawing/2014/main" id="{1C2498ED-6E80-B7D2-97BB-5E5C2C52AABB}"/>
                </a:ext>
              </a:extLst>
            </p:cNvPr>
            <p:cNvSpPr/>
            <p:nvPr/>
          </p:nvSpPr>
          <p:spPr>
            <a:xfrm>
              <a:off x="9368728" y="3910120"/>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NO</a:t>
              </a:r>
            </a:p>
          </p:txBody>
        </p:sp>
        <p:sp>
          <p:nvSpPr>
            <p:cNvPr id="179" name="Rectangle 178">
              <a:extLst>
                <a:ext uri="{FF2B5EF4-FFF2-40B4-BE49-F238E27FC236}">
                  <a16:creationId xmlns:a16="http://schemas.microsoft.com/office/drawing/2014/main" id="{1F975EE0-E6DB-6ADF-D1F1-EA5B4CF94D82}"/>
                </a:ext>
              </a:extLst>
            </p:cNvPr>
            <p:cNvSpPr/>
            <p:nvPr/>
          </p:nvSpPr>
          <p:spPr>
            <a:xfrm>
              <a:off x="10635822" y="3915302"/>
              <a:ext cx="367326" cy="17281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Barlow" panose="00000500000000000000" pitchFamily="2" charset="0"/>
                </a:rPr>
                <a:t>NO</a:t>
              </a:r>
            </a:p>
          </p:txBody>
        </p:sp>
        <p:sp>
          <p:nvSpPr>
            <p:cNvPr id="52" name="TextBox 51">
              <a:extLst>
                <a:ext uri="{FF2B5EF4-FFF2-40B4-BE49-F238E27FC236}">
                  <a16:creationId xmlns:a16="http://schemas.microsoft.com/office/drawing/2014/main" id="{1616814A-B961-F93F-F566-E338883EEAF9}"/>
                </a:ext>
              </a:extLst>
            </p:cNvPr>
            <p:cNvSpPr txBox="1"/>
            <p:nvPr/>
          </p:nvSpPr>
          <p:spPr>
            <a:xfrm>
              <a:off x="6975169" y="4827931"/>
              <a:ext cx="2283134" cy="400110"/>
            </a:xfrm>
            <a:prstGeom prst="rect">
              <a:avLst/>
            </a:prstGeom>
            <a:noFill/>
          </p:spPr>
          <p:txBody>
            <a:bodyPr wrap="square">
              <a:spAutoFit/>
            </a:bodyPr>
            <a:lstStyle/>
            <a:p>
              <a:pPr algn="ctr"/>
              <a:endParaRPr lang="en-US" sz="1000" b="1" dirty="0">
                <a:solidFill>
                  <a:schemeClr val="tx1"/>
                </a:solidFill>
                <a:latin typeface="Barlow" panose="00000500000000000000" pitchFamily="2" charset="0"/>
              </a:endParaRPr>
            </a:p>
            <a:p>
              <a:pPr algn="ctr"/>
              <a:r>
                <a:rPr lang="en-US" sz="1000" b="1" dirty="0">
                  <a:solidFill>
                    <a:schemeClr val="tx1"/>
                  </a:solidFill>
                  <a:latin typeface="Barlow" panose="00000500000000000000" pitchFamily="2" charset="0"/>
                </a:rPr>
                <a:t>CC CV CHARGING STATE MACHINE </a:t>
              </a:r>
            </a:p>
          </p:txBody>
        </p:sp>
        <p:cxnSp>
          <p:nvCxnSpPr>
            <p:cNvPr id="61" name="Connector: Elbow 60">
              <a:extLst>
                <a:ext uri="{FF2B5EF4-FFF2-40B4-BE49-F238E27FC236}">
                  <a16:creationId xmlns:a16="http://schemas.microsoft.com/office/drawing/2014/main" id="{DFB54BAF-2877-5F02-5D3A-829932CA4365}"/>
                </a:ext>
              </a:extLst>
            </p:cNvPr>
            <p:cNvCxnSpPr>
              <a:endCxn id="40" idx="2"/>
            </p:cNvCxnSpPr>
            <p:nvPr/>
          </p:nvCxnSpPr>
          <p:spPr>
            <a:xfrm rot="10800000" flipV="1">
              <a:off x="9538796" y="4908714"/>
              <a:ext cx="1921593" cy="377150"/>
            </a:xfrm>
            <a:prstGeom prst="bentConnector4">
              <a:avLst>
                <a:gd name="adj1" fmla="val 747"/>
                <a:gd name="adj2" fmla="val 55550"/>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5863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B7CD29-95D7-37A6-CE21-27BABBDFC687}"/>
              </a:ext>
            </a:extLst>
          </p:cNvPr>
          <p:cNvSpPr>
            <a:spLocks noGrp="1"/>
          </p:cNvSpPr>
          <p:nvPr>
            <p:ph idx="1"/>
          </p:nvPr>
        </p:nvSpPr>
        <p:spPr>
          <a:xfrm>
            <a:off x="355601" y="1705429"/>
            <a:ext cx="5557837" cy="4667408"/>
          </a:xfrm>
        </p:spPr>
        <p:txBody>
          <a:bodyPr/>
          <a:lstStyle/>
          <a:p>
            <a:r>
              <a:rPr lang="en-US"/>
              <a:t>Efficiency Analysis</a:t>
            </a:r>
            <a:endParaRPr lang="en-US" dirty="0"/>
          </a:p>
        </p:txBody>
      </p:sp>
      <p:sp>
        <p:nvSpPr>
          <p:cNvPr id="3" name="Footer Placeholder 3">
            <a:extLst>
              <a:ext uri="{FF2B5EF4-FFF2-40B4-BE49-F238E27FC236}">
                <a16:creationId xmlns:a16="http://schemas.microsoft.com/office/drawing/2014/main" id="{83BD7AE2-FE35-F9D5-B7CC-3784DFF6671B}"/>
              </a:ext>
            </a:extLst>
          </p:cNvPr>
          <p:cNvSpPr>
            <a:spLocks noGrp="1"/>
          </p:cNvSpPr>
          <p:nvPr>
            <p:ph type="ftr" sz="quarter" idx="11"/>
          </p:nvPr>
        </p:nvSpPr>
        <p:spPr>
          <a:xfrm>
            <a:off x="342900" y="6616018"/>
            <a:ext cx="7545737" cy="251230"/>
          </a:xfrm>
        </p:spPr>
        <p:txBody>
          <a:bodyPr/>
          <a:lstStyle/>
          <a:p>
            <a:r>
              <a:rPr lang="en-US" dirty="0">
                <a:solidFill>
                  <a:schemeClr val="bg1"/>
                </a:solidFill>
              </a:rPr>
              <a:t>Analog Devices Confidential Information—Not for External Distribution. ©2024 Analog Devices, Inc. All Rights Reserved.</a:t>
            </a:r>
          </a:p>
        </p:txBody>
      </p:sp>
      <p:sp>
        <p:nvSpPr>
          <p:cNvPr id="7" name="Date Placeholder 5">
            <a:extLst>
              <a:ext uri="{FF2B5EF4-FFF2-40B4-BE49-F238E27FC236}">
                <a16:creationId xmlns:a16="http://schemas.microsoft.com/office/drawing/2014/main" id="{FBDB2067-4098-3B27-A132-D266D1B81FA4}"/>
              </a:ext>
            </a:extLst>
          </p:cNvPr>
          <p:cNvSpPr>
            <a:spLocks noGrp="1"/>
          </p:cNvSpPr>
          <p:nvPr>
            <p:ph type="dt" sz="half" idx="10"/>
          </p:nvPr>
        </p:nvSpPr>
        <p:spPr>
          <a:xfrm>
            <a:off x="7888637" y="6599019"/>
            <a:ext cx="2741264" cy="251229"/>
          </a:xfrm>
        </p:spPr>
        <p:txBody>
          <a:bodyPr/>
          <a:lstStyle/>
          <a:p>
            <a:r>
              <a:rPr lang="en-US"/>
              <a:t>FTC | Orlando, FL | November 4-8, 2024</a:t>
            </a:r>
            <a:endParaRPr lang="en-US" dirty="0"/>
          </a:p>
        </p:txBody>
      </p:sp>
    </p:spTree>
    <p:custDataLst>
      <p:tags r:id="rId1"/>
    </p:custDataLst>
    <p:extLst>
      <p:ext uri="{BB962C8B-B14F-4D97-AF65-F5344CB8AC3E}">
        <p14:creationId xmlns:p14="http://schemas.microsoft.com/office/powerpoint/2010/main" val="278577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DECECFA-82C3-3972-F4C6-53552515B201}"/>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F04C084B-BB22-87D3-4413-E9E7D505044A}"/>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B8CCAFF8-CC50-AD37-C469-E30C3653B0D6}"/>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24</a:t>
            </a:fld>
            <a:endParaRPr lang="en-US" dirty="0"/>
          </a:p>
        </p:txBody>
      </p:sp>
      <p:sp>
        <p:nvSpPr>
          <p:cNvPr id="96" name="Title 4">
            <a:extLst>
              <a:ext uri="{FF2B5EF4-FFF2-40B4-BE49-F238E27FC236}">
                <a16:creationId xmlns:a16="http://schemas.microsoft.com/office/drawing/2014/main" id="{7B562407-BA33-FF87-8089-FA30E04ED639}"/>
              </a:ext>
            </a:extLst>
          </p:cNvPr>
          <p:cNvSpPr>
            <a:spLocks noGrp="1"/>
          </p:cNvSpPr>
          <p:nvPr>
            <p:ph type="title"/>
          </p:nvPr>
        </p:nvSpPr>
        <p:spPr>
          <a:xfrm>
            <a:off x="417600" y="640080"/>
            <a:ext cx="10080000" cy="450000"/>
          </a:xfrm>
        </p:spPr>
        <p:txBody>
          <a:bodyPr/>
          <a:lstStyle/>
          <a:p>
            <a:r>
              <a:rPr lang="en-US" dirty="0"/>
              <a:t>Experiment Setup</a:t>
            </a:r>
          </a:p>
        </p:txBody>
      </p:sp>
      <p:grpSp>
        <p:nvGrpSpPr>
          <p:cNvPr id="97" name="Group 96">
            <a:extLst>
              <a:ext uri="{FF2B5EF4-FFF2-40B4-BE49-F238E27FC236}">
                <a16:creationId xmlns:a16="http://schemas.microsoft.com/office/drawing/2014/main" id="{B75E3DD1-5C0B-2E1B-4424-8F5927667265}"/>
              </a:ext>
            </a:extLst>
          </p:cNvPr>
          <p:cNvGrpSpPr/>
          <p:nvPr/>
        </p:nvGrpSpPr>
        <p:grpSpPr>
          <a:xfrm>
            <a:off x="235871" y="3097672"/>
            <a:ext cx="11445394" cy="2998808"/>
            <a:chOff x="235871" y="3302945"/>
            <a:chExt cx="11445394" cy="2998808"/>
          </a:xfrm>
        </p:grpSpPr>
        <p:sp>
          <p:nvSpPr>
            <p:cNvPr id="98" name="TextBox 97">
              <a:extLst>
                <a:ext uri="{FF2B5EF4-FFF2-40B4-BE49-F238E27FC236}">
                  <a16:creationId xmlns:a16="http://schemas.microsoft.com/office/drawing/2014/main" id="{862F3A55-11F1-0980-EF23-11DC588400C3}"/>
                </a:ext>
              </a:extLst>
            </p:cNvPr>
            <p:cNvSpPr txBox="1"/>
            <p:nvPr/>
          </p:nvSpPr>
          <p:spPr>
            <a:xfrm>
              <a:off x="235871" y="6066266"/>
              <a:ext cx="781465" cy="235487"/>
            </a:xfrm>
            <a:prstGeom prst="rect">
              <a:avLst/>
            </a:prstGeom>
          </p:spPr>
          <p:txBody>
            <a:bodyPr vert="horz" wrap="none" lIns="0" tIns="0" rIns="0" bIns="0" rtlCol="0" anchor="t" anchorCtr="0">
              <a:normAutofit/>
            </a:bodyPr>
            <a:lstStyle/>
            <a:p>
              <a:pPr algn="l"/>
              <a:r>
                <a:rPr lang="en-US" sz="1400" b="1" dirty="0">
                  <a:solidFill>
                    <a:schemeClr val="tx2"/>
                  </a:solidFill>
                </a:rPr>
                <a:t>SOURCE SIDE (FAST CHARGING CAPABLE)</a:t>
              </a:r>
            </a:p>
          </p:txBody>
        </p:sp>
        <p:sp>
          <p:nvSpPr>
            <p:cNvPr id="99" name="TextBox 98">
              <a:extLst>
                <a:ext uri="{FF2B5EF4-FFF2-40B4-BE49-F238E27FC236}">
                  <a16:creationId xmlns:a16="http://schemas.microsoft.com/office/drawing/2014/main" id="{880C4FB3-392D-EB2F-1269-6207F946CE45}"/>
                </a:ext>
              </a:extLst>
            </p:cNvPr>
            <p:cNvSpPr txBox="1"/>
            <p:nvPr/>
          </p:nvSpPr>
          <p:spPr>
            <a:xfrm>
              <a:off x="10899800" y="3302945"/>
              <a:ext cx="781465" cy="742035"/>
            </a:xfrm>
            <a:prstGeom prst="rect">
              <a:avLst/>
            </a:prstGeom>
          </p:spPr>
          <p:txBody>
            <a:bodyPr vert="horz" wrap="none" lIns="0" tIns="0" rIns="0" bIns="0" rtlCol="0" anchor="t" anchorCtr="0">
              <a:normAutofit/>
            </a:bodyPr>
            <a:lstStyle/>
            <a:p>
              <a:pPr algn="l"/>
              <a:r>
                <a:rPr lang="en-US" sz="1400" b="1" dirty="0">
                  <a:solidFill>
                    <a:schemeClr val="tx2"/>
                  </a:solidFill>
                </a:rPr>
                <a:t>SINK SIDE</a:t>
              </a:r>
            </a:p>
          </p:txBody>
        </p:sp>
      </p:grpSp>
      <p:grpSp>
        <p:nvGrpSpPr>
          <p:cNvPr id="11" name="Group 10">
            <a:extLst>
              <a:ext uri="{FF2B5EF4-FFF2-40B4-BE49-F238E27FC236}">
                <a16:creationId xmlns:a16="http://schemas.microsoft.com/office/drawing/2014/main" id="{809F8C1E-7A75-2ECA-2554-5E5E4DBB9358}"/>
              </a:ext>
            </a:extLst>
          </p:cNvPr>
          <p:cNvGrpSpPr/>
          <p:nvPr/>
        </p:nvGrpSpPr>
        <p:grpSpPr>
          <a:xfrm>
            <a:off x="402474" y="1372821"/>
            <a:ext cx="11528537" cy="4424235"/>
            <a:chOff x="126300" y="1579830"/>
            <a:chExt cx="11528537" cy="4424235"/>
          </a:xfrm>
        </p:grpSpPr>
        <p:pic>
          <p:nvPicPr>
            <p:cNvPr id="10" name="Picture 9" descr="A circuit board with wires and a cable&#10;&#10;Description automatically generated">
              <a:extLst>
                <a:ext uri="{FF2B5EF4-FFF2-40B4-BE49-F238E27FC236}">
                  <a16:creationId xmlns:a16="http://schemas.microsoft.com/office/drawing/2014/main" id="{4728D720-CA9F-C6CD-5824-DA7A2E8579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678451" y="-1972321"/>
              <a:ext cx="4424235" cy="11528537"/>
            </a:xfrm>
            <a:prstGeom prst="rect">
              <a:avLst/>
            </a:prstGeom>
            <a:ln>
              <a:noFill/>
            </a:ln>
          </p:spPr>
        </p:pic>
        <p:sp>
          <p:nvSpPr>
            <p:cNvPr id="100" name="Arrow: Down 99">
              <a:extLst>
                <a:ext uri="{FF2B5EF4-FFF2-40B4-BE49-F238E27FC236}">
                  <a16:creationId xmlns:a16="http://schemas.microsoft.com/office/drawing/2014/main" id="{9AE7ADF3-C1AB-3EE3-B639-2D18C5F3E21D}"/>
                </a:ext>
              </a:extLst>
            </p:cNvPr>
            <p:cNvSpPr/>
            <p:nvPr/>
          </p:nvSpPr>
          <p:spPr>
            <a:xfrm>
              <a:off x="459331" y="1608014"/>
              <a:ext cx="155664" cy="560010"/>
            </a:xfrm>
            <a:prstGeom prst="downArrow">
              <a:avLst/>
            </a:prstGeom>
            <a:solidFill>
              <a:srgbClr val="FF000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01" name="TextBox 100">
              <a:extLst>
                <a:ext uri="{FF2B5EF4-FFF2-40B4-BE49-F238E27FC236}">
                  <a16:creationId xmlns:a16="http://schemas.microsoft.com/office/drawing/2014/main" id="{A45EAF90-74DC-37C0-DAC6-7C5B9C058513}"/>
                </a:ext>
              </a:extLst>
            </p:cNvPr>
            <p:cNvSpPr txBox="1"/>
            <p:nvPr/>
          </p:nvSpPr>
          <p:spPr>
            <a:xfrm>
              <a:off x="650072" y="1608014"/>
              <a:ext cx="379207" cy="742035"/>
            </a:xfrm>
            <a:prstGeom prst="rect">
              <a:avLst/>
            </a:prstGeom>
            <a:ln>
              <a:noFill/>
            </a:ln>
          </p:spPr>
          <p:txBody>
            <a:bodyPr vert="horz" wrap="none" lIns="0" tIns="0" rIns="0" bIns="0" rtlCol="0" anchor="t" anchorCtr="0">
              <a:normAutofit/>
            </a:bodyPr>
            <a:lstStyle/>
            <a:p>
              <a:pPr algn="l"/>
              <a:r>
                <a:rPr lang="en-US" sz="1400" b="1" dirty="0">
                  <a:solidFill>
                    <a:srgbClr val="FF0000"/>
                  </a:solidFill>
                </a:rPr>
                <a:t>14V</a:t>
              </a:r>
            </a:p>
          </p:txBody>
        </p:sp>
        <p:sp>
          <p:nvSpPr>
            <p:cNvPr id="103" name="Rectangle 102">
              <a:extLst>
                <a:ext uri="{FF2B5EF4-FFF2-40B4-BE49-F238E27FC236}">
                  <a16:creationId xmlns:a16="http://schemas.microsoft.com/office/drawing/2014/main" id="{CF6AAD11-3B48-A47C-E710-ECFDDD061336}"/>
                </a:ext>
              </a:extLst>
            </p:cNvPr>
            <p:cNvSpPr/>
            <p:nvPr/>
          </p:nvSpPr>
          <p:spPr>
            <a:xfrm>
              <a:off x="6828312" y="1608014"/>
              <a:ext cx="3835730" cy="1770419"/>
            </a:xfrm>
            <a:prstGeom prst="rect">
              <a:avLst/>
            </a:prstGeom>
            <a:solidFill>
              <a:schemeClr val="accent6">
                <a:lumMod val="60000"/>
                <a:lumOff val="40000"/>
                <a:alpha val="29000"/>
              </a:schemeClr>
            </a:solidFill>
            <a:ln w="38100">
              <a:no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04" name="Rectangle 103">
              <a:extLst>
                <a:ext uri="{FF2B5EF4-FFF2-40B4-BE49-F238E27FC236}">
                  <a16:creationId xmlns:a16="http://schemas.microsoft.com/office/drawing/2014/main" id="{FE779F7F-2B7B-1482-58CA-5AFFAB55F2AF}"/>
                </a:ext>
              </a:extLst>
            </p:cNvPr>
            <p:cNvSpPr/>
            <p:nvPr/>
          </p:nvSpPr>
          <p:spPr>
            <a:xfrm>
              <a:off x="6917106" y="3523230"/>
              <a:ext cx="4587785" cy="2029610"/>
            </a:xfrm>
            <a:prstGeom prst="rect">
              <a:avLst/>
            </a:prstGeom>
            <a:solidFill>
              <a:srgbClr val="9EBCEE">
                <a:alpha val="40000"/>
              </a:srgbClr>
            </a:solidFill>
            <a:ln w="38100">
              <a:no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
          <p:nvSpPr>
            <p:cNvPr id="105" name="TextBox 104">
              <a:extLst>
                <a:ext uri="{FF2B5EF4-FFF2-40B4-BE49-F238E27FC236}">
                  <a16:creationId xmlns:a16="http://schemas.microsoft.com/office/drawing/2014/main" id="{B66ED67C-96EF-A125-9056-3E37CF7437E4}"/>
                </a:ext>
              </a:extLst>
            </p:cNvPr>
            <p:cNvSpPr txBox="1"/>
            <p:nvPr/>
          </p:nvSpPr>
          <p:spPr>
            <a:xfrm>
              <a:off x="9485374" y="3047090"/>
              <a:ext cx="1496291" cy="470701"/>
            </a:xfrm>
            <a:prstGeom prst="rect">
              <a:avLst/>
            </a:prstGeom>
            <a:ln>
              <a:noFill/>
            </a:ln>
          </p:spPr>
          <p:txBody>
            <a:bodyPr vert="horz" wrap="none" lIns="0" tIns="0" rIns="0" bIns="0" rtlCol="0" anchor="t" anchorCtr="0">
              <a:normAutofit/>
            </a:bodyPr>
            <a:lstStyle/>
            <a:p>
              <a:pPr algn="l"/>
              <a:r>
                <a:rPr lang="en-US" sz="1400" b="1" i="1" dirty="0">
                  <a:solidFill>
                    <a:srgbClr val="FF0000"/>
                  </a:solidFill>
                </a:rPr>
                <a:t>PD CHARGING</a:t>
              </a:r>
            </a:p>
          </p:txBody>
        </p:sp>
        <p:sp>
          <p:nvSpPr>
            <p:cNvPr id="106" name="TextBox 105">
              <a:extLst>
                <a:ext uri="{FF2B5EF4-FFF2-40B4-BE49-F238E27FC236}">
                  <a16:creationId xmlns:a16="http://schemas.microsoft.com/office/drawing/2014/main" id="{AB9E5608-58C8-9315-B2EF-34A97BFB98E5}"/>
                </a:ext>
              </a:extLst>
            </p:cNvPr>
            <p:cNvSpPr txBox="1"/>
            <p:nvPr/>
          </p:nvSpPr>
          <p:spPr>
            <a:xfrm>
              <a:off x="9167751" y="5187425"/>
              <a:ext cx="1496291" cy="470701"/>
            </a:xfrm>
            <a:prstGeom prst="rect">
              <a:avLst/>
            </a:prstGeom>
            <a:ln>
              <a:noFill/>
            </a:ln>
          </p:spPr>
          <p:txBody>
            <a:bodyPr vert="horz" wrap="none" lIns="0" tIns="0" rIns="0" bIns="0" rtlCol="0" anchor="t" anchorCtr="0">
              <a:normAutofit/>
            </a:bodyPr>
            <a:lstStyle/>
            <a:p>
              <a:pPr algn="l"/>
              <a:r>
                <a:rPr lang="en-US" sz="1400" b="1" i="1" dirty="0">
                  <a:solidFill>
                    <a:schemeClr val="tx2"/>
                  </a:solidFill>
                </a:rPr>
                <a:t>FAST CHARGING (PPS)</a:t>
              </a:r>
            </a:p>
          </p:txBody>
        </p:sp>
      </p:grpSp>
      <p:sp>
        <p:nvSpPr>
          <p:cNvPr id="12" name="TextBox 11">
            <a:extLst>
              <a:ext uri="{FF2B5EF4-FFF2-40B4-BE49-F238E27FC236}">
                <a16:creationId xmlns:a16="http://schemas.microsoft.com/office/drawing/2014/main" id="{2AF00C31-A31B-1F54-B0B7-020034EA011B}"/>
              </a:ext>
            </a:extLst>
          </p:cNvPr>
          <p:cNvSpPr txBox="1"/>
          <p:nvPr/>
        </p:nvSpPr>
        <p:spPr>
          <a:xfrm>
            <a:off x="7474031" y="5811409"/>
            <a:ext cx="781465" cy="235487"/>
          </a:xfrm>
          <a:prstGeom prst="rect">
            <a:avLst/>
          </a:prstGeom>
        </p:spPr>
        <p:txBody>
          <a:bodyPr vert="horz" wrap="none" lIns="0" tIns="0" rIns="0" bIns="0" rtlCol="0" anchor="t" anchorCtr="0">
            <a:normAutofit/>
          </a:bodyPr>
          <a:lstStyle/>
          <a:p>
            <a:pPr algn="l"/>
            <a:r>
              <a:rPr lang="en-US" sz="1400" b="1" dirty="0">
                <a:solidFill>
                  <a:schemeClr val="tx2"/>
                </a:solidFill>
              </a:rPr>
              <a:t>SINK SIDE (FAST CHARGING CAPABLE)</a:t>
            </a:r>
          </a:p>
        </p:txBody>
      </p:sp>
      <p:sp>
        <p:nvSpPr>
          <p:cNvPr id="2" name="TextBox 1">
            <a:extLst>
              <a:ext uri="{FF2B5EF4-FFF2-40B4-BE49-F238E27FC236}">
                <a16:creationId xmlns:a16="http://schemas.microsoft.com/office/drawing/2014/main" id="{BAC639B1-BB16-8A72-CE6A-183C2E62103C}"/>
              </a:ext>
            </a:extLst>
          </p:cNvPr>
          <p:cNvSpPr txBox="1"/>
          <p:nvPr/>
        </p:nvSpPr>
        <p:spPr>
          <a:xfrm>
            <a:off x="5906396" y="5065124"/>
            <a:ext cx="379207" cy="742035"/>
          </a:xfrm>
          <a:prstGeom prst="rect">
            <a:avLst/>
          </a:prstGeom>
          <a:ln>
            <a:noFill/>
          </a:ln>
        </p:spPr>
        <p:txBody>
          <a:bodyPr vert="horz" wrap="none" lIns="0" tIns="0" rIns="0" bIns="0" rtlCol="0" anchor="t" anchorCtr="0">
            <a:normAutofit/>
          </a:bodyPr>
          <a:lstStyle/>
          <a:p>
            <a:pPr algn="l"/>
            <a:r>
              <a:rPr lang="en-US" sz="1400" b="1" dirty="0"/>
              <a:t>To PC</a:t>
            </a:r>
          </a:p>
        </p:txBody>
      </p:sp>
      <p:sp>
        <p:nvSpPr>
          <p:cNvPr id="3" name="Arrow: Down 2">
            <a:extLst>
              <a:ext uri="{FF2B5EF4-FFF2-40B4-BE49-F238E27FC236}">
                <a16:creationId xmlns:a16="http://schemas.microsoft.com/office/drawing/2014/main" id="{015442A7-2917-D778-A7B3-12269C0B3EC7}"/>
              </a:ext>
            </a:extLst>
          </p:cNvPr>
          <p:cNvSpPr/>
          <p:nvPr/>
        </p:nvSpPr>
        <p:spPr>
          <a:xfrm rot="294883">
            <a:off x="6274599" y="4353573"/>
            <a:ext cx="155664" cy="706181"/>
          </a:xfrm>
          <a:prstGeom prst="downArrow">
            <a:avLst/>
          </a:prstGeom>
          <a:solidFill>
            <a:schemeClr val="tx1"/>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latin typeface="Barlow" pitchFamily="2" charset="77"/>
              <a:cs typeface="Arial" panose="020B0604020202020204" pitchFamily="34" charset="0"/>
            </a:endParaRPr>
          </a:p>
        </p:txBody>
      </p:sp>
    </p:spTree>
    <p:extLst>
      <p:ext uri="{BB962C8B-B14F-4D97-AF65-F5344CB8AC3E}">
        <p14:creationId xmlns:p14="http://schemas.microsoft.com/office/powerpoint/2010/main" val="188873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3FA1F9EA-A639-9EA5-A816-60AED7D58D59}"/>
              </a:ext>
            </a:extLst>
          </p:cNvPr>
          <p:cNvSpPr>
            <a:spLocks noGrp="1"/>
          </p:cNvSpPr>
          <p:nvPr>
            <p:ph idx="21"/>
          </p:nvPr>
        </p:nvSpPr>
        <p:spPr/>
        <p:txBody>
          <a:bodyPr/>
          <a:lstStyle/>
          <a:p>
            <a:endParaRPr lang="en-US"/>
          </a:p>
        </p:txBody>
      </p:sp>
      <p:sp>
        <p:nvSpPr>
          <p:cNvPr id="24" name="Content Placeholder 23">
            <a:extLst>
              <a:ext uri="{FF2B5EF4-FFF2-40B4-BE49-F238E27FC236}">
                <a16:creationId xmlns:a16="http://schemas.microsoft.com/office/drawing/2014/main" id="{B582FDB0-654F-6FBE-39A9-E32549FCB869}"/>
              </a:ext>
            </a:extLst>
          </p:cNvPr>
          <p:cNvSpPr>
            <a:spLocks noGrp="1"/>
          </p:cNvSpPr>
          <p:nvPr>
            <p:ph idx="10"/>
          </p:nvPr>
        </p:nvSpPr>
        <p:spPr/>
        <p:txBody>
          <a:bodyPr/>
          <a:lstStyle/>
          <a:p>
            <a:endParaRPr lang="en-US" dirty="0"/>
          </a:p>
        </p:txBody>
      </p:sp>
      <p:sp>
        <p:nvSpPr>
          <p:cNvPr id="4" name="Text Placeholder 3">
            <a:extLst>
              <a:ext uri="{FF2B5EF4-FFF2-40B4-BE49-F238E27FC236}">
                <a16:creationId xmlns:a16="http://schemas.microsoft.com/office/drawing/2014/main" id="{1949DB7E-80CD-C8BC-4973-67D24C87D5BC}"/>
              </a:ext>
            </a:extLst>
          </p:cNvPr>
          <p:cNvSpPr>
            <a:spLocks noGrp="1"/>
          </p:cNvSpPr>
          <p:nvPr>
            <p:ph type="body" sz="quarter" idx="20"/>
          </p:nvPr>
        </p:nvSpPr>
        <p:spPr>
          <a:xfrm>
            <a:off x="6839425" y="1424722"/>
            <a:ext cx="4320000" cy="360000"/>
          </a:xfrm>
        </p:spPr>
        <p:txBody>
          <a:bodyPr/>
          <a:lstStyle/>
          <a:p>
            <a:r>
              <a:rPr lang="en-US"/>
              <a:t>USB PPS CHARGING</a:t>
            </a:r>
            <a:endParaRPr lang="en-US" dirty="0"/>
          </a:p>
        </p:txBody>
      </p:sp>
      <p:sp>
        <p:nvSpPr>
          <p:cNvPr id="5" name="Text Placeholder 4">
            <a:extLst>
              <a:ext uri="{FF2B5EF4-FFF2-40B4-BE49-F238E27FC236}">
                <a16:creationId xmlns:a16="http://schemas.microsoft.com/office/drawing/2014/main" id="{322C545B-5212-2773-732B-19A17303808E}"/>
              </a:ext>
            </a:extLst>
          </p:cNvPr>
          <p:cNvSpPr>
            <a:spLocks noGrp="1"/>
          </p:cNvSpPr>
          <p:nvPr>
            <p:ph type="body" sz="quarter" idx="19"/>
          </p:nvPr>
        </p:nvSpPr>
        <p:spPr>
          <a:xfrm>
            <a:off x="1048225" y="1424722"/>
            <a:ext cx="4320000" cy="360000"/>
          </a:xfrm>
        </p:spPr>
        <p:txBody>
          <a:bodyPr/>
          <a:lstStyle/>
          <a:p>
            <a:r>
              <a:rPr lang="en-US"/>
              <a:t>USB PD Charging</a:t>
            </a:r>
            <a:endParaRPr lang="en-US" dirty="0"/>
          </a:p>
        </p:txBody>
      </p:sp>
      <p:sp>
        <p:nvSpPr>
          <p:cNvPr id="6" name="Footer Placeholder 5">
            <a:extLst>
              <a:ext uri="{FF2B5EF4-FFF2-40B4-BE49-F238E27FC236}">
                <a16:creationId xmlns:a16="http://schemas.microsoft.com/office/drawing/2014/main" id="{521B72E9-4BF9-FF5A-98F6-E861D575281F}"/>
              </a:ext>
            </a:extLst>
          </p:cNvPr>
          <p:cNvSpPr>
            <a:spLocks noGrp="1"/>
          </p:cNvSpPr>
          <p:nvPr>
            <p:ph type="ftr" sz="quarter" idx="3"/>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7" name="Slide Number Placeholder 6">
            <a:extLst>
              <a:ext uri="{FF2B5EF4-FFF2-40B4-BE49-F238E27FC236}">
                <a16:creationId xmlns:a16="http://schemas.microsoft.com/office/drawing/2014/main" id="{B7DBDDD6-1165-FF44-9850-A8A40140EC9F}"/>
              </a:ext>
            </a:extLst>
          </p:cNvPr>
          <p:cNvSpPr>
            <a:spLocks noGrp="1"/>
          </p:cNvSpPr>
          <p:nvPr>
            <p:ph type="sldNum" sz="quarter" idx="4"/>
          </p:nvPr>
        </p:nvSpPr>
        <p:spPr>
          <a:xfrm>
            <a:off x="417601" y="6582557"/>
            <a:ext cx="247878" cy="144000"/>
          </a:xfrm>
        </p:spPr>
        <p:txBody>
          <a:bodyPr/>
          <a:lstStyle/>
          <a:p>
            <a:fld id="{A9CE67A1-BA7F-A74E-B5D7-615746DEEC2B}" type="slidenum">
              <a:rPr lang="en-US" smtClean="0"/>
              <a:pPr/>
              <a:t>25</a:t>
            </a:fld>
            <a:endParaRPr lang="en-US" dirty="0"/>
          </a:p>
        </p:txBody>
      </p:sp>
      <p:sp>
        <p:nvSpPr>
          <p:cNvPr id="8" name="Title 7">
            <a:extLst>
              <a:ext uri="{FF2B5EF4-FFF2-40B4-BE49-F238E27FC236}">
                <a16:creationId xmlns:a16="http://schemas.microsoft.com/office/drawing/2014/main" id="{0334D46A-3428-4208-DDD2-45686C8443B0}"/>
              </a:ext>
            </a:extLst>
          </p:cNvPr>
          <p:cNvSpPr>
            <a:spLocks noGrp="1"/>
          </p:cNvSpPr>
          <p:nvPr>
            <p:ph type="title"/>
          </p:nvPr>
        </p:nvSpPr>
        <p:spPr>
          <a:xfrm>
            <a:off x="417600" y="640080"/>
            <a:ext cx="10080000" cy="450000"/>
          </a:xfrm>
        </p:spPr>
        <p:txBody>
          <a:bodyPr/>
          <a:lstStyle/>
          <a:p>
            <a:r>
              <a:rPr lang="en-US"/>
              <a:t>IC Thermal comparison at 5.5A charging current</a:t>
            </a:r>
            <a:endParaRPr lang="en-US" dirty="0"/>
          </a:p>
        </p:txBody>
      </p:sp>
      <p:sp>
        <p:nvSpPr>
          <p:cNvPr id="9" name="Date Placeholder 8">
            <a:extLst>
              <a:ext uri="{FF2B5EF4-FFF2-40B4-BE49-F238E27FC236}">
                <a16:creationId xmlns:a16="http://schemas.microsoft.com/office/drawing/2014/main" id="{3F90742E-AA80-FD77-A319-7DADF5B6272E}"/>
              </a:ext>
            </a:extLst>
          </p:cNvPr>
          <p:cNvSpPr>
            <a:spLocks noGrp="1"/>
          </p:cNvSpPr>
          <p:nvPr>
            <p:ph type="dt" sz="half" idx="22"/>
          </p:nvPr>
        </p:nvSpPr>
        <p:spPr>
          <a:xfrm>
            <a:off x="9037865" y="6465903"/>
            <a:ext cx="2743200" cy="365125"/>
          </a:xfrm>
        </p:spPr>
        <p:txBody>
          <a:bodyPr/>
          <a:lstStyle/>
          <a:p>
            <a:r>
              <a:rPr lang="en-US"/>
              <a:t>FTC | Orlando, FL | November 4-8, 2024</a:t>
            </a:r>
          </a:p>
        </p:txBody>
      </p:sp>
      <p:pic>
        <p:nvPicPr>
          <p:cNvPr id="2" name="Picture 1">
            <a:extLst>
              <a:ext uri="{FF2B5EF4-FFF2-40B4-BE49-F238E27FC236}">
                <a16:creationId xmlns:a16="http://schemas.microsoft.com/office/drawing/2014/main" id="{20E94945-A147-AB6A-1604-BCB86105B16F}"/>
              </a:ext>
            </a:extLst>
          </p:cNvPr>
          <p:cNvPicPr>
            <a:picLocks noChangeAspect="1"/>
          </p:cNvPicPr>
          <p:nvPr/>
        </p:nvPicPr>
        <p:blipFill>
          <a:blip r:embed="rId3"/>
          <a:stretch>
            <a:fillRect/>
          </a:stretch>
        </p:blipFill>
        <p:spPr>
          <a:xfrm>
            <a:off x="665163" y="2104032"/>
            <a:ext cx="5001680" cy="3766890"/>
          </a:xfrm>
          <a:prstGeom prst="rect">
            <a:avLst/>
          </a:prstGeom>
        </p:spPr>
      </p:pic>
      <p:pic>
        <p:nvPicPr>
          <p:cNvPr id="3" name="Picture 2">
            <a:extLst>
              <a:ext uri="{FF2B5EF4-FFF2-40B4-BE49-F238E27FC236}">
                <a16:creationId xmlns:a16="http://schemas.microsoft.com/office/drawing/2014/main" id="{661ACC9D-6D10-005E-6F6D-95BAB7DE85C8}"/>
              </a:ext>
            </a:extLst>
          </p:cNvPr>
          <p:cNvPicPr>
            <a:picLocks noChangeAspect="1"/>
          </p:cNvPicPr>
          <p:nvPr/>
        </p:nvPicPr>
        <p:blipFill rotWithShape="1">
          <a:blip r:embed="rId4"/>
          <a:srcRect t="1439" b="-1"/>
          <a:stretch/>
        </p:blipFill>
        <p:spPr>
          <a:xfrm>
            <a:off x="6475433" y="2102304"/>
            <a:ext cx="5124409" cy="3768618"/>
          </a:xfrm>
          <a:prstGeom prst="rect">
            <a:avLst/>
          </a:prstGeom>
        </p:spPr>
      </p:pic>
    </p:spTree>
    <p:extLst>
      <p:ext uri="{BB962C8B-B14F-4D97-AF65-F5344CB8AC3E}">
        <p14:creationId xmlns:p14="http://schemas.microsoft.com/office/powerpoint/2010/main" val="208132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diagram with a green line&#10;&#10;Description automatically generated">
            <a:extLst>
              <a:ext uri="{FF2B5EF4-FFF2-40B4-BE49-F238E27FC236}">
                <a16:creationId xmlns:a16="http://schemas.microsoft.com/office/drawing/2014/main" id="{ADB4B606-0103-FE37-7464-4FD46024845C}"/>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1467439" y="3748854"/>
            <a:ext cx="2952161" cy="2920262"/>
          </a:xfrm>
          <a:prstGeom prst="rect">
            <a:avLst/>
          </a:prstGeom>
        </p:spPr>
      </p:pic>
      <p:graphicFrame>
        <p:nvGraphicFramePr>
          <p:cNvPr id="10" name="Content Placeholder 9">
            <a:extLst>
              <a:ext uri="{FF2B5EF4-FFF2-40B4-BE49-F238E27FC236}">
                <a16:creationId xmlns:a16="http://schemas.microsoft.com/office/drawing/2014/main" id="{98216C8B-3A57-8165-BA26-121CB31318A5}"/>
              </a:ext>
            </a:extLst>
          </p:cNvPr>
          <p:cNvGraphicFramePr>
            <a:graphicFrameLocks noGrp="1"/>
          </p:cNvGraphicFramePr>
          <p:nvPr>
            <p:ph idx="10"/>
            <p:extLst>
              <p:ext uri="{D42A27DB-BD31-4B8C-83A1-F6EECF244321}">
                <p14:modId xmlns:p14="http://schemas.microsoft.com/office/powerpoint/2010/main" val="1926735776"/>
              </p:ext>
            </p:extLst>
          </p:nvPr>
        </p:nvGraphicFramePr>
        <p:xfrm>
          <a:off x="437738" y="1713906"/>
          <a:ext cx="5473700" cy="2034948"/>
        </p:xfrm>
        <a:graphic>
          <a:graphicData uri="http://schemas.openxmlformats.org/drawingml/2006/table">
            <a:tbl>
              <a:tblPr firstRow="1" bandRow="1">
                <a:tableStyleId>{21E4AEA4-8DFA-4A89-87EB-49C32662AFE0}</a:tableStyleId>
              </a:tblPr>
              <a:tblGrid>
                <a:gridCol w="1094740">
                  <a:extLst>
                    <a:ext uri="{9D8B030D-6E8A-4147-A177-3AD203B41FA5}">
                      <a16:colId xmlns:a16="http://schemas.microsoft.com/office/drawing/2014/main" val="2797211995"/>
                    </a:ext>
                  </a:extLst>
                </a:gridCol>
                <a:gridCol w="1094740">
                  <a:extLst>
                    <a:ext uri="{9D8B030D-6E8A-4147-A177-3AD203B41FA5}">
                      <a16:colId xmlns:a16="http://schemas.microsoft.com/office/drawing/2014/main" val="589921541"/>
                    </a:ext>
                  </a:extLst>
                </a:gridCol>
                <a:gridCol w="1094740">
                  <a:extLst>
                    <a:ext uri="{9D8B030D-6E8A-4147-A177-3AD203B41FA5}">
                      <a16:colId xmlns:a16="http://schemas.microsoft.com/office/drawing/2014/main" val="2485747101"/>
                    </a:ext>
                  </a:extLst>
                </a:gridCol>
                <a:gridCol w="1094740">
                  <a:extLst>
                    <a:ext uri="{9D8B030D-6E8A-4147-A177-3AD203B41FA5}">
                      <a16:colId xmlns:a16="http://schemas.microsoft.com/office/drawing/2014/main" val="3712753967"/>
                    </a:ext>
                  </a:extLst>
                </a:gridCol>
                <a:gridCol w="1094740">
                  <a:extLst>
                    <a:ext uri="{9D8B030D-6E8A-4147-A177-3AD203B41FA5}">
                      <a16:colId xmlns:a16="http://schemas.microsoft.com/office/drawing/2014/main" val="3358533938"/>
                    </a:ext>
                  </a:extLst>
                </a:gridCol>
              </a:tblGrid>
              <a:tr h="370840">
                <a:tc>
                  <a:txBody>
                    <a:bodyPr/>
                    <a:lstStyle/>
                    <a:p>
                      <a:pPr algn="ctr"/>
                      <a:r>
                        <a:rPr lang="en-US" sz="1100" b="1" dirty="0"/>
                        <a:t>USB VOLTAGE (V)</a:t>
                      </a:r>
                    </a:p>
                  </a:txBody>
                  <a:tcPr/>
                </a:tc>
                <a:tc>
                  <a:txBody>
                    <a:bodyPr/>
                    <a:lstStyle/>
                    <a:p>
                      <a:pPr algn="ctr"/>
                      <a:r>
                        <a:rPr lang="en-US" sz="1100" b="1" dirty="0"/>
                        <a:t>USB CURRENT (A)</a:t>
                      </a:r>
                    </a:p>
                  </a:txBody>
                  <a:tcPr/>
                </a:tc>
                <a:tc>
                  <a:txBody>
                    <a:bodyPr/>
                    <a:lstStyle/>
                    <a:p>
                      <a:pPr algn="ctr"/>
                      <a:r>
                        <a:rPr lang="en-US" sz="1100" b="1" dirty="0"/>
                        <a:t>OUTPUT</a:t>
                      </a:r>
                    </a:p>
                    <a:p>
                      <a:pPr algn="ctr"/>
                      <a:r>
                        <a:rPr lang="en-US" sz="1100" b="1" dirty="0"/>
                        <a:t>VOLTAGE (V)</a:t>
                      </a:r>
                    </a:p>
                  </a:txBody>
                  <a:tcPr/>
                </a:tc>
                <a:tc>
                  <a:txBody>
                    <a:bodyPr/>
                    <a:lstStyle/>
                    <a:p>
                      <a:pPr algn="ctr"/>
                      <a:r>
                        <a:rPr lang="en-US" sz="1100" b="1" dirty="0"/>
                        <a:t>OUTPUT</a:t>
                      </a:r>
                    </a:p>
                    <a:p>
                      <a:pPr algn="ctr"/>
                      <a:r>
                        <a:rPr lang="en-US" sz="1100" b="1" dirty="0"/>
                        <a:t>CURRENT (A)</a:t>
                      </a:r>
                    </a:p>
                  </a:txBody>
                  <a:tcPr/>
                </a:tc>
                <a:tc>
                  <a:txBody>
                    <a:bodyPr/>
                    <a:lstStyle/>
                    <a:p>
                      <a:pPr algn="ctr"/>
                      <a:r>
                        <a:rPr lang="en-US" sz="1100" b="1" dirty="0"/>
                        <a:t>EFFICIENCY</a:t>
                      </a:r>
                    </a:p>
                    <a:p>
                      <a:pPr algn="ctr"/>
                      <a:r>
                        <a:rPr lang="en-US" sz="1100" b="1" dirty="0"/>
                        <a:t>(%)</a:t>
                      </a:r>
                    </a:p>
                  </a:txBody>
                  <a:tcPr/>
                </a:tc>
                <a:extLst>
                  <a:ext uri="{0D108BD9-81ED-4DB2-BD59-A6C34878D82A}">
                    <a16:rowId xmlns:a16="http://schemas.microsoft.com/office/drawing/2014/main" val="3512065247"/>
                  </a:ext>
                </a:extLst>
              </a:tr>
              <a:tr h="297588">
                <a:tc>
                  <a:txBody>
                    <a:bodyPr/>
                    <a:lstStyle/>
                    <a:p>
                      <a:pPr algn="ctr"/>
                      <a:r>
                        <a:rPr lang="en-US" sz="1100" b="0" dirty="0"/>
                        <a:t>9.1968</a:t>
                      </a:r>
                    </a:p>
                  </a:txBody>
                  <a:tcPr/>
                </a:tc>
                <a:tc>
                  <a:txBody>
                    <a:bodyPr/>
                    <a:lstStyle/>
                    <a:p>
                      <a:pPr algn="ctr"/>
                      <a:r>
                        <a:rPr lang="en-US" sz="1100" b="0" dirty="0"/>
                        <a:t>0.4864</a:t>
                      </a:r>
                    </a:p>
                  </a:txBody>
                  <a:tcPr/>
                </a:tc>
                <a:tc>
                  <a:txBody>
                    <a:bodyPr/>
                    <a:lstStyle/>
                    <a:p>
                      <a:pPr algn="ctr"/>
                      <a:r>
                        <a:rPr lang="en-US" sz="1100" b="0" dirty="0"/>
                        <a:t>3.896</a:t>
                      </a:r>
                    </a:p>
                  </a:txBody>
                  <a:tcPr/>
                </a:tc>
                <a:tc>
                  <a:txBody>
                    <a:bodyPr/>
                    <a:lstStyle/>
                    <a:p>
                      <a:pPr algn="ctr"/>
                      <a:r>
                        <a:rPr lang="en-US" sz="1100" b="0" dirty="0"/>
                        <a:t>1</a:t>
                      </a:r>
                    </a:p>
                  </a:txBody>
                  <a:tcPr/>
                </a:tc>
                <a:tc>
                  <a:txBody>
                    <a:bodyPr/>
                    <a:lstStyle/>
                    <a:p>
                      <a:pPr algn="ctr"/>
                      <a:r>
                        <a:rPr lang="en-US" sz="1100" b="0" dirty="0"/>
                        <a:t>87.1</a:t>
                      </a:r>
                    </a:p>
                  </a:txBody>
                  <a:tcPr/>
                </a:tc>
                <a:extLst>
                  <a:ext uri="{0D108BD9-81ED-4DB2-BD59-A6C34878D82A}">
                    <a16:rowId xmlns:a16="http://schemas.microsoft.com/office/drawing/2014/main" val="1308384903"/>
                  </a:ext>
                </a:extLst>
              </a:tr>
              <a:tr h="274320">
                <a:tc>
                  <a:txBody>
                    <a:bodyPr/>
                    <a:lstStyle/>
                    <a:p>
                      <a:pPr algn="ctr"/>
                      <a:r>
                        <a:rPr lang="en-US" sz="1100" b="0" dirty="0"/>
                        <a:t>9.1686</a:t>
                      </a:r>
                    </a:p>
                  </a:txBody>
                  <a:tcPr/>
                </a:tc>
                <a:tc>
                  <a:txBody>
                    <a:bodyPr/>
                    <a:lstStyle/>
                    <a:p>
                      <a:pPr algn="ctr"/>
                      <a:r>
                        <a:rPr lang="en-US" sz="1100" b="0" dirty="0"/>
                        <a:t>0.9757</a:t>
                      </a:r>
                    </a:p>
                  </a:txBody>
                  <a:tcPr/>
                </a:tc>
                <a:tc>
                  <a:txBody>
                    <a:bodyPr/>
                    <a:lstStyle/>
                    <a:p>
                      <a:pPr algn="ctr"/>
                      <a:r>
                        <a:rPr lang="en-US" sz="1100" b="0" dirty="0"/>
                        <a:t>4.013</a:t>
                      </a:r>
                    </a:p>
                  </a:txBody>
                  <a:tcPr/>
                </a:tc>
                <a:tc>
                  <a:txBody>
                    <a:bodyPr/>
                    <a:lstStyle/>
                    <a:p>
                      <a:pPr algn="ctr"/>
                      <a:r>
                        <a:rPr lang="en-US" sz="1100" b="0" dirty="0"/>
                        <a:t>2</a:t>
                      </a:r>
                    </a:p>
                  </a:txBody>
                  <a:tcPr/>
                </a:tc>
                <a:tc>
                  <a:txBody>
                    <a:bodyPr/>
                    <a:lstStyle/>
                    <a:p>
                      <a:pPr algn="ctr"/>
                      <a:r>
                        <a:rPr lang="en-US" sz="1100" b="0" dirty="0"/>
                        <a:t>89.7</a:t>
                      </a:r>
                    </a:p>
                  </a:txBody>
                  <a:tcPr/>
                </a:tc>
                <a:extLst>
                  <a:ext uri="{0D108BD9-81ED-4DB2-BD59-A6C34878D82A}">
                    <a16:rowId xmlns:a16="http://schemas.microsoft.com/office/drawing/2014/main" val="3645584486"/>
                  </a:ext>
                </a:extLst>
              </a:tr>
              <a:tr h="243840">
                <a:tc>
                  <a:txBody>
                    <a:bodyPr/>
                    <a:lstStyle/>
                    <a:p>
                      <a:pPr algn="ctr"/>
                      <a:r>
                        <a:rPr lang="en-US" sz="1100" b="0" dirty="0"/>
                        <a:t>9.1300</a:t>
                      </a:r>
                    </a:p>
                  </a:txBody>
                  <a:tcPr/>
                </a:tc>
                <a:tc>
                  <a:txBody>
                    <a:bodyPr/>
                    <a:lstStyle/>
                    <a:p>
                      <a:pPr algn="ctr"/>
                      <a:r>
                        <a:rPr lang="en-US" sz="1100" b="0" dirty="0"/>
                        <a:t>1.5149</a:t>
                      </a:r>
                    </a:p>
                  </a:txBody>
                  <a:tcPr/>
                </a:tc>
                <a:tc>
                  <a:txBody>
                    <a:bodyPr/>
                    <a:lstStyle/>
                    <a:p>
                      <a:pPr algn="ctr"/>
                      <a:r>
                        <a:rPr lang="en-US" sz="1100" b="0" dirty="0"/>
                        <a:t>4.133</a:t>
                      </a:r>
                    </a:p>
                  </a:txBody>
                  <a:tcPr/>
                </a:tc>
                <a:tc>
                  <a:txBody>
                    <a:bodyPr/>
                    <a:lstStyle/>
                    <a:p>
                      <a:pPr algn="ctr"/>
                      <a:r>
                        <a:rPr lang="en-US" sz="1100" b="0" dirty="0"/>
                        <a:t>3</a:t>
                      </a:r>
                    </a:p>
                  </a:txBody>
                  <a:tcPr/>
                </a:tc>
                <a:tc>
                  <a:txBody>
                    <a:bodyPr/>
                    <a:lstStyle/>
                    <a:p>
                      <a:pPr algn="ctr"/>
                      <a:r>
                        <a:rPr lang="en-US" sz="1100" b="0" dirty="0"/>
                        <a:t>89.6</a:t>
                      </a:r>
                    </a:p>
                  </a:txBody>
                  <a:tcPr/>
                </a:tc>
                <a:extLst>
                  <a:ext uri="{0D108BD9-81ED-4DB2-BD59-A6C34878D82A}">
                    <a16:rowId xmlns:a16="http://schemas.microsoft.com/office/drawing/2014/main" val="1826330155"/>
                  </a:ext>
                </a:extLst>
              </a:tr>
              <a:tr h="213360">
                <a:tc>
                  <a:txBody>
                    <a:bodyPr/>
                    <a:lstStyle/>
                    <a:p>
                      <a:pPr algn="ctr"/>
                      <a:r>
                        <a:rPr lang="en-US" sz="1100" b="0" dirty="0"/>
                        <a:t>9.0877</a:t>
                      </a:r>
                    </a:p>
                  </a:txBody>
                  <a:tcPr/>
                </a:tc>
                <a:tc>
                  <a:txBody>
                    <a:bodyPr/>
                    <a:lstStyle/>
                    <a:p>
                      <a:pPr algn="ctr"/>
                      <a:r>
                        <a:rPr lang="en-US" sz="1100" b="0" dirty="0"/>
                        <a:t>2.1121</a:t>
                      </a:r>
                    </a:p>
                  </a:txBody>
                  <a:tcPr/>
                </a:tc>
                <a:tc>
                  <a:txBody>
                    <a:bodyPr/>
                    <a:lstStyle/>
                    <a:p>
                      <a:pPr algn="ctr"/>
                      <a:r>
                        <a:rPr lang="en-US" sz="1100" b="0" dirty="0"/>
                        <a:t>4.259</a:t>
                      </a:r>
                    </a:p>
                  </a:txBody>
                  <a:tcPr/>
                </a:tc>
                <a:tc>
                  <a:txBody>
                    <a:bodyPr/>
                    <a:lstStyle/>
                    <a:p>
                      <a:pPr algn="ctr"/>
                      <a:r>
                        <a:rPr lang="en-US" sz="1100" b="0" dirty="0"/>
                        <a:t>4</a:t>
                      </a:r>
                    </a:p>
                  </a:txBody>
                  <a:tcPr/>
                </a:tc>
                <a:tc>
                  <a:txBody>
                    <a:bodyPr/>
                    <a:lstStyle/>
                    <a:p>
                      <a:pPr algn="ctr"/>
                      <a:r>
                        <a:rPr lang="en-US" sz="1100" b="0" dirty="0"/>
                        <a:t>88.5</a:t>
                      </a:r>
                    </a:p>
                  </a:txBody>
                  <a:tcPr/>
                </a:tc>
                <a:extLst>
                  <a:ext uri="{0D108BD9-81ED-4DB2-BD59-A6C34878D82A}">
                    <a16:rowId xmlns:a16="http://schemas.microsoft.com/office/drawing/2014/main" val="2009097288"/>
                  </a:ext>
                </a:extLst>
              </a:tr>
              <a:tr h="176784">
                <a:tc>
                  <a:txBody>
                    <a:bodyPr/>
                    <a:lstStyle/>
                    <a:p>
                      <a:pPr algn="ctr"/>
                      <a:r>
                        <a:rPr lang="en-US" sz="1100" b="0" dirty="0"/>
                        <a:t>9.0406</a:t>
                      </a:r>
                    </a:p>
                  </a:txBody>
                  <a:tcPr/>
                </a:tc>
                <a:tc>
                  <a:txBody>
                    <a:bodyPr/>
                    <a:lstStyle/>
                    <a:p>
                      <a:pPr algn="ctr"/>
                      <a:r>
                        <a:rPr lang="en-US" sz="1100" b="0" dirty="0"/>
                        <a:t>2.7639</a:t>
                      </a:r>
                    </a:p>
                  </a:txBody>
                  <a:tcPr/>
                </a:tc>
                <a:tc>
                  <a:txBody>
                    <a:bodyPr/>
                    <a:lstStyle/>
                    <a:p>
                      <a:pPr algn="ctr"/>
                      <a:r>
                        <a:rPr lang="en-US" sz="1100" b="0" dirty="0"/>
                        <a:t>4.375</a:t>
                      </a:r>
                    </a:p>
                  </a:txBody>
                  <a:tcPr/>
                </a:tc>
                <a:tc>
                  <a:txBody>
                    <a:bodyPr/>
                    <a:lstStyle/>
                    <a:p>
                      <a:pPr algn="ctr"/>
                      <a:r>
                        <a:rPr lang="en-US" sz="1100" b="0" dirty="0"/>
                        <a:t>5</a:t>
                      </a:r>
                    </a:p>
                  </a:txBody>
                  <a:tcPr/>
                </a:tc>
                <a:tc>
                  <a:txBody>
                    <a:bodyPr/>
                    <a:lstStyle/>
                    <a:p>
                      <a:pPr algn="ctr"/>
                      <a:r>
                        <a:rPr lang="en-US" sz="1100" b="0" dirty="0"/>
                        <a:t>87.5</a:t>
                      </a:r>
                    </a:p>
                  </a:txBody>
                  <a:tcPr/>
                </a:tc>
                <a:extLst>
                  <a:ext uri="{0D108BD9-81ED-4DB2-BD59-A6C34878D82A}">
                    <a16:rowId xmlns:a16="http://schemas.microsoft.com/office/drawing/2014/main" val="4036124069"/>
                  </a:ext>
                </a:extLst>
              </a:tr>
              <a:tr h="0">
                <a:tc>
                  <a:txBody>
                    <a:bodyPr/>
                    <a:lstStyle/>
                    <a:p>
                      <a:pPr algn="ctr"/>
                      <a:r>
                        <a:rPr lang="en-US" sz="1100" b="0" dirty="0"/>
                        <a:t>9.0173</a:t>
                      </a:r>
                    </a:p>
                  </a:txBody>
                  <a:tcPr/>
                </a:tc>
                <a:tc>
                  <a:txBody>
                    <a:bodyPr/>
                    <a:lstStyle/>
                    <a:p>
                      <a:pPr algn="ctr"/>
                      <a:r>
                        <a:rPr lang="en-US" sz="1100" b="0" dirty="0"/>
                        <a:t>3.1176</a:t>
                      </a:r>
                    </a:p>
                  </a:txBody>
                  <a:tcPr/>
                </a:tc>
                <a:tc>
                  <a:txBody>
                    <a:bodyPr/>
                    <a:lstStyle/>
                    <a:p>
                      <a:pPr algn="ctr"/>
                      <a:r>
                        <a:rPr lang="en-US" sz="1100" b="0" dirty="0"/>
                        <a:t>4.436</a:t>
                      </a:r>
                    </a:p>
                  </a:txBody>
                  <a:tcPr/>
                </a:tc>
                <a:tc>
                  <a:txBody>
                    <a:bodyPr/>
                    <a:lstStyle/>
                    <a:p>
                      <a:pPr algn="ctr"/>
                      <a:r>
                        <a:rPr lang="en-US" sz="1100" b="0" dirty="0"/>
                        <a:t>5.5</a:t>
                      </a:r>
                    </a:p>
                  </a:txBody>
                  <a:tcPr/>
                </a:tc>
                <a:tc>
                  <a:txBody>
                    <a:bodyPr/>
                    <a:lstStyle/>
                    <a:p>
                      <a:pPr algn="ctr"/>
                      <a:r>
                        <a:rPr lang="en-US" sz="1100" b="0" dirty="0"/>
                        <a:t>86.8</a:t>
                      </a:r>
                    </a:p>
                  </a:txBody>
                  <a:tcPr/>
                </a:tc>
                <a:extLst>
                  <a:ext uri="{0D108BD9-81ED-4DB2-BD59-A6C34878D82A}">
                    <a16:rowId xmlns:a16="http://schemas.microsoft.com/office/drawing/2014/main" val="3313623445"/>
                  </a:ext>
                </a:extLst>
              </a:tr>
            </a:tbl>
          </a:graphicData>
        </a:graphic>
      </p:graphicFrame>
      <p:sp>
        <p:nvSpPr>
          <p:cNvPr id="4" name="Text Placeholder 3">
            <a:extLst>
              <a:ext uri="{FF2B5EF4-FFF2-40B4-BE49-F238E27FC236}">
                <a16:creationId xmlns:a16="http://schemas.microsoft.com/office/drawing/2014/main" id="{53BDAD21-C978-CF38-FCFB-AB2E26A16D98}"/>
              </a:ext>
            </a:extLst>
          </p:cNvPr>
          <p:cNvSpPr>
            <a:spLocks noGrp="1"/>
          </p:cNvSpPr>
          <p:nvPr>
            <p:ph type="body" sz="quarter" idx="20"/>
          </p:nvPr>
        </p:nvSpPr>
        <p:spPr>
          <a:xfrm>
            <a:off x="6875375" y="1293927"/>
            <a:ext cx="4321175" cy="360362"/>
          </a:xfrm>
        </p:spPr>
        <p:txBody>
          <a:bodyPr/>
          <a:lstStyle/>
          <a:p>
            <a:r>
              <a:rPr lang="en-US"/>
              <a:t>USB PPS CHARGING</a:t>
            </a:r>
            <a:endParaRPr lang="en-US" dirty="0"/>
          </a:p>
        </p:txBody>
      </p:sp>
      <p:sp>
        <p:nvSpPr>
          <p:cNvPr id="5" name="Text Placeholder 4">
            <a:extLst>
              <a:ext uri="{FF2B5EF4-FFF2-40B4-BE49-F238E27FC236}">
                <a16:creationId xmlns:a16="http://schemas.microsoft.com/office/drawing/2014/main" id="{4BB20949-857D-5448-03BE-459191B26455}"/>
              </a:ext>
            </a:extLst>
          </p:cNvPr>
          <p:cNvSpPr>
            <a:spLocks noGrp="1"/>
          </p:cNvSpPr>
          <p:nvPr>
            <p:ph type="body" sz="quarter" idx="19"/>
          </p:nvPr>
        </p:nvSpPr>
        <p:spPr>
          <a:xfrm>
            <a:off x="1047750" y="1279072"/>
            <a:ext cx="4321175" cy="360362"/>
          </a:xfrm>
        </p:spPr>
        <p:txBody>
          <a:bodyPr/>
          <a:lstStyle/>
          <a:p>
            <a:r>
              <a:rPr lang="en-US"/>
              <a:t>USB PD Charging</a:t>
            </a:r>
            <a:endParaRPr lang="en-US" dirty="0"/>
          </a:p>
        </p:txBody>
      </p:sp>
      <p:sp>
        <p:nvSpPr>
          <p:cNvPr id="6" name="Footer Placeholder 5">
            <a:extLst>
              <a:ext uri="{FF2B5EF4-FFF2-40B4-BE49-F238E27FC236}">
                <a16:creationId xmlns:a16="http://schemas.microsoft.com/office/drawing/2014/main" id="{521B72E9-4BF9-FF5A-98F6-E861D575281F}"/>
              </a:ext>
            </a:extLst>
          </p:cNvPr>
          <p:cNvSpPr>
            <a:spLocks noGrp="1"/>
          </p:cNvSpPr>
          <p:nvPr>
            <p:ph type="ftr" sz="quarter" idx="3"/>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7" name="Slide Number Placeholder 6">
            <a:extLst>
              <a:ext uri="{FF2B5EF4-FFF2-40B4-BE49-F238E27FC236}">
                <a16:creationId xmlns:a16="http://schemas.microsoft.com/office/drawing/2014/main" id="{B7DBDDD6-1165-FF44-9850-A8A40140EC9F}"/>
              </a:ext>
            </a:extLst>
          </p:cNvPr>
          <p:cNvSpPr>
            <a:spLocks noGrp="1"/>
          </p:cNvSpPr>
          <p:nvPr>
            <p:ph type="sldNum" sz="quarter" idx="4"/>
          </p:nvPr>
        </p:nvSpPr>
        <p:spPr>
          <a:xfrm>
            <a:off x="417601" y="6582557"/>
            <a:ext cx="247878" cy="144000"/>
          </a:xfrm>
        </p:spPr>
        <p:txBody>
          <a:bodyPr/>
          <a:lstStyle/>
          <a:p>
            <a:fld id="{A9CE67A1-BA7F-A74E-B5D7-615746DEEC2B}" type="slidenum">
              <a:rPr lang="en-US" smtClean="0"/>
              <a:pPr/>
              <a:t>26</a:t>
            </a:fld>
            <a:endParaRPr lang="en-US" dirty="0"/>
          </a:p>
        </p:txBody>
      </p:sp>
      <p:sp>
        <p:nvSpPr>
          <p:cNvPr id="8" name="Title 7">
            <a:extLst>
              <a:ext uri="{FF2B5EF4-FFF2-40B4-BE49-F238E27FC236}">
                <a16:creationId xmlns:a16="http://schemas.microsoft.com/office/drawing/2014/main" id="{0334D46A-3428-4208-DDD2-45686C8443B0}"/>
              </a:ext>
            </a:extLst>
          </p:cNvPr>
          <p:cNvSpPr>
            <a:spLocks noGrp="1"/>
          </p:cNvSpPr>
          <p:nvPr>
            <p:ph type="title"/>
          </p:nvPr>
        </p:nvSpPr>
        <p:spPr>
          <a:xfrm>
            <a:off x="417600" y="640080"/>
            <a:ext cx="10080000" cy="450000"/>
          </a:xfrm>
        </p:spPr>
        <p:txBody>
          <a:bodyPr/>
          <a:lstStyle/>
          <a:p>
            <a:r>
              <a:rPr lang="en-US"/>
              <a:t> Efficiency Results</a:t>
            </a:r>
            <a:endParaRPr lang="en-US" dirty="0"/>
          </a:p>
        </p:txBody>
      </p:sp>
      <p:sp>
        <p:nvSpPr>
          <p:cNvPr id="9" name="Date Placeholder 8">
            <a:extLst>
              <a:ext uri="{FF2B5EF4-FFF2-40B4-BE49-F238E27FC236}">
                <a16:creationId xmlns:a16="http://schemas.microsoft.com/office/drawing/2014/main" id="{3F90742E-AA80-FD77-A319-7DADF5B6272E}"/>
              </a:ext>
            </a:extLst>
          </p:cNvPr>
          <p:cNvSpPr>
            <a:spLocks noGrp="1"/>
          </p:cNvSpPr>
          <p:nvPr>
            <p:ph type="dt" sz="half" idx="22"/>
          </p:nvPr>
        </p:nvSpPr>
        <p:spPr>
          <a:xfrm>
            <a:off x="9037865" y="6465903"/>
            <a:ext cx="2743200" cy="365125"/>
          </a:xfrm>
        </p:spPr>
        <p:txBody>
          <a:bodyPr/>
          <a:lstStyle/>
          <a:p>
            <a:r>
              <a:rPr lang="en-US"/>
              <a:t>FTC | Orlando, FL | November 4-8, 2024</a:t>
            </a:r>
          </a:p>
        </p:txBody>
      </p:sp>
      <p:graphicFrame>
        <p:nvGraphicFramePr>
          <p:cNvPr id="12" name="Content Placeholder 9">
            <a:extLst>
              <a:ext uri="{FF2B5EF4-FFF2-40B4-BE49-F238E27FC236}">
                <a16:creationId xmlns:a16="http://schemas.microsoft.com/office/drawing/2014/main" id="{3977A3BF-606C-E8D4-5848-0D1C413A10DB}"/>
              </a:ext>
            </a:extLst>
          </p:cNvPr>
          <p:cNvGraphicFramePr>
            <a:graphicFrameLocks/>
          </p:cNvGraphicFramePr>
          <p:nvPr>
            <p:extLst>
              <p:ext uri="{D42A27DB-BD31-4B8C-83A1-F6EECF244321}">
                <p14:modId xmlns:p14="http://schemas.microsoft.com/office/powerpoint/2010/main" val="952490376"/>
              </p:ext>
            </p:extLst>
          </p:nvPr>
        </p:nvGraphicFramePr>
        <p:xfrm>
          <a:off x="6307138" y="1728296"/>
          <a:ext cx="5473700" cy="2034948"/>
        </p:xfrm>
        <a:graphic>
          <a:graphicData uri="http://schemas.openxmlformats.org/drawingml/2006/table">
            <a:tbl>
              <a:tblPr firstRow="1" bandRow="1">
                <a:tableStyleId>{21E4AEA4-8DFA-4A89-87EB-49C32662AFE0}</a:tableStyleId>
              </a:tblPr>
              <a:tblGrid>
                <a:gridCol w="1094740">
                  <a:extLst>
                    <a:ext uri="{9D8B030D-6E8A-4147-A177-3AD203B41FA5}">
                      <a16:colId xmlns:a16="http://schemas.microsoft.com/office/drawing/2014/main" val="2797211995"/>
                    </a:ext>
                  </a:extLst>
                </a:gridCol>
                <a:gridCol w="1094740">
                  <a:extLst>
                    <a:ext uri="{9D8B030D-6E8A-4147-A177-3AD203B41FA5}">
                      <a16:colId xmlns:a16="http://schemas.microsoft.com/office/drawing/2014/main" val="589921541"/>
                    </a:ext>
                  </a:extLst>
                </a:gridCol>
                <a:gridCol w="1094740">
                  <a:extLst>
                    <a:ext uri="{9D8B030D-6E8A-4147-A177-3AD203B41FA5}">
                      <a16:colId xmlns:a16="http://schemas.microsoft.com/office/drawing/2014/main" val="2485747101"/>
                    </a:ext>
                  </a:extLst>
                </a:gridCol>
                <a:gridCol w="1094740">
                  <a:extLst>
                    <a:ext uri="{9D8B030D-6E8A-4147-A177-3AD203B41FA5}">
                      <a16:colId xmlns:a16="http://schemas.microsoft.com/office/drawing/2014/main" val="3712753967"/>
                    </a:ext>
                  </a:extLst>
                </a:gridCol>
                <a:gridCol w="1094740">
                  <a:extLst>
                    <a:ext uri="{9D8B030D-6E8A-4147-A177-3AD203B41FA5}">
                      <a16:colId xmlns:a16="http://schemas.microsoft.com/office/drawing/2014/main" val="3358533938"/>
                    </a:ext>
                  </a:extLst>
                </a:gridCol>
              </a:tblGrid>
              <a:tr h="370840">
                <a:tc>
                  <a:txBody>
                    <a:bodyPr/>
                    <a:lstStyle/>
                    <a:p>
                      <a:pPr algn="ctr"/>
                      <a:r>
                        <a:rPr lang="en-US" sz="1100" b="1" dirty="0"/>
                        <a:t>USB VOLTAGE (V)</a:t>
                      </a:r>
                    </a:p>
                  </a:txBody>
                  <a:tcPr/>
                </a:tc>
                <a:tc>
                  <a:txBody>
                    <a:bodyPr/>
                    <a:lstStyle/>
                    <a:p>
                      <a:pPr algn="ctr"/>
                      <a:r>
                        <a:rPr lang="en-US" sz="1100" b="1" dirty="0"/>
                        <a:t>USB CURRENT (A)</a:t>
                      </a:r>
                    </a:p>
                  </a:txBody>
                  <a:tcPr/>
                </a:tc>
                <a:tc>
                  <a:txBody>
                    <a:bodyPr/>
                    <a:lstStyle/>
                    <a:p>
                      <a:pPr algn="ctr"/>
                      <a:r>
                        <a:rPr lang="en-US" sz="1100" b="1" dirty="0"/>
                        <a:t>OUTPUT</a:t>
                      </a:r>
                    </a:p>
                    <a:p>
                      <a:pPr algn="ctr"/>
                      <a:r>
                        <a:rPr lang="en-US" sz="1100" b="1" dirty="0"/>
                        <a:t>VOLTAGE (V)</a:t>
                      </a:r>
                    </a:p>
                  </a:txBody>
                  <a:tcPr/>
                </a:tc>
                <a:tc>
                  <a:txBody>
                    <a:bodyPr/>
                    <a:lstStyle/>
                    <a:p>
                      <a:pPr algn="ctr"/>
                      <a:r>
                        <a:rPr lang="en-US" sz="1100" b="1" dirty="0"/>
                        <a:t>OUTPUT</a:t>
                      </a:r>
                    </a:p>
                    <a:p>
                      <a:pPr algn="ctr"/>
                      <a:r>
                        <a:rPr lang="en-US" sz="1100" b="1" dirty="0"/>
                        <a:t>CURRENT (A)</a:t>
                      </a:r>
                    </a:p>
                  </a:txBody>
                  <a:tcPr/>
                </a:tc>
                <a:tc>
                  <a:txBody>
                    <a:bodyPr/>
                    <a:lstStyle/>
                    <a:p>
                      <a:pPr algn="ctr"/>
                      <a:r>
                        <a:rPr lang="en-US" sz="1100" b="1" dirty="0"/>
                        <a:t>EFFICIENCY</a:t>
                      </a:r>
                    </a:p>
                    <a:p>
                      <a:pPr algn="ctr"/>
                      <a:r>
                        <a:rPr lang="en-US" sz="1100" b="1" dirty="0"/>
                        <a:t>(%)</a:t>
                      </a:r>
                    </a:p>
                  </a:txBody>
                  <a:tcPr/>
                </a:tc>
                <a:extLst>
                  <a:ext uri="{0D108BD9-81ED-4DB2-BD59-A6C34878D82A}">
                    <a16:rowId xmlns:a16="http://schemas.microsoft.com/office/drawing/2014/main" val="3512065247"/>
                  </a:ext>
                </a:extLst>
              </a:tr>
              <a:tr h="297588">
                <a:tc>
                  <a:txBody>
                    <a:bodyPr/>
                    <a:lstStyle/>
                    <a:p>
                      <a:pPr algn="ctr"/>
                      <a:r>
                        <a:rPr lang="en-US" sz="1100" b="0" dirty="0"/>
                        <a:t>7.89</a:t>
                      </a:r>
                    </a:p>
                  </a:txBody>
                  <a:tcPr/>
                </a:tc>
                <a:tc>
                  <a:txBody>
                    <a:bodyPr/>
                    <a:lstStyle/>
                    <a:p>
                      <a:pPr algn="ctr"/>
                      <a:r>
                        <a:rPr lang="en-US" sz="1100" b="0" dirty="0"/>
                        <a:t>0.566</a:t>
                      </a:r>
                    </a:p>
                  </a:txBody>
                  <a:tcPr/>
                </a:tc>
                <a:tc>
                  <a:txBody>
                    <a:bodyPr/>
                    <a:lstStyle/>
                    <a:p>
                      <a:pPr algn="ctr"/>
                      <a:r>
                        <a:rPr lang="en-US" sz="1100" b="0" dirty="0"/>
                        <a:t>3.915</a:t>
                      </a:r>
                    </a:p>
                  </a:txBody>
                  <a:tcPr/>
                </a:tc>
                <a:tc>
                  <a:txBody>
                    <a:bodyPr/>
                    <a:lstStyle/>
                    <a:p>
                      <a:pPr algn="ctr"/>
                      <a:r>
                        <a:rPr lang="en-US" sz="1100" b="0" dirty="0"/>
                        <a:t>1.09</a:t>
                      </a:r>
                    </a:p>
                  </a:txBody>
                  <a:tcPr/>
                </a:tc>
                <a:tc>
                  <a:txBody>
                    <a:bodyPr/>
                    <a:lstStyle/>
                    <a:p>
                      <a:pPr algn="ctr"/>
                      <a:r>
                        <a:rPr lang="en-US" sz="1100" b="0" dirty="0"/>
                        <a:t>95.5</a:t>
                      </a:r>
                    </a:p>
                  </a:txBody>
                  <a:tcPr/>
                </a:tc>
                <a:extLst>
                  <a:ext uri="{0D108BD9-81ED-4DB2-BD59-A6C34878D82A}">
                    <a16:rowId xmlns:a16="http://schemas.microsoft.com/office/drawing/2014/main" val="1308384903"/>
                  </a:ext>
                </a:extLst>
              </a:tr>
              <a:tr h="274320">
                <a:tc>
                  <a:txBody>
                    <a:bodyPr/>
                    <a:lstStyle/>
                    <a:p>
                      <a:pPr algn="ctr"/>
                      <a:r>
                        <a:rPr lang="en-US" sz="1100" b="0" dirty="0"/>
                        <a:t>8.18</a:t>
                      </a:r>
                    </a:p>
                  </a:txBody>
                  <a:tcPr/>
                </a:tc>
                <a:tc>
                  <a:txBody>
                    <a:bodyPr/>
                    <a:lstStyle/>
                    <a:p>
                      <a:pPr algn="ctr"/>
                      <a:r>
                        <a:rPr lang="en-US" sz="1100" b="0" dirty="0"/>
                        <a:t>1.012</a:t>
                      </a:r>
                    </a:p>
                  </a:txBody>
                  <a:tcPr/>
                </a:tc>
                <a:tc>
                  <a:txBody>
                    <a:bodyPr/>
                    <a:lstStyle/>
                    <a:p>
                      <a:pPr algn="ctr"/>
                      <a:r>
                        <a:rPr lang="en-US" sz="1100" b="0" dirty="0"/>
                        <a:t>4.026</a:t>
                      </a:r>
                    </a:p>
                  </a:txBody>
                  <a:tcPr/>
                </a:tc>
                <a:tc>
                  <a:txBody>
                    <a:bodyPr/>
                    <a:lstStyle/>
                    <a:p>
                      <a:pPr algn="ctr"/>
                      <a:r>
                        <a:rPr lang="en-US" sz="1100" b="0" dirty="0"/>
                        <a:t>2</a:t>
                      </a:r>
                    </a:p>
                  </a:txBody>
                  <a:tcPr/>
                </a:tc>
                <a:tc>
                  <a:txBody>
                    <a:bodyPr/>
                    <a:lstStyle/>
                    <a:p>
                      <a:pPr algn="ctr"/>
                      <a:r>
                        <a:rPr lang="en-US" sz="1100" b="0" dirty="0"/>
                        <a:t>97.25</a:t>
                      </a:r>
                    </a:p>
                  </a:txBody>
                  <a:tcPr/>
                </a:tc>
                <a:extLst>
                  <a:ext uri="{0D108BD9-81ED-4DB2-BD59-A6C34878D82A}">
                    <a16:rowId xmlns:a16="http://schemas.microsoft.com/office/drawing/2014/main" val="3645584486"/>
                  </a:ext>
                </a:extLst>
              </a:tr>
              <a:tr h="243840">
                <a:tc>
                  <a:txBody>
                    <a:bodyPr/>
                    <a:lstStyle/>
                    <a:p>
                      <a:pPr algn="ctr"/>
                      <a:r>
                        <a:rPr lang="en-US" sz="1100" b="0" dirty="0"/>
                        <a:t>8.44</a:t>
                      </a:r>
                    </a:p>
                  </a:txBody>
                  <a:tcPr/>
                </a:tc>
                <a:tc>
                  <a:txBody>
                    <a:bodyPr/>
                    <a:lstStyle/>
                    <a:p>
                      <a:pPr algn="ctr"/>
                      <a:r>
                        <a:rPr lang="en-US" sz="1100" b="0" dirty="0"/>
                        <a:t>1.51</a:t>
                      </a:r>
                    </a:p>
                  </a:txBody>
                  <a:tcPr/>
                </a:tc>
                <a:tc>
                  <a:txBody>
                    <a:bodyPr/>
                    <a:lstStyle/>
                    <a:p>
                      <a:pPr algn="ctr"/>
                      <a:r>
                        <a:rPr lang="en-US" sz="1100" b="0" dirty="0"/>
                        <a:t>4.141</a:t>
                      </a:r>
                    </a:p>
                  </a:txBody>
                  <a:tcPr/>
                </a:tc>
                <a:tc>
                  <a:txBody>
                    <a:bodyPr/>
                    <a:lstStyle/>
                    <a:p>
                      <a:pPr algn="ctr"/>
                      <a:r>
                        <a:rPr lang="en-US" sz="1100" b="0" dirty="0"/>
                        <a:t>3</a:t>
                      </a:r>
                    </a:p>
                  </a:txBody>
                  <a:tcPr/>
                </a:tc>
                <a:tc>
                  <a:txBody>
                    <a:bodyPr/>
                    <a:lstStyle/>
                    <a:p>
                      <a:pPr algn="ctr"/>
                      <a:r>
                        <a:rPr lang="en-US" sz="1100" b="0" dirty="0"/>
                        <a:t>97.5</a:t>
                      </a:r>
                    </a:p>
                  </a:txBody>
                  <a:tcPr/>
                </a:tc>
                <a:extLst>
                  <a:ext uri="{0D108BD9-81ED-4DB2-BD59-A6C34878D82A}">
                    <a16:rowId xmlns:a16="http://schemas.microsoft.com/office/drawing/2014/main" val="1826330155"/>
                  </a:ext>
                </a:extLst>
              </a:tr>
              <a:tr h="213360">
                <a:tc>
                  <a:txBody>
                    <a:bodyPr/>
                    <a:lstStyle/>
                    <a:p>
                      <a:pPr algn="ctr"/>
                      <a:r>
                        <a:rPr lang="en-US" sz="1100" b="0" dirty="0"/>
                        <a:t>8.78</a:t>
                      </a:r>
                    </a:p>
                  </a:txBody>
                  <a:tcPr/>
                </a:tc>
                <a:tc>
                  <a:txBody>
                    <a:bodyPr/>
                    <a:lstStyle/>
                    <a:p>
                      <a:pPr algn="ctr"/>
                      <a:r>
                        <a:rPr lang="en-US" sz="1100" b="0" dirty="0"/>
                        <a:t>1.96</a:t>
                      </a:r>
                    </a:p>
                  </a:txBody>
                  <a:tcPr/>
                </a:tc>
                <a:tc>
                  <a:txBody>
                    <a:bodyPr/>
                    <a:lstStyle/>
                    <a:p>
                      <a:pPr algn="ctr"/>
                      <a:r>
                        <a:rPr lang="en-US" sz="1100" b="0" dirty="0"/>
                        <a:t>4.282</a:t>
                      </a:r>
                    </a:p>
                  </a:txBody>
                  <a:tcPr/>
                </a:tc>
                <a:tc>
                  <a:txBody>
                    <a:bodyPr/>
                    <a:lstStyle/>
                    <a:p>
                      <a:pPr algn="ctr"/>
                      <a:r>
                        <a:rPr lang="en-US" sz="1100" b="0" dirty="0"/>
                        <a:t>3.9</a:t>
                      </a:r>
                    </a:p>
                  </a:txBody>
                  <a:tcPr/>
                </a:tc>
                <a:tc>
                  <a:txBody>
                    <a:bodyPr/>
                    <a:lstStyle/>
                    <a:p>
                      <a:pPr algn="ctr"/>
                      <a:r>
                        <a:rPr lang="en-US" sz="1100" b="0" dirty="0"/>
                        <a:t>97.07</a:t>
                      </a:r>
                    </a:p>
                  </a:txBody>
                  <a:tcPr/>
                </a:tc>
                <a:extLst>
                  <a:ext uri="{0D108BD9-81ED-4DB2-BD59-A6C34878D82A}">
                    <a16:rowId xmlns:a16="http://schemas.microsoft.com/office/drawing/2014/main" val="2009097288"/>
                  </a:ext>
                </a:extLst>
              </a:tr>
              <a:tr h="176784">
                <a:tc>
                  <a:txBody>
                    <a:bodyPr/>
                    <a:lstStyle/>
                    <a:p>
                      <a:pPr algn="ctr"/>
                      <a:r>
                        <a:rPr lang="en-US" sz="1100" b="0" dirty="0"/>
                        <a:t>9.23</a:t>
                      </a:r>
                    </a:p>
                  </a:txBody>
                  <a:tcPr/>
                </a:tc>
                <a:tc>
                  <a:txBody>
                    <a:bodyPr/>
                    <a:lstStyle/>
                    <a:p>
                      <a:pPr algn="ctr"/>
                      <a:r>
                        <a:rPr lang="en-US" sz="1100" b="0" dirty="0"/>
                        <a:t>2.515</a:t>
                      </a:r>
                    </a:p>
                  </a:txBody>
                  <a:tcPr/>
                </a:tc>
                <a:tc>
                  <a:txBody>
                    <a:bodyPr/>
                    <a:lstStyle/>
                    <a:p>
                      <a:pPr algn="ctr"/>
                      <a:r>
                        <a:rPr lang="en-US" sz="1100" b="0" dirty="0"/>
                        <a:t>4.478</a:t>
                      </a:r>
                    </a:p>
                  </a:txBody>
                  <a:tcPr/>
                </a:tc>
                <a:tc>
                  <a:txBody>
                    <a:bodyPr/>
                    <a:lstStyle/>
                    <a:p>
                      <a:pPr algn="ctr"/>
                      <a:r>
                        <a:rPr lang="en-US" sz="1100" b="0" dirty="0"/>
                        <a:t>5</a:t>
                      </a:r>
                    </a:p>
                  </a:txBody>
                  <a:tcPr/>
                </a:tc>
                <a:tc>
                  <a:txBody>
                    <a:bodyPr/>
                    <a:lstStyle/>
                    <a:p>
                      <a:pPr algn="ctr"/>
                      <a:r>
                        <a:rPr lang="en-US" sz="1100" b="0" dirty="0"/>
                        <a:t>96.45</a:t>
                      </a:r>
                    </a:p>
                  </a:txBody>
                  <a:tcPr/>
                </a:tc>
                <a:extLst>
                  <a:ext uri="{0D108BD9-81ED-4DB2-BD59-A6C34878D82A}">
                    <a16:rowId xmlns:a16="http://schemas.microsoft.com/office/drawing/2014/main" val="4036124069"/>
                  </a:ext>
                </a:extLst>
              </a:tr>
              <a:tr h="201934">
                <a:tc>
                  <a:txBody>
                    <a:bodyPr/>
                    <a:lstStyle/>
                    <a:p>
                      <a:pPr algn="ctr"/>
                      <a:r>
                        <a:rPr lang="en-US" sz="1100" b="0" dirty="0"/>
                        <a:t>9.58</a:t>
                      </a:r>
                    </a:p>
                  </a:txBody>
                  <a:tcPr/>
                </a:tc>
                <a:tc>
                  <a:txBody>
                    <a:bodyPr/>
                    <a:lstStyle/>
                    <a:p>
                      <a:pPr algn="ctr"/>
                      <a:r>
                        <a:rPr lang="en-US" sz="1100" b="0" dirty="0"/>
                        <a:t>2.98</a:t>
                      </a:r>
                    </a:p>
                  </a:txBody>
                  <a:tcPr/>
                </a:tc>
                <a:tc>
                  <a:txBody>
                    <a:bodyPr/>
                    <a:lstStyle/>
                    <a:p>
                      <a:pPr algn="ctr"/>
                      <a:r>
                        <a:rPr lang="en-US" sz="1100" b="0" dirty="0"/>
                        <a:t>4.624</a:t>
                      </a:r>
                    </a:p>
                  </a:txBody>
                  <a:tcPr/>
                </a:tc>
                <a:tc>
                  <a:txBody>
                    <a:bodyPr/>
                    <a:lstStyle/>
                    <a:p>
                      <a:pPr algn="ctr"/>
                      <a:r>
                        <a:rPr lang="en-US" sz="1100" b="0" dirty="0"/>
                        <a:t>5.92</a:t>
                      </a:r>
                    </a:p>
                  </a:txBody>
                  <a:tcPr/>
                </a:tc>
                <a:tc>
                  <a:txBody>
                    <a:bodyPr/>
                    <a:lstStyle/>
                    <a:p>
                      <a:pPr algn="ctr"/>
                      <a:r>
                        <a:rPr lang="en-US" sz="1100" b="0" dirty="0"/>
                        <a:t>96.01</a:t>
                      </a:r>
                    </a:p>
                  </a:txBody>
                  <a:tcPr/>
                </a:tc>
                <a:extLst>
                  <a:ext uri="{0D108BD9-81ED-4DB2-BD59-A6C34878D82A}">
                    <a16:rowId xmlns:a16="http://schemas.microsoft.com/office/drawing/2014/main" val="3313623445"/>
                  </a:ext>
                </a:extLst>
              </a:tr>
            </a:tbl>
          </a:graphicData>
        </a:graphic>
      </p:graphicFrame>
      <p:pic>
        <p:nvPicPr>
          <p:cNvPr id="19" name="Picture 18" descr="A graph with a green line&#10;&#10;Description automatically generated">
            <a:extLst>
              <a:ext uri="{FF2B5EF4-FFF2-40B4-BE49-F238E27FC236}">
                <a16:creationId xmlns:a16="http://schemas.microsoft.com/office/drawing/2014/main" id="{A66B3DFA-CA45-7580-37D6-1D20AB2B453C}"/>
              </a:ext>
            </a:extLst>
          </p:cNvPr>
          <p:cNvPicPr>
            <a:picLocks noChangeAspect="1"/>
          </p:cNvPicPr>
          <p:nvPr/>
        </p:nvPicPr>
        <p:blipFill rotWithShape="1">
          <a:blip r:embed="rId4" cstate="screen">
            <a:extLst>
              <a:ext uri="{28A0092B-C50C-407E-A947-70E740481C1C}">
                <a14:useLocalDpi xmlns:a14="http://schemas.microsoft.com/office/drawing/2010/main" val="0"/>
              </a:ext>
            </a:extLst>
          </a:blip>
          <a:srcRect/>
          <a:stretch/>
        </p:blipFill>
        <p:spPr>
          <a:xfrm>
            <a:off x="7385032" y="3770909"/>
            <a:ext cx="3112568" cy="2811648"/>
          </a:xfrm>
          <a:prstGeom prst="rect">
            <a:avLst/>
          </a:prstGeom>
        </p:spPr>
      </p:pic>
      <p:cxnSp>
        <p:nvCxnSpPr>
          <p:cNvPr id="3" name="Straight Connector 2">
            <a:extLst>
              <a:ext uri="{FF2B5EF4-FFF2-40B4-BE49-F238E27FC236}">
                <a16:creationId xmlns:a16="http://schemas.microsoft.com/office/drawing/2014/main" id="{AAF540D9-8247-1467-6765-8C0152B09358}"/>
              </a:ext>
            </a:extLst>
          </p:cNvPr>
          <p:cNvCxnSpPr>
            <a:cxnSpLocks/>
          </p:cNvCxnSpPr>
          <p:nvPr/>
        </p:nvCxnSpPr>
        <p:spPr>
          <a:xfrm>
            <a:off x="3995696" y="4826212"/>
            <a:ext cx="811579" cy="529559"/>
          </a:xfrm>
          <a:prstGeom prst="line">
            <a:avLst/>
          </a:prstGeom>
          <a:ln w="19050" cap="flat" cmpd="sng" algn="ctr">
            <a:solidFill>
              <a:schemeClr val="accent4"/>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3B73AFF0-3D6B-9C54-1143-0021AA7C4B6E}"/>
              </a:ext>
            </a:extLst>
          </p:cNvPr>
          <p:cNvCxnSpPr>
            <a:cxnSpLocks/>
          </p:cNvCxnSpPr>
          <p:nvPr/>
        </p:nvCxnSpPr>
        <p:spPr>
          <a:xfrm>
            <a:off x="10059555" y="4497456"/>
            <a:ext cx="1214783" cy="593535"/>
          </a:xfrm>
          <a:prstGeom prst="line">
            <a:avLst/>
          </a:prstGeom>
          <a:ln w="19050" cap="flat" cmpd="sng" algn="ctr">
            <a:solidFill>
              <a:schemeClr val="accent4"/>
            </a:solidFill>
            <a:prstDash val="dash"/>
            <a:round/>
            <a:headEnd type="none" w="lg" len="lg"/>
            <a:tailEnd type="triangle" w="lg" len="lg"/>
          </a:ln>
        </p:spPr>
        <p:style>
          <a:lnRef idx="0">
            <a:scrgbClr r="0" g="0" b="0"/>
          </a:lnRef>
          <a:fillRef idx="0">
            <a:scrgbClr r="0" g="0" b="0"/>
          </a:fillRef>
          <a:effectRef idx="0">
            <a:scrgbClr r="0" g="0" b="0"/>
          </a:effectRef>
          <a:fontRef idx="minor">
            <a:schemeClr val="tx1"/>
          </a:fontRef>
        </p:style>
      </p:cxnSp>
      <p:pic>
        <p:nvPicPr>
          <p:cNvPr id="2" name="Picture 1">
            <a:extLst>
              <a:ext uri="{FF2B5EF4-FFF2-40B4-BE49-F238E27FC236}">
                <a16:creationId xmlns:a16="http://schemas.microsoft.com/office/drawing/2014/main" id="{91CA43DE-A04E-58AD-F1BC-31113F2F85AB}"/>
              </a:ext>
            </a:extLst>
          </p:cNvPr>
          <p:cNvPicPr>
            <a:picLocks noChangeAspect="1"/>
          </p:cNvPicPr>
          <p:nvPr/>
        </p:nvPicPr>
        <p:blipFill>
          <a:blip r:embed="rId5"/>
          <a:stretch>
            <a:fillRect/>
          </a:stretch>
        </p:blipFill>
        <p:spPr>
          <a:xfrm>
            <a:off x="4419600" y="4527591"/>
            <a:ext cx="501594" cy="482359"/>
          </a:xfrm>
          <a:prstGeom prst="rect">
            <a:avLst/>
          </a:prstGeom>
        </p:spPr>
      </p:pic>
      <p:cxnSp>
        <p:nvCxnSpPr>
          <p:cNvPr id="15" name="Straight Connector 14">
            <a:extLst>
              <a:ext uri="{FF2B5EF4-FFF2-40B4-BE49-F238E27FC236}">
                <a16:creationId xmlns:a16="http://schemas.microsoft.com/office/drawing/2014/main" id="{4B711A3D-E7FA-1C99-4D11-667C9E610AD4}"/>
              </a:ext>
            </a:extLst>
          </p:cNvPr>
          <p:cNvCxnSpPr>
            <a:cxnSpLocks/>
          </p:cNvCxnSpPr>
          <p:nvPr/>
        </p:nvCxnSpPr>
        <p:spPr>
          <a:xfrm>
            <a:off x="1889760" y="4162683"/>
            <a:ext cx="680720" cy="0"/>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7521813-1FAB-4D0F-8EEA-D97583B4ACD5}"/>
              </a:ext>
            </a:extLst>
          </p:cNvPr>
          <p:cNvCxnSpPr>
            <a:cxnSpLocks/>
          </p:cNvCxnSpPr>
          <p:nvPr/>
        </p:nvCxnSpPr>
        <p:spPr>
          <a:xfrm>
            <a:off x="7802880" y="3979803"/>
            <a:ext cx="873760" cy="0"/>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B6BE051-6AD0-CBF1-AAD3-D47051F13D71}"/>
              </a:ext>
            </a:extLst>
          </p:cNvPr>
          <p:cNvSpPr txBox="1"/>
          <p:nvPr/>
        </p:nvSpPr>
        <p:spPr>
          <a:xfrm>
            <a:off x="7508988" y="3911812"/>
            <a:ext cx="404926" cy="250870"/>
          </a:xfrm>
          <a:prstGeom prst="rect">
            <a:avLst/>
          </a:prstGeom>
        </p:spPr>
        <p:txBody>
          <a:bodyPr vert="horz" wrap="none" lIns="0" tIns="0" rIns="0" bIns="0" rtlCol="0" anchor="t" anchorCtr="0">
            <a:normAutofit/>
          </a:bodyPr>
          <a:lstStyle/>
          <a:p>
            <a:pPr algn="l"/>
            <a:r>
              <a:rPr lang="en-US" sz="1100" b="1" dirty="0"/>
              <a:t>97.5</a:t>
            </a:r>
          </a:p>
        </p:txBody>
      </p:sp>
      <p:sp>
        <p:nvSpPr>
          <p:cNvPr id="14" name="TextBox 13">
            <a:extLst>
              <a:ext uri="{FF2B5EF4-FFF2-40B4-BE49-F238E27FC236}">
                <a16:creationId xmlns:a16="http://schemas.microsoft.com/office/drawing/2014/main" id="{F2090572-4615-DC7C-9788-D00486FF28DC}"/>
              </a:ext>
            </a:extLst>
          </p:cNvPr>
          <p:cNvSpPr txBox="1"/>
          <p:nvPr/>
        </p:nvSpPr>
        <p:spPr>
          <a:xfrm>
            <a:off x="1900645" y="3979803"/>
            <a:ext cx="404926" cy="250870"/>
          </a:xfrm>
          <a:prstGeom prst="rect">
            <a:avLst/>
          </a:prstGeom>
        </p:spPr>
        <p:txBody>
          <a:bodyPr vert="horz" wrap="none" lIns="0" tIns="0" rIns="0" bIns="0" rtlCol="0" anchor="t" anchorCtr="0">
            <a:normAutofit/>
          </a:bodyPr>
          <a:lstStyle/>
          <a:p>
            <a:pPr algn="l"/>
            <a:r>
              <a:rPr lang="en-US" sz="1100" b="1" dirty="0"/>
              <a:t>89.9</a:t>
            </a:r>
          </a:p>
        </p:txBody>
      </p:sp>
      <p:cxnSp>
        <p:nvCxnSpPr>
          <p:cNvPr id="18" name="Straight Connector 17">
            <a:extLst>
              <a:ext uri="{FF2B5EF4-FFF2-40B4-BE49-F238E27FC236}">
                <a16:creationId xmlns:a16="http://schemas.microsoft.com/office/drawing/2014/main" id="{46953509-1DA9-4CCD-1E79-A3D3FC8CB19F}"/>
              </a:ext>
            </a:extLst>
          </p:cNvPr>
          <p:cNvCxnSpPr/>
          <p:nvPr/>
        </p:nvCxnSpPr>
        <p:spPr>
          <a:xfrm>
            <a:off x="9881114" y="4414795"/>
            <a:ext cx="277793" cy="126131"/>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900905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CF78E59-6F9F-ED84-A62C-847DA7F119F3}"/>
              </a:ext>
            </a:extLst>
          </p:cNvPr>
          <p:cNvSpPr/>
          <p:nvPr/>
        </p:nvSpPr>
        <p:spPr>
          <a:xfrm rot="21315867">
            <a:off x="6383000" y="5392511"/>
            <a:ext cx="1323892" cy="497344"/>
          </a:xfrm>
          <a:prstGeom prst="ellipse">
            <a:avLst/>
          </a:prstGeom>
          <a:solidFill>
            <a:schemeClr val="accent2">
              <a:lumMod val="20000"/>
              <a:lumOff val="80000"/>
            </a:schemeClr>
          </a:solidFill>
          <a:ln>
            <a:noFill/>
            <a:miter lim="800000"/>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cs typeface="Arial" panose="020B0604020202020204" pitchFamily="34" charset="0"/>
            </a:endParaRPr>
          </a:p>
        </p:txBody>
      </p:sp>
      <p:sp>
        <p:nvSpPr>
          <p:cNvPr id="6" name="Footer Placeholder 5">
            <a:extLst>
              <a:ext uri="{FF2B5EF4-FFF2-40B4-BE49-F238E27FC236}">
                <a16:creationId xmlns:a16="http://schemas.microsoft.com/office/drawing/2014/main" id="{521B72E9-4BF9-FF5A-98F6-E861D575281F}"/>
              </a:ext>
            </a:extLst>
          </p:cNvPr>
          <p:cNvSpPr>
            <a:spLocks noGrp="1"/>
          </p:cNvSpPr>
          <p:nvPr>
            <p:ph type="ftr" sz="quarter" idx="3"/>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7" name="Slide Number Placeholder 6">
            <a:extLst>
              <a:ext uri="{FF2B5EF4-FFF2-40B4-BE49-F238E27FC236}">
                <a16:creationId xmlns:a16="http://schemas.microsoft.com/office/drawing/2014/main" id="{B7DBDDD6-1165-FF44-9850-A8A40140EC9F}"/>
              </a:ext>
            </a:extLst>
          </p:cNvPr>
          <p:cNvSpPr>
            <a:spLocks noGrp="1"/>
          </p:cNvSpPr>
          <p:nvPr>
            <p:ph type="sldNum" sz="quarter" idx="4"/>
          </p:nvPr>
        </p:nvSpPr>
        <p:spPr>
          <a:xfrm>
            <a:off x="417601" y="6582557"/>
            <a:ext cx="247878" cy="144000"/>
          </a:xfrm>
        </p:spPr>
        <p:txBody>
          <a:bodyPr/>
          <a:lstStyle/>
          <a:p>
            <a:fld id="{A9CE67A1-BA7F-A74E-B5D7-615746DEEC2B}" type="slidenum">
              <a:rPr lang="en-US" smtClean="0"/>
              <a:pPr/>
              <a:t>27</a:t>
            </a:fld>
            <a:endParaRPr lang="en-US" dirty="0"/>
          </a:p>
        </p:txBody>
      </p:sp>
      <p:sp>
        <p:nvSpPr>
          <p:cNvPr id="8" name="Title 7">
            <a:extLst>
              <a:ext uri="{FF2B5EF4-FFF2-40B4-BE49-F238E27FC236}">
                <a16:creationId xmlns:a16="http://schemas.microsoft.com/office/drawing/2014/main" id="{0334D46A-3428-4208-DDD2-45686C8443B0}"/>
              </a:ext>
            </a:extLst>
          </p:cNvPr>
          <p:cNvSpPr>
            <a:spLocks noGrp="1"/>
          </p:cNvSpPr>
          <p:nvPr>
            <p:ph type="title"/>
          </p:nvPr>
        </p:nvSpPr>
        <p:spPr>
          <a:xfrm>
            <a:off x="417600" y="640080"/>
            <a:ext cx="10080000" cy="450000"/>
          </a:xfrm>
        </p:spPr>
        <p:txBody>
          <a:bodyPr/>
          <a:lstStyle/>
          <a:p>
            <a:r>
              <a:rPr lang="en-US" dirty="0"/>
              <a:t>How to find Opportunities?</a:t>
            </a:r>
          </a:p>
        </p:txBody>
      </p:sp>
      <p:sp>
        <p:nvSpPr>
          <p:cNvPr id="9" name="Date Placeholder 8">
            <a:extLst>
              <a:ext uri="{FF2B5EF4-FFF2-40B4-BE49-F238E27FC236}">
                <a16:creationId xmlns:a16="http://schemas.microsoft.com/office/drawing/2014/main" id="{3F90742E-AA80-FD77-A319-7DADF5B6272E}"/>
              </a:ext>
            </a:extLst>
          </p:cNvPr>
          <p:cNvSpPr>
            <a:spLocks noGrp="1"/>
          </p:cNvSpPr>
          <p:nvPr>
            <p:ph type="dt" sz="half" idx="22"/>
          </p:nvPr>
        </p:nvSpPr>
        <p:spPr>
          <a:xfrm>
            <a:off x="9037865" y="6465903"/>
            <a:ext cx="2743200" cy="365125"/>
          </a:xfrm>
        </p:spPr>
        <p:txBody>
          <a:bodyPr/>
          <a:lstStyle/>
          <a:p>
            <a:r>
              <a:rPr lang="en-US"/>
              <a:t>FTC | Orlando, FL | November 4-8, 2024</a:t>
            </a:r>
          </a:p>
        </p:txBody>
      </p:sp>
      <p:grpSp>
        <p:nvGrpSpPr>
          <p:cNvPr id="17" name="Graphic 14">
            <a:extLst>
              <a:ext uri="{FF2B5EF4-FFF2-40B4-BE49-F238E27FC236}">
                <a16:creationId xmlns:a16="http://schemas.microsoft.com/office/drawing/2014/main" id="{40802B4B-715F-7FAE-E5B7-860C62F497AB}"/>
              </a:ext>
            </a:extLst>
          </p:cNvPr>
          <p:cNvGrpSpPr/>
          <p:nvPr/>
        </p:nvGrpSpPr>
        <p:grpSpPr>
          <a:xfrm>
            <a:off x="775284" y="1343602"/>
            <a:ext cx="3191579" cy="466012"/>
            <a:chOff x="5062556" y="993185"/>
            <a:chExt cx="3191579" cy="466012"/>
          </a:xfrm>
        </p:grpSpPr>
        <p:sp>
          <p:nvSpPr>
            <p:cNvPr id="18" name="TextBox 17">
              <a:extLst>
                <a:ext uri="{FF2B5EF4-FFF2-40B4-BE49-F238E27FC236}">
                  <a16:creationId xmlns:a16="http://schemas.microsoft.com/office/drawing/2014/main" id="{53225913-E410-1783-925D-853DBB57B395}"/>
                </a:ext>
              </a:extLst>
            </p:cNvPr>
            <p:cNvSpPr txBox="1"/>
            <p:nvPr/>
          </p:nvSpPr>
          <p:spPr>
            <a:xfrm rot="179359">
              <a:off x="5062556" y="1190341"/>
              <a:ext cx="3191579" cy="268856"/>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747" b="1" spc="0" baseline="0" dirty="0">
                  <a:solidFill>
                    <a:srgbClr val="1668B3"/>
                  </a:solidFill>
                  <a:cs typeface="Arial"/>
                  <a:sym typeface="Arial"/>
                  <a:rtl val="0"/>
                </a:rPr>
                <a:t>What is the power requirement?</a:t>
              </a:r>
            </a:p>
          </p:txBody>
        </p:sp>
        <p:sp>
          <p:nvSpPr>
            <p:cNvPr id="20" name="TextBox 19">
              <a:extLst>
                <a:ext uri="{FF2B5EF4-FFF2-40B4-BE49-F238E27FC236}">
                  <a16:creationId xmlns:a16="http://schemas.microsoft.com/office/drawing/2014/main" id="{FF822B7E-0E31-313D-04D0-FD2A3C7F9B7A}"/>
                </a:ext>
              </a:extLst>
            </p:cNvPr>
            <p:cNvSpPr txBox="1"/>
            <p:nvPr/>
          </p:nvSpPr>
          <p:spPr>
            <a:xfrm rot="179359">
              <a:off x="5644242" y="993185"/>
              <a:ext cx="1123706" cy="171137"/>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112" b="1" spc="0" baseline="0" dirty="0">
                  <a:solidFill>
                    <a:srgbClr val="000000"/>
                  </a:solidFill>
                  <a:cs typeface="Arial"/>
                  <a:sym typeface="Arial"/>
                  <a:rtl val="0"/>
                </a:rPr>
                <a:t>Ask the question:</a:t>
              </a:r>
            </a:p>
          </p:txBody>
        </p:sp>
      </p:grpSp>
      <p:grpSp>
        <p:nvGrpSpPr>
          <p:cNvPr id="21" name="Graphic 14">
            <a:extLst>
              <a:ext uri="{FF2B5EF4-FFF2-40B4-BE49-F238E27FC236}">
                <a16:creationId xmlns:a16="http://schemas.microsoft.com/office/drawing/2014/main" id="{58B76946-D4E0-56E0-39A3-1ABA907A7C4A}"/>
              </a:ext>
            </a:extLst>
          </p:cNvPr>
          <p:cNvGrpSpPr/>
          <p:nvPr/>
        </p:nvGrpSpPr>
        <p:grpSpPr>
          <a:xfrm rot="18259401">
            <a:off x="2798877" y="1645843"/>
            <a:ext cx="1667730" cy="1916728"/>
            <a:chOff x="6074107" y="1482110"/>
            <a:chExt cx="1667730" cy="1916728"/>
          </a:xfrm>
          <a:noFill/>
        </p:grpSpPr>
        <p:sp>
          <p:nvSpPr>
            <p:cNvPr id="22" name="Freeform: Shape 21">
              <a:extLst>
                <a:ext uri="{FF2B5EF4-FFF2-40B4-BE49-F238E27FC236}">
                  <a16:creationId xmlns:a16="http://schemas.microsoft.com/office/drawing/2014/main" id="{288B05F8-8B0E-4D22-F4C4-AEB2AF9AA9BE}"/>
                </a:ext>
              </a:extLst>
            </p:cNvPr>
            <p:cNvSpPr/>
            <p:nvPr/>
          </p:nvSpPr>
          <p:spPr>
            <a:xfrm rot="7200000" flipV="1">
              <a:off x="6049598" y="1973192"/>
              <a:ext cx="1650159" cy="893830"/>
            </a:xfrm>
            <a:custGeom>
              <a:avLst/>
              <a:gdLst>
                <a:gd name="connsiteX0" fmla="*/ 465 w 1650159"/>
                <a:gd name="connsiteY0" fmla="*/ 86 h 893830"/>
                <a:gd name="connsiteX1" fmla="*/ 1650624 w 1650159"/>
                <a:gd name="connsiteY1" fmla="*/ 893916 h 893830"/>
              </a:gdLst>
              <a:ahLst/>
              <a:cxnLst>
                <a:cxn ang="0">
                  <a:pos x="connsiteX0" y="connsiteY0"/>
                </a:cxn>
                <a:cxn ang="0">
                  <a:pos x="connsiteX1" y="connsiteY1"/>
                </a:cxn>
              </a:cxnLst>
              <a:rect l="l" t="t" r="r" b="b"/>
              <a:pathLst>
                <a:path w="1650159" h="893830">
                  <a:moveTo>
                    <a:pt x="465" y="86"/>
                  </a:moveTo>
                  <a:cubicBezTo>
                    <a:pt x="207199" y="427414"/>
                    <a:pt x="1169771" y="893916"/>
                    <a:pt x="1650624" y="893916"/>
                  </a:cubicBezTo>
                </a:path>
              </a:pathLst>
            </a:custGeom>
            <a:noFill/>
            <a:ln w="30255" cap="flat">
              <a:solidFill>
                <a:srgbClr val="1668B3"/>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40249C8-7BDB-D851-5380-5E1D298C4090}"/>
                </a:ext>
              </a:extLst>
            </p:cNvPr>
            <p:cNvSpPr/>
            <p:nvPr/>
          </p:nvSpPr>
          <p:spPr>
            <a:xfrm rot="7200000" flipV="1">
              <a:off x="6761013" y="3130798"/>
              <a:ext cx="233341" cy="222667"/>
            </a:xfrm>
            <a:custGeom>
              <a:avLst/>
              <a:gdLst>
                <a:gd name="connsiteX0" fmla="*/ 25722 w 233341"/>
                <a:gd name="connsiteY0" fmla="*/ 152 h 222667"/>
                <a:gd name="connsiteX1" fmla="*/ 430 w 233341"/>
                <a:gd name="connsiteY1" fmla="*/ 222819 h 222667"/>
              </a:gdLst>
              <a:ahLst/>
              <a:cxnLst>
                <a:cxn ang="0">
                  <a:pos x="connsiteX0" y="connsiteY0"/>
                </a:cxn>
                <a:cxn ang="0">
                  <a:pos x="connsiteX1" y="connsiteY1"/>
                </a:cxn>
              </a:cxnLst>
              <a:rect l="l" t="t" r="r" b="b"/>
              <a:pathLst>
                <a:path w="233341" h="222667">
                  <a:moveTo>
                    <a:pt x="25722" y="152"/>
                  </a:moveTo>
                  <a:cubicBezTo>
                    <a:pt x="392841" y="206583"/>
                    <a:pt x="202505" y="186374"/>
                    <a:pt x="430" y="222819"/>
                  </a:cubicBezTo>
                </a:path>
              </a:pathLst>
            </a:custGeom>
            <a:noFill/>
            <a:ln w="30255" cap="flat">
              <a:solidFill>
                <a:srgbClr val="1668B3"/>
              </a:solidFill>
              <a:prstDash val="solid"/>
              <a:miter/>
            </a:ln>
          </p:spPr>
          <p:txBody>
            <a:bodyPr rtlCol="0" anchor="ctr"/>
            <a:lstStyle/>
            <a:p>
              <a:endParaRPr lang="en-US"/>
            </a:p>
          </p:txBody>
        </p:sp>
      </p:grpSp>
      <p:sp>
        <p:nvSpPr>
          <p:cNvPr id="24" name="TextBox 23">
            <a:extLst>
              <a:ext uri="{FF2B5EF4-FFF2-40B4-BE49-F238E27FC236}">
                <a16:creationId xmlns:a16="http://schemas.microsoft.com/office/drawing/2014/main" id="{74496B87-E50F-02DD-C50D-4D8698736EA1}"/>
              </a:ext>
            </a:extLst>
          </p:cNvPr>
          <p:cNvSpPr txBox="1"/>
          <p:nvPr/>
        </p:nvSpPr>
        <p:spPr>
          <a:xfrm>
            <a:off x="3249970" y="2532952"/>
            <a:ext cx="66433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b="1" dirty="0">
                <a:solidFill>
                  <a:srgbClr val="1668B3"/>
                </a:solidFill>
                <a:cs typeface="Arial"/>
                <a:sym typeface="Arial"/>
                <a:rtl val="0"/>
              </a:rPr>
              <a:t>&gt; </a:t>
            </a:r>
            <a:r>
              <a:rPr lang="en-US" sz="1134" b="1" spc="0" baseline="0" dirty="0">
                <a:solidFill>
                  <a:srgbClr val="1668B3"/>
                </a:solidFill>
                <a:cs typeface="Arial"/>
                <a:sym typeface="Arial"/>
                <a:rtl val="0"/>
              </a:rPr>
              <a:t>15W</a:t>
            </a:r>
          </a:p>
        </p:txBody>
      </p:sp>
      <p:sp>
        <p:nvSpPr>
          <p:cNvPr id="25" name="TextBox 24">
            <a:extLst>
              <a:ext uri="{FF2B5EF4-FFF2-40B4-BE49-F238E27FC236}">
                <a16:creationId xmlns:a16="http://schemas.microsoft.com/office/drawing/2014/main" id="{A4EBF8F6-F57F-A99D-928D-CDBCF53B5B32}"/>
              </a:ext>
            </a:extLst>
          </p:cNvPr>
          <p:cNvSpPr txBox="1"/>
          <p:nvPr/>
        </p:nvSpPr>
        <p:spPr>
          <a:xfrm rot="21099222">
            <a:off x="3654935" y="3130065"/>
            <a:ext cx="2745945" cy="268856"/>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747" b="1" spc="0" baseline="0" dirty="0">
                <a:solidFill>
                  <a:srgbClr val="1668B3"/>
                </a:solidFill>
                <a:cs typeface="Arial"/>
                <a:sym typeface="Arial"/>
                <a:rtl val="0"/>
              </a:rPr>
              <a:t>Heat Sensitive Application?</a:t>
            </a:r>
          </a:p>
        </p:txBody>
      </p:sp>
      <p:sp>
        <p:nvSpPr>
          <p:cNvPr id="26" name="TextBox 25">
            <a:extLst>
              <a:ext uri="{FF2B5EF4-FFF2-40B4-BE49-F238E27FC236}">
                <a16:creationId xmlns:a16="http://schemas.microsoft.com/office/drawing/2014/main" id="{B1120736-796D-9513-C4C2-9D38AC933408}"/>
              </a:ext>
            </a:extLst>
          </p:cNvPr>
          <p:cNvSpPr txBox="1"/>
          <p:nvPr/>
        </p:nvSpPr>
        <p:spPr>
          <a:xfrm>
            <a:off x="3958186" y="5585820"/>
            <a:ext cx="1495602" cy="268856"/>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747" b="1" dirty="0">
                <a:solidFill>
                  <a:srgbClr val="1668B3"/>
                </a:solidFill>
                <a:cs typeface="Arial"/>
                <a:sym typeface="Arial"/>
                <a:rtl val="0"/>
              </a:rPr>
              <a:t>Power Delivery</a:t>
            </a:r>
            <a:endParaRPr lang="en-US" sz="1747" b="1" spc="0" baseline="0" dirty="0">
              <a:solidFill>
                <a:srgbClr val="1668B3"/>
              </a:solidFill>
              <a:cs typeface="Arial"/>
              <a:sym typeface="Arial"/>
              <a:rtl val="0"/>
            </a:endParaRPr>
          </a:p>
        </p:txBody>
      </p:sp>
      <p:grpSp>
        <p:nvGrpSpPr>
          <p:cNvPr id="27" name="Graphic 14">
            <a:extLst>
              <a:ext uri="{FF2B5EF4-FFF2-40B4-BE49-F238E27FC236}">
                <a16:creationId xmlns:a16="http://schemas.microsoft.com/office/drawing/2014/main" id="{F5E864DE-603B-A27C-1EBE-8955D5E36CBB}"/>
              </a:ext>
            </a:extLst>
          </p:cNvPr>
          <p:cNvGrpSpPr/>
          <p:nvPr/>
        </p:nvGrpSpPr>
        <p:grpSpPr>
          <a:xfrm rot="560723">
            <a:off x="4016455" y="3580533"/>
            <a:ext cx="1731157" cy="1972235"/>
            <a:chOff x="5686093" y="3960830"/>
            <a:chExt cx="1731157" cy="1972235"/>
          </a:xfrm>
          <a:noFill/>
        </p:grpSpPr>
        <p:sp>
          <p:nvSpPr>
            <p:cNvPr id="28" name="Freeform: Shape 27">
              <a:extLst>
                <a:ext uri="{FF2B5EF4-FFF2-40B4-BE49-F238E27FC236}">
                  <a16:creationId xmlns:a16="http://schemas.microsoft.com/office/drawing/2014/main" id="{7C01E78A-9DC2-48AB-7E41-53E65D24C865}"/>
                </a:ext>
              </a:extLst>
            </p:cNvPr>
            <p:cNvSpPr/>
            <p:nvPr/>
          </p:nvSpPr>
          <p:spPr>
            <a:xfrm rot="3599999">
              <a:off x="5743530" y="4452490"/>
              <a:ext cx="1682873" cy="948181"/>
            </a:xfrm>
            <a:custGeom>
              <a:avLst/>
              <a:gdLst>
                <a:gd name="connsiteX0" fmla="*/ 451 w 1682873"/>
                <a:gd name="connsiteY0" fmla="*/ 359 h 948181"/>
                <a:gd name="connsiteX1" fmla="*/ 1683325 w 1682873"/>
                <a:gd name="connsiteY1" fmla="*/ 948541 h 948181"/>
              </a:gdLst>
              <a:ahLst/>
              <a:cxnLst>
                <a:cxn ang="0">
                  <a:pos x="connsiteX0" y="connsiteY0"/>
                </a:cxn>
                <a:cxn ang="0">
                  <a:pos x="connsiteX1" y="connsiteY1"/>
                </a:cxn>
              </a:cxnLst>
              <a:rect l="l" t="t" r="r" b="b"/>
              <a:pathLst>
                <a:path w="1682873" h="948181">
                  <a:moveTo>
                    <a:pt x="451" y="359"/>
                  </a:moveTo>
                  <a:cubicBezTo>
                    <a:pt x="207185" y="427687"/>
                    <a:pt x="1202472" y="948541"/>
                    <a:pt x="1683325" y="948541"/>
                  </a:cubicBezTo>
                </a:path>
              </a:pathLst>
            </a:custGeom>
            <a:noFill/>
            <a:ln w="30255" cap="flat">
              <a:solidFill>
                <a:srgbClr val="1668B3"/>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6C701525-8D89-A382-B5F5-EF82ABD5AEEB}"/>
                </a:ext>
              </a:extLst>
            </p:cNvPr>
            <p:cNvSpPr/>
            <p:nvPr/>
          </p:nvSpPr>
          <p:spPr>
            <a:xfrm rot="3599999">
              <a:off x="6449941" y="5665010"/>
              <a:ext cx="233342" cy="222687"/>
            </a:xfrm>
            <a:custGeom>
              <a:avLst/>
              <a:gdLst>
                <a:gd name="connsiteX0" fmla="*/ 25706 w 233342"/>
                <a:gd name="connsiteY0" fmla="*/ 426 h 222687"/>
                <a:gd name="connsiteX1" fmla="*/ 413 w 233342"/>
                <a:gd name="connsiteY1" fmla="*/ 223114 h 222687"/>
              </a:gdLst>
              <a:ahLst/>
              <a:cxnLst>
                <a:cxn ang="0">
                  <a:pos x="connsiteX0" y="connsiteY0"/>
                </a:cxn>
                <a:cxn ang="0">
                  <a:pos x="connsiteX1" y="connsiteY1"/>
                </a:cxn>
              </a:cxnLst>
              <a:rect l="l" t="t" r="r" b="b"/>
              <a:pathLst>
                <a:path w="233342" h="222687">
                  <a:moveTo>
                    <a:pt x="25706" y="426"/>
                  </a:moveTo>
                  <a:cubicBezTo>
                    <a:pt x="392824" y="206878"/>
                    <a:pt x="202488" y="186668"/>
                    <a:pt x="413" y="223114"/>
                  </a:cubicBezTo>
                </a:path>
              </a:pathLst>
            </a:custGeom>
            <a:noFill/>
            <a:ln w="30255" cap="flat">
              <a:solidFill>
                <a:srgbClr val="1668B3"/>
              </a:solidFill>
              <a:prstDash val="solid"/>
              <a:miter/>
            </a:ln>
          </p:spPr>
          <p:txBody>
            <a:bodyPr rtlCol="0" anchor="ctr"/>
            <a:lstStyle/>
            <a:p>
              <a:endParaRPr lang="en-US"/>
            </a:p>
          </p:txBody>
        </p:sp>
      </p:grpSp>
      <p:grpSp>
        <p:nvGrpSpPr>
          <p:cNvPr id="30" name="Graphic 14">
            <a:extLst>
              <a:ext uri="{FF2B5EF4-FFF2-40B4-BE49-F238E27FC236}">
                <a16:creationId xmlns:a16="http://schemas.microsoft.com/office/drawing/2014/main" id="{46C658FC-0E3B-571B-75F7-5A99FA676031}"/>
              </a:ext>
            </a:extLst>
          </p:cNvPr>
          <p:cNvGrpSpPr/>
          <p:nvPr/>
        </p:nvGrpSpPr>
        <p:grpSpPr>
          <a:xfrm rot="18565714">
            <a:off x="5496348" y="3067373"/>
            <a:ext cx="1667730" cy="1916728"/>
            <a:chOff x="6074107" y="1482110"/>
            <a:chExt cx="1667730" cy="1916728"/>
          </a:xfrm>
          <a:noFill/>
        </p:grpSpPr>
        <p:sp>
          <p:nvSpPr>
            <p:cNvPr id="31" name="Freeform: Shape 30">
              <a:extLst>
                <a:ext uri="{FF2B5EF4-FFF2-40B4-BE49-F238E27FC236}">
                  <a16:creationId xmlns:a16="http://schemas.microsoft.com/office/drawing/2014/main" id="{A5F674A5-5C46-EEEE-C54A-586200F4E38C}"/>
                </a:ext>
              </a:extLst>
            </p:cNvPr>
            <p:cNvSpPr/>
            <p:nvPr/>
          </p:nvSpPr>
          <p:spPr>
            <a:xfrm rot="7200000" flipV="1">
              <a:off x="6049598" y="1973192"/>
              <a:ext cx="1650159" cy="893830"/>
            </a:xfrm>
            <a:custGeom>
              <a:avLst/>
              <a:gdLst>
                <a:gd name="connsiteX0" fmla="*/ 465 w 1650159"/>
                <a:gd name="connsiteY0" fmla="*/ 86 h 893830"/>
                <a:gd name="connsiteX1" fmla="*/ 1650624 w 1650159"/>
                <a:gd name="connsiteY1" fmla="*/ 893916 h 893830"/>
              </a:gdLst>
              <a:ahLst/>
              <a:cxnLst>
                <a:cxn ang="0">
                  <a:pos x="connsiteX0" y="connsiteY0"/>
                </a:cxn>
                <a:cxn ang="0">
                  <a:pos x="connsiteX1" y="connsiteY1"/>
                </a:cxn>
              </a:cxnLst>
              <a:rect l="l" t="t" r="r" b="b"/>
              <a:pathLst>
                <a:path w="1650159" h="893830">
                  <a:moveTo>
                    <a:pt x="465" y="86"/>
                  </a:moveTo>
                  <a:cubicBezTo>
                    <a:pt x="207199" y="427414"/>
                    <a:pt x="1169771" y="893916"/>
                    <a:pt x="1650624" y="893916"/>
                  </a:cubicBezTo>
                </a:path>
              </a:pathLst>
            </a:custGeom>
            <a:noFill/>
            <a:ln w="30255" cap="flat">
              <a:solidFill>
                <a:srgbClr val="1668B3"/>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B365F7C-F469-EB1D-1FA2-67417DEB9EE0}"/>
                </a:ext>
              </a:extLst>
            </p:cNvPr>
            <p:cNvSpPr/>
            <p:nvPr/>
          </p:nvSpPr>
          <p:spPr>
            <a:xfrm rot="7200000" flipV="1">
              <a:off x="6761013" y="3130798"/>
              <a:ext cx="233341" cy="222667"/>
            </a:xfrm>
            <a:custGeom>
              <a:avLst/>
              <a:gdLst>
                <a:gd name="connsiteX0" fmla="*/ 25722 w 233341"/>
                <a:gd name="connsiteY0" fmla="*/ 152 h 222667"/>
                <a:gd name="connsiteX1" fmla="*/ 430 w 233341"/>
                <a:gd name="connsiteY1" fmla="*/ 222819 h 222667"/>
              </a:gdLst>
              <a:ahLst/>
              <a:cxnLst>
                <a:cxn ang="0">
                  <a:pos x="connsiteX0" y="connsiteY0"/>
                </a:cxn>
                <a:cxn ang="0">
                  <a:pos x="connsiteX1" y="connsiteY1"/>
                </a:cxn>
              </a:cxnLst>
              <a:rect l="l" t="t" r="r" b="b"/>
              <a:pathLst>
                <a:path w="233341" h="222667">
                  <a:moveTo>
                    <a:pt x="25722" y="152"/>
                  </a:moveTo>
                  <a:cubicBezTo>
                    <a:pt x="392841" y="206583"/>
                    <a:pt x="202505" y="186374"/>
                    <a:pt x="430" y="222819"/>
                  </a:cubicBezTo>
                </a:path>
              </a:pathLst>
            </a:custGeom>
            <a:noFill/>
            <a:ln w="30255" cap="flat">
              <a:solidFill>
                <a:srgbClr val="1668B3"/>
              </a:solidFill>
              <a:prstDash val="solid"/>
              <a:miter/>
            </a:ln>
          </p:spPr>
          <p:txBody>
            <a:bodyPr rtlCol="0" anchor="ctr"/>
            <a:lstStyle/>
            <a:p>
              <a:endParaRPr lang="en-US"/>
            </a:p>
          </p:txBody>
        </p:sp>
      </p:grpSp>
      <p:sp>
        <p:nvSpPr>
          <p:cNvPr id="33" name="TextBox 32">
            <a:extLst>
              <a:ext uri="{FF2B5EF4-FFF2-40B4-BE49-F238E27FC236}">
                <a16:creationId xmlns:a16="http://schemas.microsoft.com/office/drawing/2014/main" id="{4642EBBD-3692-4E16-4554-59E0FCC74159}"/>
              </a:ext>
            </a:extLst>
          </p:cNvPr>
          <p:cNvSpPr txBox="1"/>
          <p:nvPr/>
        </p:nvSpPr>
        <p:spPr>
          <a:xfrm rot="20549065">
            <a:off x="4822260" y="4350971"/>
            <a:ext cx="66433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b="1" spc="0" baseline="0" dirty="0">
                <a:solidFill>
                  <a:srgbClr val="1668B3"/>
                </a:solidFill>
                <a:cs typeface="Arial"/>
                <a:sym typeface="Arial"/>
                <a:rtl val="0"/>
              </a:rPr>
              <a:t>No</a:t>
            </a:r>
          </a:p>
        </p:txBody>
      </p:sp>
      <p:sp>
        <p:nvSpPr>
          <p:cNvPr id="34" name="TextBox 33">
            <a:extLst>
              <a:ext uri="{FF2B5EF4-FFF2-40B4-BE49-F238E27FC236}">
                <a16:creationId xmlns:a16="http://schemas.microsoft.com/office/drawing/2014/main" id="{23E9E5DE-E31F-3F2F-125A-37C57264543C}"/>
              </a:ext>
            </a:extLst>
          </p:cNvPr>
          <p:cNvSpPr txBox="1"/>
          <p:nvPr/>
        </p:nvSpPr>
        <p:spPr>
          <a:xfrm rot="20549065">
            <a:off x="6218087" y="3955763"/>
            <a:ext cx="664332"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b="1" spc="0" baseline="0" dirty="0">
                <a:solidFill>
                  <a:srgbClr val="1668B3"/>
                </a:solidFill>
                <a:cs typeface="Arial"/>
                <a:sym typeface="Arial"/>
                <a:rtl val="0"/>
              </a:rPr>
              <a:t>Yes</a:t>
            </a:r>
          </a:p>
        </p:txBody>
      </p:sp>
      <p:sp>
        <p:nvSpPr>
          <p:cNvPr id="35" name="TextBox 34">
            <a:extLst>
              <a:ext uri="{FF2B5EF4-FFF2-40B4-BE49-F238E27FC236}">
                <a16:creationId xmlns:a16="http://schemas.microsoft.com/office/drawing/2014/main" id="{091578DE-99C9-DAA8-FB94-52D037DC1564}"/>
              </a:ext>
            </a:extLst>
          </p:cNvPr>
          <p:cNvSpPr txBox="1"/>
          <p:nvPr/>
        </p:nvSpPr>
        <p:spPr>
          <a:xfrm rot="21289961">
            <a:off x="5937310" y="4702898"/>
            <a:ext cx="2877391" cy="268856"/>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747" b="1" dirty="0">
                <a:solidFill>
                  <a:srgbClr val="1668B3"/>
                </a:solidFill>
                <a:cs typeface="Arial"/>
                <a:sym typeface="Arial"/>
                <a:rtl val="0"/>
              </a:rPr>
              <a:t>Programmable Power Supply</a:t>
            </a:r>
            <a:endParaRPr lang="en-US" sz="1747" b="1" spc="0" baseline="0" dirty="0">
              <a:solidFill>
                <a:srgbClr val="1668B3"/>
              </a:solidFill>
              <a:cs typeface="Arial"/>
              <a:sym typeface="Arial"/>
              <a:rtl val="0"/>
            </a:endParaRPr>
          </a:p>
        </p:txBody>
      </p:sp>
      <p:grpSp>
        <p:nvGrpSpPr>
          <p:cNvPr id="36" name="Group 35">
            <a:extLst>
              <a:ext uri="{FF2B5EF4-FFF2-40B4-BE49-F238E27FC236}">
                <a16:creationId xmlns:a16="http://schemas.microsoft.com/office/drawing/2014/main" id="{F05124D3-0529-9823-2DED-87FAA36F5E29}"/>
              </a:ext>
            </a:extLst>
          </p:cNvPr>
          <p:cNvGrpSpPr/>
          <p:nvPr/>
        </p:nvGrpSpPr>
        <p:grpSpPr>
          <a:xfrm>
            <a:off x="3979865" y="2076921"/>
            <a:ext cx="2227359" cy="842626"/>
            <a:chOff x="3170631" y="2399805"/>
            <a:chExt cx="2227359" cy="842626"/>
          </a:xfrm>
        </p:grpSpPr>
        <p:sp>
          <p:nvSpPr>
            <p:cNvPr id="37" name="Oval 36">
              <a:extLst>
                <a:ext uri="{FF2B5EF4-FFF2-40B4-BE49-F238E27FC236}">
                  <a16:creationId xmlns:a16="http://schemas.microsoft.com/office/drawing/2014/main" id="{29F518E9-88C0-8CB5-E586-B85D3BF1B99E}"/>
                </a:ext>
              </a:extLst>
            </p:cNvPr>
            <p:cNvSpPr/>
            <p:nvPr/>
          </p:nvSpPr>
          <p:spPr>
            <a:xfrm>
              <a:off x="3170631" y="2399805"/>
              <a:ext cx="2227359" cy="842626"/>
            </a:xfrm>
            <a:prstGeom prst="ellipse">
              <a:avLst/>
            </a:prstGeom>
            <a:solidFill>
              <a:schemeClr val="accent2">
                <a:lumMod val="20000"/>
                <a:lumOff val="80000"/>
              </a:schemeClr>
            </a:solidFill>
            <a:ln>
              <a:noFill/>
              <a:miter lim="800000"/>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cs typeface="Arial" panose="020B0604020202020204" pitchFamily="34" charset="0"/>
              </a:endParaRPr>
            </a:p>
          </p:txBody>
        </p:sp>
        <p:sp>
          <p:nvSpPr>
            <p:cNvPr id="38" name="TextBox 37">
              <a:extLst>
                <a:ext uri="{FF2B5EF4-FFF2-40B4-BE49-F238E27FC236}">
                  <a16:creationId xmlns:a16="http://schemas.microsoft.com/office/drawing/2014/main" id="{AD5B10F0-B147-3796-DE57-EE8E41813916}"/>
                </a:ext>
              </a:extLst>
            </p:cNvPr>
            <p:cNvSpPr txBox="1"/>
            <p:nvPr/>
          </p:nvSpPr>
          <p:spPr>
            <a:xfrm>
              <a:off x="3509431" y="2590142"/>
              <a:ext cx="1093575"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Battery Specs</a:t>
              </a:r>
            </a:p>
          </p:txBody>
        </p:sp>
        <p:sp>
          <p:nvSpPr>
            <p:cNvPr id="39" name="TextBox 38">
              <a:extLst>
                <a:ext uri="{FF2B5EF4-FFF2-40B4-BE49-F238E27FC236}">
                  <a16:creationId xmlns:a16="http://schemas.microsoft.com/office/drawing/2014/main" id="{FAC18D80-119B-1EA7-D54E-68C0B47A0C79}"/>
                </a:ext>
              </a:extLst>
            </p:cNvPr>
            <p:cNvSpPr txBox="1"/>
            <p:nvPr/>
          </p:nvSpPr>
          <p:spPr>
            <a:xfrm>
              <a:off x="3967595" y="2825944"/>
              <a:ext cx="1093575"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Charging current</a:t>
              </a:r>
            </a:p>
          </p:txBody>
        </p:sp>
      </p:grpSp>
      <p:grpSp>
        <p:nvGrpSpPr>
          <p:cNvPr id="40" name="Graphic 14">
            <a:extLst>
              <a:ext uri="{FF2B5EF4-FFF2-40B4-BE49-F238E27FC236}">
                <a16:creationId xmlns:a16="http://schemas.microsoft.com/office/drawing/2014/main" id="{8FF0A45E-F954-5EC0-5DA7-2F3A647E7FE1}"/>
              </a:ext>
            </a:extLst>
          </p:cNvPr>
          <p:cNvGrpSpPr/>
          <p:nvPr/>
        </p:nvGrpSpPr>
        <p:grpSpPr>
          <a:xfrm rot="7068218" flipV="1">
            <a:off x="5716388" y="4893097"/>
            <a:ext cx="1667730" cy="1916728"/>
            <a:chOff x="6074107" y="1482110"/>
            <a:chExt cx="1667730" cy="1916728"/>
          </a:xfrm>
          <a:noFill/>
        </p:grpSpPr>
        <p:sp>
          <p:nvSpPr>
            <p:cNvPr id="41" name="Freeform: Shape 40">
              <a:extLst>
                <a:ext uri="{FF2B5EF4-FFF2-40B4-BE49-F238E27FC236}">
                  <a16:creationId xmlns:a16="http://schemas.microsoft.com/office/drawing/2014/main" id="{06AADBCE-849C-4BDB-98B5-B254DF51EB62}"/>
                </a:ext>
              </a:extLst>
            </p:cNvPr>
            <p:cNvSpPr/>
            <p:nvPr/>
          </p:nvSpPr>
          <p:spPr>
            <a:xfrm rot="7200000" flipV="1">
              <a:off x="6049598" y="1973192"/>
              <a:ext cx="1650159" cy="893830"/>
            </a:xfrm>
            <a:custGeom>
              <a:avLst/>
              <a:gdLst>
                <a:gd name="connsiteX0" fmla="*/ 465 w 1650159"/>
                <a:gd name="connsiteY0" fmla="*/ 86 h 893830"/>
                <a:gd name="connsiteX1" fmla="*/ 1650624 w 1650159"/>
                <a:gd name="connsiteY1" fmla="*/ 893916 h 893830"/>
              </a:gdLst>
              <a:ahLst/>
              <a:cxnLst>
                <a:cxn ang="0">
                  <a:pos x="connsiteX0" y="connsiteY0"/>
                </a:cxn>
                <a:cxn ang="0">
                  <a:pos x="connsiteX1" y="connsiteY1"/>
                </a:cxn>
              </a:cxnLst>
              <a:rect l="l" t="t" r="r" b="b"/>
              <a:pathLst>
                <a:path w="1650159" h="893830">
                  <a:moveTo>
                    <a:pt x="465" y="86"/>
                  </a:moveTo>
                  <a:cubicBezTo>
                    <a:pt x="207199" y="427414"/>
                    <a:pt x="1169771" y="893916"/>
                    <a:pt x="1650624" y="893916"/>
                  </a:cubicBezTo>
                </a:path>
              </a:pathLst>
            </a:custGeom>
            <a:noFill/>
            <a:ln w="30255" cap="flat">
              <a:solidFill>
                <a:srgbClr val="1668B3"/>
              </a:solid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25E9CF0-6810-8956-0A59-568CA8ECB84B}"/>
                </a:ext>
              </a:extLst>
            </p:cNvPr>
            <p:cNvSpPr/>
            <p:nvPr/>
          </p:nvSpPr>
          <p:spPr>
            <a:xfrm rot="7200000" flipV="1">
              <a:off x="6761013" y="3130798"/>
              <a:ext cx="233341" cy="222667"/>
            </a:xfrm>
            <a:custGeom>
              <a:avLst/>
              <a:gdLst>
                <a:gd name="connsiteX0" fmla="*/ 25722 w 233341"/>
                <a:gd name="connsiteY0" fmla="*/ 152 h 222667"/>
                <a:gd name="connsiteX1" fmla="*/ 430 w 233341"/>
                <a:gd name="connsiteY1" fmla="*/ 222819 h 222667"/>
              </a:gdLst>
              <a:ahLst/>
              <a:cxnLst>
                <a:cxn ang="0">
                  <a:pos x="connsiteX0" y="connsiteY0"/>
                </a:cxn>
                <a:cxn ang="0">
                  <a:pos x="connsiteX1" y="connsiteY1"/>
                </a:cxn>
              </a:cxnLst>
              <a:rect l="l" t="t" r="r" b="b"/>
              <a:pathLst>
                <a:path w="233341" h="222667">
                  <a:moveTo>
                    <a:pt x="25722" y="152"/>
                  </a:moveTo>
                  <a:cubicBezTo>
                    <a:pt x="392841" y="206583"/>
                    <a:pt x="202505" y="186374"/>
                    <a:pt x="430" y="222819"/>
                  </a:cubicBezTo>
                </a:path>
              </a:pathLst>
            </a:custGeom>
            <a:noFill/>
            <a:ln w="30255" cap="flat">
              <a:solidFill>
                <a:srgbClr val="1668B3"/>
              </a:solidFill>
              <a:prstDash val="solid"/>
              <a:miter/>
            </a:ln>
          </p:spPr>
          <p:txBody>
            <a:bodyPr rtlCol="0" anchor="ctr"/>
            <a:lstStyle/>
            <a:p>
              <a:endParaRPr lang="en-US"/>
            </a:p>
          </p:txBody>
        </p:sp>
      </p:grpSp>
      <p:sp>
        <p:nvSpPr>
          <p:cNvPr id="43" name="TextBox 42">
            <a:extLst>
              <a:ext uri="{FF2B5EF4-FFF2-40B4-BE49-F238E27FC236}">
                <a16:creationId xmlns:a16="http://schemas.microsoft.com/office/drawing/2014/main" id="{03213570-020C-106E-2CF9-DF1912421635}"/>
              </a:ext>
            </a:extLst>
          </p:cNvPr>
          <p:cNvSpPr txBox="1"/>
          <p:nvPr/>
        </p:nvSpPr>
        <p:spPr>
          <a:xfrm rot="21289961">
            <a:off x="6576885" y="5534508"/>
            <a:ext cx="997068" cy="184666"/>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200" dirty="0">
                <a:solidFill>
                  <a:srgbClr val="1668B3"/>
                </a:solidFill>
                <a:cs typeface="Arial"/>
                <a:sym typeface="Arial"/>
                <a:rtl val="0"/>
              </a:rPr>
              <a:t>Demonstration</a:t>
            </a:r>
            <a:endParaRPr lang="en-US" sz="1200" spc="0" baseline="0" dirty="0">
              <a:solidFill>
                <a:srgbClr val="1668B3"/>
              </a:solidFill>
              <a:cs typeface="Arial"/>
              <a:sym typeface="Arial"/>
              <a:rtl val="0"/>
            </a:endParaRPr>
          </a:p>
        </p:txBody>
      </p:sp>
      <p:grpSp>
        <p:nvGrpSpPr>
          <p:cNvPr id="44" name="Group 43">
            <a:extLst>
              <a:ext uri="{FF2B5EF4-FFF2-40B4-BE49-F238E27FC236}">
                <a16:creationId xmlns:a16="http://schemas.microsoft.com/office/drawing/2014/main" id="{E8675037-4EF9-B318-334B-814E2E7B1C64}"/>
              </a:ext>
            </a:extLst>
          </p:cNvPr>
          <p:cNvGrpSpPr/>
          <p:nvPr/>
        </p:nvGrpSpPr>
        <p:grpSpPr>
          <a:xfrm>
            <a:off x="6708104" y="3564212"/>
            <a:ext cx="1957394" cy="749250"/>
            <a:chOff x="3170631" y="2399805"/>
            <a:chExt cx="2227359" cy="842626"/>
          </a:xfrm>
          <a:effectLst>
            <a:outerShdw blurRad="63500" sx="102000" sy="102000" algn="ctr" rotWithShape="0">
              <a:prstClr val="black">
                <a:alpha val="40000"/>
              </a:prstClr>
            </a:outerShdw>
          </a:effectLst>
        </p:grpSpPr>
        <p:sp>
          <p:nvSpPr>
            <p:cNvPr id="45" name="Oval 44">
              <a:extLst>
                <a:ext uri="{FF2B5EF4-FFF2-40B4-BE49-F238E27FC236}">
                  <a16:creationId xmlns:a16="http://schemas.microsoft.com/office/drawing/2014/main" id="{EA14A752-31C3-DF96-B9FF-956BBB80BC49}"/>
                </a:ext>
              </a:extLst>
            </p:cNvPr>
            <p:cNvSpPr/>
            <p:nvPr/>
          </p:nvSpPr>
          <p:spPr>
            <a:xfrm>
              <a:off x="3170631" y="2399805"/>
              <a:ext cx="2227359" cy="842626"/>
            </a:xfrm>
            <a:prstGeom prst="ellipse">
              <a:avLst/>
            </a:prstGeom>
            <a:solidFill>
              <a:schemeClr val="accent2">
                <a:lumMod val="20000"/>
                <a:lumOff val="8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cs typeface="Arial" panose="020B0604020202020204" pitchFamily="34" charset="0"/>
              </a:endParaRPr>
            </a:p>
          </p:txBody>
        </p:sp>
        <p:sp>
          <p:nvSpPr>
            <p:cNvPr id="46" name="TextBox 45">
              <a:extLst>
                <a:ext uri="{FF2B5EF4-FFF2-40B4-BE49-F238E27FC236}">
                  <a16:creationId xmlns:a16="http://schemas.microsoft.com/office/drawing/2014/main" id="{D08A2218-0373-160B-3C04-4E79F71A6C41}"/>
                </a:ext>
              </a:extLst>
            </p:cNvPr>
            <p:cNvSpPr txBox="1"/>
            <p:nvPr/>
          </p:nvSpPr>
          <p:spPr>
            <a:xfrm>
              <a:off x="3373275" y="2567489"/>
              <a:ext cx="1093575" cy="196287"/>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Smart Phones</a:t>
              </a:r>
            </a:p>
          </p:txBody>
        </p:sp>
        <p:sp>
          <p:nvSpPr>
            <p:cNvPr id="47" name="TextBox 46">
              <a:extLst>
                <a:ext uri="{FF2B5EF4-FFF2-40B4-BE49-F238E27FC236}">
                  <a16:creationId xmlns:a16="http://schemas.microsoft.com/office/drawing/2014/main" id="{5F2BD4F8-6356-5DAC-E41F-2B8D689D84FA}"/>
                </a:ext>
              </a:extLst>
            </p:cNvPr>
            <p:cNvSpPr txBox="1"/>
            <p:nvPr/>
          </p:nvSpPr>
          <p:spPr>
            <a:xfrm>
              <a:off x="4592416" y="2665632"/>
              <a:ext cx="680007" cy="196287"/>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Tablets</a:t>
              </a:r>
            </a:p>
          </p:txBody>
        </p:sp>
      </p:grpSp>
      <p:sp>
        <p:nvSpPr>
          <p:cNvPr id="48" name="TextBox 47">
            <a:extLst>
              <a:ext uri="{FF2B5EF4-FFF2-40B4-BE49-F238E27FC236}">
                <a16:creationId xmlns:a16="http://schemas.microsoft.com/office/drawing/2014/main" id="{823A4EB4-17CB-4B48-D822-BFFE229C7AEF}"/>
              </a:ext>
            </a:extLst>
          </p:cNvPr>
          <p:cNvSpPr txBox="1"/>
          <p:nvPr/>
        </p:nvSpPr>
        <p:spPr>
          <a:xfrm>
            <a:off x="7143097" y="4038106"/>
            <a:ext cx="1014954"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Gaming laptops</a:t>
            </a:r>
          </a:p>
        </p:txBody>
      </p:sp>
      <p:grpSp>
        <p:nvGrpSpPr>
          <p:cNvPr id="49" name="Group 48">
            <a:extLst>
              <a:ext uri="{FF2B5EF4-FFF2-40B4-BE49-F238E27FC236}">
                <a16:creationId xmlns:a16="http://schemas.microsoft.com/office/drawing/2014/main" id="{941E73C3-9276-60A4-E8AB-51753A17DB12}"/>
              </a:ext>
            </a:extLst>
          </p:cNvPr>
          <p:cNvGrpSpPr/>
          <p:nvPr/>
        </p:nvGrpSpPr>
        <p:grpSpPr>
          <a:xfrm>
            <a:off x="2646891" y="4047432"/>
            <a:ext cx="1957394" cy="749250"/>
            <a:chOff x="3170631" y="2399805"/>
            <a:chExt cx="2227359" cy="842626"/>
          </a:xfrm>
          <a:effectLst>
            <a:outerShdw blurRad="63500" sx="102000" sy="102000" algn="ctr" rotWithShape="0">
              <a:prstClr val="black">
                <a:alpha val="40000"/>
              </a:prstClr>
            </a:outerShdw>
          </a:effectLst>
        </p:grpSpPr>
        <p:sp>
          <p:nvSpPr>
            <p:cNvPr id="50" name="Oval 49">
              <a:extLst>
                <a:ext uri="{FF2B5EF4-FFF2-40B4-BE49-F238E27FC236}">
                  <a16:creationId xmlns:a16="http://schemas.microsoft.com/office/drawing/2014/main" id="{6BAC1EBB-2A58-BBC1-7414-96A7FFB22315}"/>
                </a:ext>
              </a:extLst>
            </p:cNvPr>
            <p:cNvSpPr/>
            <p:nvPr/>
          </p:nvSpPr>
          <p:spPr>
            <a:xfrm>
              <a:off x="3170631" y="2399805"/>
              <a:ext cx="2227359" cy="842626"/>
            </a:xfrm>
            <a:prstGeom prst="ellipse">
              <a:avLst/>
            </a:prstGeom>
            <a:solidFill>
              <a:schemeClr val="accent2">
                <a:lumMod val="20000"/>
                <a:lumOff val="8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err="1">
                <a:solidFill>
                  <a:srgbClr val="000000"/>
                </a:solidFill>
                <a:cs typeface="Arial" panose="020B0604020202020204" pitchFamily="34" charset="0"/>
              </a:endParaRPr>
            </a:p>
          </p:txBody>
        </p:sp>
        <p:sp>
          <p:nvSpPr>
            <p:cNvPr id="51" name="TextBox 50">
              <a:extLst>
                <a:ext uri="{FF2B5EF4-FFF2-40B4-BE49-F238E27FC236}">
                  <a16:creationId xmlns:a16="http://schemas.microsoft.com/office/drawing/2014/main" id="{A7FB6175-C93F-56D4-C682-FF0647510F84}"/>
                </a:ext>
              </a:extLst>
            </p:cNvPr>
            <p:cNvSpPr txBox="1"/>
            <p:nvPr/>
          </p:nvSpPr>
          <p:spPr>
            <a:xfrm>
              <a:off x="3373275" y="2567489"/>
              <a:ext cx="1093575" cy="196287"/>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dirty="0">
                  <a:solidFill>
                    <a:srgbClr val="1668B3"/>
                  </a:solidFill>
                  <a:cs typeface="Arial"/>
                  <a:sym typeface="Arial"/>
                  <a:rtl val="0"/>
                </a:rPr>
                <a:t>Power Banks</a:t>
              </a:r>
              <a:endParaRPr lang="en-US" sz="1134" spc="0" baseline="0" dirty="0">
                <a:solidFill>
                  <a:srgbClr val="1668B3"/>
                </a:solidFill>
                <a:cs typeface="Arial"/>
                <a:sym typeface="Arial"/>
                <a:rtl val="0"/>
              </a:endParaRPr>
            </a:p>
          </p:txBody>
        </p:sp>
        <p:sp>
          <p:nvSpPr>
            <p:cNvPr id="52" name="TextBox 51">
              <a:extLst>
                <a:ext uri="{FF2B5EF4-FFF2-40B4-BE49-F238E27FC236}">
                  <a16:creationId xmlns:a16="http://schemas.microsoft.com/office/drawing/2014/main" id="{B53838B9-F947-DAEE-2750-A45BFF538B99}"/>
                </a:ext>
              </a:extLst>
            </p:cNvPr>
            <p:cNvSpPr txBox="1"/>
            <p:nvPr/>
          </p:nvSpPr>
          <p:spPr>
            <a:xfrm>
              <a:off x="4418442" y="2698989"/>
              <a:ext cx="915284" cy="196287"/>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VR Headset</a:t>
              </a:r>
            </a:p>
          </p:txBody>
        </p:sp>
      </p:grpSp>
      <p:sp>
        <p:nvSpPr>
          <p:cNvPr id="53" name="TextBox 52">
            <a:extLst>
              <a:ext uri="{FF2B5EF4-FFF2-40B4-BE49-F238E27FC236}">
                <a16:creationId xmlns:a16="http://schemas.microsoft.com/office/drawing/2014/main" id="{3340B1BD-7E99-6B08-7AB4-340569505C97}"/>
              </a:ext>
            </a:extLst>
          </p:cNvPr>
          <p:cNvSpPr txBox="1"/>
          <p:nvPr/>
        </p:nvSpPr>
        <p:spPr>
          <a:xfrm>
            <a:off x="3081884" y="4521326"/>
            <a:ext cx="1346736" cy="174535"/>
          </a:xfrm>
          <a:prstGeom prst="rect">
            <a:avLst/>
          </a:prstGeom>
          <a:noFill/>
        </p:spPr>
        <p:txBody>
          <a:bodyPr wrap="square" lIns="0" tIns="0" rIns="0" bIns="0" rtlCol="0">
            <a:spAutoFit/>
          </a:bodyPr>
          <a:lstStyle/>
          <a:p>
            <a:pPr algn="l" defTabSz="457200">
              <a:spcBef>
                <a:spcPts val="1000"/>
              </a:spcBef>
              <a:buClr>
                <a:srgbClr val="1E4056"/>
              </a:buClr>
              <a:buSzPct val="75000"/>
            </a:pPr>
            <a:r>
              <a:rPr lang="en-US" sz="1134" spc="0" baseline="0" dirty="0">
                <a:solidFill>
                  <a:srgbClr val="1668B3"/>
                </a:solidFill>
                <a:cs typeface="Arial"/>
                <a:sym typeface="Arial"/>
                <a:rtl val="0"/>
              </a:rPr>
              <a:t>Gaming controllers</a:t>
            </a:r>
          </a:p>
        </p:txBody>
      </p:sp>
      <p:sp>
        <p:nvSpPr>
          <p:cNvPr id="10" name="TextBox 9">
            <a:extLst>
              <a:ext uri="{FF2B5EF4-FFF2-40B4-BE49-F238E27FC236}">
                <a16:creationId xmlns:a16="http://schemas.microsoft.com/office/drawing/2014/main" id="{D1AB08E1-7F70-6D1B-ECB2-ADA377E0D5A6}"/>
              </a:ext>
            </a:extLst>
          </p:cNvPr>
          <p:cNvSpPr txBox="1"/>
          <p:nvPr/>
        </p:nvSpPr>
        <p:spPr>
          <a:xfrm>
            <a:off x="7547974" y="6170407"/>
            <a:ext cx="2585644" cy="268856"/>
          </a:xfrm>
          <a:prstGeom prst="rect">
            <a:avLst/>
          </a:prstGeom>
          <a:noFill/>
        </p:spPr>
        <p:txBody>
          <a:bodyPr wrap="none" lIns="0" tIns="0" rIns="0" bIns="0" rtlCol="0">
            <a:spAutoFit/>
          </a:bodyPr>
          <a:lstStyle/>
          <a:p>
            <a:pPr algn="l" defTabSz="457200">
              <a:spcBef>
                <a:spcPts val="1000"/>
              </a:spcBef>
              <a:buClr>
                <a:srgbClr val="1E4056"/>
              </a:buClr>
              <a:buSzPct val="75000"/>
            </a:pPr>
            <a:r>
              <a:rPr lang="en-US" sz="1747" b="1" dirty="0">
                <a:solidFill>
                  <a:srgbClr val="1668B3"/>
                </a:solidFill>
                <a:cs typeface="Arial"/>
                <a:sym typeface="Arial"/>
                <a:rtl val="0"/>
              </a:rPr>
              <a:t>Support: APIs, Reviews….</a:t>
            </a:r>
            <a:endParaRPr lang="en-US" sz="1747" b="1" spc="0" baseline="0" dirty="0">
              <a:solidFill>
                <a:srgbClr val="1668B3"/>
              </a:solidFill>
              <a:cs typeface="Arial"/>
              <a:sym typeface="Arial"/>
              <a:rtl val="0"/>
            </a:endParaRPr>
          </a:p>
        </p:txBody>
      </p:sp>
    </p:spTree>
    <p:extLst>
      <p:ext uri="{BB962C8B-B14F-4D97-AF65-F5344CB8AC3E}">
        <p14:creationId xmlns:p14="http://schemas.microsoft.com/office/powerpoint/2010/main" val="3871469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2FF1E-268D-0169-A181-BCDCABB3C0F2}"/>
              </a:ext>
            </a:extLst>
          </p:cNvPr>
          <p:cNvSpPr>
            <a:spLocks noGrp="1"/>
          </p:cNvSpPr>
          <p:nvPr>
            <p:ph type="title"/>
          </p:nvPr>
        </p:nvSpPr>
        <p:spPr>
          <a:xfrm>
            <a:off x="417600" y="640080"/>
            <a:ext cx="10080000" cy="450000"/>
          </a:xfrm>
        </p:spPr>
        <p:txBody>
          <a:bodyPr/>
          <a:lstStyle/>
          <a:p>
            <a:r>
              <a:rPr lang="en-US"/>
              <a:t>Product Support</a:t>
            </a:r>
            <a:endParaRPr lang="en-US" dirty="0"/>
          </a:p>
        </p:txBody>
      </p:sp>
      <p:sp>
        <p:nvSpPr>
          <p:cNvPr id="3" name="Content Placeholder 2">
            <a:extLst>
              <a:ext uri="{FF2B5EF4-FFF2-40B4-BE49-F238E27FC236}">
                <a16:creationId xmlns:a16="http://schemas.microsoft.com/office/drawing/2014/main" id="{B314AD4C-1A6E-E74C-F06F-43B48FAE8B1B}"/>
              </a:ext>
            </a:extLst>
          </p:cNvPr>
          <p:cNvSpPr>
            <a:spLocks noGrp="1"/>
          </p:cNvSpPr>
          <p:nvPr>
            <p:ph idx="10"/>
          </p:nvPr>
        </p:nvSpPr>
        <p:spPr>
          <a:xfrm>
            <a:off x="417600" y="1353312"/>
            <a:ext cx="11358000" cy="5094000"/>
          </a:xfrm>
        </p:spPr>
        <p:txBody>
          <a:bodyPr numCol="2"/>
          <a:lstStyle/>
          <a:p>
            <a:pPr marL="285750" indent="-285750">
              <a:buFont typeface="Arial" panose="020B0604020202020204" pitchFamily="34" charset="0"/>
              <a:buChar char="•"/>
            </a:pPr>
            <a:r>
              <a:rPr lang="en-IE" dirty="0"/>
              <a:t>Demonstration Support:</a:t>
            </a:r>
          </a:p>
          <a:p>
            <a:pPr marL="285750" indent="-285750">
              <a:buFont typeface="Arial" panose="020B0604020202020204" pitchFamily="34" charset="0"/>
              <a:buChar char="•"/>
            </a:pPr>
            <a:r>
              <a:rPr lang="en-IE" dirty="0"/>
              <a:t>Python GUI and Driver Support based on MAX32660</a:t>
            </a:r>
          </a:p>
          <a:p>
            <a:endParaRPr lang="en-IE" dirty="0"/>
          </a:p>
          <a:p>
            <a:endParaRPr lang="en-IE" dirty="0"/>
          </a:p>
          <a:p>
            <a:endParaRPr lang="en-IE" dirty="0"/>
          </a:p>
          <a:p>
            <a:endParaRPr lang="en-IE" dirty="0"/>
          </a:p>
          <a:p>
            <a:endParaRPr lang="en-IE" dirty="0"/>
          </a:p>
          <a:p>
            <a:endParaRPr lang="en-IE" dirty="0"/>
          </a:p>
          <a:p>
            <a:pPr marL="285750" indent="-285750">
              <a:buFont typeface="Arial" panose="020B0604020202020204" pitchFamily="34" charset="0"/>
              <a:buChar char="•"/>
            </a:pPr>
            <a:r>
              <a:rPr lang="en-IE" dirty="0"/>
              <a:t>System Level APIs and Libraries:</a:t>
            </a:r>
          </a:p>
          <a:p>
            <a:r>
              <a:rPr lang="en-IE" dirty="0"/>
              <a:t>      MAX77958, MAX77985/85, MAX77960/61/62,      </a:t>
            </a:r>
          </a:p>
          <a:p>
            <a:r>
              <a:rPr lang="en-IE" dirty="0"/>
              <a:t>      MAX17260/1/2</a:t>
            </a:r>
          </a:p>
          <a:p>
            <a:endParaRPr lang="en-IE" dirty="0"/>
          </a:p>
          <a:p>
            <a:pPr marL="285750" indent="-285750">
              <a:buFont typeface="Arial" panose="020B0604020202020204" pitchFamily="34" charset="0"/>
              <a:buChar char="•"/>
            </a:pPr>
            <a:r>
              <a:rPr lang="en-IE" dirty="0"/>
              <a:t>Technical Issue Debugging </a:t>
            </a:r>
          </a:p>
          <a:p>
            <a:endParaRPr lang="en-IE" dirty="0"/>
          </a:p>
          <a:p>
            <a:endParaRPr lang="en-IE" dirty="0"/>
          </a:p>
          <a:p>
            <a:endParaRPr lang="en-IE" dirty="0"/>
          </a:p>
          <a:p>
            <a:endParaRPr lang="en-IE" dirty="0"/>
          </a:p>
          <a:p>
            <a:endParaRPr lang="en-IE" dirty="0"/>
          </a:p>
          <a:p>
            <a:endParaRPr lang="en-IE" dirty="0"/>
          </a:p>
          <a:p>
            <a:endParaRPr lang="en-IE" dirty="0"/>
          </a:p>
          <a:p>
            <a:endParaRPr lang="en-IE" dirty="0"/>
          </a:p>
          <a:p>
            <a:endParaRPr lang="en-IE" dirty="0"/>
          </a:p>
          <a:p>
            <a:endParaRPr lang="en-IE" dirty="0"/>
          </a:p>
          <a:p>
            <a:r>
              <a:rPr lang="en-IE" dirty="0"/>
              <a:t>Contact Persons: </a:t>
            </a:r>
          </a:p>
          <a:p>
            <a:r>
              <a:rPr lang="en-IE" dirty="0"/>
              <a:t>Fahad Ahammad  (</a:t>
            </a:r>
            <a:r>
              <a:rPr lang="en-IE" dirty="0">
                <a:hlinkClick r:id="rId2"/>
              </a:rPr>
              <a:t>Ahammad.Fahad@analog.com</a:t>
            </a:r>
            <a:r>
              <a:rPr lang="en-IE" dirty="0"/>
              <a:t>)</a:t>
            </a:r>
          </a:p>
          <a:p>
            <a:r>
              <a:rPr lang="en-IE" dirty="0"/>
              <a:t>Sai Kumar (</a:t>
            </a:r>
            <a:r>
              <a:rPr lang="en-IE" dirty="0">
                <a:hlinkClick r:id="rId3"/>
              </a:rPr>
              <a:t>Saikumar.Kummari@analog.com</a:t>
            </a:r>
            <a:r>
              <a:rPr lang="en-IE" dirty="0"/>
              <a:t>)</a:t>
            </a:r>
          </a:p>
          <a:p>
            <a:r>
              <a:rPr lang="en-IE" dirty="0"/>
              <a:t>       </a:t>
            </a:r>
          </a:p>
          <a:p>
            <a:r>
              <a:rPr lang="en-IE" dirty="0"/>
              <a:t>       </a:t>
            </a:r>
          </a:p>
          <a:p>
            <a:r>
              <a:rPr lang="en-IE" dirty="0"/>
              <a:t>       </a:t>
            </a:r>
          </a:p>
          <a:p>
            <a:pPr lvl="1"/>
            <a:endParaRPr lang="en-US" dirty="0"/>
          </a:p>
        </p:txBody>
      </p:sp>
      <p:sp>
        <p:nvSpPr>
          <p:cNvPr id="4" name="Date Placeholder 3">
            <a:extLst>
              <a:ext uri="{FF2B5EF4-FFF2-40B4-BE49-F238E27FC236}">
                <a16:creationId xmlns:a16="http://schemas.microsoft.com/office/drawing/2014/main" id="{C33AE80C-E591-CA49-BC7C-1FC9E0750F47}"/>
              </a:ext>
            </a:extLst>
          </p:cNvPr>
          <p:cNvSpPr>
            <a:spLocks noGrp="1"/>
          </p:cNvSpPr>
          <p:nvPr>
            <p:ph type="dt" sz="half" idx="11"/>
          </p:nvPr>
        </p:nvSpPr>
        <p:spPr>
          <a:xfrm>
            <a:off x="9037865" y="6465903"/>
            <a:ext cx="2743200" cy="365125"/>
          </a:xfrm>
        </p:spPr>
        <p:txBody>
          <a:bodyPr/>
          <a:lstStyle/>
          <a:p>
            <a:r>
              <a:rPr lang="en-US"/>
              <a:t>FTC | Orlando, FL | November 4-8, 2024</a:t>
            </a:r>
            <a:endParaRPr lang="en-US" dirty="0"/>
          </a:p>
        </p:txBody>
      </p:sp>
      <p:sp>
        <p:nvSpPr>
          <p:cNvPr id="5" name="Footer Placeholder 4">
            <a:extLst>
              <a:ext uri="{FF2B5EF4-FFF2-40B4-BE49-F238E27FC236}">
                <a16:creationId xmlns:a16="http://schemas.microsoft.com/office/drawing/2014/main" id="{4CB875A7-2F21-5308-DC7A-A7D2D6C99AF5}"/>
              </a:ext>
            </a:extLst>
          </p:cNvPr>
          <p:cNvSpPr>
            <a:spLocks noGrp="1"/>
          </p:cNvSpPr>
          <p:nvPr>
            <p:ph type="ftr" sz="quarter" idx="12"/>
          </p:nvPr>
        </p:nvSpPr>
        <p:spPr>
          <a:xfrm>
            <a:off x="665479" y="6582557"/>
            <a:ext cx="5236846" cy="144000"/>
          </a:xfrm>
        </p:spPr>
        <p:txBody>
          <a:bodyPr/>
          <a:lstStyle/>
          <a:p>
            <a:r>
              <a:rPr lang="en-US"/>
              <a:t>Analog Devices Confidential Information—Not for External Distribution. ©2024 Analog Devices, Inc. All Rights Reserved.</a:t>
            </a:r>
            <a:endParaRPr lang="en-IE" dirty="0"/>
          </a:p>
        </p:txBody>
      </p:sp>
      <p:sp>
        <p:nvSpPr>
          <p:cNvPr id="6" name="Slide Number Placeholder 5">
            <a:extLst>
              <a:ext uri="{FF2B5EF4-FFF2-40B4-BE49-F238E27FC236}">
                <a16:creationId xmlns:a16="http://schemas.microsoft.com/office/drawing/2014/main" id="{8FAFD759-C351-FA13-60BD-2351AA5AD0B5}"/>
              </a:ext>
            </a:extLst>
          </p:cNvPr>
          <p:cNvSpPr>
            <a:spLocks noGrp="1"/>
          </p:cNvSpPr>
          <p:nvPr>
            <p:ph type="sldNum" sz="quarter" idx="13"/>
          </p:nvPr>
        </p:nvSpPr>
        <p:spPr>
          <a:xfrm>
            <a:off x="417601" y="6582557"/>
            <a:ext cx="247878" cy="144000"/>
          </a:xfrm>
        </p:spPr>
        <p:txBody>
          <a:bodyPr/>
          <a:lstStyle/>
          <a:p>
            <a:fld id="{A9CE67A1-BA7F-A74E-B5D7-615746DEEC2B}" type="slidenum">
              <a:rPr lang="en-US" smtClean="0"/>
              <a:pPr/>
              <a:t>28</a:t>
            </a:fld>
            <a:endParaRPr lang="en-US" dirty="0"/>
          </a:p>
        </p:txBody>
      </p:sp>
      <p:pic>
        <p:nvPicPr>
          <p:cNvPr id="10" name="Picture 9">
            <a:extLst>
              <a:ext uri="{FF2B5EF4-FFF2-40B4-BE49-F238E27FC236}">
                <a16:creationId xmlns:a16="http://schemas.microsoft.com/office/drawing/2014/main" id="{E1897C2A-BDA4-AE7F-7056-D2BDBED5E772}"/>
              </a:ext>
            </a:extLst>
          </p:cNvPr>
          <p:cNvPicPr>
            <a:picLocks noChangeAspect="1"/>
          </p:cNvPicPr>
          <p:nvPr/>
        </p:nvPicPr>
        <p:blipFill>
          <a:blip r:embed="rId4"/>
          <a:stretch>
            <a:fillRect/>
          </a:stretch>
        </p:blipFill>
        <p:spPr>
          <a:xfrm>
            <a:off x="4459202" y="2153816"/>
            <a:ext cx="3273595" cy="2000055"/>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989B0EE9-12F6-9CF8-2F11-4518245398B5}"/>
              </a:ext>
            </a:extLst>
          </p:cNvPr>
          <p:cNvPicPr>
            <a:picLocks noChangeAspect="1"/>
          </p:cNvPicPr>
          <p:nvPr/>
        </p:nvPicPr>
        <p:blipFill>
          <a:blip r:embed="rId5"/>
          <a:stretch>
            <a:fillRect/>
          </a:stretch>
        </p:blipFill>
        <p:spPr>
          <a:xfrm>
            <a:off x="780678" y="2149054"/>
            <a:ext cx="3465086" cy="2009580"/>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76137941-9F9D-2F97-A408-0E7ACE98B421}"/>
              </a:ext>
            </a:extLst>
          </p:cNvPr>
          <p:cNvPicPr>
            <a:picLocks noChangeAspect="1"/>
          </p:cNvPicPr>
          <p:nvPr/>
        </p:nvPicPr>
        <p:blipFill>
          <a:blip r:embed="rId6"/>
          <a:stretch>
            <a:fillRect/>
          </a:stretch>
        </p:blipFill>
        <p:spPr>
          <a:xfrm>
            <a:off x="7946235" y="2138242"/>
            <a:ext cx="3273596" cy="20156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8890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B7CD29-95D7-37A6-CE21-27BABBDFC687}"/>
              </a:ext>
            </a:extLst>
          </p:cNvPr>
          <p:cNvSpPr>
            <a:spLocks noGrp="1"/>
          </p:cNvSpPr>
          <p:nvPr>
            <p:ph idx="1"/>
          </p:nvPr>
        </p:nvSpPr>
        <p:spPr>
          <a:xfrm>
            <a:off x="355601" y="1705429"/>
            <a:ext cx="5557837" cy="4667408"/>
          </a:xfrm>
        </p:spPr>
        <p:txBody>
          <a:bodyPr/>
          <a:lstStyle/>
          <a:p>
            <a:r>
              <a:rPr lang="en-US"/>
              <a:t>Questions?  </a:t>
            </a:r>
            <a:endParaRPr lang="en-US" dirty="0"/>
          </a:p>
        </p:txBody>
      </p:sp>
      <p:sp>
        <p:nvSpPr>
          <p:cNvPr id="3" name="Footer Placeholder 3">
            <a:extLst>
              <a:ext uri="{FF2B5EF4-FFF2-40B4-BE49-F238E27FC236}">
                <a16:creationId xmlns:a16="http://schemas.microsoft.com/office/drawing/2014/main" id="{B641502D-A5DE-A753-E46F-BEA7AB5B96F9}"/>
              </a:ext>
            </a:extLst>
          </p:cNvPr>
          <p:cNvSpPr>
            <a:spLocks noGrp="1"/>
          </p:cNvSpPr>
          <p:nvPr>
            <p:ph type="ftr" sz="quarter" idx="11"/>
          </p:nvPr>
        </p:nvSpPr>
        <p:spPr>
          <a:xfrm>
            <a:off x="342900" y="6616018"/>
            <a:ext cx="7545737" cy="251230"/>
          </a:xfrm>
        </p:spPr>
        <p:txBody>
          <a:bodyPr/>
          <a:lstStyle/>
          <a:p>
            <a:r>
              <a:rPr lang="en-US" dirty="0">
                <a:solidFill>
                  <a:schemeClr val="bg1"/>
                </a:solidFill>
              </a:rPr>
              <a:t>Analog Devices Confidential Information—Not for External Distribution. ©2024 Analog Devices, Inc. All Rights Reserved.</a:t>
            </a:r>
          </a:p>
        </p:txBody>
      </p:sp>
      <p:sp>
        <p:nvSpPr>
          <p:cNvPr id="7" name="Date Placeholder 5">
            <a:extLst>
              <a:ext uri="{FF2B5EF4-FFF2-40B4-BE49-F238E27FC236}">
                <a16:creationId xmlns:a16="http://schemas.microsoft.com/office/drawing/2014/main" id="{DC517F86-998E-1B75-65CA-A6004B9B040C}"/>
              </a:ext>
            </a:extLst>
          </p:cNvPr>
          <p:cNvSpPr>
            <a:spLocks noGrp="1"/>
          </p:cNvSpPr>
          <p:nvPr>
            <p:ph type="dt" sz="half" idx="10"/>
          </p:nvPr>
        </p:nvSpPr>
        <p:spPr>
          <a:xfrm>
            <a:off x="7888637" y="6599019"/>
            <a:ext cx="2741264" cy="251229"/>
          </a:xfrm>
        </p:spPr>
        <p:txBody>
          <a:bodyPr/>
          <a:lstStyle/>
          <a:p>
            <a:r>
              <a:rPr lang="en-US"/>
              <a:t>FTC | Orlando, FL | November 4-8, 2024</a:t>
            </a:r>
            <a:endParaRPr lang="en-US" dirty="0"/>
          </a:p>
        </p:txBody>
      </p:sp>
    </p:spTree>
    <p:custDataLst>
      <p:tags r:id="rId1"/>
    </p:custDataLst>
    <p:extLst>
      <p:ext uri="{BB962C8B-B14F-4D97-AF65-F5344CB8AC3E}">
        <p14:creationId xmlns:p14="http://schemas.microsoft.com/office/powerpoint/2010/main" val="279078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DE0BD24-5898-AE42-BB25-B5D1D7440DB7}"/>
              </a:ext>
            </a:extLst>
          </p:cNvPr>
          <p:cNvSpPr>
            <a:spLocks noGrp="1"/>
          </p:cNvSpPr>
          <p:nvPr>
            <p:ph idx="1"/>
          </p:nvPr>
        </p:nvSpPr>
        <p:spPr>
          <a:xfrm>
            <a:off x="355601" y="1705429"/>
            <a:ext cx="5557837" cy="4667408"/>
          </a:xfrm>
        </p:spPr>
        <p:txBody>
          <a:bodyPr/>
          <a:lstStyle/>
          <a:p>
            <a:r>
              <a:rPr lang="en-US"/>
              <a:t>Thank You!</a:t>
            </a:r>
            <a:br>
              <a:rPr lang="en-US"/>
            </a:br>
            <a:endParaRPr lang="en-US" dirty="0"/>
          </a:p>
        </p:txBody>
      </p:sp>
      <p:sp>
        <p:nvSpPr>
          <p:cNvPr id="4" name="Text Placeholder 26">
            <a:extLst>
              <a:ext uri="{FF2B5EF4-FFF2-40B4-BE49-F238E27FC236}">
                <a16:creationId xmlns:a16="http://schemas.microsoft.com/office/drawing/2014/main" id="{350B085B-488A-5A22-D5C8-6C14AEF27B82}"/>
              </a:ext>
            </a:extLst>
          </p:cNvPr>
          <p:cNvSpPr txBox="1">
            <a:spLocks/>
          </p:cNvSpPr>
          <p:nvPr/>
        </p:nvSpPr>
        <p:spPr>
          <a:xfrm>
            <a:off x="588789" y="5041662"/>
            <a:ext cx="7240748" cy="1399032"/>
          </a:xfrm>
          <a:prstGeom prst="rect">
            <a:avLst/>
          </a:prstGeom>
        </p:spPr>
        <p:txBody>
          <a:bodyPr vert="horz" lIns="0" tIns="0" rIns="0" bIns="0" rtlCol="0" anchor="ctr" anchorCtr="0">
            <a:normAutofit/>
          </a:bodyPr>
          <a:lstStyle>
            <a:lvl1pPr marL="0" indent="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None/>
              <a:defRPr lang="en-US" sz="4800" b="0" i="0" kern="1200" baseline="0">
                <a:solidFill>
                  <a:schemeClr val="tx2"/>
                </a:solidFill>
                <a:latin typeface="Barlow" pitchFamily="2" charset="77"/>
                <a:ea typeface="+mn-ea"/>
                <a:cs typeface="+mn-cs"/>
              </a:defRPr>
            </a:lvl1pPr>
            <a:lvl2pPr marL="457200" indent="-228600" algn="l" defTabSz="457200" rtl="0" eaLnBrk="1" latinLnBrk="0" hangingPunct="1">
              <a:lnSpc>
                <a:spcPct val="90000"/>
              </a:lnSpc>
              <a:spcBef>
                <a:spcPct val="20000"/>
              </a:spcBef>
              <a:spcAft>
                <a:spcPts val="400"/>
              </a:spcAft>
              <a:buClr>
                <a:srgbClr val="1E4056"/>
              </a:buClr>
              <a:buFont typeface="Wingdings" charset="2"/>
              <a:buChar char="§"/>
              <a:defRPr lang="en-US" sz="2000" b="0" i="0" kern="1200" baseline="0">
                <a:solidFill>
                  <a:srgbClr val="000000"/>
                </a:solidFill>
                <a:latin typeface="Barlow" pitchFamily="2" charset="77"/>
                <a:ea typeface="+mn-ea"/>
                <a:cs typeface="+mn-cs"/>
              </a:defRPr>
            </a:lvl2pPr>
            <a:lvl3pPr marL="685800" indent="-228600" algn="l" defTabSz="457200" rtl="0" eaLnBrk="1" latinLnBrk="0" hangingPunct="1">
              <a:lnSpc>
                <a:spcPct val="90000"/>
              </a:lnSpc>
              <a:spcBef>
                <a:spcPct val="20000"/>
              </a:spcBef>
              <a:spcAft>
                <a:spcPts val="400"/>
              </a:spcAft>
              <a:buClr>
                <a:srgbClr val="1E4056"/>
              </a:buClr>
              <a:buSzPct val="100000"/>
              <a:buFont typeface="Wingdings" panose="05000000000000000000" pitchFamily="2" charset="2"/>
              <a:buChar char="§"/>
              <a:defRPr lang="en-US" sz="1800" b="0" i="0" kern="1200" baseline="0">
                <a:solidFill>
                  <a:srgbClr val="000000"/>
                </a:solidFill>
                <a:latin typeface="Barlow" pitchFamily="2" charset="77"/>
                <a:ea typeface="+mn-ea"/>
                <a:cs typeface="+mn-cs"/>
              </a:defRPr>
            </a:lvl3pPr>
            <a:lvl4pPr marL="914400" indent="-228600" algn="l" defTabSz="457200" rtl="0" eaLnBrk="1" latinLnBrk="0" hangingPunct="1">
              <a:lnSpc>
                <a:spcPct val="90000"/>
              </a:lnSpc>
              <a:spcBef>
                <a:spcPct val="20000"/>
              </a:spcBef>
              <a:spcAft>
                <a:spcPts val="400"/>
              </a:spcAft>
              <a:buClr>
                <a:srgbClr val="1E4056"/>
              </a:buClr>
              <a:buSzPct val="100000"/>
              <a:buFont typeface="Wingdings" panose="05000000000000000000" pitchFamily="2" charset="2"/>
              <a:buChar char="§"/>
              <a:defRPr lang="en-US" sz="1200" b="0" i="0" kern="1200">
                <a:solidFill>
                  <a:srgbClr val="000000"/>
                </a:solidFill>
                <a:latin typeface="Barlow" pitchFamily="2" charset="77"/>
                <a:ea typeface="+mn-ea"/>
                <a:cs typeface="+mn-cs"/>
              </a:defRPr>
            </a:lvl4pPr>
            <a:lvl5pPr marL="1143000" indent="-228600" algn="l" defTabSz="457200" rtl="0" eaLnBrk="1" latinLnBrk="0" hangingPunct="1">
              <a:lnSpc>
                <a:spcPct val="90000"/>
              </a:lnSpc>
              <a:spcBef>
                <a:spcPct val="20000"/>
              </a:spcBef>
              <a:spcAft>
                <a:spcPts val="400"/>
              </a:spcAft>
              <a:buClr>
                <a:srgbClr val="1E4056"/>
              </a:buClr>
              <a:buSzPct val="100000"/>
              <a:buFont typeface="Wingdings" panose="05000000000000000000" pitchFamily="2" charset="2"/>
              <a:buChar char="§"/>
              <a:defRPr lang="en-US" sz="1200" b="0" i="0" kern="1200" baseline="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900" i="1" dirty="0">
                <a:solidFill>
                  <a:schemeClr val="bg1"/>
                </a:solidFill>
              </a:rPr>
              <a:t>Please Remember to </a:t>
            </a:r>
            <a:r>
              <a:rPr lang="en-US" sz="3900" b="1" i="1" dirty="0">
                <a:solidFill>
                  <a:srgbClr val="FFFF00"/>
                </a:solidFill>
              </a:rPr>
              <a:t>Rate</a:t>
            </a:r>
            <a:r>
              <a:rPr lang="en-US" sz="3900" i="1" dirty="0">
                <a:solidFill>
                  <a:schemeClr val="bg1"/>
                </a:solidFill>
              </a:rPr>
              <a:t> this Session in the Mobile App!</a:t>
            </a:r>
          </a:p>
          <a:p>
            <a:endParaRPr lang="en-US" sz="3200" i="1" dirty="0">
              <a:solidFill>
                <a:schemeClr val="bg1"/>
              </a:solidFill>
            </a:endParaRPr>
          </a:p>
        </p:txBody>
      </p:sp>
      <p:grpSp>
        <p:nvGrpSpPr>
          <p:cNvPr id="21" name="Group 20">
            <a:extLst>
              <a:ext uri="{FF2B5EF4-FFF2-40B4-BE49-F238E27FC236}">
                <a16:creationId xmlns:a16="http://schemas.microsoft.com/office/drawing/2014/main" id="{2D4BCE39-D521-9952-2F7C-67DB2BF9DF65}"/>
              </a:ext>
            </a:extLst>
          </p:cNvPr>
          <p:cNvGrpSpPr/>
          <p:nvPr/>
        </p:nvGrpSpPr>
        <p:grpSpPr>
          <a:xfrm rot="20220510">
            <a:off x="2446090" y="483924"/>
            <a:ext cx="1926160" cy="3573624"/>
            <a:chOff x="3569081" y="526699"/>
            <a:chExt cx="1926160" cy="3573624"/>
          </a:xfrm>
        </p:grpSpPr>
        <p:pic>
          <p:nvPicPr>
            <p:cNvPr id="8" name="Picture 7">
              <a:extLst>
                <a:ext uri="{FF2B5EF4-FFF2-40B4-BE49-F238E27FC236}">
                  <a16:creationId xmlns:a16="http://schemas.microsoft.com/office/drawing/2014/main" id="{23EC8636-A2C0-BCF0-915D-9F1B15C9A424}"/>
                </a:ext>
              </a:extLst>
            </p:cNvPr>
            <p:cNvPicPr>
              <a:picLocks noChangeAspect="1"/>
            </p:cNvPicPr>
            <p:nvPr/>
          </p:nvPicPr>
          <p:blipFill rotWithShape="1">
            <a:blip r:embed="rId2"/>
            <a:srcRect t="11580" b="6716"/>
            <a:stretch/>
          </p:blipFill>
          <p:spPr>
            <a:xfrm>
              <a:off x="3795343" y="1173978"/>
              <a:ext cx="1559055" cy="2757048"/>
            </a:xfrm>
            <a:prstGeom prst="rect">
              <a:avLst/>
            </a:prstGeom>
          </p:spPr>
        </p:pic>
        <p:pic>
          <p:nvPicPr>
            <p:cNvPr id="16" name="Picture 15" descr="A black cell phone with a black screen&#10;&#10;Description automatically generated">
              <a:extLst>
                <a:ext uri="{FF2B5EF4-FFF2-40B4-BE49-F238E27FC236}">
                  <a16:creationId xmlns:a16="http://schemas.microsoft.com/office/drawing/2014/main" id="{A60D358D-81C1-8684-1CE4-C0801E309435}"/>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654501" y="526699"/>
              <a:ext cx="1840740" cy="3573624"/>
            </a:xfrm>
            <a:prstGeom prst="rect">
              <a:avLst/>
            </a:prstGeom>
          </p:spPr>
        </p:pic>
        <p:pic>
          <p:nvPicPr>
            <p:cNvPr id="19" name="Picture 18" descr="A black and white image of a ring">
              <a:extLst>
                <a:ext uri="{FF2B5EF4-FFF2-40B4-BE49-F238E27FC236}">
                  <a16:creationId xmlns:a16="http://schemas.microsoft.com/office/drawing/2014/main" id="{F70DCB79-08AA-072E-F010-2F0D615A8496}"/>
                </a:ext>
              </a:extLst>
            </p:cNvPr>
            <p:cNvPicPr>
              <a:picLocks noChangeAspect="1"/>
            </p:cNvPicPr>
            <p:nvPr/>
          </p:nvPicPr>
          <p:blipFill>
            <a:blip r:embed="rId4" cstate="screen">
              <a:duotone>
                <a:schemeClr val="accent5">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569081" y="2008166"/>
              <a:ext cx="1460119" cy="610690"/>
            </a:xfrm>
            <a:prstGeom prst="rect">
              <a:avLst/>
            </a:prstGeom>
          </p:spPr>
        </p:pic>
      </p:grpSp>
      <p:sp>
        <p:nvSpPr>
          <p:cNvPr id="3" name="Footer Placeholder 3">
            <a:extLst>
              <a:ext uri="{FF2B5EF4-FFF2-40B4-BE49-F238E27FC236}">
                <a16:creationId xmlns:a16="http://schemas.microsoft.com/office/drawing/2014/main" id="{11BC4A1E-471D-93A4-9D36-C6C0E884D6EE}"/>
              </a:ext>
            </a:extLst>
          </p:cNvPr>
          <p:cNvSpPr>
            <a:spLocks noGrp="1"/>
          </p:cNvSpPr>
          <p:nvPr>
            <p:ph type="ftr" sz="quarter" idx="11"/>
          </p:nvPr>
        </p:nvSpPr>
        <p:spPr>
          <a:xfrm>
            <a:off x="342900" y="6616018"/>
            <a:ext cx="7545737" cy="251230"/>
          </a:xfrm>
        </p:spPr>
        <p:txBody>
          <a:bodyPr/>
          <a:lstStyle/>
          <a:p>
            <a:r>
              <a:rPr lang="en-US" dirty="0">
                <a:solidFill>
                  <a:schemeClr val="bg1"/>
                </a:solidFill>
              </a:rPr>
              <a:t>Analog Devices Confidential Information—Not for External Distribution. ©2024 Analog Devices, Inc. All Rights Reserved.</a:t>
            </a:r>
          </a:p>
        </p:txBody>
      </p:sp>
      <p:sp>
        <p:nvSpPr>
          <p:cNvPr id="9" name="Date Placeholder 5">
            <a:extLst>
              <a:ext uri="{FF2B5EF4-FFF2-40B4-BE49-F238E27FC236}">
                <a16:creationId xmlns:a16="http://schemas.microsoft.com/office/drawing/2014/main" id="{3C3C6B52-DDF6-0136-1A95-A2BD3F92C997}"/>
              </a:ext>
            </a:extLst>
          </p:cNvPr>
          <p:cNvSpPr>
            <a:spLocks noGrp="1"/>
          </p:cNvSpPr>
          <p:nvPr>
            <p:ph type="dt" sz="half" idx="10"/>
          </p:nvPr>
        </p:nvSpPr>
        <p:spPr>
          <a:xfrm>
            <a:off x="7888637" y="6599019"/>
            <a:ext cx="2741264" cy="251229"/>
          </a:xfrm>
        </p:spPr>
        <p:txBody>
          <a:bodyPr/>
          <a:lstStyle/>
          <a:p>
            <a:r>
              <a:rPr lang="en-US"/>
              <a:t>FTC | Orlando, FL | November 4-8, 2024</a:t>
            </a:r>
            <a:endParaRPr lang="en-US" dirty="0"/>
          </a:p>
        </p:txBody>
      </p:sp>
    </p:spTree>
    <p:extLst>
      <p:ext uri="{BB962C8B-B14F-4D97-AF65-F5344CB8AC3E}">
        <p14:creationId xmlns:p14="http://schemas.microsoft.com/office/powerpoint/2010/main" val="910619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TC Brand Template">
  <a:themeElements>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fontScheme name="Custom 3">
      <a:majorFont>
        <a:latin typeface="Barlow Medium"/>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accent1"/>
          </a:solidFill>
          <a:miter lim="800000"/>
        </a:ln>
        <a:effectLst/>
      </a:spPr>
      <a:bodyPr rtlCol="0" anchor="ctr"/>
      <a:lstStyle>
        <a:defPPr algn="l" defTabSz="457200">
          <a:spcBef>
            <a:spcPts val="600"/>
          </a:spcBef>
          <a:spcAft>
            <a:spcPts val="800"/>
          </a:spcAft>
          <a:buClr>
            <a:schemeClr val="accent1"/>
          </a:buClr>
          <a:buSzPct val="70000"/>
          <a:defRPr dirty="0" err="1">
            <a:solidFill>
              <a:srgbClr val="000000"/>
            </a:solidFill>
            <a:latin typeface="Barlow" pitchFamily="2" charset="77"/>
            <a:cs typeface="Arial" panose="020B0604020202020204" pitchFamily="34" charset="0"/>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ADI-Brand-PowerPoint-Template-Standard-2024-v1-PC" id="{FB04358E-EB4C-4442-AA30-24A86DF72B2D}" vid="{E8C0FAAE-BF1D-7843-8032-DC5CBD6B15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631DE64BA07BD48B42CB4B3A18ADD9D" ma:contentTypeVersion="21" ma:contentTypeDescription="Create a new document." ma:contentTypeScope="" ma:versionID="2b538910dc7e177ce9370a5c26963742">
  <xsd:schema xmlns:xsd="http://www.w3.org/2001/XMLSchema" xmlns:xs="http://www.w3.org/2001/XMLSchema" xmlns:p="http://schemas.microsoft.com/office/2006/metadata/properties" xmlns:ns3="c2ba7dc8-36fb-40a1-8397-77844264d7b3" xmlns:ns4="6e6846c7-2126-4761-852c-f43c011b97d1" targetNamespace="http://schemas.microsoft.com/office/2006/metadata/properties" ma:root="true" ma:fieldsID="0bb706a5d96e9028b35d319f00c712c8" ns3:_="" ns4:_="">
    <xsd:import namespace="c2ba7dc8-36fb-40a1-8397-77844264d7b3"/>
    <xsd:import namespace="6e6846c7-2126-4761-852c-f43c011b97d1"/>
    <xsd:element name="properties">
      <xsd:complexType>
        <xsd:sequence>
          <xsd:element name="documentManagement">
            <xsd:complexType>
              <xsd:all>
                <xsd:element ref="ns3:MigrationWizId" minOccurs="0"/>
                <xsd:element ref="ns3:MigrationWizIdPermissions" minOccurs="0"/>
                <xsd:element ref="ns3:MigrationWizIdVersion" minOccurs="0"/>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AutoKeyPoints" minOccurs="0"/>
                <xsd:element ref="ns3:MediaServiceKeyPoints"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ba7dc8-36fb-40a1-8397-77844264d7b3"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_activity" ma:index="24" nillable="true" ma:displayName="_activity" ma:hidden="true" ma:internalName="_activity">
      <xsd:simpleType>
        <xsd:restriction base="dms:Note"/>
      </xsd:simple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e6846c7-2126-4761-852c-f43c011b97d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igrationWizIdPermissions xmlns="c2ba7dc8-36fb-40a1-8397-77844264d7b3" xsi:nil="true"/>
    <MigrationWizId xmlns="c2ba7dc8-36fb-40a1-8397-77844264d7b3" xsi:nil="true"/>
    <MigrationWizIdVersion xmlns="c2ba7dc8-36fb-40a1-8397-77844264d7b3" xsi:nil="true"/>
    <_activity xmlns="c2ba7dc8-36fb-40a1-8397-77844264d7b3" xsi:nil="true"/>
  </documentManagement>
</p:properties>
</file>

<file path=customXml/itemProps1.xml><?xml version="1.0" encoding="utf-8"?>
<ds:datastoreItem xmlns:ds="http://schemas.openxmlformats.org/officeDocument/2006/customXml" ds:itemID="{C8229A67-D0F2-4778-88E4-F4433A6DFF62}">
  <ds:schemaRefs>
    <ds:schemaRef ds:uri="http://schemas.microsoft.com/sharepoint/v3/contenttype/forms"/>
  </ds:schemaRefs>
</ds:datastoreItem>
</file>

<file path=customXml/itemProps2.xml><?xml version="1.0" encoding="utf-8"?>
<ds:datastoreItem xmlns:ds="http://schemas.openxmlformats.org/officeDocument/2006/customXml" ds:itemID="{832DD2C2-B4D9-4BB4-988D-51AAC45631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ba7dc8-36fb-40a1-8397-77844264d7b3"/>
    <ds:schemaRef ds:uri="6e6846c7-2126-4761-852c-f43c011b97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14B652-ACC1-48BB-AA8D-75C6515A46DA}">
  <ds:schemaRefs>
    <ds:schemaRef ds:uri="http://purl.org/dc/terms/"/>
    <ds:schemaRef ds:uri="http://www.w3.org/XML/1998/namespace"/>
    <ds:schemaRef ds:uri="http://purl.org/dc/elements/1.1/"/>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6e6846c7-2126-4761-852c-f43c011b97d1"/>
    <ds:schemaRef ds:uri="c2ba7dc8-36fb-40a1-8397-77844264d7b3"/>
    <ds:schemaRef ds:uri="http://schemas.microsoft.com/office/2006/metadata/properties"/>
  </ds:schemaRefs>
</ds:datastoreItem>
</file>

<file path=docMetadata/LabelInfo.xml><?xml version="1.0" encoding="utf-8"?>
<clbl:labelList xmlns:clbl="http://schemas.microsoft.com/office/2020/mipLabelMetadata">
  <clbl:label id="{eaa689b4-8f87-40e0-9c6f-7228de4d754a}" enabled="0" method="" siteId="{eaa689b4-8f87-40e0-9c6f-7228de4d754a}" removed="1"/>
</clbl:labelList>
</file>

<file path=docProps/app.xml><?xml version="1.0" encoding="utf-8"?>
<Properties xmlns="http://schemas.openxmlformats.org/officeDocument/2006/extended-properties" xmlns:vt="http://schemas.openxmlformats.org/officeDocument/2006/docPropsVTypes">
  <Template>ADI-Brand-PowerPoint-Template-Standard-2024-v1</Template>
  <TotalTime>14883</TotalTime>
  <Words>6338</Words>
  <Application>Microsoft Office PowerPoint</Application>
  <PresentationFormat>Widescreen</PresentationFormat>
  <Paragraphs>1106</Paragraphs>
  <Slides>30</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Barlow </vt:lpstr>
      <vt:lpstr>Barlow</vt:lpstr>
      <vt:lpstr>Wingdings</vt:lpstr>
      <vt:lpstr>SimSun</vt:lpstr>
      <vt:lpstr>Cambria Math</vt:lpstr>
      <vt:lpstr>Barlow SemiBold</vt:lpstr>
      <vt:lpstr>Wingdings 3</vt:lpstr>
      <vt:lpstr>Arial</vt:lpstr>
      <vt:lpstr>Barlow Medium</vt:lpstr>
      <vt:lpstr>Calibri</vt:lpstr>
      <vt:lpstr>FTC Brand Template</vt:lpstr>
      <vt:lpstr>PowerPoint Presentation</vt:lpstr>
      <vt:lpstr>Standardization of Charging  </vt:lpstr>
      <vt:lpstr>Agenda</vt:lpstr>
      <vt:lpstr>PowerPoint Presentation</vt:lpstr>
      <vt:lpstr>USB Data &amp; Power Flow</vt:lpstr>
      <vt:lpstr>Typical Fast Charging Solution</vt:lpstr>
      <vt:lpstr>Feature Comparison: MAX77958 vs. MAX25432B in PD and PPS Applications</vt:lpstr>
      <vt:lpstr>Fast Charging Block Diagram</vt:lpstr>
      <vt:lpstr>Type C Adapter Detection</vt:lpstr>
      <vt:lpstr>PowerPoint Presentation</vt:lpstr>
      <vt:lpstr>What is USB Power Delivery?</vt:lpstr>
      <vt:lpstr>Typical USB PD Negotiation Sequence</vt:lpstr>
      <vt:lpstr>MAX77958 – Setting Initial Plug in Voltage (Sink PDOs)   </vt:lpstr>
      <vt:lpstr>Encoding USB Power Data Objects (PDOs)</vt:lpstr>
      <vt:lpstr>Sink Response to a 60W Samsung adapter</vt:lpstr>
      <vt:lpstr>USB PD DRP Solution with MCU</vt:lpstr>
      <vt:lpstr>Heating issue at higher power</vt:lpstr>
      <vt:lpstr>PowerPoint Presentation</vt:lpstr>
      <vt:lpstr>What is Programmable Power Supply (PPS)?</vt:lpstr>
      <vt:lpstr>Direct Charging - Solving Heating Crisis </vt:lpstr>
      <vt:lpstr>Switched Capacitor Converter (SCC) for higher power </vt:lpstr>
      <vt:lpstr>USB PPS FAST CHARGING S/M</vt:lpstr>
      <vt:lpstr>PowerPoint Presentation</vt:lpstr>
      <vt:lpstr>Experiment Setup</vt:lpstr>
      <vt:lpstr>IC Thermal comparison at 5.5A charging current</vt:lpstr>
      <vt:lpstr> Efficiency Results</vt:lpstr>
      <vt:lpstr>How to find Opportunities?</vt:lpstr>
      <vt:lpstr>Product Support</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Dick, Nancy</dc:creator>
  <cp:keywords/>
  <dc:description>2024 Version 1
© 2024 Analog Devices, Inc. All Rights Reserved</dc:description>
  <cp:lastModifiedBy>Fahad, Ahammad</cp:lastModifiedBy>
  <cp:revision>78</cp:revision>
  <cp:lastPrinted>2015-04-02T14:52:35Z</cp:lastPrinted>
  <dcterms:created xsi:type="dcterms:W3CDTF">2024-09-10T18:13:23Z</dcterms:created>
  <dcterms:modified xsi:type="dcterms:W3CDTF">2025-02-19T08:12:27Z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0x010100C631DE64BA07BD48B42CB4B3A18ADD9D</vt:lpwstr>
  </property>
</Properties>
</file>